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0" roundtripDataSignature="AMtx7miG/PYhEwSe7YPrS2HlzChdaED1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7C0FD7-72BC-4FB9-9AF8-22F18CD3B4A1}">
  <a:tblStyle styleId="{D97C0FD7-72BC-4FB9-9AF8-22F18CD3B4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D7F53AD-BF50-47AC-978E-A8D9F2143B06}"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C2B7CE1-C5DE-4DFF-907A-08FC509AC315}" styleName="Table_2">
    <a:wholeTbl>
      <a:tcTxStyle b="off" i="off">
        <a:font>
          <a:latin typeface="Calibri"/>
          <a:ea typeface="Calibri"/>
          <a:cs typeface="Calibri"/>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Calibri"/>
          <a:ea typeface="Calibri"/>
          <a:cs typeface="Calibri"/>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4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Set Type</a:t>
            </a:r>
            <a:endParaRPr b="1" sz="4000" u="sng">
              <a:latin typeface="Times New Roman"/>
              <a:ea typeface="Times New Roman"/>
              <a:cs typeface="Times New Roman"/>
              <a:sym typeface="Times New Roman"/>
            </a:endParaRPr>
          </a:p>
        </p:txBody>
      </p:sp>
      <p:sp>
        <p:nvSpPr>
          <p:cNvPr id="27" name="Google Shape;27;p1"/>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 set is an unordered collection of elements much like a set in mathematics.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The order of elements is not maintained in the sets. It means the elements may not appear in the same order as they are entered into the set.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 set does not accept duplicate elements.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Sets are unordered so we can not access its element using index.</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Sets are represented using curly brackets {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data = {10,20, 30, “Python”, “Raj”, 40}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data = {10, 20, 30, “Python”, “Raj”, 40, 10, 20}</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28" name="Google Shape;28;p1"/>
          <p:cNvSpPr txBox="1"/>
          <p:nvPr/>
        </p:nvSpPr>
        <p:spPr>
          <a:xfrm>
            <a:off x="6934200" y="2354818"/>
            <a:ext cx="13130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data[0] = 10</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0" st="0"/>
                                            </p:txEl>
                                          </p:spTgt>
                                        </p:tgtEl>
                                        <p:attrNameLst>
                                          <p:attrName>style.visibility</p:attrName>
                                        </p:attrNameLst>
                                      </p:cBhvr>
                                      <p:to>
                                        <p:strVal val="visible"/>
                                      </p:to>
                                    </p:set>
                                    <p:animEffect filter="fade" transition="in">
                                      <p:cBhvr>
                                        <p:cTn dur="500"/>
                                        <p:tgtEl>
                                          <p:spTgt spid="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1" st="1"/>
                                            </p:txEl>
                                          </p:spTgt>
                                        </p:tgtEl>
                                        <p:attrNameLst>
                                          <p:attrName>style.visibility</p:attrName>
                                        </p:attrNameLst>
                                      </p:cBhvr>
                                      <p:to>
                                        <p:strVal val="visible"/>
                                      </p:to>
                                    </p:set>
                                    <p:animEffect filter="fade" transition="in">
                                      <p:cBhvr>
                                        <p:cTn dur="500"/>
                                        <p:tgtEl>
                                          <p:spTgt spid="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2" st="2"/>
                                            </p:txEl>
                                          </p:spTgt>
                                        </p:tgtEl>
                                        <p:attrNameLst>
                                          <p:attrName>style.visibility</p:attrName>
                                        </p:attrNameLst>
                                      </p:cBhvr>
                                      <p:to>
                                        <p:strVal val="visible"/>
                                      </p:to>
                                    </p:set>
                                    <p:animEffect filter="fade" transition="in">
                                      <p:cBhvr>
                                        <p:cTn dur="500"/>
                                        <p:tgtEl>
                                          <p:spTgt spid="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3" st="3"/>
                                            </p:txEl>
                                          </p:spTgt>
                                        </p:tgtEl>
                                        <p:attrNameLst>
                                          <p:attrName>style.visibility</p:attrName>
                                        </p:attrNameLst>
                                      </p:cBhvr>
                                      <p:to>
                                        <p:strVal val="visible"/>
                                      </p:to>
                                    </p:set>
                                    <p:animEffect filter="fade" transition="in">
                                      <p:cBhvr>
                                        <p:cTn dur="500"/>
                                        <p:tgtEl>
                                          <p:spTgt spid="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4" st="4"/>
                                            </p:txEl>
                                          </p:spTgt>
                                        </p:tgtEl>
                                        <p:attrNameLst>
                                          <p:attrName>style.visibility</p:attrName>
                                        </p:attrNameLst>
                                      </p:cBhvr>
                                      <p:to>
                                        <p:strVal val="visible"/>
                                      </p:to>
                                    </p:set>
                                    <p:animEffect filter="fade" transition="in">
                                      <p:cBhvr>
                                        <p:cTn dur="500"/>
                                        <p:tgtEl>
                                          <p:spTgt spid="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5" st="5"/>
                                            </p:txEl>
                                          </p:spTgt>
                                        </p:tgtEl>
                                        <p:attrNameLst>
                                          <p:attrName>style.visibility</p:attrName>
                                        </p:attrNameLst>
                                      </p:cBhvr>
                                      <p:to>
                                        <p:strVal val="visible"/>
                                      </p:to>
                                    </p:set>
                                    <p:animEffect filter="fade" transition="in">
                                      <p:cBhvr>
                                        <p:cTn dur="500"/>
                                        <p:tgtEl>
                                          <p:spTgt spid="2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6" st="6"/>
                                            </p:txEl>
                                          </p:spTgt>
                                        </p:tgtEl>
                                        <p:attrNameLst>
                                          <p:attrName>style.visibility</p:attrName>
                                        </p:attrNameLst>
                                      </p:cBhvr>
                                      <p:to>
                                        <p:strVal val="visible"/>
                                      </p:to>
                                    </p:set>
                                    <p:animEffect filter="fade" transition="in">
                                      <p:cBhvr>
                                        <p:cTn dur="500"/>
                                        <p:tgtEl>
                                          <p:spTgt spid="2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7" st="7"/>
                                            </p:txEl>
                                          </p:spTgt>
                                        </p:tgtEl>
                                        <p:attrNameLst>
                                          <p:attrName>style.visibility</p:attrName>
                                        </p:attrNameLst>
                                      </p:cBhvr>
                                      <p:to>
                                        <p:strVal val="visible"/>
                                      </p:to>
                                    </p:set>
                                    <p:animEffect filter="fade" transition="in">
                                      <p:cBhvr>
                                        <p:cTn dur="500"/>
                                        <p:tgtEl>
                                          <p:spTgt spid="2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8" st="8"/>
                                            </p:txEl>
                                          </p:spTgt>
                                        </p:tgtEl>
                                        <p:attrNameLst>
                                          <p:attrName>style.visibility</p:attrName>
                                        </p:attrNameLst>
                                      </p:cBhvr>
                                      <p:to>
                                        <p:strVal val="visible"/>
                                      </p:to>
                                    </p:set>
                                    <p:animEffect filter="fade" transition="in">
                                      <p:cBhvr>
                                        <p:cTn dur="500"/>
                                        <p:tgtEl>
                                          <p:spTgt spid="2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
                                            <p:txEl>
                                              <p:pRg end="9" st="9"/>
                                            </p:txEl>
                                          </p:spTgt>
                                        </p:tgtEl>
                                        <p:attrNameLst>
                                          <p:attrName>style.visibility</p:attrName>
                                        </p:attrNameLst>
                                      </p:cBhvr>
                                      <p:to>
                                        <p:strVal val="visible"/>
                                      </p:to>
                                    </p:set>
                                    <p:animEffect filter="fade" transition="in">
                                      <p:cBhvr>
                                        <p:cTn dur="500"/>
                                        <p:tgtEl>
                                          <p:spTgt spid="2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500"/>
                                        <p:tgtEl>
                                          <p:spTgt spid="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28"/>
                                        </p:tgtEl>
                                        <p:attrNameLst>
                                          <p:attrName>ppt_y</p:attrName>
                                        </p:attrNameLst>
                                      </p:cBhvr>
                                      <p:tavLst>
                                        <p:tav fmla="" tm="0">
                                          <p:val>
                                            <p:strVal val="#ppt_y"/>
                                          </p:val>
                                        </p:tav>
                                        <p:tav fmla="" tm="100000">
                                          <p:val>
                                            <p:strVal val="#ppt_y+1"/>
                                          </p:val>
                                        </p:tav>
                                      </p:tavLst>
                                    </p:anim>
                                    <p:set>
                                      <p:cBhvr>
                                        <p:cTn dur="1" fill="hold">
                                          <p:stCondLst>
                                            <p:cond delay="500"/>
                                          </p:stCondLst>
                                        </p:cTn>
                                        <p:tgtEl>
                                          <p:spTgt spid="2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Set Type</a:t>
            </a:r>
            <a:endParaRPr b="1" sz="4000" u="sng">
              <a:latin typeface="Times New Roman"/>
              <a:ea typeface="Times New Roman"/>
              <a:cs typeface="Times New Roman"/>
              <a:sym typeface="Times New Roman"/>
            </a:endParaRPr>
          </a:p>
        </p:txBody>
      </p:sp>
      <p:sp>
        <p:nvSpPr>
          <p:cNvPr id="34" name="Google Shape;34;p2"/>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Set- </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graphicFrame>
        <p:nvGraphicFramePr>
          <p:cNvPr id="35" name="Google Shape;35;p2"/>
          <p:cNvGraphicFramePr/>
          <p:nvPr/>
        </p:nvGraphicFramePr>
        <p:xfrm>
          <a:off x="464634" y="1352550"/>
          <a:ext cx="3000000" cy="3000000"/>
        </p:xfrm>
        <a:graphic>
          <a:graphicData uri="http://schemas.openxmlformats.org/drawingml/2006/table">
            <a:tbl>
              <a:tblPr>
                <a:noFill/>
                <a:tableStyleId>{D97C0FD7-72BC-4FB9-9AF8-22F18CD3B4A1}</a:tableStyleId>
              </a:tblPr>
              <a:tblGrid>
                <a:gridCol w="1497375"/>
                <a:gridCol w="1497375"/>
                <a:gridCol w="1497375"/>
              </a:tblGrid>
              <a:tr h="199650">
                <a:tc>
                  <a:txBody>
                    <a:bodyPr/>
                    <a:lstStyle/>
                    <a:p>
                      <a:pPr indent="0" lvl="0" marL="0" marR="0" rtl="0" algn="l">
                        <a:spcBef>
                          <a:spcPts val="0"/>
                        </a:spcBef>
                        <a:spcAft>
                          <a:spcPts val="0"/>
                        </a:spcAft>
                        <a:buNone/>
                      </a:pPr>
                      <a:r>
                        <a:rPr lang="en-US" sz="1000" u="none" cap="none" strike="noStrike"/>
                        <a:t>Method</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Description</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Example</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add(elem)</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Adds an element to the set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s.add(10)</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update(iterable)</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Adds multiple elements</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s.update([2, 3])</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9400">
                <a:tc>
                  <a:txBody>
                    <a:bodyPr/>
                    <a:lstStyle/>
                    <a:p>
                      <a:pPr indent="0" lvl="0" marL="0" marR="0" rtl="0" algn="l">
                        <a:spcBef>
                          <a:spcPts val="0"/>
                        </a:spcBef>
                        <a:spcAft>
                          <a:spcPts val="0"/>
                        </a:spcAft>
                        <a:buNone/>
                      </a:pPr>
                      <a:r>
                        <a:rPr lang="en-US" sz="1000"/>
                        <a:t>remove(elem)</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Removes elem; raises error if not found</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s.remove(3)</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9400">
                <a:tc>
                  <a:txBody>
                    <a:bodyPr/>
                    <a:lstStyle/>
                    <a:p>
                      <a:pPr indent="0" lvl="0" marL="0" marR="0" rtl="0" algn="l">
                        <a:spcBef>
                          <a:spcPts val="0"/>
                        </a:spcBef>
                        <a:spcAft>
                          <a:spcPts val="0"/>
                        </a:spcAft>
                        <a:buNone/>
                      </a:pPr>
                      <a:r>
                        <a:rPr lang="en-US" sz="1000"/>
                        <a:t>discard(elem)</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Removes elem; does nothing if not found</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s.discard(3)</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9400">
                <a:tc>
                  <a:txBody>
                    <a:bodyPr/>
                    <a:lstStyle/>
                    <a:p>
                      <a:pPr indent="0" lvl="0" marL="0" marR="0" rtl="0" algn="l">
                        <a:spcBef>
                          <a:spcPts val="0"/>
                        </a:spcBef>
                        <a:spcAft>
                          <a:spcPts val="0"/>
                        </a:spcAft>
                        <a:buNone/>
                      </a:pPr>
                      <a:r>
                        <a:rPr lang="en-US" sz="1000"/>
                        <a:t>pop()</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Removes &amp; returns an arbitrary element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s.pop()</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clear()</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Removes all elements</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s.clear()</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copy()</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Shallow copy of the set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new = s.copy()</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union(set2) / `</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Returns union</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intersection(set2) / &amp;</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Returns intersection</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 &amp; 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difference(set2) / -</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Elements in s not in 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 - 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9400">
                <a:tc>
                  <a:txBody>
                    <a:bodyPr/>
                    <a:lstStyle/>
                    <a:p>
                      <a:pPr indent="0" lvl="0" marL="0" marR="0" rtl="0" algn="l">
                        <a:spcBef>
                          <a:spcPts val="0"/>
                        </a:spcBef>
                        <a:spcAft>
                          <a:spcPts val="0"/>
                        </a:spcAft>
                        <a:buNone/>
                      </a:pPr>
                      <a:r>
                        <a:rPr lang="en-US" sz="1000"/>
                        <a:t>symmetric_difference(set2) / ^</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Elements in either but not both</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 ^ 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rPr lang="en-US" sz="1000"/>
                        <a:t>issubset(set2)</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 is subset of 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000"/>
                        <a:t>s.issubset(t)</a:t>
                      </a:r>
                      <a:endParaRPr/>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9650">
                <a:tc>
                  <a:txBody>
                    <a:bodyPr/>
                    <a:lstStyle/>
                    <a:p>
                      <a:pPr indent="0" lvl="0" marL="0" marR="0" rtl="0" algn="l">
                        <a:spcBef>
                          <a:spcPts val="0"/>
                        </a:spcBef>
                        <a:spcAft>
                          <a:spcPts val="0"/>
                        </a:spcAft>
                        <a:buNone/>
                      </a:pPr>
                      <a:r>
                        <a:t/>
                      </a:r>
                      <a:endParaRPr sz="1000"/>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000"/>
                    </a:p>
                  </a:txBody>
                  <a:tcPr marT="24950" marB="24950" marR="49925" marL="499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3"/>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Mapping Type/ dict / Dictionary</a:t>
            </a:r>
            <a:endParaRPr b="1" sz="4000" u="sng">
              <a:latin typeface="Times New Roman"/>
              <a:ea typeface="Times New Roman"/>
              <a:cs typeface="Times New Roman"/>
              <a:sym typeface="Times New Roman"/>
            </a:endParaRPr>
          </a:p>
        </p:txBody>
      </p:sp>
      <p:sp>
        <p:nvSpPr>
          <p:cNvPr id="41" name="Google Shape;41;p3"/>
          <p:cNvSpPr txBox="1"/>
          <p:nvPr>
            <p:ph idx="1" type="body"/>
          </p:nvPr>
        </p:nvSpPr>
        <p:spPr>
          <a:xfrm>
            <a:off x="457200" y="929878"/>
            <a:ext cx="8229600" cy="171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 map represents a group of elements in the form of key value pairs.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data = {101: ‘Rahul’, 102: ‘Raj’, 103: ‘Sonam’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data = {‘rahul’:2000, ‘raj’:3000, ‘sonam’:8000, }</a:t>
            </a:r>
            <a:endParaRPr sz="1800">
              <a:latin typeface="Times New Roman"/>
              <a:ea typeface="Times New Roman"/>
              <a:cs typeface="Times New Roman"/>
              <a:sym typeface="Times New Roman"/>
            </a:endParaRPr>
          </a:p>
        </p:txBody>
      </p:sp>
      <p:graphicFrame>
        <p:nvGraphicFramePr>
          <p:cNvPr id="42" name="Google Shape;42;p3"/>
          <p:cNvGraphicFramePr/>
          <p:nvPr/>
        </p:nvGraphicFramePr>
        <p:xfrm>
          <a:off x="1146260" y="2809824"/>
          <a:ext cx="3000000" cy="3000000"/>
        </p:xfrm>
        <a:graphic>
          <a:graphicData uri="http://schemas.openxmlformats.org/drawingml/2006/table">
            <a:tbl>
              <a:tblPr bandRow="1" firstRow="1">
                <a:noFill/>
                <a:tableStyleId>{FD7F53AD-BF50-47AC-978E-A8D9F2143B06}</a:tableStyleId>
              </a:tblPr>
              <a:tblGrid>
                <a:gridCol w="838200"/>
                <a:gridCol w="1219200"/>
              </a:tblGrid>
              <a:tr h="365750">
                <a:tc>
                  <a:txBody>
                    <a:bodyPr/>
                    <a:lstStyle/>
                    <a:p>
                      <a:pPr indent="0" lvl="0" marL="0" marR="0" rtl="0" algn="ctr">
                        <a:spcBef>
                          <a:spcPts val="0"/>
                        </a:spcBef>
                        <a:spcAft>
                          <a:spcPts val="0"/>
                        </a:spcAft>
                        <a:buNone/>
                      </a:pPr>
                      <a:r>
                        <a:rPr lang="en-US" sz="1800"/>
                        <a:t>[101]</a:t>
                      </a:r>
                      <a:endParaRPr sz="1800"/>
                    </a:p>
                  </a:txBody>
                  <a:tcPr marT="45725" marB="45725" marR="91450" marL="91450"/>
                </a:tc>
                <a:tc>
                  <a:txBody>
                    <a:bodyPr/>
                    <a:lstStyle/>
                    <a:p>
                      <a:pPr indent="0" lvl="0" marL="0" marR="0" rtl="0" algn="ctr">
                        <a:spcBef>
                          <a:spcPts val="0"/>
                        </a:spcBef>
                        <a:spcAft>
                          <a:spcPts val="0"/>
                        </a:spcAft>
                        <a:buNone/>
                      </a:pPr>
                      <a:r>
                        <a:rPr lang="en-US" sz="1800"/>
                        <a:t>Rahul</a:t>
                      </a:r>
                      <a:endParaRPr sz="1800"/>
                    </a:p>
                  </a:txBody>
                  <a:tcPr marT="45725" marB="45725" marR="91450" marL="91450"/>
                </a:tc>
              </a:tr>
              <a:tr h="365750">
                <a:tc>
                  <a:txBody>
                    <a:bodyPr/>
                    <a:lstStyle/>
                    <a:p>
                      <a:pPr indent="0" lvl="0" marL="0" marR="0" rtl="0" algn="ctr">
                        <a:spcBef>
                          <a:spcPts val="0"/>
                        </a:spcBef>
                        <a:spcAft>
                          <a:spcPts val="0"/>
                        </a:spcAft>
                        <a:buNone/>
                      </a:pPr>
                      <a:r>
                        <a:rPr lang="en-US" sz="1800"/>
                        <a:t>[102]</a:t>
                      </a:r>
                      <a:endParaRPr sz="1800"/>
                    </a:p>
                  </a:txBody>
                  <a:tcPr marT="45725" marB="45725" marR="91450" marL="91450"/>
                </a:tc>
                <a:tc>
                  <a:txBody>
                    <a:bodyPr/>
                    <a:lstStyle/>
                    <a:p>
                      <a:pPr indent="0" lvl="0" marL="0" marR="0" rtl="0" algn="ctr">
                        <a:spcBef>
                          <a:spcPts val="0"/>
                        </a:spcBef>
                        <a:spcAft>
                          <a:spcPts val="0"/>
                        </a:spcAft>
                        <a:buNone/>
                      </a:pPr>
                      <a:r>
                        <a:rPr lang="en-US" sz="1800"/>
                        <a:t>Raj</a:t>
                      </a:r>
                      <a:endParaRPr sz="1800"/>
                    </a:p>
                  </a:txBody>
                  <a:tcPr marT="45725" marB="45725" marR="91450" marL="91450"/>
                </a:tc>
              </a:tr>
              <a:tr h="365750">
                <a:tc>
                  <a:txBody>
                    <a:bodyPr/>
                    <a:lstStyle/>
                    <a:p>
                      <a:pPr indent="0" lvl="0" marL="0" marR="0" rtl="0" algn="ctr">
                        <a:spcBef>
                          <a:spcPts val="0"/>
                        </a:spcBef>
                        <a:spcAft>
                          <a:spcPts val="0"/>
                        </a:spcAft>
                        <a:buNone/>
                      </a:pPr>
                      <a:r>
                        <a:rPr lang="en-US" sz="1800"/>
                        <a:t>[103]</a:t>
                      </a:r>
                      <a:endParaRPr sz="1800"/>
                    </a:p>
                  </a:txBody>
                  <a:tcPr marT="45725" marB="45725" marR="91450" marL="91450"/>
                </a:tc>
                <a:tc>
                  <a:txBody>
                    <a:bodyPr/>
                    <a:lstStyle/>
                    <a:p>
                      <a:pPr indent="0" lvl="0" marL="0" marR="0" rtl="0" algn="ctr">
                        <a:spcBef>
                          <a:spcPts val="0"/>
                        </a:spcBef>
                        <a:spcAft>
                          <a:spcPts val="0"/>
                        </a:spcAft>
                        <a:buNone/>
                      </a:pPr>
                      <a:r>
                        <a:rPr lang="en-US" sz="1800"/>
                        <a:t>Sonam</a:t>
                      </a:r>
                      <a:endParaRPr sz="1800"/>
                    </a:p>
                  </a:txBody>
                  <a:tcPr marT="45725" marB="45725" marR="91450" marL="91450"/>
                </a:tc>
              </a:tr>
            </a:tbl>
          </a:graphicData>
        </a:graphic>
      </p:graphicFrame>
      <p:sp>
        <p:nvSpPr>
          <p:cNvPr id="43" name="Google Shape;43;p3"/>
          <p:cNvSpPr txBox="1"/>
          <p:nvPr/>
        </p:nvSpPr>
        <p:spPr>
          <a:xfrm>
            <a:off x="308060" y="3158558"/>
            <a:ext cx="5693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data</a:t>
            </a:r>
            <a:endParaRPr sz="1800">
              <a:solidFill>
                <a:schemeClr val="dk1"/>
              </a:solidFill>
              <a:latin typeface="Times New Roman"/>
              <a:ea typeface="Times New Roman"/>
              <a:cs typeface="Times New Roman"/>
              <a:sym typeface="Times New Roman"/>
            </a:endParaRPr>
          </a:p>
        </p:txBody>
      </p:sp>
      <p:cxnSp>
        <p:nvCxnSpPr>
          <p:cNvPr id="44" name="Google Shape;44;p3"/>
          <p:cNvCxnSpPr/>
          <p:nvPr/>
        </p:nvCxnSpPr>
        <p:spPr>
          <a:xfrm flipH="1" rot="10800000">
            <a:off x="765260" y="3038424"/>
            <a:ext cx="381000" cy="2286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8039"/>
              </a:srgbClr>
            </a:outerShdw>
          </a:effectLst>
        </p:spPr>
      </p:cxnSp>
      <p:cxnSp>
        <p:nvCxnSpPr>
          <p:cNvPr id="45" name="Google Shape;45;p3"/>
          <p:cNvCxnSpPr/>
          <p:nvPr/>
        </p:nvCxnSpPr>
        <p:spPr>
          <a:xfrm>
            <a:off x="765260" y="3343224"/>
            <a:ext cx="381000" cy="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8039"/>
              </a:srgbClr>
            </a:outerShdw>
          </a:effectLst>
        </p:spPr>
      </p:cxnSp>
      <p:cxnSp>
        <p:nvCxnSpPr>
          <p:cNvPr id="46" name="Google Shape;46;p3"/>
          <p:cNvCxnSpPr/>
          <p:nvPr/>
        </p:nvCxnSpPr>
        <p:spPr>
          <a:xfrm>
            <a:off x="765260" y="3419424"/>
            <a:ext cx="381000" cy="2286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8039"/>
              </a:srgbClr>
            </a:outerShdw>
          </a:effectLst>
        </p:spPr>
      </p:cxnSp>
      <p:graphicFrame>
        <p:nvGraphicFramePr>
          <p:cNvPr id="47" name="Google Shape;47;p3"/>
          <p:cNvGraphicFramePr/>
          <p:nvPr/>
        </p:nvGraphicFramePr>
        <p:xfrm>
          <a:off x="4953000" y="2800350"/>
          <a:ext cx="3000000" cy="3000000"/>
        </p:xfrm>
        <a:graphic>
          <a:graphicData uri="http://schemas.openxmlformats.org/drawingml/2006/table">
            <a:tbl>
              <a:tblPr bandRow="1" firstRow="1">
                <a:noFill/>
                <a:tableStyleId>{FD7F53AD-BF50-47AC-978E-A8D9F2143B06}</a:tableStyleId>
              </a:tblPr>
              <a:tblGrid>
                <a:gridCol w="1066800"/>
                <a:gridCol w="990600"/>
              </a:tblGrid>
              <a:tr h="365750">
                <a:tc>
                  <a:txBody>
                    <a:bodyPr/>
                    <a:lstStyle/>
                    <a:p>
                      <a:pPr indent="0" lvl="0" marL="0" marR="0" rtl="0" algn="ctr">
                        <a:spcBef>
                          <a:spcPts val="0"/>
                        </a:spcBef>
                        <a:spcAft>
                          <a:spcPts val="0"/>
                        </a:spcAft>
                        <a:buNone/>
                      </a:pPr>
                      <a:r>
                        <a:rPr lang="en-US" sz="1800"/>
                        <a:t>[‘rahul’]</a:t>
                      </a:r>
                      <a:endParaRPr sz="1800"/>
                    </a:p>
                  </a:txBody>
                  <a:tcPr marT="45725" marB="45725" marR="91450" marL="91450"/>
                </a:tc>
                <a:tc>
                  <a:txBody>
                    <a:bodyPr/>
                    <a:lstStyle/>
                    <a:p>
                      <a:pPr indent="0" lvl="0" marL="0" marR="0" rtl="0" algn="ctr">
                        <a:spcBef>
                          <a:spcPts val="0"/>
                        </a:spcBef>
                        <a:spcAft>
                          <a:spcPts val="0"/>
                        </a:spcAft>
                        <a:buNone/>
                      </a:pPr>
                      <a:r>
                        <a:rPr lang="en-US" sz="1800"/>
                        <a:t>2000</a:t>
                      </a:r>
                      <a:endParaRPr sz="1800"/>
                    </a:p>
                  </a:txBody>
                  <a:tcPr marT="45725" marB="45725" marR="91450" marL="91450"/>
                </a:tc>
              </a:tr>
              <a:tr h="365750">
                <a:tc>
                  <a:txBody>
                    <a:bodyPr/>
                    <a:lstStyle/>
                    <a:p>
                      <a:pPr indent="0" lvl="0" marL="0" marR="0" rtl="0" algn="ctr">
                        <a:spcBef>
                          <a:spcPts val="0"/>
                        </a:spcBef>
                        <a:spcAft>
                          <a:spcPts val="0"/>
                        </a:spcAft>
                        <a:buNone/>
                      </a:pPr>
                      <a:r>
                        <a:rPr lang="en-US" sz="1800"/>
                        <a:t>[‘raj’]</a:t>
                      </a:r>
                      <a:endParaRPr sz="1800"/>
                    </a:p>
                  </a:txBody>
                  <a:tcPr marT="45725" marB="45725" marR="91450" marL="91450"/>
                </a:tc>
                <a:tc>
                  <a:txBody>
                    <a:bodyPr/>
                    <a:lstStyle/>
                    <a:p>
                      <a:pPr indent="0" lvl="0" marL="0" marR="0" rtl="0" algn="ctr">
                        <a:spcBef>
                          <a:spcPts val="0"/>
                        </a:spcBef>
                        <a:spcAft>
                          <a:spcPts val="0"/>
                        </a:spcAft>
                        <a:buNone/>
                      </a:pPr>
                      <a:r>
                        <a:rPr lang="en-US" sz="1800"/>
                        <a:t>3000</a:t>
                      </a:r>
                      <a:endParaRPr sz="1800"/>
                    </a:p>
                  </a:txBody>
                  <a:tcPr marT="45725" marB="45725" marR="91450" marL="91450"/>
                </a:tc>
              </a:tr>
              <a:tr h="365750">
                <a:tc>
                  <a:txBody>
                    <a:bodyPr/>
                    <a:lstStyle/>
                    <a:p>
                      <a:pPr indent="0" lvl="0" marL="0" marR="0" rtl="0" algn="ctr">
                        <a:spcBef>
                          <a:spcPts val="0"/>
                        </a:spcBef>
                        <a:spcAft>
                          <a:spcPts val="0"/>
                        </a:spcAft>
                        <a:buNone/>
                      </a:pPr>
                      <a:r>
                        <a:rPr lang="en-US" sz="1800"/>
                        <a:t>[‘sonam’]</a:t>
                      </a:r>
                      <a:endParaRPr sz="1800"/>
                    </a:p>
                  </a:txBody>
                  <a:tcPr marT="45725" marB="45725" marR="91450" marL="91450"/>
                </a:tc>
                <a:tc>
                  <a:txBody>
                    <a:bodyPr/>
                    <a:lstStyle/>
                    <a:p>
                      <a:pPr indent="0" lvl="0" marL="0" marR="0" rtl="0" algn="ctr">
                        <a:spcBef>
                          <a:spcPts val="0"/>
                        </a:spcBef>
                        <a:spcAft>
                          <a:spcPts val="0"/>
                        </a:spcAft>
                        <a:buNone/>
                      </a:pPr>
                      <a:r>
                        <a:rPr lang="en-US" sz="1800"/>
                        <a:t>8000</a:t>
                      </a:r>
                      <a:endParaRPr sz="1800"/>
                    </a:p>
                  </a:txBody>
                  <a:tcPr marT="45725" marB="45725" marR="91450" marL="91450"/>
                </a:tc>
              </a:tr>
            </a:tbl>
          </a:graphicData>
        </a:graphic>
      </p:graphicFrame>
      <p:sp>
        <p:nvSpPr>
          <p:cNvPr id="48" name="Google Shape;48;p3"/>
          <p:cNvSpPr txBox="1"/>
          <p:nvPr/>
        </p:nvSpPr>
        <p:spPr>
          <a:xfrm>
            <a:off x="4114800" y="3149084"/>
            <a:ext cx="5693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data</a:t>
            </a:r>
            <a:endParaRPr sz="1800">
              <a:solidFill>
                <a:schemeClr val="dk1"/>
              </a:solidFill>
              <a:latin typeface="Times New Roman"/>
              <a:ea typeface="Times New Roman"/>
              <a:cs typeface="Times New Roman"/>
              <a:sym typeface="Times New Roman"/>
            </a:endParaRPr>
          </a:p>
        </p:txBody>
      </p:sp>
      <p:cxnSp>
        <p:nvCxnSpPr>
          <p:cNvPr id="49" name="Google Shape;49;p3"/>
          <p:cNvCxnSpPr/>
          <p:nvPr/>
        </p:nvCxnSpPr>
        <p:spPr>
          <a:xfrm flipH="1" rot="10800000">
            <a:off x="4572000" y="3028950"/>
            <a:ext cx="381000" cy="2286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8039"/>
              </a:srgbClr>
            </a:outerShdw>
          </a:effectLst>
        </p:spPr>
      </p:cxnSp>
      <p:cxnSp>
        <p:nvCxnSpPr>
          <p:cNvPr id="50" name="Google Shape;50;p3"/>
          <p:cNvCxnSpPr/>
          <p:nvPr/>
        </p:nvCxnSpPr>
        <p:spPr>
          <a:xfrm>
            <a:off x="4572000" y="3333750"/>
            <a:ext cx="381000" cy="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8039"/>
              </a:srgbClr>
            </a:outerShdw>
          </a:effectLst>
        </p:spPr>
      </p:cxnSp>
      <p:cxnSp>
        <p:nvCxnSpPr>
          <p:cNvPr id="51" name="Google Shape;51;p3"/>
          <p:cNvCxnSpPr/>
          <p:nvPr/>
        </p:nvCxnSpPr>
        <p:spPr>
          <a:xfrm>
            <a:off x="4572000" y="3409950"/>
            <a:ext cx="381000" cy="2286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8039"/>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
                                            <p:txEl>
                                              <p:pRg end="0" st="0"/>
                                            </p:txEl>
                                          </p:spTgt>
                                        </p:tgtEl>
                                        <p:attrNameLst>
                                          <p:attrName>style.visibility</p:attrName>
                                        </p:attrNameLst>
                                      </p:cBhvr>
                                      <p:to>
                                        <p:strVal val="visible"/>
                                      </p:to>
                                    </p:set>
                                    <p:animEffect filter="fade" transition="in">
                                      <p:cBhvr>
                                        <p:cTn dur="500"/>
                                        <p:tgtEl>
                                          <p:spTgt spid="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
                                            <p:txEl>
                                              <p:pRg end="1" st="1"/>
                                            </p:txEl>
                                          </p:spTgt>
                                        </p:tgtEl>
                                        <p:attrNameLst>
                                          <p:attrName>style.visibility</p:attrName>
                                        </p:attrNameLst>
                                      </p:cBhvr>
                                      <p:to>
                                        <p:strVal val="visible"/>
                                      </p:to>
                                    </p:set>
                                    <p:animEffect filter="fade" transition="in">
                                      <p:cBhvr>
                                        <p:cTn dur="500"/>
                                        <p:tgtEl>
                                          <p:spTgt spid="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
                                            <p:txEl>
                                              <p:pRg end="2" st="2"/>
                                            </p:txEl>
                                          </p:spTgt>
                                        </p:tgtEl>
                                        <p:attrNameLst>
                                          <p:attrName>style.visibility</p:attrName>
                                        </p:attrNameLst>
                                      </p:cBhvr>
                                      <p:to>
                                        <p:strVal val="visible"/>
                                      </p:to>
                                    </p:set>
                                    <p:animEffect filter="fade" transition="in">
                                      <p:cBhvr>
                                        <p:cTn dur="500"/>
                                        <p:tgtEl>
                                          <p:spTgt spid="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
                                            <p:txEl>
                                              <p:pRg end="3" st="3"/>
                                            </p:txEl>
                                          </p:spTgt>
                                        </p:tgtEl>
                                        <p:attrNameLst>
                                          <p:attrName>style.visibility</p:attrName>
                                        </p:attrNameLst>
                                      </p:cBhvr>
                                      <p:to>
                                        <p:strVal val="visible"/>
                                      </p:to>
                                    </p:set>
                                    <p:animEffect filter="fade" transition="in">
                                      <p:cBhvr>
                                        <p:cTn dur="500"/>
                                        <p:tgtEl>
                                          <p:spTgt spid="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
                                        </p:tgtEl>
                                        <p:attrNameLst>
                                          <p:attrName>style.visibility</p:attrName>
                                        </p:attrNameLst>
                                      </p:cBhvr>
                                      <p:to>
                                        <p:strVal val="visible"/>
                                      </p:to>
                                    </p:set>
                                    <p:animEffect filter="fade" transition="in">
                                      <p:cBhvr>
                                        <p:cTn dur="500"/>
                                        <p:tgtEl>
                                          <p:spTgt spid="42"/>
                                        </p:tgtEl>
                                      </p:cBhvr>
                                    </p:animEffect>
                                  </p:childTnLst>
                                </p:cTn>
                              </p:par>
                              <p:par>
                                <p:cTn fill="hold" nodeType="withEffect" presetClass="entr" presetID="10" presetSubtype="0">
                                  <p:stCondLst>
                                    <p:cond delay="0"/>
                                  </p:stCondLst>
                                  <p:childTnLst>
                                    <p:set>
                                      <p:cBhvr>
                                        <p:cTn dur="1" fill="hold">
                                          <p:stCondLst>
                                            <p:cond delay="0"/>
                                          </p:stCondLst>
                                        </p:cTn>
                                        <p:tgtEl>
                                          <p:spTgt spid="43"/>
                                        </p:tgtEl>
                                        <p:attrNameLst>
                                          <p:attrName>style.visibility</p:attrName>
                                        </p:attrNameLst>
                                      </p:cBhvr>
                                      <p:to>
                                        <p:strVal val="visible"/>
                                      </p:to>
                                    </p:set>
                                    <p:animEffect filter="fade" transition="in">
                                      <p:cBhvr>
                                        <p:cTn dur="500"/>
                                        <p:tgtEl>
                                          <p:spTgt spid="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
                                        </p:tgtEl>
                                        <p:attrNameLst>
                                          <p:attrName>style.visibility</p:attrName>
                                        </p:attrNameLst>
                                      </p:cBhvr>
                                      <p:to>
                                        <p:strVal val="visible"/>
                                      </p:to>
                                    </p:set>
                                    <p:animEffect filter="fade" transition="in">
                                      <p:cBhvr>
                                        <p:cTn dur="500"/>
                                        <p:tgtEl>
                                          <p:spTgt spid="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gtEl>
                                        <p:attrNameLst>
                                          <p:attrName>style.visibility</p:attrName>
                                        </p:attrNameLst>
                                      </p:cBhvr>
                                      <p:to>
                                        <p:strVal val="visible"/>
                                      </p:to>
                                    </p:set>
                                    <p:animEffect filter="fade" transition="in">
                                      <p:cBhvr>
                                        <p:cTn dur="500"/>
                                        <p:tgtEl>
                                          <p:spTgt spid="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par>
                                <p:cTn fill="hold" nodeType="with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500"/>
                                        <p:tgtEl>
                                          <p:spTgt spid="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Mapping Type/ dict / Dictionary</a:t>
            </a:r>
            <a:endParaRPr b="1" sz="4000" u="sng">
              <a:latin typeface="Times New Roman"/>
              <a:ea typeface="Times New Roman"/>
              <a:cs typeface="Times New Roman"/>
              <a:sym typeface="Times New Roman"/>
            </a:endParaRPr>
          </a:p>
        </p:txBody>
      </p:sp>
      <p:sp>
        <p:nvSpPr>
          <p:cNvPr id="57" name="Google Shape;57;p4"/>
          <p:cNvSpPr txBox="1"/>
          <p:nvPr>
            <p:ph idx="1" type="body"/>
          </p:nvPr>
        </p:nvSpPr>
        <p:spPr>
          <a:xfrm>
            <a:off x="457200" y="929878"/>
            <a:ext cx="8229600" cy="1718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Dict-</a:t>
            </a:r>
            <a:endParaRPr/>
          </a:p>
          <a:p>
            <a:pPr indent="0" lvl="0" marL="0" rtl="0" algn="l">
              <a:spcBef>
                <a:spcPts val="360"/>
              </a:spcBef>
              <a:spcAft>
                <a:spcPts val="0"/>
              </a:spcAft>
              <a:buClr>
                <a:schemeClr val="dk1"/>
              </a:buClr>
              <a:buSzPts val="1800"/>
              <a:buNone/>
            </a:pPr>
            <a:r>
              <a:t/>
            </a:r>
            <a:endParaRPr b="1" sz="1800">
              <a:latin typeface="Times New Roman"/>
              <a:ea typeface="Times New Roman"/>
              <a:cs typeface="Times New Roman"/>
              <a:sym typeface="Times New Roman"/>
            </a:endParaRPr>
          </a:p>
        </p:txBody>
      </p:sp>
      <p:graphicFrame>
        <p:nvGraphicFramePr>
          <p:cNvPr id="58" name="Google Shape;58;p4"/>
          <p:cNvGraphicFramePr/>
          <p:nvPr/>
        </p:nvGraphicFramePr>
        <p:xfrm>
          <a:off x="457200" y="1352550"/>
          <a:ext cx="3000000" cy="3000000"/>
        </p:xfrm>
        <a:graphic>
          <a:graphicData uri="http://schemas.openxmlformats.org/drawingml/2006/table">
            <a:tbl>
              <a:tblPr>
                <a:noFill/>
                <a:tableStyleId>{D97C0FD7-72BC-4FB9-9AF8-22F18CD3B4A1}</a:tableStyleId>
              </a:tblPr>
              <a:tblGrid>
                <a:gridCol w="1414200"/>
                <a:gridCol w="1414200"/>
                <a:gridCol w="1414200"/>
              </a:tblGrid>
              <a:tr h="188550">
                <a:tc>
                  <a:txBody>
                    <a:bodyPr/>
                    <a:lstStyle/>
                    <a:p>
                      <a:pPr indent="0" lvl="0" marL="0" marR="0" rtl="0" algn="l">
                        <a:spcBef>
                          <a:spcPts val="0"/>
                        </a:spcBef>
                        <a:spcAft>
                          <a:spcPts val="0"/>
                        </a:spcAft>
                        <a:buNone/>
                      </a:pPr>
                      <a:r>
                        <a:rPr lang="en-US" sz="900"/>
                        <a:t>Method</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Description</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Example</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get(key[, default])</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Returns the value for key, or default if not found</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d.get("age", 0)</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8550">
                <a:tc>
                  <a:txBody>
                    <a:bodyPr/>
                    <a:lstStyle/>
                    <a:p>
                      <a:pPr indent="0" lvl="0" marL="0" marR="0" rtl="0" algn="l">
                        <a:spcBef>
                          <a:spcPts val="0"/>
                        </a:spcBef>
                        <a:spcAft>
                          <a:spcPts val="0"/>
                        </a:spcAft>
                        <a:buNone/>
                      </a:pPr>
                      <a:r>
                        <a:rPr lang="en-US" sz="900"/>
                        <a:t>keys()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Returns a view of all keys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d.keys()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8550">
                <a:tc>
                  <a:txBody>
                    <a:bodyPr/>
                    <a:lstStyle/>
                    <a:p>
                      <a:pPr indent="0" lvl="0" marL="0" marR="0" rtl="0" algn="l">
                        <a:spcBef>
                          <a:spcPts val="0"/>
                        </a:spcBef>
                        <a:spcAft>
                          <a:spcPts val="0"/>
                        </a:spcAft>
                        <a:buNone/>
                      </a:pPr>
                      <a:r>
                        <a:rPr lang="en-US" sz="900"/>
                        <a:t>values()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Returns a view of all values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d.values()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items()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Returns view of key-value pairs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d.items()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update(other_dict)</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Merges another dict into this one</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d.update({'age': 30})</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pop(key[, default])</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Removes key and returns its value</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d.pop("name")</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popitem()</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Removes and returns the </a:t>
                      </a:r>
                      <a:r>
                        <a:rPr b="1" lang="en-US" sz="900"/>
                        <a:t>last inserted</a:t>
                      </a:r>
                      <a:r>
                        <a:rPr lang="en-US" sz="900"/>
                        <a:t> key-value pair</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d.popitem()</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setdefault(key[, default])</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Returns value if key exists, else sets it</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d.setdefault('x', 0)</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88550">
                <a:tc>
                  <a:txBody>
                    <a:bodyPr/>
                    <a:lstStyle/>
                    <a:p>
                      <a:pPr indent="0" lvl="0" marL="0" marR="0" rtl="0" algn="l">
                        <a:spcBef>
                          <a:spcPts val="0"/>
                        </a:spcBef>
                        <a:spcAft>
                          <a:spcPts val="0"/>
                        </a:spcAft>
                        <a:buNone/>
                      </a:pPr>
                      <a:r>
                        <a:rPr lang="en-US" sz="900"/>
                        <a:t>clear()</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Removes all items</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d.clear()</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copy()</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Shallow copy of the dictionary</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new = d.copy()</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9975">
                <a:tc>
                  <a:txBody>
                    <a:bodyPr/>
                    <a:lstStyle/>
                    <a:p>
                      <a:pPr indent="0" lvl="0" marL="0" marR="0" rtl="0" algn="l">
                        <a:spcBef>
                          <a:spcPts val="0"/>
                        </a:spcBef>
                        <a:spcAft>
                          <a:spcPts val="0"/>
                        </a:spcAft>
                        <a:buNone/>
                      </a:pPr>
                      <a:r>
                        <a:rPr lang="en-US" sz="900"/>
                        <a:t>fromkeys(seq[, value])</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Creates a new dict from keys with given value</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900"/>
                        <a:t>dict.fromkeys(['a', 'b'], 0)</a:t>
                      </a:r>
                      <a:endParaRPr/>
                    </a:p>
                  </a:txBody>
                  <a:tcPr marT="23575" marB="23575" marR="47150" marL="47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animEffect filter="fade" transition="in">
                                      <p:cBhvr>
                                        <p:cTn dur="500"/>
                                        <p:tgtEl>
                                          <p:spTgt spid="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animEffect filter="fade" transition="in">
                                      <p:cBhvr>
                                        <p:cTn dur="500"/>
                                        <p:tgtEl>
                                          <p:spTgt spid="5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Comparison</a:t>
            </a:r>
            <a:endParaRPr/>
          </a:p>
        </p:txBody>
      </p:sp>
      <p:graphicFrame>
        <p:nvGraphicFramePr>
          <p:cNvPr id="64" name="Google Shape;64;p5"/>
          <p:cNvGraphicFramePr/>
          <p:nvPr/>
        </p:nvGraphicFramePr>
        <p:xfrm>
          <a:off x="685800" y="1077208"/>
          <a:ext cx="3000000" cy="3000000"/>
        </p:xfrm>
        <a:graphic>
          <a:graphicData uri="http://schemas.openxmlformats.org/drawingml/2006/table">
            <a:tbl>
              <a:tblPr>
                <a:gradFill>
                  <a:gsLst>
                    <a:gs pos="0">
                      <a:srgbClr val="DAFEA4"/>
                    </a:gs>
                    <a:gs pos="35000">
                      <a:srgbClr val="E3FEBF"/>
                    </a:gs>
                    <a:gs pos="100000">
                      <a:srgbClr val="F4FEE6"/>
                    </a:gs>
                  </a:gsLst>
                  <a:lin ang="16200000" scaled="0"/>
                </a:gradFill>
                <a:tableStyleId>{2C2B7CE1-C5DE-4DFF-907A-08FC509AC315}</a:tableStyleId>
              </a:tblPr>
              <a:tblGrid>
                <a:gridCol w="1308100"/>
                <a:gridCol w="1308100"/>
                <a:gridCol w="1308100"/>
                <a:gridCol w="1308100"/>
                <a:gridCol w="1308100"/>
                <a:gridCol w="1308100"/>
              </a:tblGrid>
              <a:tr h="203075">
                <a:tc>
                  <a:txBody>
                    <a:bodyPr/>
                    <a:lstStyle/>
                    <a:p>
                      <a:pPr indent="0" lvl="0" marL="0" marR="0" rtl="0" algn="l">
                        <a:spcBef>
                          <a:spcPts val="0"/>
                        </a:spcBef>
                        <a:spcAft>
                          <a:spcPts val="0"/>
                        </a:spcAft>
                        <a:buClr>
                          <a:schemeClr val="dk1"/>
                        </a:buClr>
                        <a:buSzPts val="1050"/>
                        <a:buFont typeface="Calibri"/>
                        <a:buNone/>
                      </a:pPr>
                      <a:r>
                        <a:rPr b="1" lang="en-US" sz="1050"/>
                        <a:t>Feature / Data Type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b="1" lang="en-US" sz="1050"/>
                        <a:t>String</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b="1" lang="en-US" sz="1050"/>
                        <a:t>List</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b="1" lang="en-US" sz="1050"/>
                        <a:t>Tuple</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b="1" lang="en-US" sz="1050"/>
                        <a:t>Set</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b="1" lang="en-US" sz="1050"/>
                        <a:t>Dictionary</a:t>
                      </a:r>
                      <a:endParaRPr sz="1050"/>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Syntax</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"abc" or 'abc' or '''abc'''</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[1, 2, 3]</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(1, 2, 3)</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{1, 2, 3}</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 1, "b": 2}</a:t>
                      </a:r>
                      <a:endParaRPr/>
                    </a:p>
                  </a:txBody>
                  <a:tcPr marT="14500" marB="14500" marR="29000" marL="29000" anchor="ctr"/>
                </a:tc>
              </a:tr>
              <a:tr h="116025">
                <a:tc>
                  <a:txBody>
                    <a:bodyPr/>
                    <a:lstStyle/>
                    <a:p>
                      <a:pPr indent="0" lvl="0" marL="0" marR="0" rtl="0" algn="l">
                        <a:spcBef>
                          <a:spcPts val="0"/>
                        </a:spcBef>
                        <a:spcAft>
                          <a:spcPts val="0"/>
                        </a:spcAft>
                        <a:buClr>
                          <a:schemeClr val="dk1"/>
                        </a:buClr>
                        <a:buSzPts val="1050"/>
                        <a:buFont typeface="Calibri"/>
                        <a:buNone/>
                      </a:pPr>
                      <a:r>
                        <a:rPr b="1" lang="en-US" sz="1050"/>
                        <a:t>Mutable</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Ordered (Python 3.7+)</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 (Unordered)</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Allows Duplicates</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Keys – No✅ Values – Yes</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Indexing</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 (but keys can be accessed)</a:t>
                      </a:r>
                      <a:endParaRPr/>
                    </a:p>
                  </a:txBody>
                  <a:tcPr marT="14500" marB="14500" marR="29000" marL="29000" anchor="ctr"/>
                </a:tc>
              </a:tr>
              <a:tr h="377125">
                <a:tc>
                  <a:txBody>
                    <a:bodyPr/>
                    <a:lstStyle/>
                    <a:p>
                      <a:pPr indent="0" lvl="0" marL="0" marR="0" rtl="0" algn="l">
                        <a:spcBef>
                          <a:spcPts val="0"/>
                        </a:spcBef>
                        <a:spcAft>
                          <a:spcPts val="0"/>
                        </a:spcAft>
                        <a:buClr>
                          <a:schemeClr val="dk1"/>
                        </a:buClr>
                        <a:buSzPts val="1050"/>
                        <a:buFont typeface="Calibri"/>
                        <a:buNone/>
                      </a:pPr>
                      <a:r>
                        <a:rPr b="1" lang="en-US" sz="1050"/>
                        <a:t>Data Types Allowed</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Only characters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Any type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Any type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Any immutable type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Keys: immutableValues: any type</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Change Elements</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 (need new string)</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No</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 (add/remove)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 Yes (update values)</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Common Methods</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.upper(), .find(), .replace()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.append(), .extend(), .remove()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.count(), .index()</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.add(), .remove(), .union()</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.keys(), .values(), .items()</a:t>
                      </a:r>
                      <a:endParaRPr/>
                    </a:p>
                  </a:txBody>
                  <a:tcPr marT="14500" marB="14500" marR="29000" marL="29000" anchor="ctr"/>
                </a:tc>
              </a:tr>
              <a:tr h="377125">
                <a:tc>
                  <a:txBody>
                    <a:bodyPr/>
                    <a:lstStyle/>
                    <a:p>
                      <a:pPr indent="0" lvl="0" marL="0" marR="0" rtl="0" algn="l">
                        <a:spcBef>
                          <a:spcPts val="0"/>
                        </a:spcBef>
                        <a:spcAft>
                          <a:spcPts val="0"/>
                        </a:spcAft>
                        <a:buClr>
                          <a:schemeClr val="dk1"/>
                        </a:buClr>
                        <a:buSzPts val="1050"/>
                        <a:buFont typeface="Calibri"/>
                        <a:buNone/>
                      </a:pPr>
                      <a:r>
                        <a:rPr b="1" lang="en-US" sz="1050"/>
                        <a:t>Duplicates Handling</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Keeps duplicates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Keeps duplicates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Keeps duplicates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Removes duplicates automatically</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Keys unique; values can repeat</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Performance</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Fast for fixed text</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Flexible but slower than tuple</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Faster than list for fixed data</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Fast for membership checks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Fast key-based access</a:t>
                      </a:r>
                      <a:endParaRPr/>
                    </a:p>
                  </a:txBody>
                  <a:tcPr marT="14500" marB="14500" marR="29000" marL="29000" anchor="ctr"/>
                </a:tc>
              </a:tr>
              <a:tr h="290100">
                <a:tc>
                  <a:txBody>
                    <a:bodyPr/>
                    <a:lstStyle/>
                    <a:p>
                      <a:pPr indent="0" lvl="0" marL="0" marR="0" rtl="0" algn="l">
                        <a:spcBef>
                          <a:spcPts val="0"/>
                        </a:spcBef>
                        <a:spcAft>
                          <a:spcPts val="0"/>
                        </a:spcAft>
                        <a:buClr>
                          <a:schemeClr val="dk1"/>
                        </a:buClr>
                        <a:buSzPts val="1050"/>
                        <a:buFont typeface="Calibri"/>
                        <a:buNone/>
                      </a:pPr>
                      <a:r>
                        <a:rPr b="1" lang="en-US" sz="1050"/>
                        <a:t>Best Use Case</a:t>
                      </a:r>
                      <a:endParaRPr sz="1050"/>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Text manipulation</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Dynamic ordered data</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Fixed ordered data</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Unique items &amp; fast lookups</a:t>
                      </a:r>
                      <a:endParaRPr/>
                    </a:p>
                  </a:txBody>
                  <a:tcPr marT="14500" marB="14500" marR="29000" marL="29000" anchor="ctr"/>
                </a:tc>
                <a:tc>
                  <a:txBody>
                    <a:bodyPr/>
                    <a:lstStyle/>
                    <a:p>
                      <a:pPr indent="0" lvl="0" marL="0" marR="0" rtl="0" algn="l">
                        <a:spcBef>
                          <a:spcPts val="0"/>
                        </a:spcBef>
                        <a:spcAft>
                          <a:spcPts val="0"/>
                        </a:spcAft>
                        <a:buClr>
                          <a:schemeClr val="dk1"/>
                        </a:buClr>
                        <a:buSzPts val="1050"/>
                        <a:buFont typeface="Calibri"/>
                        <a:buNone/>
                      </a:pPr>
                      <a:r>
                        <a:rPr lang="en-US" sz="1050"/>
                        <a:t>Key-value mapping</a:t>
                      </a:r>
                      <a:endParaRPr/>
                    </a:p>
                  </a:txBody>
                  <a:tcPr marT="14500" marB="14500" marR="29000" marL="2900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Operators</a:t>
            </a:r>
            <a:endParaRPr b="1" sz="4000" u="sng">
              <a:latin typeface="Times New Roman"/>
              <a:ea typeface="Times New Roman"/>
              <a:cs typeface="Times New Roman"/>
              <a:sym typeface="Times New Roman"/>
            </a:endParaRPr>
          </a:p>
        </p:txBody>
      </p:sp>
      <p:sp>
        <p:nvSpPr>
          <p:cNvPr id="70" name="Google Shape;70;p6"/>
          <p:cNvSpPr txBox="1"/>
          <p:nvPr>
            <p:ph idx="1" type="body"/>
          </p:nvPr>
        </p:nvSpPr>
        <p:spPr>
          <a:xfrm>
            <a:off x="457200" y="895350"/>
            <a:ext cx="8229600" cy="3886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An operator is a symbol that performs an operation.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Arithmetic Operators</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Relational Operators / Comparison Operators</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Logical Operators </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Assignment Operators</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Bitwise Operators</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Membership Operators</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Identity Operators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0" st="0"/>
                                            </p:txEl>
                                          </p:spTgt>
                                        </p:tgtEl>
                                        <p:attrNameLst>
                                          <p:attrName>style.visibility</p:attrName>
                                        </p:attrNameLst>
                                      </p:cBhvr>
                                      <p:to>
                                        <p:strVal val="visible"/>
                                      </p:to>
                                    </p:set>
                                    <p:animEffect filter="fade" transition="in">
                                      <p:cBhvr>
                                        <p:cTn dur="500"/>
                                        <p:tgtEl>
                                          <p:spTgt spid="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1" st="1"/>
                                            </p:txEl>
                                          </p:spTgt>
                                        </p:tgtEl>
                                        <p:attrNameLst>
                                          <p:attrName>style.visibility</p:attrName>
                                        </p:attrNameLst>
                                      </p:cBhvr>
                                      <p:to>
                                        <p:strVal val="visible"/>
                                      </p:to>
                                    </p:set>
                                    <p:animEffect filter="fade" transition="in">
                                      <p:cBhvr>
                                        <p:cTn dur="500"/>
                                        <p:tgtEl>
                                          <p:spTgt spid="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2" st="2"/>
                                            </p:txEl>
                                          </p:spTgt>
                                        </p:tgtEl>
                                        <p:attrNameLst>
                                          <p:attrName>style.visibility</p:attrName>
                                        </p:attrNameLst>
                                      </p:cBhvr>
                                      <p:to>
                                        <p:strVal val="visible"/>
                                      </p:to>
                                    </p:set>
                                    <p:animEffect filter="fade" transition="in">
                                      <p:cBhvr>
                                        <p:cTn dur="500"/>
                                        <p:tgtEl>
                                          <p:spTgt spid="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3" st="3"/>
                                            </p:txEl>
                                          </p:spTgt>
                                        </p:tgtEl>
                                        <p:attrNameLst>
                                          <p:attrName>style.visibility</p:attrName>
                                        </p:attrNameLst>
                                      </p:cBhvr>
                                      <p:to>
                                        <p:strVal val="visible"/>
                                      </p:to>
                                    </p:set>
                                    <p:animEffect filter="fade" transition="in">
                                      <p:cBhvr>
                                        <p:cTn dur="500"/>
                                        <p:tgtEl>
                                          <p:spTgt spid="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4" st="4"/>
                                            </p:txEl>
                                          </p:spTgt>
                                        </p:tgtEl>
                                        <p:attrNameLst>
                                          <p:attrName>style.visibility</p:attrName>
                                        </p:attrNameLst>
                                      </p:cBhvr>
                                      <p:to>
                                        <p:strVal val="visible"/>
                                      </p:to>
                                    </p:set>
                                    <p:animEffect filter="fade" transition="in">
                                      <p:cBhvr>
                                        <p:cTn dur="500"/>
                                        <p:tgtEl>
                                          <p:spTgt spid="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5" st="5"/>
                                            </p:txEl>
                                          </p:spTgt>
                                        </p:tgtEl>
                                        <p:attrNameLst>
                                          <p:attrName>style.visibility</p:attrName>
                                        </p:attrNameLst>
                                      </p:cBhvr>
                                      <p:to>
                                        <p:strVal val="visible"/>
                                      </p:to>
                                    </p:set>
                                    <p:animEffect filter="fade" transition="in">
                                      <p:cBhvr>
                                        <p:cTn dur="500"/>
                                        <p:tgtEl>
                                          <p:spTgt spid="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6" st="6"/>
                                            </p:txEl>
                                          </p:spTgt>
                                        </p:tgtEl>
                                        <p:attrNameLst>
                                          <p:attrName>style.visibility</p:attrName>
                                        </p:attrNameLst>
                                      </p:cBhvr>
                                      <p:to>
                                        <p:strVal val="visible"/>
                                      </p:to>
                                    </p:set>
                                    <p:animEffect filter="fade" transition="in">
                                      <p:cBhvr>
                                        <p:cTn dur="500"/>
                                        <p:tgtEl>
                                          <p:spTgt spid="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xEl>
                                              <p:pRg end="7" st="7"/>
                                            </p:txEl>
                                          </p:spTgt>
                                        </p:tgtEl>
                                        <p:attrNameLst>
                                          <p:attrName>style.visibility</p:attrName>
                                        </p:attrNameLst>
                                      </p:cBhvr>
                                      <p:to>
                                        <p:strVal val="visible"/>
                                      </p:to>
                                    </p:set>
                                    <p:animEffect filter="fade" transition="in">
                                      <p:cBhvr>
                                        <p:cTn dur="500"/>
                                        <p:tgtEl>
                                          <p:spTgt spid="7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7"/>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u="sng">
                <a:latin typeface="Times New Roman"/>
                <a:ea typeface="Times New Roman"/>
                <a:cs typeface="Times New Roman"/>
                <a:sym typeface="Times New Roman"/>
              </a:rPr>
              <a:t>Arithmetic Operators</a:t>
            </a:r>
            <a:endParaRPr/>
          </a:p>
        </p:txBody>
      </p:sp>
      <p:sp>
        <p:nvSpPr>
          <p:cNvPr id="76" name="Google Shape;76;p7"/>
          <p:cNvSpPr txBox="1"/>
          <p:nvPr>
            <p:ph idx="1" type="body"/>
          </p:nvPr>
        </p:nvSpPr>
        <p:spPr>
          <a:xfrm>
            <a:off x="533400" y="819150"/>
            <a:ext cx="8229600" cy="762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Arithmetic Operators are used to perform basic arithmetic operations like addition, subtraction, division etc.</a:t>
            </a:r>
            <a:endParaRPr sz="2000">
              <a:latin typeface="Times New Roman"/>
              <a:ea typeface="Times New Roman"/>
              <a:cs typeface="Times New Roman"/>
              <a:sym typeface="Times New Roman"/>
            </a:endParaRPr>
          </a:p>
        </p:txBody>
      </p:sp>
      <p:graphicFrame>
        <p:nvGraphicFramePr>
          <p:cNvPr id="77" name="Google Shape;77;p7"/>
          <p:cNvGraphicFramePr/>
          <p:nvPr/>
        </p:nvGraphicFramePr>
        <p:xfrm>
          <a:off x="1066800" y="1581150"/>
          <a:ext cx="3000000" cy="3000000"/>
        </p:xfrm>
        <a:graphic>
          <a:graphicData uri="http://schemas.openxmlformats.org/drawingml/2006/table">
            <a:tbl>
              <a:tblPr bandRow="1" firstRow="1">
                <a:noFill/>
                <a:tableStyleId>{FD7F53AD-BF50-47AC-978E-A8D9F2143B06}</a:tableStyleId>
              </a:tblPr>
              <a:tblGrid>
                <a:gridCol w="1143000"/>
                <a:gridCol w="2819400"/>
                <a:gridCol w="1866900"/>
                <a:gridCol w="1028700"/>
              </a:tblGrid>
              <a:tr h="342900">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Operators </a:t>
                      </a:r>
                      <a:endParaRPr sz="16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Meaning</a:t>
                      </a:r>
                      <a:endParaRPr sz="16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Example</a:t>
                      </a:r>
                      <a:endParaRPr sz="16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Result</a:t>
                      </a:r>
                      <a:endParaRPr sz="1600">
                        <a:latin typeface="Times New Roman"/>
                        <a:ea typeface="Times New Roman"/>
                        <a:cs typeface="Times New Roman"/>
                        <a:sym typeface="Times New Roman"/>
                      </a:endParaRPr>
                    </a:p>
                  </a:txBody>
                  <a:tcPr marT="34300" marB="34300" marR="91450" marL="91450">
                    <a:solidFill>
                      <a:srgbClr val="FBD4B4"/>
                    </a:solidFill>
                  </a:tcPr>
                </a:tc>
              </a:tr>
              <a:tr h="342900">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Addition</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4 + 2</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6</a:t>
                      </a:r>
                      <a:endParaRPr sz="1600">
                        <a:latin typeface="Times New Roman"/>
                        <a:ea typeface="Times New Roman"/>
                        <a:cs typeface="Times New Roman"/>
                        <a:sym typeface="Times New Roman"/>
                      </a:endParaRPr>
                    </a:p>
                  </a:txBody>
                  <a:tcPr marT="34300" marB="34300" marR="91450" marL="91450"/>
                </a:tc>
              </a:tr>
              <a:tr h="342900">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Subtraction</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4 </a:t>
                      </a:r>
                      <a:r>
                        <a:rPr b="1" lang="en-US" sz="1600">
                          <a:latin typeface="Times New Roman"/>
                          <a:ea typeface="Times New Roman"/>
                          <a:cs typeface="Times New Roman"/>
                          <a:sym typeface="Times New Roman"/>
                        </a:rPr>
                        <a:t>– </a:t>
                      </a:r>
                      <a:r>
                        <a:rPr lang="en-US" sz="1600">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txBody>
                  <a:tcPr marT="34300" marB="34300" marR="91450" marL="91450"/>
                </a:tc>
              </a:tr>
              <a:tr h="342900">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Multiplication</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4 * 2</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8</a:t>
                      </a:r>
                      <a:endParaRPr sz="1600">
                        <a:latin typeface="Times New Roman"/>
                        <a:ea typeface="Times New Roman"/>
                        <a:cs typeface="Times New Roman"/>
                        <a:sym typeface="Times New Roman"/>
                      </a:endParaRPr>
                    </a:p>
                  </a:txBody>
                  <a:tcPr marT="34300" marB="34300" marR="91450" marL="91450"/>
                </a:tc>
              </a:tr>
              <a:tr h="342900">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Division</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4 / 2</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txBody>
                  <a:tcPr marT="34300" marB="34300" marR="91450" marL="91450"/>
                </a:tc>
              </a:tr>
              <a:tr h="647700">
                <a:tc>
                  <a:txBody>
                    <a:bodyPr/>
                    <a:lstStyle/>
                    <a:p>
                      <a:pPr indent="0" lvl="0" marL="0" marR="0" rtl="0" algn="ctr">
                        <a:spcBef>
                          <a:spcPts val="0"/>
                        </a:spcBef>
                        <a:spcAft>
                          <a:spcPts val="0"/>
                        </a:spcAft>
                        <a:buNone/>
                      </a:pPr>
                      <a:r>
                        <a:t/>
                      </a:r>
                      <a:endParaRPr sz="1600">
                        <a:latin typeface="Times New Roman"/>
                        <a:ea typeface="Times New Roman"/>
                        <a:cs typeface="Times New Roman"/>
                        <a:sym typeface="Times New Roman"/>
                      </a:endParaRPr>
                    </a:p>
                    <a:p>
                      <a:pPr indent="0" lvl="0" marL="0" marR="0" rtl="0" algn="ctr">
                        <a:spcBef>
                          <a:spcPts val="0"/>
                        </a:spcBef>
                        <a:spcAft>
                          <a:spcPts val="0"/>
                        </a:spcAft>
                        <a:buNone/>
                      </a:pPr>
                      <a:r>
                        <a:rPr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Modulus operator to get remainder in integer division</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t/>
                      </a:r>
                      <a:endParaRPr sz="1600">
                        <a:latin typeface="Times New Roman"/>
                        <a:ea typeface="Times New Roman"/>
                        <a:cs typeface="Times New Roman"/>
                        <a:sym typeface="Times New Roman"/>
                      </a:endParaRPr>
                    </a:p>
                    <a:p>
                      <a:pPr indent="0" lvl="0" marL="0" marR="0" rtl="0" algn="ctr">
                        <a:spcBef>
                          <a:spcPts val="0"/>
                        </a:spcBef>
                        <a:spcAft>
                          <a:spcPts val="0"/>
                        </a:spcAft>
                        <a:buNone/>
                      </a:pPr>
                      <a:r>
                        <a:rPr lang="en-US" sz="1600">
                          <a:latin typeface="Times New Roman"/>
                          <a:ea typeface="Times New Roman"/>
                          <a:cs typeface="Times New Roman"/>
                          <a:sym typeface="Times New Roman"/>
                        </a:rPr>
                        <a:t>5 % 2</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t/>
                      </a:r>
                      <a:endParaRPr sz="1600">
                        <a:latin typeface="Times New Roman"/>
                        <a:ea typeface="Times New Roman"/>
                        <a:cs typeface="Times New Roman"/>
                        <a:sym typeface="Times New Roman"/>
                      </a:endParaRPr>
                    </a:p>
                    <a:p>
                      <a:pPr indent="0" lvl="0" marL="0" marR="0" rtl="0" algn="ctr">
                        <a:spcBef>
                          <a:spcPts val="0"/>
                        </a:spcBef>
                        <a:spcAft>
                          <a:spcPts val="0"/>
                        </a:spcAft>
                        <a:buNone/>
                      </a:pPr>
                      <a:r>
                        <a:rPr lang="en-US"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a:txBody>
                  <a:tcPr marT="34300" marB="34300" marR="91450" marL="91450"/>
                </a:tc>
              </a:tr>
              <a:tr h="431300">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Exponent </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l">
                        <a:spcBef>
                          <a:spcPts val="0"/>
                        </a:spcBef>
                        <a:spcAft>
                          <a:spcPts val="0"/>
                        </a:spcAft>
                        <a:buNone/>
                      </a:pPr>
                      <a:r>
                        <a:t/>
                      </a:r>
                      <a:endParaRPr sz="1800"/>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25</a:t>
                      </a:r>
                      <a:endParaRPr sz="1600">
                        <a:latin typeface="Times New Roman"/>
                        <a:ea typeface="Times New Roman"/>
                        <a:cs typeface="Times New Roman"/>
                        <a:sym typeface="Times New Roman"/>
                      </a:endParaRPr>
                    </a:p>
                  </a:txBody>
                  <a:tcPr marT="34300" marB="34300" marR="91450" marL="91450"/>
                </a:tc>
              </a:tr>
              <a:tr h="556250">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Integer Division/ Floor Division</a:t>
                      </a:r>
                      <a:endParaRPr sz="1600">
                        <a:latin typeface="Times New Roman"/>
                        <a:ea typeface="Times New Roman"/>
                        <a:cs typeface="Times New Roman"/>
                        <a:sym typeface="Times New Roman"/>
                      </a:endParaRPr>
                    </a:p>
                  </a:txBody>
                  <a:tcPr marT="34300" marB="34300" marR="91450" marL="91450"/>
                </a:tc>
                <a:tc>
                  <a:txBody>
                    <a:bodyPr/>
                    <a:lstStyle/>
                    <a:p>
                      <a:pPr indent="0" lvl="0" marL="0" marR="0" rtl="0" algn="ctr">
                        <a:lnSpc>
                          <a:spcPct val="100000"/>
                        </a:lnSpc>
                        <a:spcBef>
                          <a:spcPts val="0"/>
                        </a:spcBef>
                        <a:spcAft>
                          <a:spcPts val="0"/>
                        </a:spcAft>
                        <a:buClr>
                          <a:schemeClr val="dk1"/>
                        </a:buClr>
                        <a:buSzPts val="1600"/>
                        <a:buFont typeface="Times New Roman"/>
                        <a:buNone/>
                      </a:pPr>
                      <a:r>
                        <a:rPr lang="en-US" sz="1600">
                          <a:solidFill>
                            <a:schemeClr val="dk1"/>
                          </a:solidFill>
                          <a:latin typeface="Times New Roman"/>
                          <a:ea typeface="Times New Roman"/>
                          <a:cs typeface="Times New Roman"/>
                          <a:sym typeface="Times New Roman"/>
                        </a:rPr>
                        <a:t>5//2 </a:t>
                      </a:r>
                      <a:endParaRPr/>
                    </a:p>
                    <a:p>
                      <a:pPr indent="0" lvl="0" marL="0" marR="0" rtl="0" algn="ctr">
                        <a:lnSpc>
                          <a:spcPct val="100000"/>
                        </a:lnSpc>
                        <a:spcBef>
                          <a:spcPts val="0"/>
                        </a:spcBef>
                        <a:spcAft>
                          <a:spcPts val="0"/>
                        </a:spcAft>
                        <a:buClr>
                          <a:schemeClr val="dk1"/>
                        </a:buClr>
                        <a:buSzPts val="1600"/>
                        <a:buFont typeface="Times New Roman"/>
                        <a:buNone/>
                      </a:pPr>
                      <a:r>
                        <a:rPr lang="en-US" sz="1600">
                          <a:solidFill>
                            <a:schemeClr val="dk1"/>
                          </a:solidFill>
                          <a:latin typeface="Times New Roman"/>
                          <a:ea typeface="Times New Roman"/>
                          <a:cs typeface="Times New Roman"/>
                          <a:sym typeface="Times New Roman"/>
                        </a:rPr>
                        <a:t>-5//2</a:t>
                      </a:r>
                      <a:endParaRPr sz="1600">
                        <a:solidFill>
                          <a:schemeClr val="dk1"/>
                        </a:solidFill>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600">
                          <a:latin typeface="Times New Roman"/>
                          <a:ea typeface="Times New Roman"/>
                          <a:cs typeface="Times New Roman"/>
                          <a:sym typeface="Times New Roman"/>
                        </a:rPr>
                        <a:t>2</a:t>
                      </a:r>
                      <a:endParaRPr/>
                    </a:p>
                    <a:p>
                      <a:pPr indent="0" lvl="0" marL="0" marR="0" rtl="0" algn="ctr">
                        <a:spcBef>
                          <a:spcPts val="0"/>
                        </a:spcBef>
                        <a:spcAft>
                          <a:spcPts val="0"/>
                        </a:spcAft>
                        <a:buNone/>
                      </a:pPr>
                      <a:r>
                        <a:rPr lang="en-US" sz="1600">
                          <a:latin typeface="Times New Roman"/>
                          <a:ea typeface="Times New Roman"/>
                          <a:cs typeface="Times New Roman"/>
                          <a:sym typeface="Times New Roman"/>
                        </a:rPr>
                        <a:t>-3</a:t>
                      </a:r>
                      <a:endParaRPr sz="1600">
                        <a:latin typeface="Times New Roman"/>
                        <a:ea typeface="Times New Roman"/>
                        <a:cs typeface="Times New Roman"/>
                        <a:sym typeface="Times New Roman"/>
                      </a:endParaRPr>
                    </a:p>
                  </a:txBody>
                  <a:tcPr marT="34300" marB="34300"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5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8"/>
          <p:cNvSpPr txBox="1"/>
          <p:nvPr>
            <p:ph idx="1" type="body"/>
          </p:nvPr>
        </p:nvSpPr>
        <p:spPr>
          <a:xfrm>
            <a:off x="457200" y="819150"/>
            <a:ext cx="8229600" cy="838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Relational operators are used to compare the value of operands (expressions) to produce a logical value. A logical value is either True or False.</a:t>
            </a:r>
            <a:endParaRPr sz="1800">
              <a:latin typeface="Times New Roman"/>
              <a:ea typeface="Times New Roman"/>
              <a:cs typeface="Times New Roman"/>
              <a:sym typeface="Times New Roman"/>
            </a:endParaRPr>
          </a:p>
        </p:txBody>
      </p:sp>
      <p:graphicFrame>
        <p:nvGraphicFramePr>
          <p:cNvPr id="83" name="Google Shape;83;p8"/>
          <p:cNvGraphicFramePr/>
          <p:nvPr/>
        </p:nvGraphicFramePr>
        <p:xfrm>
          <a:off x="914400" y="1543050"/>
          <a:ext cx="3000000" cy="3000000"/>
        </p:xfrm>
        <a:graphic>
          <a:graphicData uri="http://schemas.openxmlformats.org/drawingml/2006/table">
            <a:tbl>
              <a:tblPr bandRow="1" firstRow="1">
                <a:noFill/>
                <a:tableStyleId>{FD7F53AD-BF50-47AC-978E-A8D9F2143B06}</a:tableStyleId>
              </a:tblPr>
              <a:tblGrid>
                <a:gridCol w="1241425"/>
                <a:gridCol w="2701925"/>
                <a:gridCol w="1314450"/>
                <a:gridCol w="1752600"/>
              </a:tblGrid>
              <a:tr h="250375">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Operators </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Meaning</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Example</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Result</a:t>
                      </a:r>
                      <a:endParaRPr/>
                    </a:p>
                  </a:txBody>
                  <a:tcPr marT="34300" marB="34300" marR="91450" marL="91450">
                    <a:solidFill>
                      <a:srgbClr val="FBD4B4"/>
                    </a:solidFill>
                  </a:tcPr>
                </a:tc>
              </a:tr>
              <a:tr h="250375">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&lt;</a:t>
                      </a:r>
                      <a:endParaRPr/>
                    </a:p>
                  </a:txBody>
                  <a:tcPr marT="34300" marB="34300"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Less</a:t>
                      </a:r>
                      <a:r>
                        <a:rPr lang="en-US" sz="1800">
                          <a:latin typeface="Times New Roman"/>
                          <a:ea typeface="Times New Roman"/>
                          <a:cs typeface="Times New Roman"/>
                          <a:sym typeface="Times New Roman"/>
                        </a:rPr>
                        <a:t> than</a:t>
                      </a:r>
                      <a:endParaRPr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5&lt;2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False</a:t>
                      </a:r>
                      <a:endParaRPr/>
                    </a:p>
                  </a:txBody>
                  <a:tcPr marT="34300" marB="34300" marR="91450" marL="91450"/>
                </a:tc>
              </a:tr>
              <a:tr h="250375">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&gt;</a:t>
                      </a:r>
                      <a:endParaRPr/>
                    </a:p>
                  </a:txBody>
                  <a:tcPr marT="34300" marB="34300"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Greater than</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5&gt;2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True</a:t>
                      </a:r>
                      <a:endParaRPr/>
                    </a:p>
                  </a:txBody>
                  <a:tcPr marT="34300" marB="34300" marR="91450" marL="91450"/>
                </a:tc>
              </a:tr>
              <a:tr h="250375">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&lt;=</a:t>
                      </a:r>
                      <a:endParaRPr/>
                    </a:p>
                  </a:txBody>
                  <a:tcPr marT="34300" marB="34300"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Less than or</a:t>
                      </a:r>
                      <a:r>
                        <a:rPr lang="en-US" sz="1800">
                          <a:latin typeface="Times New Roman"/>
                          <a:ea typeface="Times New Roman"/>
                          <a:cs typeface="Times New Roman"/>
                          <a:sym typeface="Times New Roman"/>
                        </a:rPr>
                        <a:t> equal to</a:t>
                      </a:r>
                      <a:endParaRPr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5&lt;=2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False</a:t>
                      </a:r>
                      <a:endParaRPr/>
                    </a:p>
                  </a:txBody>
                  <a:tcPr marT="34300" marB="34300" marR="91450" marL="91450"/>
                </a:tc>
              </a:tr>
              <a:tr h="250375">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&gt;=</a:t>
                      </a:r>
                      <a:endParaRPr/>
                    </a:p>
                  </a:txBody>
                  <a:tcPr marT="34300" marB="34300"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Greater than or equal</a:t>
                      </a:r>
                      <a:r>
                        <a:rPr lang="en-US" sz="1800">
                          <a:latin typeface="Times New Roman"/>
                          <a:ea typeface="Times New Roman"/>
                          <a:cs typeface="Times New Roman"/>
                          <a:sym typeface="Times New Roman"/>
                        </a:rPr>
                        <a:t> to </a:t>
                      </a:r>
                      <a:endParaRPr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5&gt;=2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True</a:t>
                      </a:r>
                      <a:endParaRPr/>
                    </a:p>
                  </a:txBody>
                  <a:tcPr marT="34300" marB="34300" marR="91450" marL="91450"/>
                </a:tc>
              </a:tr>
              <a:tr h="250375">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a:t>
                      </a:r>
                      <a:endParaRPr/>
                    </a:p>
                  </a:txBody>
                  <a:tcPr marT="34300" marB="34300"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Equal to</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False</a:t>
                      </a:r>
                      <a:endParaRPr/>
                    </a:p>
                  </a:txBody>
                  <a:tcPr marT="34300" marB="34300" marR="91450" marL="91450"/>
                </a:tc>
              </a:tr>
              <a:tr h="250375">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a:t>
                      </a:r>
                      <a:endParaRPr/>
                    </a:p>
                  </a:txBody>
                  <a:tcPr marT="34300" marB="34300"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Not equal to</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True</a:t>
                      </a:r>
                      <a:endParaRPr/>
                    </a:p>
                  </a:txBody>
                  <a:tcPr marT="34300" marB="34300" marR="91450" marL="91450"/>
                </a:tc>
              </a:tr>
            </a:tbl>
          </a:graphicData>
        </a:graphic>
      </p:graphicFrame>
      <p:sp>
        <p:nvSpPr>
          <p:cNvPr id="84" name="Google Shape;84;p8"/>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Relational/ Comparison Operators</a:t>
            </a:r>
            <a:endParaRPr b="1" sz="4000" u="sng">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5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9"/>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Logical Operators</a:t>
            </a:r>
            <a:endParaRPr/>
          </a:p>
        </p:txBody>
      </p:sp>
      <p:sp>
        <p:nvSpPr>
          <p:cNvPr id="90" name="Google Shape;90;p9"/>
          <p:cNvSpPr txBox="1"/>
          <p:nvPr>
            <p:ph idx="1" type="body"/>
          </p:nvPr>
        </p:nvSpPr>
        <p:spPr>
          <a:xfrm>
            <a:off x="457200" y="819150"/>
            <a:ext cx="8229600" cy="1524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Logical operators are used to connect more relational operations to form a complex expression called logical expression. A value obtained by evaluating a logical expression is always logical, i.e. either True or False.</a:t>
            </a:r>
            <a:endParaRPr sz="2000">
              <a:latin typeface="Times New Roman"/>
              <a:ea typeface="Times New Roman"/>
              <a:cs typeface="Times New Roman"/>
              <a:sym typeface="Times New Roman"/>
            </a:endParaRPr>
          </a:p>
        </p:txBody>
      </p:sp>
      <p:graphicFrame>
        <p:nvGraphicFramePr>
          <p:cNvPr id="91" name="Google Shape;91;p9"/>
          <p:cNvGraphicFramePr/>
          <p:nvPr/>
        </p:nvGraphicFramePr>
        <p:xfrm>
          <a:off x="990600" y="2114550"/>
          <a:ext cx="3000000" cy="3000000"/>
        </p:xfrm>
        <a:graphic>
          <a:graphicData uri="http://schemas.openxmlformats.org/drawingml/2006/table">
            <a:tbl>
              <a:tblPr bandRow="1" firstRow="1">
                <a:noFill/>
                <a:tableStyleId>{FD7F53AD-BF50-47AC-978E-A8D9F2143B06}</a:tableStyleId>
              </a:tblPr>
              <a:tblGrid>
                <a:gridCol w="1522100"/>
                <a:gridCol w="1880225"/>
                <a:gridCol w="2148850"/>
                <a:gridCol w="1611625"/>
              </a:tblGrid>
              <a:tr h="342900">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Operator</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Meaning</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Example</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Result</a:t>
                      </a:r>
                      <a:endParaRPr/>
                    </a:p>
                  </a:txBody>
                  <a:tcPr marT="34300" marB="34300" marR="91450" marL="91450">
                    <a:solidFill>
                      <a:srgbClr val="FBD4B4"/>
                    </a:solidFill>
                  </a:tcPr>
                </a:tc>
              </a:tr>
              <a:tr h="342900">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and</a:t>
                      </a:r>
                      <a:endParaRPr b="1"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Logical</a:t>
                      </a:r>
                      <a:r>
                        <a:rPr lang="en-US" sz="1800">
                          <a:latin typeface="Times New Roman"/>
                          <a:ea typeface="Times New Roman"/>
                          <a:cs typeface="Times New Roman"/>
                          <a:sym typeface="Times New Roman"/>
                        </a:rPr>
                        <a:t> and </a:t>
                      </a:r>
                      <a:endParaRPr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(5&lt;2) and (5&gt;3)</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False</a:t>
                      </a:r>
                      <a:endParaRPr/>
                    </a:p>
                  </a:txBody>
                  <a:tcPr marT="34300" marB="34300" marR="91450" marL="91450"/>
                </a:tc>
              </a:tr>
              <a:tr h="342900">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or</a:t>
                      </a:r>
                      <a:endParaRPr b="1"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Logical or</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(5&lt;2) or (5&gt;3)</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True</a:t>
                      </a:r>
                      <a:endParaRPr/>
                    </a:p>
                  </a:txBody>
                  <a:tcPr marT="34300" marB="34300" marR="91450" marL="91450"/>
                </a:tc>
              </a:tr>
              <a:tr h="342900">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not</a:t>
                      </a:r>
                      <a:endParaRPr b="1" sz="18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Logical not</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not</a:t>
                      </a:r>
                      <a:r>
                        <a:rPr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(5&lt;2)</a:t>
                      </a:r>
                      <a:endParaRPr/>
                    </a:p>
                  </a:txBody>
                  <a:tcPr marT="34300" marB="34300" marR="91450" marL="91450"/>
                </a:tc>
                <a:tc>
                  <a:txBody>
                    <a:bodyPr/>
                    <a:lstStyle/>
                    <a:p>
                      <a:pPr indent="0" lvl="0" marL="0" marR="0" rtl="0" algn="ctr">
                        <a:spcBef>
                          <a:spcPts val="0"/>
                        </a:spcBef>
                        <a:spcAft>
                          <a:spcPts val="0"/>
                        </a:spcAft>
                        <a:buNone/>
                      </a:pPr>
                      <a:r>
                        <a:rPr lang="en-US" sz="1800">
                          <a:latin typeface="Times New Roman"/>
                          <a:ea typeface="Times New Roman"/>
                          <a:cs typeface="Times New Roman"/>
                          <a:sym typeface="Times New Roman"/>
                        </a:rPr>
                        <a:t>True </a:t>
                      </a:r>
                      <a:endParaRPr/>
                    </a:p>
                  </a:txBody>
                  <a:tcPr marT="34300" marB="34300"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Effect filter="fade" transition="in">
                                      <p:cBhvr>
                                        <p:cTn dur="500"/>
                                        <p:tgtEl>
                                          <p:spTgt spid="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Assignment Operators</a:t>
            </a:r>
            <a:endParaRPr/>
          </a:p>
        </p:txBody>
      </p:sp>
      <p:sp>
        <p:nvSpPr>
          <p:cNvPr id="97" name="Google Shape;97;p10"/>
          <p:cNvSpPr txBox="1"/>
          <p:nvPr>
            <p:ph idx="1" type="body"/>
          </p:nvPr>
        </p:nvSpPr>
        <p:spPr>
          <a:xfrm>
            <a:off x="457200" y="895351"/>
            <a:ext cx="82296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Assignment operators are used to perform arithmetic operations while assigning a value to a variable.</a:t>
            </a:r>
            <a:endParaRPr sz="2000">
              <a:latin typeface="Times New Roman"/>
              <a:ea typeface="Times New Roman"/>
              <a:cs typeface="Times New Roman"/>
              <a:sym typeface="Times New Roman"/>
            </a:endParaRPr>
          </a:p>
        </p:txBody>
      </p:sp>
      <p:graphicFrame>
        <p:nvGraphicFramePr>
          <p:cNvPr id="98" name="Google Shape;98;p10"/>
          <p:cNvGraphicFramePr/>
          <p:nvPr/>
        </p:nvGraphicFramePr>
        <p:xfrm>
          <a:off x="1524000" y="1657350"/>
          <a:ext cx="3000000" cy="3000000"/>
        </p:xfrm>
        <a:graphic>
          <a:graphicData uri="http://schemas.openxmlformats.org/drawingml/2006/table">
            <a:tbl>
              <a:tblPr bandRow="1" firstRow="1">
                <a:noFill/>
                <a:tableStyleId>{FD7F53AD-BF50-47AC-978E-A8D9F2143B06}</a:tableStyleId>
              </a:tblPr>
              <a:tblGrid>
                <a:gridCol w="1143000"/>
                <a:gridCol w="1295400"/>
                <a:gridCol w="2590800"/>
                <a:gridCol w="1066800"/>
              </a:tblGrid>
              <a:tr h="307900">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Operator</a:t>
                      </a:r>
                      <a:endParaRPr sz="15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Example</a:t>
                      </a:r>
                      <a:endParaRPr sz="15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Equivalent Expression (m=15)</a:t>
                      </a:r>
                      <a:endParaRPr sz="15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Result</a:t>
                      </a:r>
                      <a:endParaRPr sz="1500">
                        <a:latin typeface="Times New Roman"/>
                        <a:ea typeface="Times New Roman"/>
                        <a:cs typeface="Times New Roman"/>
                        <a:sym typeface="Times New Roman"/>
                      </a:endParaRPr>
                    </a:p>
                  </a:txBody>
                  <a:tcPr marT="34300" marB="34300" marR="91450" marL="91450">
                    <a:solidFill>
                      <a:srgbClr val="FBD4B4"/>
                    </a:solidFill>
                  </a:tcPr>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y = a+b</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y = 10 + 20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30</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 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25</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 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5</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 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150</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 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1.5</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a:t>
                      </a:r>
                      <a:r>
                        <a:rPr lang="en-US" sz="1500">
                          <a:latin typeface="Times New Roman"/>
                          <a:ea typeface="Times New Roman"/>
                          <a:cs typeface="Times New Roman"/>
                          <a:sym typeface="Times New Roman"/>
                        </a:rPr>
                        <a:t> = 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5</a:t>
                      </a:r>
                      <a:endParaRPr sz="1500">
                        <a:latin typeface="Times New Roman"/>
                        <a:ea typeface="Times New Roman"/>
                        <a:cs typeface="Times New Roman"/>
                        <a:sym typeface="Times New Roman"/>
                      </a:endParaRPr>
                    </a:p>
                  </a:txBody>
                  <a:tcPr marT="34300" marB="34300" marR="91450" marL="91450"/>
                </a:tc>
              </a:tr>
              <a:tr h="31242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m**=2</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l">
                        <a:spcBef>
                          <a:spcPts val="0"/>
                        </a:spcBef>
                        <a:spcAft>
                          <a:spcPts val="0"/>
                        </a:spcAft>
                        <a:buNone/>
                      </a:pPr>
                      <a:r>
                        <a:t/>
                      </a:r>
                      <a:endParaRPr sz="1800"/>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225</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 = m//10</a:t>
                      </a:r>
                      <a:endParaRPr sz="15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1</a:t>
                      </a:r>
                      <a:endParaRPr sz="1500">
                        <a:latin typeface="Times New Roman"/>
                        <a:ea typeface="Times New Roman"/>
                        <a:cs typeface="Times New Roman"/>
                        <a:sym typeface="Times New Roman"/>
                      </a:endParaRPr>
                    </a:p>
                  </a:txBody>
                  <a:tcPr marT="34300" marB="34300"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Bitwise Operators</a:t>
            </a:r>
            <a:endParaRPr/>
          </a:p>
        </p:txBody>
      </p:sp>
      <p:sp>
        <p:nvSpPr>
          <p:cNvPr id="104" name="Google Shape;104;p11"/>
          <p:cNvSpPr txBox="1"/>
          <p:nvPr>
            <p:ph idx="1" type="body"/>
          </p:nvPr>
        </p:nvSpPr>
        <p:spPr>
          <a:xfrm>
            <a:off x="457200" y="819150"/>
            <a:ext cx="8229600" cy="1524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Bitwise operators are used to perform operations at binary digit level. These operators are not commonly used and are used only in special applications where optimized use of storage is required.</a:t>
            </a:r>
            <a:endParaRPr sz="2000">
              <a:latin typeface="Times New Roman"/>
              <a:ea typeface="Times New Roman"/>
              <a:cs typeface="Times New Roman"/>
              <a:sym typeface="Times New Roman"/>
            </a:endParaRPr>
          </a:p>
        </p:txBody>
      </p:sp>
      <p:graphicFrame>
        <p:nvGraphicFramePr>
          <p:cNvPr id="105" name="Google Shape;105;p11"/>
          <p:cNvGraphicFramePr/>
          <p:nvPr/>
        </p:nvGraphicFramePr>
        <p:xfrm>
          <a:off x="1752600" y="2114550"/>
          <a:ext cx="3000000" cy="3000000"/>
        </p:xfrm>
        <a:graphic>
          <a:graphicData uri="http://schemas.openxmlformats.org/drawingml/2006/table">
            <a:tbl>
              <a:tblPr bandRow="1" firstRow="1">
                <a:noFill/>
                <a:tableStyleId>{FD7F53AD-BF50-47AC-978E-A8D9F2143B06}</a:tableStyleId>
              </a:tblPr>
              <a:tblGrid>
                <a:gridCol w="1666875"/>
                <a:gridCol w="3667125"/>
              </a:tblGrid>
              <a:tr h="297175">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Operator</a:t>
                      </a:r>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500">
                          <a:latin typeface="Times New Roman"/>
                          <a:ea typeface="Times New Roman"/>
                          <a:cs typeface="Times New Roman"/>
                          <a:sym typeface="Times New Roman"/>
                        </a:rPr>
                        <a:t>Meaning</a:t>
                      </a:r>
                      <a:endParaRPr/>
                    </a:p>
                  </a:txBody>
                  <a:tcPr marT="34300" marB="34300" marR="91450" marL="91450">
                    <a:solidFill>
                      <a:srgbClr val="FBD4B4"/>
                    </a:solidFill>
                  </a:tcPr>
                </a:tc>
              </a:tr>
              <a:tr h="297175">
                <a:tc>
                  <a:txBody>
                    <a:bodyPr/>
                    <a:lstStyle/>
                    <a:p>
                      <a:pPr indent="0" lvl="0" marL="0" marR="0" rtl="0" algn="ctr">
                        <a:spcBef>
                          <a:spcPts val="0"/>
                        </a:spcBef>
                        <a:spcAft>
                          <a:spcPts val="0"/>
                        </a:spcAft>
                        <a:buNone/>
                      </a:pPr>
                      <a:r>
                        <a:rPr b="1" lang="en-US" sz="1500">
                          <a:latin typeface="Times New Roman"/>
                          <a:ea typeface="Times New Roman"/>
                          <a:cs typeface="Times New Roman"/>
                          <a:sym typeface="Times New Roman"/>
                        </a:rPr>
                        <a:t>&amp;</a:t>
                      </a:r>
                      <a:endParaRPr/>
                    </a:p>
                  </a:txBody>
                  <a:tcPr marT="34300" marB="34300" marR="91450" marL="91450"/>
                </a:tc>
                <a:tc>
                  <a:txBody>
                    <a:bodyPr/>
                    <a:lstStyle/>
                    <a:p>
                      <a:pPr indent="0" lvl="0" marL="0" marR="0" rtl="0" algn="l">
                        <a:spcBef>
                          <a:spcPts val="0"/>
                        </a:spcBef>
                        <a:spcAft>
                          <a:spcPts val="0"/>
                        </a:spcAft>
                        <a:buNone/>
                      </a:pPr>
                      <a:r>
                        <a:rPr lang="en-US" sz="1500">
                          <a:latin typeface="Times New Roman"/>
                          <a:ea typeface="Times New Roman"/>
                          <a:cs typeface="Times New Roman"/>
                          <a:sym typeface="Times New Roman"/>
                        </a:rPr>
                        <a:t>Bitwise AND</a:t>
                      </a:r>
                      <a:endParaRPr/>
                    </a:p>
                  </a:txBody>
                  <a:tcPr marT="34300" marB="34300" marR="91450" marL="91450"/>
                </a:tc>
              </a:tr>
              <a:tr h="297175">
                <a:tc>
                  <a:txBody>
                    <a:bodyPr/>
                    <a:lstStyle/>
                    <a:p>
                      <a:pPr indent="0" lvl="0" marL="0" marR="0" rtl="0" algn="ctr">
                        <a:spcBef>
                          <a:spcPts val="0"/>
                        </a:spcBef>
                        <a:spcAft>
                          <a:spcPts val="0"/>
                        </a:spcAft>
                        <a:buNone/>
                      </a:pPr>
                      <a:r>
                        <a:rPr b="1" lang="en-US" sz="1500">
                          <a:latin typeface="Times New Roman"/>
                          <a:ea typeface="Times New Roman"/>
                          <a:cs typeface="Times New Roman"/>
                          <a:sym typeface="Times New Roman"/>
                        </a:rPr>
                        <a:t>|</a:t>
                      </a:r>
                      <a:endParaRPr/>
                    </a:p>
                  </a:txBody>
                  <a:tcPr marT="34300" marB="34300" marR="91450" marL="91450"/>
                </a:tc>
                <a:tc>
                  <a:txBody>
                    <a:bodyPr/>
                    <a:lstStyle/>
                    <a:p>
                      <a:pPr indent="0" lvl="0" marL="0" marR="0" rtl="0" algn="l">
                        <a:spcBef>
                          <a:spcPts val="0"/>
                        </a:spcBef>
                        <a:spcAft>
                          <a:spcPts val="0"/>
                        </a:spcAft>
                        <a:buNone/>
                      </a:pPr>
                      <a:r>
                        <a:rPr lang="en-US" sz="1500">
                          <a:latin typeface="Times New Roman"/>
                          <a:ea typeface="Times New Roman"/>
                          <a:cs typeface="Times New Roman"/>
                          <a:sym typeface="Times New Roman"/>
                        </a:rPr>
                        <a:t>Bitwise OR</a:t>
                      </a:r>
                      <a:endParaRPr/>
                    </a:p>
                  </a:txBody>
                  <a:tcPr marT="34300" marB="34300" marR="91450" marL="91450"/>
                </a:tc>
              </a:tr>
              <a:tr h="297175">
                <a:tc>
                  <a:txBody>
                    <a:bodyPr/>
                    <a:lstStyle/>
                    <a:p>
                      <a:pPr indent="0" lvl="0" marL="0" marR="0" rtl="0" algn="ctr">
                        <a:spcBef>
                          <a:spcPts val="0"/>
                        </a:spcBef>
                        <a:spcAft>
                          <a:spcPts val="0"/>
                        </a:spcAft>
                        <a:buNone/>
                      </a:pPr>
                      <a:r>
                        <a:rPr b="1" lang="en-US" sz="1500">
                          <a:latin typeface="Times New Roman"/>
                          <a:ea typeface="Times New Roman"/>
                          <a:cs typeface="Times New Roman"/>
                          <a:sym typeface="Times New Roman"/>
                        </a:rPr>
                        <a:t>^</a:t>
                      </a:r>
                      <a:endParaRPr/>
                    </a:p>
                  </a:txBody>
                  <a:tcPr marT="34300" marB="34300" marR="91450" marL="91450"/>
                </a:tc>
                <a:tc>
                  <a:txBody>
                    <a:bodyPr/>
                    <a:lstStyle/>
                    <a:p>
                      <a:pPr indent="0" lvl="0" marL="0" marR="0" rtl="0" algn="l">
                        <a:spcBef>
                          <a:spcPts val="0"/>
                        </a:spcBef>
                        <a:spcAft>
                          <a:spcPts val="0"/>
                        </a:spcAft>
                        <a:buNone/>
                      </a:pPr>
                      <a:r>
                        <a:rPr lang="en-US" sz="1500">
                          <a:latin typeface="Times New Roman"/>
                          <a:ea typeface="Times New Roman"/>
                          <a:cs typeface="Times New Roman"/>
                          <a:sym typeface="Times New Roman"/>
                        </a:rPr>
                        <a:t>Bitwise exclusive OR / Bitwise XOR</a:t>
                      </a:r>
                      <a:endParaRPr/>
                    </a:p>
                  </a:txBody>
                  <a:tcPr marT="34300" marB="34300" marR="91450" marL="91450"/>
                </a:tc>
              </a:tr>
              <a:tr h="297175">
                <a:tc>
                  <a:txBody>
                    <a:bodyPr/>
                    <a:lstStyle/>
                    <a:p>
                      <a:pPr indent="0" lvl="0" marL="0" marR="0" rtl="0" algn="ctr">
                        <a:spcBef>
                          <a:spcPts val="0"/>
                        </a:spcBef>
                        <a:spcAft>
                          <a:spcPts val="0"/>
                        </a:spcAft>
                        <a:buNone/>
                      </a:pPr>
                      <a:r>
                        <a:rPr b="1" lang="en-US" sz="1500">
                          <a:latin typeface="Times New Roman"/>
                          <a:ea typeface="Times New Roman"/>
                          <a:cs typeface="Times New Roman"/>
                          <a:sym typeface="Times New Roman"/>
                        </a:rPr>
                        <a:t>~</a:t>
                      </a:r>
                      <a:endParaRPr/>
                    </a:p>
                  </a:txBody>
                  <a:tcPr marT="34300" marB="34300" marR="91450" marL="91450"/>
                </a:tc>
                <a:tc>
                  <a:txBody>
                    <a:bodyPr/>
                    <a:lstStyle/>
                    <a:p>
                      <a:pPr indent="0" lvl="0" marL="0" marR="0" rtl="0" algn="l">
                        <a:spcBef>
                          <a:spcPts val="0"/>
                        </a:spcBef>
                        <a:spcAft>
                          <a:spcPts val="0"/>
                        </a:spcAft>
                        <a:buNone/>
                      </a:pPr>
                      <a:r>
                        <a:rPr lang="en-US" sz="1500">
                          <a:latin typeface="Times New Roman"/>
                          <a:ea typeface="Times New Roman"/>
                          <a:cs typeface="Times New Roman"/>
                          <a:sym typeface="Times New Roman"/>
                        </a:rPr>
                        <a:t>Bitwise inversion (one’s complement)</a:t>
                      </a:r>
                      <a:endParaRPr/>
                    </a:p>
                  </a:txBody>
                  <a:tcPr marT="34300" marB="34300" marR="91450" marL="91450"/>
                </a:tc>
              </a:tr>
              <a:tr h="297175">
                <a:tc>
                  <a:txBody>
                    <a:bodyPr/>
                    <a:lstStyle/>
                    <a:p>
                      <a:pPr indent="0" lvl="0" marL="0" marR="0" rtl="0" algn="ctr">
                        <a:spcBef>
                          <a:spcPts val="0"/>
                        </a:spcBef>
                        <a:spcAft>
                          <a:spcPts val="0"/>
                        </a:spcAft>
                        <a:buNone/>
                      </a:pPr>
                      <a:r>
                        <a:rPr b="1" lang="en-US" sz="1500">
                          <a:latin typeface="Times New Roman"/>
                          <a:ea typeface="Times New Roman"/>
                          <a:cs typeface="Times New Roman"/>
                          <a:sym typeface="Times New Roman"/>
                        </a:rPr>
                        <a:t>&lt;&lt;</a:t>
                      </a:r>
                      <a:endParaRPr/>
                    </a:p>
                  </a:txBody>
                  <a:tcPr marT="34300" marB="34300" marR="91450" marL="91450"/>
                </a:tc>
                <a:tc>
                  <a:txBody>
                    <a:bodyPr/>
                    <a:lstStyle/>
                    <a:p>
                      <a:pPr indent="0" lvl="0" marL="0" marR="0" rtl="0" algn="l">
                        <a:spcBef>
                          <a:spcPts val="0"/>
                        </a:spcBef>
                        <a:spcAft>
                          <a:spcPts val="0"/>
                        </a:spcAft>
                        <a:buNone/>
                      </a:pPr>
                      <a:r>
                        <a:rPr lang="en-US" sz="1500">
                          <a:latin typeface="Times New Roman"/>
                          <a:ea typeface="Times New Roman"/>
                          <a:cs typeface="Times New Roman"/>
                          <a:sym typeface="Times New Roman"/>
                        </a:rPr>
                        <a:t>Shifts</a:t>
                      </a:r>
                      <a:r>
                        <a:rPr lang="en-US" sz="1500">
                          <a:latin typeface="Times New Roman"/>
                          <a:ea typeface="Times New Roman"/>
                          <a:cs typeface="Times New Roman"/>
                          <a:sym typeface="Times New Roman"/>
                        </a:rPr>
                        <a:t> the bits to left / Bitwise Left Shift</a:t>
                      </a:r>
                      <a:endParaRPr sz="1500">
                        <a:latin typeface="Times New Roman"/>
                        <a:ea typeface="Times New Roman"/>
                        <a:cs typeface="Times New Roman"/>
                        <a:sym typeface="Times New Roman"/>
                      </a:endParaRPr>
                    </a:p>
                  </a:txBody>
                  <a:tcPr marT="34300" marB="34300" marR="91450" marL="91450"/>
                </a:tc>
              </a:tr>
              <a:tr h="297175">
                <a:tc>
                  <a:txBody>
                    <a:bodyPr/>
                    <a:lstStyle/>
                    <a:p>
                      <a:pPr indent="0" lvl="0" marL="0" marR="0" rtl="0" algn="ctr">
                        <a:spcBef>
                          <a:spcPts val="0"/>
                        </a:spcBef>
                        <a:spcAft>
                          <a:spcPts val="0"/>
                        </a:spcAft>
                        <a:buNone/>
                      </a:pPr>
                      <a:r>
                        <a:rPr b="1" lang="en-US" sz="1500">
                          <a:latin typeface="Times New Roman"/>
                          <a:ea typeface="Times New Roman"/>
                          <a:cs typeface="Times New Roman"/>
                          <a:sym typeface="Times New Roman"/>
                        </a:rPr>
                        <a:t>&gt;&gt;</a:t>
                      </a:r>
                      <a:endParaRPr/>
                    </a:p>
                  </a:txBody>
                  <a:tcPr marT="34300" marB="34300" marR="91450" marL="91450"/>
                </a:tc>
                <a:tc>
                  <a:txBody>
                    <a:bodyPr/>
                    <a:lstStyle/>
                    <a:p>
                      <a:pPr indent="0" lvl="0" marL="0" marR="0" rtl="0" algn="l">
                        <a:spcBef>
                          <a:spcPts val="0"/>
                        </a:spcBef>
                        <a:spcAft>
                          <a:spcPts val="0"/>
                        </a:spcAft>
                        <a:buNone/>
                      </a:pPr>
                      <a:r>
                        <a:rPr lang="en-US" sz="1500">
                          <a:latin typeface="Times New Roman"/>
                          <a:ea typeface="Times New Roman"/>
                          <a:cs typeface="Times New Roman"/>
                          <a:sym typeface="Times New Roman"/>
                        </a:rPr>
                        <a:t>Shifts the bits to right / Bitwise Right Shift</a:t>
                      </a:r>
                      <a:endParaRPr/>
                    </a:p>
                  </a:txBody>
                  <a:tcPr marT="34300" marB="34300"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500"/>
                                        <p:tgtEl>
                                          <p:spTgt spid="1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2"/>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a:latin typeface="Times New Roman"/>
                <a:ea typeface="Times New Roman"/>
                <a:cs typeface="Times New Roman"/>
                <a:sym typeface="Times New Roman"/>
              </a:rPr>
              <a:t>Bitwise OR |</a:t>
            </a:r>
            <a:endParaRPr/>
          </a:p>
        </p:txBody>
      </p:sp>
      <p:graphicFrame>
        <p:nvGraphicFramePr>
          <p:cNvPr id="111" name="Google Shape;111;p12"/>
          <p:cNvGraphicFramePr/>
          <p:nvPr/>
        </p:nvGraphicFramePr>
        <p:xfrm>
          <a:off x="1524000" y="1047750"/>
          <a:ext cx="3000000" cy="3000000"/>
        </p:xfrm>
        <a:graphic>
          <a:graphicData uri="http://schemas.openxmlformats.org/drawingml/2006/table">
            <a:tbl>
              <a:tblPr bandRow="1" firstRow="1">
                <a:noFill/>
                <a:tableStyleId>{FD7F53AD-BF50-47AC-978E-A8D9F2143B06}</a:tableStyleId>
              </a:tblPr>
              <a:tblGrid>
                <a:gridCol w="1429700"/>
                <a:gridCol w="1881200"/>
                <a:gridCol w="2708900"/>
              </a:tblGrid>
              <a:tr h="227525">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Operand 1</a:t>
                      </a:r>
                      <a:endParaRPr b="1" sz="14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Operand 2</a:t>
                      </a:r>
                      <a:endParaRPr b="1" sz="1400">
                        <a:latin typeface="Times New Roman"/>
                        <a:ea typeface="Times New Roman"/>
                        <a:cs typeface="Times New Roman"/>
                        <a:sym typeface="Times New Roman"/>
                      </a:endParaRPr>
                    </a:p>
                  </a:txBody>
                  <a:tcPr marT="34300" marB="34300" marR="91450" marL="91450">
                    <a:solidFill>
                      <a:srgbClr val="FBD4B4"/>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en-US" sz="1400">
                          <a:latin typeface="Times New Roman"/>
                          <a:ea typeface="Times New Roman"/>
                          <a:cs typeface="Times New Roman"/>
                          <a:sym typeface="Times New Roman"/>
                        </a:rPr>
                        <a:t>Result (operand1 </a:t>
                      </a:r>
                      <a:r>
                        <a:rPr b="1" lang="en-US" sz="1400">
                          <a:latin typeface="Times New Roman"/>
                          <a:ea typeface="Times New Roman"/>
                          <a:cs typeface="Times New Roman"/>
                          <a:sym typeface="Times New Roman"/>
                        </a:rPr>
                        <a:t>|</a:t>
                      </a:r>
                      <a:r>
                        <a:rPr lang="en-US" sz="1400">
                          <a:latin typeface="Times New Roman"/>
                          <a:ea typeface="Times New Roman"/>
                          <a:cs typeface="Times New Roman"/>
                          <a:sym typeface="Times New Roman"/>
                        </a:rPr>
                        <a:t>  operand2)</a:t>
                      </a:r>
                      <a:endParaRPr b="1" sz="1400">
                        <a:latin typeface="Times New Roman"/>
                        <a:ea typeface="Times New Roman"/>
                        <a:cs typeface="Times New Roman"/>
                        <a:sym typeface="Times New Roman"/>
                      </a:endParaRPr>
                    </a:p>
                  </a:txBody>
                  <a:tcPr marT="34300" marB="34300" marR="91450" marL="91450">
                    <a:solidFill>
                      <a:srgbClr val="FBD4B4"/>
                    </a:solidFill>
                  </a:tcPr>
                </a:tc>
              </a:tr>
              <a:tr h="133625">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r>
              <a:tr h="133625">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False 0</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r>
              <a:tr h="133625">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False 0</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True 1</a:t>
                      </a:r>
                      <a:endParaRPr b="1" sz="1400">
                        <a:latin typeface="Times New Roman"/>
                        <a:ea typeface="Times New Roman"/>
                        <a:cs typeface="Times New Roman"/>
                        <a:sym typeface="Times New Roman"/>
                      </a:endParaRPr>
                    </a:p>
                  </a:txBody>
                  <a:tcPr marT="34300" marB="34300" marR="91450" marL="91450"/>
                </a:tc>
              </a:tr>
              <a:tr h="133625">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False 0</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False 0</a:t>
                      </a:r>
                      <a:endParaRPr b="1" sz="1400">
                        <a:latin typeface="Times New Roman"/>
                        <a:ea typeface="Times New Roman"/>
                        <a:cs typeface="Times New Roman"/>
                        <a:sym typeface="Times New Roman"/>
                      </a:endParaRPr>
                    </a:p>
                  </a:txBody>
                  <a:tcPr marT="34300" marB="34300" marR="91450" marL="91450"/>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False 0</a:t>
                      </a:r>
                      <a:endParaRPr b="1" sz="1400">
                        <a:latin typeface="Times New Roman"/>
                        <a:ea typeface="Times New Roman"/>
                        <a:cs typeface="Times New Roman"/>
                        <a:sym typeface="Times New Roman"/>
                      </a:endParaRPr>
                    </a:p>
                  </a:txBody>
                  <a:tcPr marT="34300" marB="34300" marR="91450" marL="91450"/>
                </a:tc>
              </a:tr>
            </a:tbl>
          </a:graphicData>
        </a:graphic>
      </p:graphicFrame>
      <p:sp>
        <p:nvSpPr>
          <p:cNvPr id="112" name="Google Shape;112;p12"/>
          <p:cNvSpPr txBox="1"/>
          <p:nvPr/>
        </p:nvSpPr>
        <p:spPr>
          <a:xfrm>
            <a:off x="2624807" y="2800350"/>
            <a:ext cx="77296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10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 = 15</a:t>
            </a:r>
            <a:endParaRPr sz="1800">
              <a:solidFill>
                <a:schemeClr val="dk1"/>
              </a:solidFill>
              <a:latin typeface="Calibri"/>
              <a:ea typeface="Calibri"/>
              <a:cs typeface="Calibri"/>
              <a:sym typeface="Calibri"/>
            </a:endParaRPr>
          </a:p>
        </p:txBody>
      </p:sp>
      <p:sp>
        <p:nvSpPr>
          <p:cNvPr id="113" name="Google Shape;113;p12"/>
          <p:cNvSpPr txBox="1"/>
          <p:nvPr/>
        </p:nvSpPr>
        <p:spPr>
          <a:xfrm>
            <a:off x="3889488" y="2800350"/>
            <a:ext cx="15969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0 0 0 0   1 0 1 0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0 0 0 0   1 1 1 1</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animEffect filter="fade" transition="in">
                                      <p:cBhvr>
                                        <p:cTn dur="500"/>
                                        <p:tgtEl>
                                          <p:spTgt spid="1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animEffect filter="fade" transition="in">
                                      <p:cBhvr>
                                        <p:cTn dur="500"/>
                                        <p:tgtEl>
                                          <p:spTgt spid="1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animEffect filter="fade" transition="in">
                                      <p:cBhvr>
                                        <p:cTn dur="500"/>
                                        <p:tgtEl>
                                          <p:spTgt spid="1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animEffect filter="fade" transition="in">
                                      <p:cBhvr>
                                        <p:cTn dur="500"/>
                                        <p:tgtEl>
                                          <p:spTgt spid="11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3"/>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Membership Operators</a:t>
            </a:r>
            <a:endParaRPr b="1" sz="4000" u="sng">
              <a:latin typeface="Times New Roman"/>
              <a:ea typeface="Times New Roman"/>
              <a:cs typeface="Times New Roman"/>
              <a:sym typeface="Times New Roman"/>
            </a:endParaRPr>
          </a:p>
        </p:txBody>
      </p:sp>
      <p:sp>
        <p:nvSpPr>
          <p:cNvPr id="119" name="Google Shape;119;p13"/>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chemeClr val="dk1"/>
              </a:buClr>
              <a:buSzPct val="100000"/>
              <a:buNone/>
            </a:pPr>
            <a:r>
              <a:rPr lang="en-US" sz="2000">
                <a:latin typeface="Times New Roman"/>
                <a:ea typeface="Times New Roman"/>
                <a:cs typeface="Times New Roman"/>
                <a:sym typeface="Times New Roman"/>
              </a:rPr>
              <a:t>The membership operators are useful to test for membership in a sequence such as string, lists, tuples and dictionaries. </a:t>
            </a:r>
            <a:endParaRPr/>
          </a:p>
          <a:p>
            <a:pPr indent="0" lvl="0" marL="0" rtl="0" algn="l">
              <a:spcBef>
                <a:spcPts val="340"/>
              </a:spcBef>
              <a:spcAft>
                <a:spcPts val="0"/>
              </a:spcAft>
              <a:buClr>
                <a:schemeClr val="dk1"/>
              </a:buClr>
              <a:buSzPct val="100000"/>
              <a:buNone/>
            </a:pPr>
            <a:r>
              <a:rPr lang="en-US" sz="2000">
                <a:latin typeface="Times New Roman"/>
                <a:ea typeface="Times New Roman"/>
                <a:cs typeface="Times New Roman"/>
                <a:sym typeface="Times New Roman"/>
              </a:rPr>
              <a:t>There are two type of Membership operator:-</a:t>
            </a:r>
            <a:endParaRPr/>
          </a:p>
          <a:p>
            <a:pPr indent="-342900" lvl="0" marL="342900" rtl="0" algn="l">
              <a:spcBef>
                <a:spcPts val="340"/>
              </a:spcBef>
              <a:spcAft>
                <a:spcPts val="0"/>
              </a:spcAft>
              <a:buClr>
                <a:schemeClr val="dk1"/>
              </a:buClr>
              <a:buSzPct val="100000"/>
              <a:buChar char="•"/>
            </a:pPr>
            <a:r>
              <a:rPr lang="en-US" sz="2000">
                <a:latin typeface="Times New Roman"/>
                <a:ea typeface="Times New Roman"/>
                <a:cs typeface="Times New Roman"/>
                <a:sym typeface="Times New Roman"/>
              </a:rPr>
              <a:t>in </a:t>
            </a:r>
            <a:endParaRPr/>
          </a:p>
          <a:p>
            <a:pPr indent="-342900" lvl="0" marL="342900" rtl="0" algn="l">
              <a:spcBef>
                <a:spcPts val="340"/>
              </a:spcBef>
              <a:spcAft>
                <a:spcPts val="0"/>
              </a:spcAft>
              <a:buClr>
                <a:schemeClr val="dk1"/>
              </a:buClr>
              <a:buSzPct val="100000"/>
              <a:buChar char="•"/>
            </a:pPr>
            <a:r>
              <a:rPr lang="en-US" sz="2000">
                <a:latin typeface="Times New Roman"/>
                <a:ea typeface="Times New Roman"/>
                <a:cs typeface="Times New Roman"/>
                <a:sym typeface="Times New Roman"/>
              </a:rPr>
              <a:t>not in</a:t>
            </a:r>
            <a:endParaRPr/>
          </a:p>
          <a:p>
            <a:pPr indent="-234950" lvl="0" marL="342900" rtl="0" algn="l">
              <a:spcBef>
                <a:spcPts val="340"/>
              </a:spcBef>
              <a:spcAft>
                <a:spcPts val="0"/>
              </a:spcAft>
              <a:buClr>
                <a:schemeClr val="dk1"/>
              </a:buClr>
              <a:buSzPct val="100000"/>
              <a:buNone/>
            </a:pPr>
            <a:r>
              <a:t/>
            </a:r>
            <a:endParaRPr sz="2000">
              <a:latin typeface="Times New Roman"/>
              <a:ea typeface="Times New Roman"/>
              <a:cs typeface="Times New Roman"/>
              <a:sym typeface="Times New Roman"/>
            </a:endParaRPr>
          </a:p>
          <a:p>
            <a:pPr indent="0" lvl="0" marL="0" rtl="0" algn="l">
              <a:spcBef>
                <a:spcPts val="272"/>
              </a:spcBef>
              <a:spcAft>
                <a:spcPts val="0"/>
              </a:spcAft>
              <a:buClr>
                <a:schemeClr val="dk1"/>
              </a:buClr>
              <a:buSzPct val="100000"/>
              <a:buNone/>
            </a:pPr>
            <a:r>
              <a:rPr lang="en-US" sz="1600">
                <a:latin typeface="Times New Roman"/>
                <a:ea typeface="Times New Roman"/>
                <a:cs typeface="Times New Roman"/>
                <a:sym typeface="Times New Roman"/>
              </a:rPr>
              <a:t># String example</a:t>
            </a:r>
            <a:endParaRPr/>
          </a:p>
          <a:p>
            <a:pPr indent="0" lvl="0" marL="0" rtl="0" algn="l">
              <a:spcBef>
                <a:spcPts val="272"/>
              </a:spcBef>
              <a:spcAft>
                <a:spcPts val="0"/>
              </a:spcAft>
              <a:buClr>
                <a:schemeClr val="dk1"/>
              </a:buClr>
              <a:buSzPct val="100000"/>
              <a:buNone/>
            </a:pPr>
            <a:r>
              <a:rPr lang="en-US" sz="1600">
                <a:latin typeface="Times New Roman"/>
                <a:ea typeface="Times New Roman"/>
                <a:cs typeface="Times New Roman"/>
                <a:sym typeface="Times New Roman"/>
              </a:rPr>
              <a:t>'a' in 'apple'     # True</a:t>
            </a:r>
            <a:endParaRPr/>
          </a:p>
          <a:p>
            <a:pPr indent="0" lvl="0" marL="0" rtl="0" algn="l">
              <a:spcBef>
                <a:spcPts val="272"/>
              </a:spcBef>
              <a:spcAft>
                <a:spcPts val="0"/>
              </a:spcAft>
              <a:buClr>
                <a:schemeClr val="dk1"/>
              </a:buClr>
              <a:buSzPct val="100000"/>
              <a:buNone/>
            </a:pPr>
            <a:r>
              <a:t/>
            </a:r>
            <a:endParaRPr sz="1600">
              <a:latin typeface="Times New Roman"/>
              <a:ea typeface="Times New Roman"/>
              <a:cs typeface="Times New Roman"/>
              <a:sym typeface="Times New Roman"/>
            </a:endParaRPr>
          </a:p>
          <a:p>
            <a:pPr indent="0" lvl="0" marL="0" rtl="0" algn="l">
              <a:spcBef>
                <a:spcPts val="272"/>
              </a:spcBef>
              <a:spcAft>
                <a:spcPts val="0"/>
              </a:spcAft>
              <a:buClr>
                <a:schemeClr val="dk1"/>
              </a:buClr>
              <a:buSzPct val="100000"/>
              <a:buNone/>
            </a:pPr>
            <a:r>
              <a:rPr lang="en-US" sz="1600">
                <a:latin typeface="Times New Roman"/>
                <a:ea typeface="Times New Roman"/>
                <a:cs typeface="Times New Roman"/>
                <a:sym typeface="Times New Roman"/>
              </a:rPr>
              <a:t># List example</a:t>
            </a:r>
            <a:endParaRPr/>
          </a:p>
          <a:p>
            <a:pPr indent="0" lvl="0" marL="0" rtl="0" algn="l">
              <a:spcBef>
                <a:spcPts val="272"/>
              </a:spcBef>
              <a:spcAft>
                <a:spcPts val="0"/>
              </a:spcAft>
              <a:buClr>
                <a:schemeClr val="dk1"/>
              </a:buClr>
              <a:buSzPct val="100000"/>
              <a:buNone/>
            </a:pPr>
            <a:r>
              <a:rPr lang="en-US" sz="1600">
                <a:latin typeface="Times New Roman"/>
                <a:ea typeface="Times New Roman"/>
                <a:cs typeface="Times New Roman"/>
                <a:sym typeface="Times New Roman"/>
              </a:rPr>
              <a:t>5 in [1, 2, 3, 4, 5]   # True</a:t>
            </a:r>
            <a:endParaRPr/>
          </a:p>
          <a:p>
            <a:pPr indent="0" lvl="0" marL="0" rtl="0" algn="l">
              <a:spcBef>
                <a:spcPts val="272"/>
              </a:spcBef>
              <a:spcAft>
                <a:spcPts val="0"/>
              </a:spcAft>
              <a:buClr>
                <a:schemeClr val="dk1"/>
              </a:buClr>
              <a:buSzPct val="100000"/>
              <a:buNone/>
            </a:pPr>
            <a:r>
              <a:t/>
            </a:r>
            <a:endParaRPr sz="1600">
              <a:latin typeface="Times New Roman"/>
              <a:ea typeface="Times New Roman"/>
              <a:cs typeface="Times New Roman"/>
              <a:sym typeface="Times New Roman"/>
            </a:endParaRPr>
          </a:p>
          <a:p>
            <a:pPr indent="0" lvl="0" marL="0" rtl="0" algn="l">
              <a:spcBef>
                <a:spcPts val="272"/>
              </a:spcBef>
              <a:spcAft>
                <a:spcPts val="0"/>
              </a:spcAft>
              <a:buClr>
                <a:schemeClr val="dk1"/>
              </a:buClr>
              <a:buSzPct val="100000"/>
              <a:buNone/>
            </a:pPr>
            <a:r>
              <a:rPr lang="en-US" sz="1600">
                <a:latin typeface="Times New Roman"/>
                <a:ea typeface="Times New Roman"/>
                <a:cs typeface="Times New Roman"/>
                <a:sym typeface="Times New Roman"/>
              </a:rPr>
              <a:t># Dictionary example (checks keys)</a:t>
            </a:r>
            <a:endParaRPr/>
          </a:p>
          <a:p>
            <a:pPr indent="0" lvl="0" marL="0" rtl="0" algn="l">
              <a:spcBef>
                <a:spcPts val="340"/>
              </a:spcBef>
              <a:spcAft>
                <a:spcPts val="0"/>
              </a:spcAft>
              <a:buClr>
                <a:schemeClr val="dk1"/>
              </a:buClr>
              <a:buSzPct val="100000"/>
              <a:buNone/>
            </a:pPr>
            <a:r>
              <a:rPr lang="en-US" sz="1600">
                <a:latin typeface="Times New Roman"/>
                <a:ea typeface="Times New Roman"/>
                <a:cs typeface="Times New Roman"/>
                <a:sym typeface="Times New Roman"/>
              </a:rPr>
              <a:t>'key1' in {'key1': 10, 'key2': 20}   # Tru</a:t>
            </a:r>
            <a:r>
              <a:rPr lang="en-US" sz="2000">
                <a:latin typeface="Times New Roman"/>
                <a:ea typeface="Times New Roman"/>
                <a:cs typeface="Times New Roman"/>
                <a:sym typeface="Times New Roman"/>
              </a:rPr>
              <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5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5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5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5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5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500"/>
                                        <p:tgtEl>
                                          <p:spTgt spid="1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animEffect filter="fade" transition="in">
                                      <p:cBhvr>
                                        <p:cTn dur="500"/>
                                        <p:tgtEl>
                                          <p:spTgt spid="1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animEffect filter="fade" transition="in">
                                      <p:cBhvr>
                                        <p:cTn dur="500"/>
                                        <p:tgtEl>
                                          <p:spTgt spid="1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animEffect filter="fade" transition="in">
                                      <p:cBhvr>
                                        <p:cTn dur="500"/>
                                        <p:tgtEl>
                                          <p:spTgt spid="1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9" st="9"/>
                                            </p:txEl>
                                          </p:spTgt>
                                        </p:tgtEl>
                                        <p:attrNameLst>
                                          <p:attrName>style.visibility</p:attrName>
                                        </p:attrNameLst>
                                      </p:cBhvr>
                                      <p:to>
                                        <p:strVal val="visible"/>
                                      </p:to>
                                    </p:set>
                                    <p:animEffect filter="fade" transition="in">
                                      <p:cBhvr>
                                        <p:cTn dur="500"/>
                                        <p:tgtEl>
                                          <p:spTgt spid="1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0" st="10"/>
                                            </p:txEl>
                                          </p:spTgt>
                                        </p:tgtEl>
                                        <p:attrNameLst>
                                          <p:attrName>style.visibility</p:attrName>
                                        </p:attrNameLst>
                                      </p:cBhvr>
                                      <p:to>
                                        <p:strVal val="visible"/>
                                      </p:to>
                                    </p:set>
                                    <p:animEffect filter="fade" transition="in">
                                      <p:cBhvr>
                                        <p:cTn dur="500"/>
                                        <p:tgtEl>
                                          <p:spTgt spid="11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1" st="11"/>
                                            </p:txEl>
                                          </p:spTgt>
                                        </p:tgtEl>
                                        <p:attrNameLst>
                                          <p:attrName>style.visibility</p:attrName>
                                        </p:attrNameLst>
                                      </p:cBhvr>
                                      <p:to>
                                        <p:strVal val="visible"/>
                                      </p:to>
                                    </p:set>
                                    <p:animEffect filter="fade" transition="in">
                                      <p:cBhvr>
                                        <p:cTn dur="500"/>
                                        <p:tgtEl>
                                          <p:spTgt spid="11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2" st="12"/>
                                            </p:txEl>
                                          </p:spTgt>
                                        </p:tgtEl>
                                        <p:attrNameLst>
                                          <p:attrName>style.visibility</p:attrName>
                                        </p:attrNameLst>
                                      </p:cBhvr>
                                      <p:to>
                                        <p:strVal val="visible"/>
                                      </p:to>
                                    </p:set>
                                    <p:animEffect filter="fade" transition="in">
                                      <p:cBhvr>
                                        <p:cTn dur="500"/>
                                        <p:tgtEl>
                                          <p:spTgt spid="11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Identity Operators</a:t>
            </a:r>
            <a:endParaRPr b="1" sz="4000" u="sng">
              <a:latin typeface="Times New Roman"/>
              <a:ea typeface="Times New Roman"/>
              <a:cs typeface="Times New Roman"/>
              <a:sym typeface="Times New Roman"/>
            </a:endParaRPr>
          </a:p>
        </p:txBody>
      </p:sp>
      <p:sp>
        <p:nvSpPr>
          <p:cNvPr id="125" name="Google Shape;125;p14"/>
          <p:cNvSpPr txBox="1"/>
          <p:nvPr>
            <p:ph idx="1" type="body"/>
          </p:nvPr>
        </p:nvSpPr>
        <p:spPr>
          <a:xfrm>
            <a:off x="457200" y="895351"/>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The identity operators compare the memory locations of two objects. Hence, it is possible to know whether two objects are same or not.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There are two types of Identity operator:-</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is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is not</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Effect filter="fade" transition="in">
                                      <p:cBhvr>
                                        <p:cTn dur="500"/>
                                        <p:tgtEl>
                                          <p:spTgt spid="1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Effect filter="fade" transition="in">
                                      <p:cBhvr>
                                        <p:cTn dur="500"/>
                                        <p:tgtEl>
                                          <p:spTgt spid="1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Effect filter="fade" transition="in">
                                      <p:cBhvr>
                                        <p:cTn dur="500"/>
                                        <p:tgtEl>
                                          <p:spTgt spid="1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Effect filter="fade" transition="in">
                                      <p:cBhvr>
                                        <p:cTn dur="500"/>
                                        <p:tgtEl>
                                          <p:spTgt spid="1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animEffect filter="fade" transition="in">
                                      <p:cBhvr>
                                        <p:cTn dur="500"/>
                                        <p:tgtEl>
                                          <p:spTgt spid="12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a:latin typeface="Times New Roman"/>
                <a:ea typeface="Times New Roman"/>
                <a:cs typeface="Times New Roman"/>
                <a:sym typeface="Times New Roman"/>
              </a:rPr>
              <a:t>is </a:t>
            </a:r>
            <a:endParaRPr b="1" sz="4000">
              <a:latin typeface="Times New Roman"/>
              <a:ea typeface="Times New Roman"/>
              <a:cs typeface="Times New Roman"/>
              <a:sym typeface="Times New Roman"/>
            </a:endParaRPr>
          </a:p>
        </p:txBody>
      </p:sp>
      <p:sp>
        <p:nvSpPr>
          <p:cNvPr id="131" name="Google Shape;131;p15"/>
          <p:cNvSpPr txBox="1"/>
          <p:nvPr>
            <p:ph idx="1" type="body"/>
          </p:nvPr>
        </p:nvSpPr>
        <p:spPr>
          <a:xfrm>
            <a:off x="457200" y="819150"/>
            <a:ext cx="8229600" cy="1828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This operator is used to compare whether two objects are same or not.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It returns True if memory location of two objects are same else it returns False.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 = 10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b = 10</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132" name="Google Shape;132;p15"/>
          <p:cNvSpPr txBox="1"/>
          <p:nvPr/>
        </p:nvSpPr>
        <p:spPr>
          <a:xfrm>
            <a:off x="3619896" y="1745218"/>
            <a:ext cx="418704"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33" name="Google Shape;133;p15"/>
          <p:cNvSpPr txBox="1"/>
          <p:nvPr/>
        </p:nvSpPr>
        <p:spPr>
          <a:xfrm>
            <a:off x="3444366" y="2114550"/>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12411</a:t>
            </a:r>
            <a:endParaRPr sz="1800">
              <a:solidFill>
                <a:schemeClr val="dk1"/>
              </a:solidFill>
              <a:latin typeface="Calibri"/>
              <a:ea typeface="Calibri"/>
              <a:cs typeface="Calibri"/>
              <a:sym typeface="Calibri"/>
            </a:endParaRPr>
          </a:p>
        </p:txBody>
      </p:sp>
      <p:sp>
        <p:nvSpPr>
          <p:cNvPr id="134" name="Google Shape;134;p15"/>
          <p:cNvSpPr txBox="1"/>
          <p:nvPr/>
        </p:nvSpPr>
        <p:spPr>
          <a:xfrm>
            <a:off x="3657600" y="14287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35" name="Google Shape;135;p15"/>
          <p:cNvSpPr txBox="1"/>
          <p:nvPr/>
        </p:nvSpPr>
        <p:spPr>
          <a:xfrm>
            <a:off x="4511167" y="1756886"/>
            <a:ext cx="418704" cy="369332"/>
          </a:xfrm>
          <a:prstGeom prst="rect">
            <a:avLst/>
          </a:prstGeom>
          <a:solidFill>
            <a:schemeClr val="lt1"/>
          </a:solidFill>
          <a:ln cap="flat" cmpd="sng" w="25400">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36" name="Google Shape;136;p15"/>
          <p:cNvSpPr txBox="1"/>
          <p:nvPr/>
        </p:nvSpPr>
        <p:spPr>
          <a:xfrm>
            <a:off x="4335637" y="2126218"/>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13611</a:t>
            </a:r>
            <a:endParaRPr sz="1800">
              <a:solidFill>
                <a:schemeClr val="dk1"/>
              </a:solidFill>
              <a:latin typeface="Calibri"/>
              <a:ea typeface="Calibri"/>
              <a:cs typeface="Calibri"/>
              <a:sym typeface="Calibri"/>
            </a:endParaRPr>
          </a:p>
        </p:txBody>
      </p:sp>
      <p:sp>
        <p:nvSpPr>
          <p:cNvPr id="137" name="Google Shape;137;p15"/>
          <p:cNvSpPr txBox="1"/>
          <p:nvPr/>
        </p:nvSpPr>
        <p:spPr>
          <a:xfrm>
            <a:off x="4548871" y="144041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cxnSp>
        <p:nvCxnSpPr>
          <p:cNvPr id="138" name="Google Shape;138;p15"/>
          <p:cNvCxnSpPr/>
          <p:nvPr/>
        </p:nvCxnSpPr>
        <p:spPr>
          <a:xfrm flipH="1">
            <a:off x="4114800" y="1613416"/>
            <a:ext cx="434071" cy="272534"/>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8039"/>
              </a:srgbClr>
            </a:outerShdw>
          </a:effectLst>
        </p:spPr>
      </p:cxnSp>
      <p:sp>
        <p:nvSpPr>
          <p:cNvPr id="139" name="Google Shape;139;p15"/>
          <p:cNvSpPr txBox="1"/>
          <p:nvPr/>
        </p:nvSpPr>
        <p:spPr>
          <a:xfrm>
            <a:off x="457200" y="3028950"/>
            <a:ext cx="93006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 = 10</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 = ‘10’</a:t>
            </a:r>
            <a:endParaRPr sz="1800">
              <a:solidFill>
                <a:schemeClr val="dk1"/>
              </a:solidFill>
              <a:latin typeface="Times New Roman"/>
              <a:ea typeface="Times New Roman"/>
              <a:cs typeface="Times New Roman"/>
              <a:sym typeface="Times New Roman"/>
            </a:endParaRPr>
          </a:p>
        </p:txBody>
      </p:sp>
      <p:sp>
        <p:nvSpPr>
          <p:cNvPr id="140" name="Google Shape;140;p15"/>
          <p:cNvSpPr txBox="1"/>
          <p:nvPr/>
        </p:nvSpPr>
        <p:spPr>
          <a:xfrm>
            <a:off x="457200" y="2495550"/>
            <a:ext cx="7409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 is b </a:t>
            </a:r>
            <a:endParaRPr sz="1800">
              <a:solidFill>
                <a:schemeClr val="dk1"/>
              </a:solidFill>
              <a:latin typeface="Times New Roman"/>
              <a:ea typeface="Times New Roman"/>
              <a:cs typeface="Times New Roman"/>
              <a:sym typeface="Times New Roman"/>
            </a:endParaRPr>
          </a:p>
        </p:txBody>
      </p:sp>
      <p:sp>
        <p:nvSpPr>
          <p:cNvPr id="141" name="Google Shape;141;p15"/>
          <p:cNvSpPr txBox="1"/>
          <p:nvPr/>
        </p:nvSpPr>
        <p:spPr>
          <a:xfrm>
            <a:off x="1192853" y="2496919"/>
            <a:ext cx="599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True</a:t>
            </a:r>
            <a:endParaRPr sz="1800">
              <a:solidFill>
                <a:schemeClr val="dk1"/>
              </a:solidFill>
              <a:latin typeface="Calibri"/>
              <a:ea typeface="Calibri"/>
              <a:cs typeface="Calibri"/>
              <a:sym typeface="Calibri"/>
            </a:endParaRPr>
          </a:p>
        </p:txBody>
      </p:sp>
      <p:sp>
        <p:nvSpPr>
          <p:cNvPr id="142" name="Google Shape;142;p15"/>
          <p:cNvSpPr txBox="1"/>
          <p:nvPr/>
        </p:nvSpPr>
        <p:spPr>
          <a:xfrm>
            <a:off x="3596767" y="3116818"/>
            <a:ext cx="418704"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43" name="Google Shape;143;p15"/>
          <p:cNvSpPr txBox="1"/>
          <p:nvPr/>
        </p:nvSpPr>
        <p:spPr>
          <a:xfrm>
            <a:off x="3421237" y="3486150"/>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18511</a:t>
            </a:r>
            <a:endParaRPr sz="1800">
              <a:solidFill>
                <a:schemeClr val="dk1"/>
              </a:solidFill>
              <a:latin typeface="Calibri"/>
              <a:ea typeface="Calibri"/>
              <a:cs typeface="Calibri"/>
              <a:sym typeface="Calibri"/>
            </a:endParaRPr>
          </a:p>
        </p:txBody>
      </p:sp>
      <p:sp>
        <p:nvSpPr>
          <p:cNvPr id="144" name="Google Shape;144;p15"/>
          <p:cNvSpPr txBox="1"/>
          <p:nvPr/>
        </p:nvSpPr>
        <p:spPr>
          <a:xfrm>
            <a:off x="3634471" y="28003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45" name="Google Shape;145;p15"/>
          <p:cNvSpPr txBox="1"/>
          <p:nvPr/>
        </p:nvSpPr>
        <p:spPr>
          <a:xfrm>
            <a:off x="4587367" y="3116818"/>
            <a:ext cx="569387" cy="369332"/>
          </a:xfrm>
          <a:prstGeom prst="rect">
            <a:avLst/>
          </a:prstGeom>
          <a:solidFill>
            <a:schemeClr val="lt1"/>
          </a:solidFill>
          <a:ln cap="flat" cmpd="sng" w="25400">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46" name="Google Shape;146;p15"/>
          <p:cNvSpPr txBox="1"/>
          <p:nvPr/>
        </p:nvSpPr>
        <p:spPr>
          <a:xfrm>
            <a:off x="4495800" y="3486150"/>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16211</a:t>
            </a:r>
            <a:endParaRPr sz="1800">
              <a:solidFill>
                <a:schemeClr val="dk1"/>
              </a:solidFill>
              <a:latin typeface="Calibri"/>
              <a:ea typeface="Calibri"/>
              <a:cs typeface="Calibri"/>
              <a:sym typeface="Calibri"/>
            </a:endParaRPr>
          </a:p>
        </p:txBody>
      </p:sp>
      <p:sp>
        <p:nvSpPr>
          <p:cNvPr id="147" name="Google Shape;147;p15"/>
          <p:cNvSpPr txBox="1"/>
          <p:nvPr/>
        </p:nvSpPr>
        <p:spPr>
          <a:xfrm>
            <a:off x="4722706" y="280035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148" name="Google Shape;148;p15"/>
          <p:cNvSpPr txBox="1"/>
          <p:nvPr/>
        </p:nvSpPr>
        <p:spPr>
          <a:xfrm>
            <a:off x="457200" y="3638550"/>
            <a:ext cx="7409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 is b </a:t>
            </a:r>
            <a:endParaRPr sz="1800">
              <a:solidFill>
                <a:schemeClr val="dk1"/>
              </a:solidFill>
              <a:latin typeface="Times New Roman"/>
              <a:ea typeface="Times New Roman"/>
              <a:cs typeface="Times New Roman"/>
              <a:sym typeface="Times New Roman"/>
            </a:endParaRPr>
          </a:p>
        </p:txBody>
      </p:sp>
      <p:sp>
        <p:nvSpPr>
          <p:cNvPr id="149" name="Google Shape;149;p15"/>
          <p:cNvSpPr txBox="1"/>
          <p:nvPr/>
        </p:nvSpPr>
        <p:spPr>
          <a:xfrm>
            <a:off x="1192853" y="3639919"/>
            <a:ext cx="652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False</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5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500"/>
                                        <p:tgtEl>
                                          <p:spTgt spid="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Effect filter="fade" transition="in">
                                      <p:cBhvr>
                                        <p:cTn dur="500"/>
                                        <p:tgtEl>
                                          <p:spTgt spid="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Effect filter="fade" transition="in">
                                      <p:cBhvr>
                                        <p:cTn dur="500"/>
                                        <p:tgtEl>
                                          <p:spTgt spid="1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animEffect filter="fade" transition="in">
                                      <p:cBhvr>
                                        <p:cTn dur="500"/>
                                        <p:tgtEl>
                                          <p:spTgt spid="1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animEffect filter="fade" transition="in">
                                      <p:cBhvr>
                                        <p:cTn dur="500"/>
                                        <p:tgtEl>
                                          <p:spTgt spid="1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5"/>
                                        </p:tgtEl>
                                      </p:cBhvr>
                                    </p:animEffect>
                                    <p:set>
                                      <p:cBhvr>
                                        <p:cTn dur="1" fill="hold">
                                          <p:stCondLst>
                                            <p:cond delay="500"/>
                                          </p:stCondLst>
                                        </p:cTn>
                                        <p:tgtEl>
                                          <p:spTgt spid="1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6"/>
                                        </p:tgtEl>
                                      </p:cBhvr>
                                    </p:animEffect>
                                    <p:set>
                                      <p:cBhvr>
                                        <p:cTn dur="1" fill="hold">
                                          <p:stCondLst>
                                            <p:cond delay="500"/>
                                          </p:stCondLst>
                                        </p:cTn>
                                        <p:tgtEl>
                                          <p:spTgt spid="1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Effect filter="fade" transition="in">
                                      <p:cBhvr>
                                        <p:cTn dur="500"/>
                                        <p:tgtEl>
                                          <p:spTgt spid="1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Effect filter="fade" transition="in">
                                      <p:cBhvr>
                                        <p:cTn dur="500"/>
                                        <p:tgtEl>
                                          <p:spTgt spid="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a:latin typeface="Times New Roman"/>
                <a:ea typeface="Times New Roman"/>
                <a:cs typeface="Times New Roman"/>
                <a:sym typeface="Times New Roman"/>
              </a:rPr>
              <a:t>is not </a:t>
            </a:r>
            <a:endParaRPr b="1" sz="4000">
              <a:latin typeface="Times New Roman"/>
              <a:ea typeface="Times New Roman"/>
              <a:cs typeface="Times New Roman"/>
              <a:sym typeface="Times New Roman"/>
            </a:endParaRPr>
          </a:p>
        </p:txBody>
      </p:sp>
      <p:sp>
        <p:nvSpPr>
          <p:cNvPr id="155" name="Google Shape;155;p16"/>
          <p:cNvSpPr txBox="1"/>
          <p:nvPr>
            <p:ph idx="1" type="body"/>
          </p:nvPr>
        </p:nvSpPr>
        <p:spPr>
          <a:xfrm>
            <a:off x="457200" y="819150"/>
            <a:ext cx="8229600" cy="18288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This operator works in reverse manner for </a:t>
            </a:r>
            <a:r>
              <a:rPr i="1" lang="en-US" sz="1800">
                <a:latin typeface="Times New Roman"/>
                <a:ea typeface="Times New Roman"/>
                <a:cs typeface="Times New Roman"/>
                <a:sym typeface="Times New Roman"/>
              </a:rPr>
              <a:t>is</a:t>
            </a:r>
            <a:r>
              <a:rPr lang="en-US" sz="1800">
                <a:latin typeface="Times New Roman"/>
                <a:ea typeface="Times New Roman"/>
                <a:cs typeface="Times New Roman"/>
                <a:sym typeface="Times New Roman"/>
              </a:rPr>
              <a:t> operator.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It returns True if memory location of two objects are not same and if they are same it returns False.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 = 10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b = 10</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156" name="Google Shape;156;p16"/>
          <p:cNvSpPr txBox="1"/>
          <p:nvPr/>
        </p:nvSpPr>
        <p:spPr>
          <a:xfrm>
            <a:off x="3619896" y="1745218"/>
            <a:ext cx="418704"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57" name="Google Shape;157;p16"/>
          <p:cNvSpPr txBox="1"/>
          <p:nvPr/>
        </p:nvSpPr>
        <p:spPr>
          <a:xfrm>
            <a:off x="3444366" y="2114550"/>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12411</a:t>
            </a:r>
            <a:endParaRPr sz="1800">
              <a:solidFill>
                <a:schemeClr val="dk1"/>
              </a:solidFill>
              <a:latin typeface="Calibri"/>
              <a:ea typeface="Calibri"/>
              <a:cs typeface="Calibri"/>
              <a:sym typeface="Calibri"/>
            </a:endParaRPr>
          </a:p>
        </p:txBody>
      </p:sp>
      <p:sp>
        <p:nvSpPr>
          <p:cNvPr id="158" name="Google Shape;158;p16"/>
          <p:cNvSpPr txBox="1"/>
          <p:nvPr/>
        </p:nvSpPr>
        <p:spPr>
          <a:xfrm>
            <a:off x="3657600" y="14287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59" name="Google Shape;159;p16"/>
          <p:cNvSpPr txBox="1"/>
          <p:nvPr/>
        </p:nvSpPr>
        <p:spPr>
          <a:xfrm>
            <a:off x="4511167" y="1756886"/>
            <a:ext cx="418704" cy="369332"/>
          </a:xfrm>
          <a:prstGeom prst="rect">
            <a:avLst/>
          </a:prstGeom>
          <a:solidFill>
            <a:schemeClr val="lt1"/>
          </a:solidFill>
          <a:ln cap="flat" cmpd="sng" w="25400">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60" name="Google Shape;160;p16"/>
          <p:cNvSpPr txBox="1"/>
          <p:nvPr/>
        </p:nvSpPr>
        <p:spPr>
          <a:xfrm>
            <a:off x="4335637" y="2126218"/>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13611</a:t>
            </a:r>
            <a:endParaRPr sz="1800">
              <a:solidFill>
                <a:schemeClr val="dk1"/>
              </a:solidFill>
              <a:latin typeface="Calibri"/>
              <a:ea typeface="Calibri"/>
              <a:cs typeface="Calibri"/>
              <a:sym typeface="Calibri"/>
            </a:endParaRPr>
          </a:p>
        </p:txBody>
      </p:sp>
      <p:sp>
        <p:nvSpPr>
          <p:cNvPr id="161" name="Google Shape;161;p16"/>
          <p:cNvSpPr txBox="1"/>
          <p:nvPr/>
        </p:nvSpPr>
        <p:spPr>
          <a:xfrm>
            <a:off x="4548871" y="1440418"/>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cxnSp>
        <p:nvCxnSpPr>
          <p:cNvPr id="162" name="Google Shape;162;p16"/>
          <p:cNvCxnSpPr/>
          <p:nvPr/>
        </p:nvCxnSpPr>
        <p:spPr>
          <a:xfrm flipH="1">
            <a:off x="4114800" y="1613416"/>
            <a:ext cx="434071" cy="272534"/>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8039"/>
              </a:srgbClr>
            </a:outerShdw>
          </a:effectLst>
        </p:spPr>
      </p:cxnSp>
      <p:sp>
        <p:nvSpPr>
          <p:cNvPr id="163" name="Google Shape;163;p16"/>
          <p:cNvSpPr txBox="1"/>
          <p:nvPr/>
        </p:nvSpPr>
        <p:spPr>
          <a:xfrm>
            <a:off x="457200" y="3028950"/>
            <a:ext cx="93006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 = 10</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 = ‘10’</a:t>
            </a:r>
            <a:endParaRPr sz="1800">
              <a:solidFill>
                <a:schemeClr val="dk1"/>
              </a:solidFill>
              <a:latin typeface="Times New Roman"/>
              <a:ea typeface="Times New Roman"/>
              <a:cs typeface="Times New Roman"/>
              <a:sym typeface="Times New Roman"/>
            </a:endParaRPr>
          </a:p>
        </p:txBody>
      </p:sp>
      <p:sp>
        <p:nvSpPr>
          <p:cNvPr id="164" name="Google Shape;164;p16"/>
          <p:cNvSpPr txBox="1"/>
          <p:nvPr/>
        </p:nvSpPr>
        <p:spPr>
          <a:xfrm>
            <a:off x="457200" y="2495550"/>
            <a:ext cx="10823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 is not b </a:t>
            </a:r>
            <a:endParaRPr sz="1800">
              <a:solidFill>
                <a:schemeClr val="dk1"/>
              </a:solidFill>
              <a:latin typeface="Times New Roman"/>
              <a:ea typeface="Times New Roman"/>
              <a:cs typeface="Times New Roman"/>
              <a:sym typeface="Times New Roman"/>
            </a:endParaRPr>
          </a:p>
        </p:txBody>
      </p:sp>
      <p:sp>
        <p:nvSpPr>
          <p:cNvPr id="165" name="Google Shape;165;p16"/>
          <p:cNvSpPr txBox="1"/>
          <p:nvPr/>
        </p:nvSpPr>
        <p:spPr>
          <a:xfrm>
            <a:off x="1480664" y="2496919"/>
            <a:ext cx="6529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False</a:t>
            </a:r>
            <a:endParaRPr sz="1800">
              <a:solidFill>
                <a:schemeClr val="dk1"/>
              </a:solidFill>
              <a:latin typeface="Calibri"/>
              <a:ea typeface="Calibri"/>
              <a:cs typeface="Calibri"/>
              <a:sym typeface="Calibri"/>
            </a:endParaRPr>
          </a:p>
        </p:txBody>
      </p:sp>
      <p:sp>
        <p:nvSpPr>
          <p:cNvPr id="166" name="Google Shape;166;p16"/>
          <p:cNvSpPr txBox="1"/>
          <p:nvPr/>
        </p:nvSpPr>
        <p:spPr>
          <a:xfrm>
            <a:off x="3596767" y="3116818"/>
            <a:ext cx="418704"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67" name="Google Shape;167;p16"/>
          <p:cNvSpPr txBox="1"/>
          <p:nvPr/>
        </p:nvSpPr>
        <p:spPr>
          <a:xfrm>
            <a:off x="3421237" y="3486150"/>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18511</a:t>
            </a:r>
            <a:endParaRPr sz="1800">
              <a:solidFill>
                <a:schemeClr val="dk1"/>
              </a:solidFill>
              <a:latin typeface="Calibri"/>
              <a:ea typeface="Calibri"/>
              <a:cs typeface="Calibri"/>
              <a:sym typeface="Calibri"/>
            </a:endParaRPr>
          </a:p>
        </p:txBody>
      </p:sp>
      <p:sp>
        <p:nvSpPr>
          <p:cNvPr id="168" name="Google Shape;168;p16"/>
          <p:cNvSpPr txBox="1"/>
          <p:nvPr/>
        </p:nvSpPr>
        <p:spPr>
          <a:xfrm>
            <a:off x="3634471" y="28003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69" name="Google Shape;169;p16"/>
          <p:cNvSpPr txBox="1"/>
          <p:nvPr/>
        </p:nvSpPr>
        <p:spPr>
          <a:xfrm>
            <a:off x="4587367" y="3116818"/>
            <a:ext cx="569387" cy="369332"/>
          </a:xfrm>
          <a:prstGeom prst="rect">
            <a:avLst/>
          </a:prstGeom>
          <a:solidFill>
            <a:schemeClr val="lt1"/>
          </a:solidFill>
          <a:ln cap="flat" cmpd="sng" w="25400">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‘10’</a:t>
            </a:r>
            <a:endParaRPr sz="1800">
              <a:solidFill>
                <a:schemeClr val="dk1"/>
              </a:solidFill>
              <a:latin typeface="Times New Roman"/>
              <a:ea typeface="Times New Roman"/>
              <a:cs typeface="Times New Roman"/>
              <a:sym typeface="Times New Roman"/>
            </a:endParaRPr>
          </a:p>
        </p:txBody>
      </p:sp>
      <p:sp>
        <p:nvSpPr>
          <p:cNvPr id="170" name="Google Shape;170;p16"/>
          <p:cNvSpPr txBox="1"/>
          <p:nvPr/>
        </p:nvSpPr>
        <p:spPr>
          <a:xfrm>
            <a:off x="4495800" y="3486150"/>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16211</a:t>
            </a:r>
            <a:endParaRPr sz="1800">
              <a:solidFill>
                <a:schemeClr val="dk1"/>
              </a:solidFill>
              <a:latin typeface="Calibri"/>
              <a:ea typeface="Calibri"/>
              <a:cs typeface="Calibri"/>
              <a:sym typeface="Calibri"/>
            </a:endParaRPr>
          </a:p>
        </p:txBody>
      </p:sp>
      <p:sp>
        <p:nvSpPr>
          <p:cNvPr id="171" name="Google Shape;171;p16"/>
          <p:cNvSpPr txBox="1"/>
          <p:nvPr/>
        </p:nvSpPr>
        <p:spPr>
          <a:xfrm>
            <a:off x="4722706" y="280035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172" name="Google Shape;172;p16"/>
          <p:cNvSpPr txBox="1"/>
          <p:nvPr/>
        </p:nvSpPr>
        <p:spPr>
          <a:xfrm>
            <a:off x="457200" y="3638550"/>
            <a:ext cx="10823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 is not b </a:t>
            </a:r>
            <a:endParaRPr sz="1800">
              <a:solidFill>
                <a:schemeClr val="dk1"/>
              </a:solidFill>
              <a:latin typeface="Times New Roman"/>
              <a:ea typeface="Times New Roman"/>
              <a:cs typeface="Times New Roman"/>
              <a:sym typeface="Times New Roman"/>
            </a:endParaRPr>
          </a:p>
        </p:txBody>
      </p:sp>
      <p:sp>
        <p:nvSpPr>
          <p:cNvPr id="173" name="Google Shape;173;p16"/>
          <p:cNvSpPr txBox="1"/>
          <p:nvPr/>
        </p:nvSpPr>
        <p:spPr>
          <a:xfrm>
            <a:off x="1480664" y="3639919"/>
            <a:ext cx="599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True</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5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5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500"/>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500"/>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500"/>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500"/>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9"/>
                                        </p:tgtEl>
                                      </p:cBhvr>
                                    </p:animEffect>
                                    <p:set>
                                      <p:cBhvr>
                                        <p:cTn dur="1" fill="hold">
                                          <p:stCondLst>
                                            <p:cond delay="500"/>
                                          </p:stCondLst>
                                        </p:cTn>
                                        <p:tgtEl>
                                          <p:spTgt spid="1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0"/>
                                        </p:tgtEl>
                                      </p:cBhvr>
                                    </p:animEffect>
                                    <p:set>
                                      <p:cBhvr>
                                        <p:cTn dur="1" fill="hold">
                                          <p:stCondLst>
                                            <p:cond delay="500"/>
                                          </p:stCondLst>
                                        </p:cTn>
                                        <p:tgtEl>
                                          <p:spTgt spid="16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Effect filter="fade" transition="in">
                                      <p:cBhvr>
                                        <p:cTn dur="500"/>
                                        <p:tgtEl>
                                          <p:spTgt spid="1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Effect filter="fade" transition="in">
                                      <p:cBhvr>
                                        <p:cTn dur="500"/>
                                        <p:tgtEl>
                                          <p:spTgt spid="1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7"/>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Operator Precedence and Associativity</a:t>
            </a:r>
            <a:endParaRPr sz="3600" u="sng">
              <a:latin typeface="Times New Roman"/>
              <a:ea typeface="Times New Roman"/>
              <a:cs typeface="Times New Roman"/>
              <a:sym typeface="Times New Roman"/>
            </a:endParaRPr>
          </a:p>
        </p:txBody>
      </p:sp>
      <p:sp>
        <p:nvSpPr>
          <p:cNvPr id="179" name="Google Shape;179;p17"/>
          <p:cNvSpPr txBox="1"/>
          <p:nvPr>
            <p:ph idx="1" type="body"/>
          </p:nvPr>
        </p:nvSpPr>
        <p:spPr>
          <a:xfrm>
            <a:off x="457200" y="746473"/>
            <a:ext cx="5027338" cy="353943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General Precedence Order in Python (Highest → Lowest)</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Parentheses</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Exponentiation (right-to-left)</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+x, -x, ~x Unary operators</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 //, %</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&lt;&lt;, &gt;&gt; Bitwise shift</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&amp; Bitwise AND</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Bitwise XOR</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Bitwise OR</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Comparisons: &lt;, &lt;=, &gt;, &gt;=, ==, !=</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not</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and</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or</a:t>
            </a:r>
            <a:endParaRPr/>
          </a:p>
          <a:p>
            <a:pPr indent="-88900" lvl="0" marL="0" marR="0" rtl="0" algn="l">
              <a:lnSpc>
                <a:spcPct val="100000"/>
              </a:lnSpc>
              <a:spcBef>
                <a:spcPts val="0"/>
              </a:spcBef>
              <a:spcAft>
                <a:spcPts val="0"/>
              </a:spcAft>
              <a:buClr>
                <a:schemeClr val="dk1"/>
              </a:buClr>
              <a:buSzPts val="1400"/>
              <a:buFont typeface="Arial"/>
              <a:buAutoNum type="arabicPeriod"/>
            </a:pPr>
            <a:r>
              <a:rPr i="0" lang="en-US" sz="1400" u="none" cap="none" strike="noStrike">
                <a:solidFill>
                  <a:schemeClr val="dk1"/>
                </a:solidFill>
                <a:latin typeface="Arial"/>
                <a:ea typeface="Arial"/>
                <a:cs typeface="Arial"/>
                <a:sym typeface="Arial"/>
              </a:rPr>
              <a:t>= and other assignment operators</a:t>
            </a:r>
            <a:endParaRPr/>
          </a:p>
          <a:p>
            <a:pPr indent="0" lvl="0" marL="0" marR="0" rtl="0" algn="l">
              <a:lnSpc>
                <a:spcPct val="100000"/>
              </a:lnSpc>
              <a:spcBef>
                <a:spcPts val="0"/>
              </a:spcBef>
              <a:spcAft>
                <a:spcPts val="0"/>
              </a:spcAft>
              <a:buClr>
                <a:schemeClr val="dk1"/>
              </a:buClr>
              <a:buSzPts val="1400"/>
              <a:buFont typeface="Calibri"/>
              <a:buNone/>
            </a:pPr>
            <a:r>
              <a:t/>
            </a:r>
            <a:endParaRPr i="0" sz="14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aphicFrame>
        <p:nvGraphicFramePr>
          <p:cNvPr id="184" name="Google Shape;184;p18"/>
          <p:cNvGraphicFramePr/>
          <p:nvPr/>
        </p:nvGraphicFramePr>
        <p:xfrm>
          <a:off x="1219200" y="285750"/>
          <a:ext cx="3000000" cy="3000000"/>
        </p:xfrm>
        <a:graphic>
          <a:graphicData uri="http://schemas.openxmlformats.org/drawingml/2006/table">
            <a:tbl>
              <a:tblPr bandRow="1" firstCol="1" firstRow="1">
                <a:noFill/>
                <a:tableStyleId>{FD7F53AD-BF50-47AC-978E-A8D9F2143B06}</a:tableStyleId>
              </a:tblPr>
              <a:tblGrid>
                <a:gridCol w="609600"/>
                <a:gridCol w="2286000"/>
                <a:gridCol w="3810000"/>
              </a:tblGrid>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Order</a:t>
                      </a:r>
                      <a:endParaRPr sz="1400">
                        <a:latin typeface="Times New Roman"/>
                        <a:ea typeface="Times New Roman"/>
                        <a:cs typeface="Times New Roman"/>
                        <a:sym typeface="Times New Roman"/>
                      </a:endParaRPr>
                    </a:p>
                  </a:txBody>
                  <a:tcPr marT="0" marB="0" marR="68575" marL="68575">
                    <a:solidFill>
                      <a:srgbClr val="FBD4B4"/>
                    </a:solidFill>
                  </a:tcPr>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Operator</a:t>
                      </a:r>
                      <a:endParaRPr sz="1400">
                        <a:latin typeface="Times New Roman"/>
                        <a:ea typeface="Times New Roman"/>
                        <a:cs typeface="Times New Roman"/>
                        <a:sym typeface="Times New Roman"/>
                      </a:endParaRPr>
                    </a:p>
                  </a:txBody>
                  <a:tcPr marT="0" marB="0" marR="68575" marL="68575">
                    <a:solidFill>
                      <a:srgbClr val="FBD4B4"/>
                    </a:solidFill>
                  </a:tcPr>
                </a:tc>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Meaning</a:t>
                      </a:r>
                      <a:endParaRPr/>
                    </a:p>
                  </a:txBody>
                  <a:tcPr marT="0" marB="0" marR="68575" marL="68575">
                    <a:solidFill>
                      <a:srgbClr val="FBD4B4"/>
                    </a:solidFill>
                  </a:tcPr>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 )</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Parentheses</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2</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Exponentiation</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3</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 -, ~</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Unary Plus,</a:t>
                      </a:r>
                      <a:r>
                        <a:rPr lang="en-US" sz="1400">
                          <a:latin typeface="Times New Roman"/>
                          <a:ea typeface="Times New Roman"/>
                          <a:cs typeface="Times New Roman"/>
                          <a:sym typeface="Times New Roman"/>
                        </a:rPr>
                        <a:t> Unary Minus, Bitwise Not</a:t>
                      </a:r>
                      <a:endParaRPr sz="1400">
                        <a:latin typeface="Times New Roman"/>
                        <a:ea typeface="Times New Roman"/>
                        <a:cs typeface="Times New Roman"/>
                        <a:sym typeface="Times New Roman"/>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4</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 /, //, %</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Multiplication, Division, Floor Division, Modulus</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5</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 -</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Addition,</a:t>
                      </a:r>
                      <a:r>
                        <a:rPr lang="en-US" sz="1400">
                          <a:latin typeface="Times New Roman"/>
                          <a:ea typeface="Times New Roman"/>
                          <a:cs typeface="Times New Roman"/>
                          <a:sym typeface="Times New Roman"/>
                        </a:rPr>
                        <a:t> Subtraction</a:t>
                      </a:r>
                      <a:endParaRPr sz="1400">
                        <a:latin typeface="Times New Roman"/>
                        <a:ea typeface="Times New Roman"/>
                        <a:cs typeface="Times New Roman"/>
                        <a:sym typeface="Times New Roman"/>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6</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&lt;&lt;, &gt;&gt;</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Bitwise Left Shift, Bitwise Right Shift</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7</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&amp;</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Bitwise AND</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8</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Bitwise</a:t>
                      </a:r>
                      <a:r>
                        <a:rPr lang="en-US" sz="1400">
                          <a:latin typeface="Times New Roman"/>
                          <a:ea typeface="Times New Roman"/>
                          <a:cs typeface="Times New Roman"/>
                          <a:sym typeface="Times New Roman"/>
                        </a:rPr>
                        <a:t> XOR</a:t>
                      </a:r>
                      <a:endParaRPr sz="1400">
                        <a:latin typeface="Times New Roman"/>
                        <a:ea typeface="Times New Roman"/>
                        <a:cs typeface="Times New Roman"/>
                        <a:sym typeface="Times New Roman"/>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9</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&gt;, &gt;=, &lt;, &lt;=, ==, !=</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Relational Operators</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10</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b="1" lang="en-US" sz="1400">
                          <a:latin typeface="Times New Roman"/>
                          <a:ea typeface="Times New Roman"/>
                          <a:cs typeface="Times New Roman"/>
                          <a:sym typeface="Times New Roman"/>
                        </a:rPr>
                        <a:t>=, %=, /=, //=, -=,</a:t>
                      </a:r>
                      <a:r>
                        <a:rPr b="1" lang="en-US" sz="1400">
                          <a:latin typeface="Times New Roman"/>
                          <a:ea typeface="Times New Roman"/>
                          <a:cs typeface="Times New Roman"/>
                          <a:sym typeface="Times New Roman"/>
                        </a:rPr>
                        <a:t> +=, *=, **=</a:t>
                      </a:r>
                      <a:endParaRPr b="1"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Assignment Operators</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11</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is, is not</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Identity Operators</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12</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in,</a:t>
                      </a:r>
                      <a:r>
                        <a:rPr lang="en-US" sz="1400">
                          <a:latin typeface="Times New Roman"/>
                          <a:ea typeface="Times New Roman"/>
                          <a:cs typeface="Times New Roman"/>
                          <a:sym typeface="Times New Roman"/>
                        </a:rPr>
                        <a:t> not in</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Membership Operators</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13</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not</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Logical</a:t>
                      </a:r>
                      <a:r>
                        <a:rPr lang="en-US" sz="1400">
                          <a:latin typeface="Times New Roman"/>
                          <a:ea typeface="Times New Roman"/>
                          <a:cs typeface="Times New Roman"/>
                          <a:sym typeface="Times New Roman"/>
                        </a:rPr>
                        <a:t> NOT</a:t>
                      </a:r>
                      <a:endParaRPr sz="1400">
                        <a:latin typeface="Times New Roman"/>
                        <a:ea typeface="Times New Roman"/>
                        <a:cs typeface="Times New Roman"/>
                        <a:sym typeface="Times New Roman"/>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14</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or</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Logical OR</a:t>
                      </a:r>
                      <a:endParaRPr/>
                    </a:p>
                  </a:txBody>
                  <a:tcPr marT="0" marB="0" marR="68575" marL="68575"/>
                </a:tc>
              </a:tr>
              <a:tr h="267900">
                <a:tc>
                  <a:txBody>
                    <a:bodyPr/>
                    <a:lstStyle/>
                    <a:p>
                      <a:pPr indent="0" lvl="0" marL="0" marR="0" rtl="0" algn="ctr">
                        <a:spcBef>
                          <a:spcPts val="0"/>
                        </a:spcBef>
                        <a:spcAft>
                          <a:spcPts val="0"/>
                        </a:spcAft>
                        <a:buNone/>
                      </a:pPr>
                      <a:r>
                        <a:rPr lang="en-US" sz="1400">
                          <a:latin typeface="Times New Roman"/>
                          <a:ea typeface="Times New Roman"/>
                          <a:cs typeface="Times New Roman"/>
                          <a:sym typeface="Times New Roman"/>
                        </a:rPr>
                        <a:t>15</a:t>
                      </a:r>
                      <a:endParaRPr sz="1400">
                        <a:latin typeface="Times New Roman"/>
                        <a:ea typeface="Times New Roman"/>
                        <a:cs typeface="Times New Roman"/>
                        <a:sym typeface="Times New Roman"/>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and</a:t>
                      </a:r>
                      <a:endParaRPr/>
                    </a:p>
                  </a:txBody>
                  <a:tcPr marT="0" marB="0" marR="68575" marL="68575"/>
                </a:tc>
                <a:tc>
                  <a:txBody>
                    <a:bodyPr/>
                    <a:lstStyle/>
                    <a:p>
                      <a:pPr indent="0" lvl="0" marL="0" marR="0" rtl="0" algn="l">
                        <a:spcBef>
                          <a:spcPts val="0"/>
                        </a:spcBef>
                        <a:spcAft>
                          <a:spcPts val="0"/>
                        </a:spcAft>
                        <a:buNone/>
                      </a:pPr>
                      <a:r>
                        <a:rPr lang="en-US" sz="1400">
                          <a:latin typeface="Times New Roman"/>
                          <a:ea typeface="Times New Roman"/>
                          <a:cs typeface="Times New Roman"/>
                          <a:sym typeface="Times New Roman"/>
                        </a:rPr>
                        <a:t>Logical AND</a:t>
                      </a:r>
                      <a:endParaRPr/>
                    </a:p>
                  </a:txBody>
                  <a:tcPr marT="0" marB="0" marR="68575" marL="6857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1" type="body"/>
          </p:nvPr>
        </p:nvSpPr>
        <p:spPr>
          <a:xfrm>
            <a:off x="457200" y="777478"/>
            <a:ext cx="54864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Parentheses</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Exponentiation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Multiplication, Division, Modulus and Floor Division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Addition and Subtraction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Assignment</a:t>
            </a:r>
            <a:endParaRPr sz="2000">
              <a:latin typeface="Times New Roman"/>
              <a:ea typeface="Times New Roman"/>
              <a:cs typeface="Times New Roman"/>
              <a:sym typeface="Times New Roman"/>
            </a:endParaRPr>
          </a:p>
        </p:txBody>
      </p:sp>
      <p:sp>
        <p:nvSpPr>
          <p:cNvPr id="190" name="Google Shape;190;p19"/>
          <p:cNvSpPr/>
          <p:nvPr/>
        </p:nvSpPr>
        <p:spPr>
          <a:xfrm>
            <a:off x="5791200" y="701278"/>
            <a:ext cx="30480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value = (1+1)*2**4//3+4-1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2*2**4//3+4-1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2*16//3+4-1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32//3+4-1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10+4-1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14-1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13</a:t>
            </a:r>
            <a:endParaRPr sz="2000">
              <a:solidFill>
                <a:schemeClr val="dk1"/>
              </a:solidFill>
              <a:latin typeface="Times New Roman"/>
              <a:ea typeface="Times New Roman"/>
              <a:cs typeface="Times New Roman"/>
              <a:sym typeface="Times New Roman"/>
            </a:endParaRPr>
          </a:p>
        </p:txBody>
      </p:sp>
      <p:cxnSp>
        <p:nvCxnSpPr>
          <p:cNvPr id="191" name="Google Shape;191;p19"/>
          <p:cNvCxnSpPr/>
          <p:nvPr/>
        </p:nvCxnSpPr>
        <p:spPr>
          <a:xfrm>
            <a:off x="5715000" y="701278"/>
            <a:ext cx="0" cy="2327672"/>
          </a:xfrm>
          <a:prstGeom prst="straightConnector1">
            <a:avLst/>
          </a:prstGeom>
          <a:noFill/>
          <a:ln cap="flat" cmpd="sng" w="9525">
            <a:solidFill>
              <a:srgbClr val="BD4B48"/>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5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5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500"/>
                                        <p:tgtEl>
                                          <p:spTgt spid="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Effect filter="fade" transition="in">
                                      <p:cBhvr>
                                        <p:cTn dur="500"/>
                                        <p:tgtEl>
                                          <p:spTgt spid="1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animEffect filter="fade" transition="in">
                                      <p:cBhvr>
                                        <p:cTn dur="500"/>
                                        <p:tgtEl>
                                          <p:spTgt spid="1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animEffect filter="fade" transition="in">
                                      <p:cBhvr>
                                        <p:cTn dur="500"/>
                                        <p:tgtEl>
                                          <p:spTgt spid="1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6" st="6"/>
                                            </p:txEl>
                                          </p:spTgt>
                                        </p:tgtEl>
                                        <p:attrNameLst>
                                          <p:attrName>style.visibility</p:attrName>
                                        </p:attrNameLst>
                                      </p:cBhvr>
                                      <p:to>
                                        <p:strVal val="visible"/>
                                      </p:to>
                                    </p:set>
                                    <p:animEffect filter="fade" transition="in">
                                      <p:cBhvr>
                                        <p:cTn dur="500"/>
                                        <p:tgtEl>
                                          <p:spTgt spid="1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animEffect filter="fade" transition="in">
                                      <p:cBhvr>
                                        <p:cTn dur="500"/>
                                        <p:tgtEl>
                                          <p:spTgt spid="1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animEffect filter="fade" transition="in">
                                      <p:cBhvr>
                                        <p:cTn dur="500"/>
                                        <p:tgtEl>
                                          <p:spTgt spid="1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animEffect filter="fade" transition="in">
                                      <p:cBhvr>
                                        <p:cTn dur="500"/>
                                        <p:tgtEl>
                                          <p:spTgt spid="1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animEffect filter="fade" transition="in">
                                      <p:cBhvr>
                                        <p:cTn dur="500"/>
                                        <p:tgtEl>
                                          <p:spTgt spid="1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animEffect filter="fade" transition="in">
                                      <p:cBhvr>
                                        <p:cTn dur="500"/>
                                        <p:tgtEl>
                                          <p:spTgt spid="18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Type Conversion</a:t>
            </a:r>
            <a:endParaRPr b="1" sz="4000" u="sng">
              <a:latin typeface="Times New Roman"/>
              <a:ea typeface="Times New Roman"/>
              <a:cs typeface="Times New Roman"/>
              <a:sym typeface="Times New Roman"/>
            </a:endParaRPr>
          </a:p>
        </p:txBody>
      </p:sp>
      <p:sp>
        <p:nvSpPr>
          <p:cNvPr id="197" name="Google Shape;197;p20"/>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Converting one data type into another data type is called </a:t>
            </a:r>
            <a:r>
              <a:rPr i="1" lang="en-US" sz="2000">
                <a:latin typeface="Times New Roman"/>
                <a:ea typeface="Times New Roman"/>
                <a:cs typeface="Times New Roman"/>
                <a:sym typeface="Times New Roman"/>
              </a:rPr>
              <a:t>Type Conversion</a:t>
            </a:r>
            <a:r>
              <a:rPr lang="en-US" sz="2000">
                <a:latin typeface="Times New Roman"/>
                <a:ea typeface="Times New Roman"/>
                <a:cs typeface="Times New Roman"/>
                <a:sym typeface="Times New Roman"/>
              </a:rPr>
              <a:t>.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Type of </a:t>
            </a:r>
            <a:r>
              <a:rPr i="1" lang="en-US" sz="2000">
                <a:latin typeface="Times New Roman"/>
                <a:ea typeface="Times New Roman"/>
                <a:cs typeface="Times New Roman"/>
                <a:sym typeface="Times New Roman"/>
              </a:rPr>
              <a:t>Type Conversion</a:t>
            </a:r>
            <a:r>
              <a:rPr lang="en-US" sz="2000">
                <a:latin typeface="Times New Roman"/>
                <a:ea typeface="Times New Roman"/>
                <a:cs typeface="Times New Roman"/>
                <a:sym typeface="Times New Roman"/>
              </a:rPr>
              <a:t>:-</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Implicit Type Conversion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Explicit Type Conversion</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5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500"/>
                                        <p:tgtEl>
                                          <p:spTgt spid="1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Implicit Type Conversion </a:t>
            </a:r>
            <a:endParaRPr b="1" sz="4000" u="sng"/>
          </a:p>
        </p:txBody>
      </p:sp>
      <p:sp>
        <p:nvSpPr>
          <p:cNvPr id="203" name="Google Shape;203;p21"/>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In the Implicit type conversion, python automatically converts one data type into another data type.</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Ex:- </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a = 5</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b = 2</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value = a / b</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print(value)</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print(type(value))</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5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5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5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5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500"/>
                                        <p:tgtEl>
                                          <p:spTgt spid="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animEffect filter="fade" transition="in">
                                      <p:cBhvr>
                                        <p:cTn dur="500"/>
                                        <p:tgtEl>
                                          <p:spTgt spid="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animEffect filter="fade" transition="in">
                                      <p:cBhvr>
                                        <p:cTn dur="500"/>
                                        <p:tgtEl>
                                          <p:spTgt spid="20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Explicit Type Conversion </a:t>
            </a:r>
            <a:endParaRPr b="1" sz="4000" u="sng"/>
          </a:p>
        </p:txBody>
      </p:sp>
      <p:sp>
        <p:nvSpPr>
          <p:cNvPr id="209" name="Google Shape;209;p22"/>
          <p:cNvSpPr txBox="1"/>
          <p:nvPr>
            <p:ph idx="1" type="body"/>
          </p:nvPr>
        </p:nvSpPr>
        <p:spPr>
          <a:xfrm>
            <a:off x="457200" y="895350"/>
            <a:ext cx="8229600" cy="403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In the Cast/Explicit Type Conversion, Programmer converts one data type into another data type.</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int (n)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float (n)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complex (n) </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complex (x, y) where x is real part and y is imaginary part</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str (n)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list(n)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tuple(n)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bin (n)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oct (n)</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hex (n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5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5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5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Effect filter="fade" transition="in">
                                      <p:cBhvr>
                                        <p:cTn dur="500"/>
                                        <p:tgtEl>
                                          <p:spTgt spid="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Effect filter="fade" transition="in">
                                      <p:cBhvr>
                                        <p:cTn dur="500"/>
                                        <p:tgtEl>
                                          <p:spTgt spid="2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animEffect filter="fade" transition="in">
                                      <p:cBhvr>
                                        <p:cTn dur="500"/>
                                        <p:tgtEl>
                                          <p:spTgt spid="2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animEffect filter="fade" transition="in">
                                      <p:cBhvr>
                                        <p:cTn dur="500"/>
                                        <p:tgtEl>
                                          <p:spTgt spid="2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7" st="7"/>
                                            </p:txEl>
                                          </p:spTgt>
                                        </p:tgtEl>
                                        <p:attrNameLst>
                                          <p:attrName>style.visibility</p:attrName>
                                        </p:attrNameLst>
                                      </p:cBhvr>
                                      <p:to>
                                        <p:strVal val="visible"/>
                                      </p:to>
                                    </p:set>
                                    <p:animEffect filter="fade" transition="in">
                                      <p:cBhvr>
                                        <p:cTn dur="500"/>
                                        <p:tgtEl>
                                          <p:spTgt spid="2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8" st="8"/>
                                            </p:txEl>
                                          </p:spTgt>
                                        </p:tgtEl>
                                        <p:attrNameLst>
                                          <p:attrName>style.visibility</p:attrName>
                                        </p:attrNameLst>
                                      </p:cBhvr>
                                      <p:to>
                                        <p:strVal val="visible"/>
                                      </p:to>
                                    </p:set>
                                    <p:animEffect filter="fade" transition="in">
                                      <p:cBhvr>
                                        <p:cTn dur="500"/>
                                        <p:tgtEl>
                                          <p:spTgt spid="2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9" st="9"/>
                                            </p:txEl>
                                          </p:spTgt>
                                        </p:tgtEl>
                                        <p:attrNameLst>
                                          <p:attrName>style.visibility</p:attrName>
                                        </p:attrNameLst>
                                      </p:cBhvr>
                                      <p:to>
                                        <p:strVal val="visible"/>
                                      </p:to>
                                    </p:set>
                                    <p:animEffect filter="fade" transition="in">
                                      <p:cBhvr>
                                        <p:cTn dur="500"/>
                                        <p:tgtEl>
                                          <p:spTgt spid="2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0" st="10"/>
                                            </p:txEl>
                                          </p:spTgt>
                                        </p:tgtEl>
                                        <p:attrNameLst>
                                          <p:attrName>style.visibility</p:attrName>
                                        </p:attrNameLst>
                                      </p:cBhvr>
                                      <p:to>
                                        <p:strVal val="visible"/>
                                      </p:to>
                                    </p:set>
                                    <p:animEffect filter="fade" transition="in">
                                      <p:cBhvr>
                                        <p:cTn dur="500"/>
                                        <p:tgtEl>
                                          <p:spTgt spid="209">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Input and Output</a:t>
            </a:r>
            <a:endParaRPr b="1" sz="4000" u="sng">
              <a:latin typeface="Times New Roman"/>
              <a:ea typeface="Times New Roman"/>
              <a:cs typeface="Times New Roman"/>
              <a:sym typeface="Times New Roman"/>
            </a:endParaRPr>
          </a:p>
        </p:txBody>
      </p:sp>
      <p:sp>
        <p:nvSpPr>
          <p:cNvPr id="215" name="Google Shape;215;p23"/>
          <p:cNvSpPr txBox="1"/>
          <p:nvPr>
            <p:ph idx="1" type="body"/>
          </p:nvPr>
        </p:nvSpPr>
        <p:spPr>
          <a:xfrm>
            <a:off x="457200" y="819150"/>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Input - The data given to the computer is called input.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Output – The results returned by the computer are called output.</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216" name="Google Shape;216;p23"/>
          <p:cNvSpPr/>
          <p:nvPr/>
        </p:nvSpPr>
        <p:spPr>
          <a:xfrm>
            <a:off x="1066800" y="2266950"/>
            <a:ext cx="1143000" cy="1066800"/>
          </a:xfrm>
          <a:prstGeom prst="rect">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Input</a:t>
            </a:r>
            <a:endParaRPr sz="1800">
              <a:solidFill>
                <a:schemeClr val="dk1"/>
              </a:solidFill>
              <a:latin typeface="Times New Roman"/>
              <a:ea typeface="Times New Roman"/>
              <a:cs typeface="Times New Roman"/>
              <a:sym typeface="Times New Roman"/>
            </a:endParaRPr>
          </a:p>
        </p:txBody>
      </p:sp>
      <p:sp>
        <p:nvSpPr>
          <p:cNvPr id="217" name="Google Shape;217;p23"/>
          <p:cNvSpPr/>
          <p:nvPr/>
        </p:nvSpPr>
        <p:spPr>
          <a:xfrm>
            <a:off x="3352800" y="2305050"/>
            <a:ext cx="1676400" cy="990600"/>
          </a:xfrm>
          <a:prstGeom prst="roundRect">
            <a:avLst>
              <a:gd fmla="val 16667" name="adj"/>
            </a:avLst>
          </a:prstGeom>
          <a:gradFill>
            <a:gsLst>
              <a:gs pos="0">
                <a:srgbClr val="2D5C97"/>
              </a:gs>
              <a:gs pos="80000">
                <a:srgbClr val="3C7AC5"/>
              </a:gs>
              <a:gs pos="100000">
                <a:srgbClr val="397BC9"/>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Processing Input depends on Logic</a:t>
            </a:r>
            <a:endParaRPr sz="1800">
              <a:solidFill>
                <a:schemeClr val="lt1"/>
              </a:solidFill>
              <a:latin typeface="Times New Roman"/>
              <a:ea typeface="Times New Roman"/>
              <a:cs typeface="Times New Roman"/>
              <a:sym typeface="Times New Roman"/>
            </a:endParaRPr>
          </a:p>
        </p:txBody>
      </p:sp>
      <p:sp>
        <p:nvSpPr>
          <p:cNvPr id="218" name="Google Shape;218;p23"/>
          <p:cNvSpPr/>
          <p:nvPr/>
        </p:nvSpPr>
        <p:spPr>
          <a:xfrm>
            <a:off x="6248400" y="2266950"/>
            <a:ext cx="1143000" cy="1066800"/>
          </a:xfrm>
          <a:prstGeom prst="rect">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Output</a:t>
            </a:r>
            <a:endParaRPr sz="1800">
              <a:solidFill>
                <a:schemeClr val="dk1"/>
              </a:solidFill>
              <a:latin typeface="Times New Roman"/>
              <a:ea typeface="Times New Roman"/>
              <a:cs typeface="Times New Roman"/>
              <a:sym typeface="Times New Roman"/>
            </a:endParaRPr>
          </a:p>
        </p:txBody>
      </p:sp>
      <p:cxnSp>
        <p:nvCxnSpPr>
          <p:cNvPr id="219" name="Google Shape;219;p23"/>
          <p:cNvCxnSpPr>
            <a:stCxn id="216" idx="3"/>
            <a:endCxn id="217" idx="1"/>
          </p:cNvCxnSpPr>
          <p:nvPr/>
        </p:nvCxnSpPr>
        <p:spPr>
          <a:xfrm>
            <a:off x="2209800" y="2800350"/>
            <a:ext cx="1143000" cy="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8039"/>
              </a:srgbClr>
            </a:outerShdw>
          </a:effectLst>
        </p:spPr>
      </p:cxnSp>
      <p:cxnSp>
        <p:nvCxnSpPr>
          <p:cNvPr id="220" name="Google Shape;220;p23"/>
          <p:cNvCxnSpPr>
            <a:stCxn id="217" idx="3"/>
            <a:endCxn id="218" idx="1"/>
          </p:cNvCxnSpPr>
          <p:nvPr/>
        </p:nvCxnSpPr>
        <p:spPr>
          <a:xfrm>
            <a:off x="5029200" y="2800350"/>
            <a:ext cx="1219200" cy="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8039"/>
              </a:srgbClr>
            </a:outerShdw>
          </a:effectLst>
        </p:spPr>
      </p:cxnSp>
      <p:sp>
        <p:nvSpPr>
          <p:cNvPr id="221" name="Google Shape;221;p23"/>
          <p:cNvSpPr txBox="1"/>
          <p:nvPr/>
        </p:nvSpPr>
        <p:spPr>
          <a:xfrm>
            <a:off x="1102320" y="3409950"/>
            <a:ext cx="99418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Keyboard</a:t>
            </a:r>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Mouse</a:t>
            </a:r>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Database</a:t>
            </a:r>
            <a:endParaRPr sz="16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animEffect filter="fade" transition="in">
                                      <p:cBhvr>
                                        <p:cTn dur="500"/>
                                        <p:tgtEl>
                                          <p:spTgt spid="2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animEffect filter="fade" transition="in">
                                      <p:cBhvr>
                                        <p:cTn dur="500"/>
                                        <p:tgtEl>
                                          <p:spTgt spid="2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animEffect filter="fade" transition="in">
                                      <p:cBhvr>
                                        <p:cTn dur="500"/>
                                        <p:tgtEl>
                                          <p:spTgt spid="2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Output Statements</a:t>
            </a:r>
            <a:endParaRPr b="1" sz="4000" u="sng">
              <a:latin typeface="Times New Roman"/>
              <a:ea typeface="Times New Roman"/>
              <a:cs typeface="Times New Roman"/>
              <a:sym typeface="Times New Roman"/>
            </a:endParaRPr>
          </a:p>
        </p:txBody>
      </p:sp>
      <p:sp>
        <p:nvSpPr>
          <p:cNvPr id="227" name="Google Shape;227;p24"/>
          <p:cNvSpPr txBox="1"/>
          <p:nvPr>
            <p:ph idx="1" type="body"/>
          </p:nvPr>
        </p:nvSpPr>
        <p:spPr>
          <a:xfrm>
            <a:off x="457200" y="895350"/>
            <a:ext cx="8229600" cy="3581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print ( ) Function - The print() function is used to print the specified message to the output screen/device. The message can be a string, or any other object.</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Syntax:- print(objects, sep=‘character’, end=‘character’, file=sys.stdout, flush=False)</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sep - Separate the objects by given character. Character can be any string. Default is ‘ ’ or can write none.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Effect filter="fade" transition="in">
                                      <p:cBhvr>
                                        <p:cTn dur="500"/>
                                        <p:tgtEl>
                                          <p:spTgt spid="2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animEffect filter="fade" transition="in">
                                      <p:cBhvr>
                                        <p:cTn dur="500"/>
                                        <p:tgtEl>
                                          <p:spTgt spid="2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animEffect filter="fade" transition="in">
                                      <p:cBhvr>
                                        <p:cTn dur="500"/>
                                        <p:tgtEl>
                                          <p:spTgt spid="2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animEffect filter="fade" transition="in">
                                      <p:cBhvr>
                                        <p:cTn dur="500"/>
                                        <p:tgtEl>
                                          <p:spTgt spid="2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animEffect filter="fade" transition="in">
                                      <p:cBhvr>
                                        <p:cTn dur="500"/>
                                        <p:tgtEl>
                                          <p:spTgt spid="22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Output Statements</a:t>
            </a:r>
            <a:endParaRPr b="1" sz="4000" u="sng">
              <a:latin typeface="Times New Roman"/>
              <a:ea typeface="Times New Roman"/>
              <a:cs typeface="Times New Roman"/>
              <a:sym typeface="Times New Roman"/>
            </a:endParaRPr>
          </a:p>
        </p:txBody>
      </p:sp>
      <p:sp>
        <p:nvSpPr>
          <p:cNvPr id="233" name="Google Shape;233;p25"/>
          <p:cNvSpPr txBox="1"/>
          <p:nvPr>
            <p:ph idx="1" type="body"/>
          </p:nvPr>
        </p:nvSpPr>
        <p:spPr>
          <a:xfrm>
            <a:off x="457200" y="895350"/>
            <a:ext cx="8229600" cy="3886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print(object) -  We can pass objects like list, tuples and dictionaries to display the elements of those objects.</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Ex:-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data = [10, 20, -50, 21.3, ‘Python’]</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print(data)</a:t>
            </a:r>
            <a:endParaRPr/>
          </a:p>
        </p:txBody>
      </p:sp>
      <p:sp>
        <p:nvSpPr>
          <p:cNvPr id="234" name="Google Shape;234;p25"/>
          <p:cNvSpPr txBox="1"/>
          <p:nvPr/>
        </p:nvSpPr>
        <p:spPr>
          <a:xfrm>
            <a:off x="5181600" y="1657350"/>
            <a:ext cx="543739" cy="369332"/>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List</a:t>
            </a:r>
            <a:endParaRPr sz="1800">
              <a:solidFill>
                <a:schemeClr val="dk1"/>
              </a:solidFill>
              <a:latin typeface="Times New Roman"/>
              <a:ea typeface="Times New Roman"/>
              <a:cs typeface="Times New Roman"/>
              <a:sym typeface="Times New Roman"/>
            </a:endParaRPr>
          </a:p>
        </p:txBody>
      </p:sp>
      <p:cxnSp>
        <p:nvCxnSpPr>
          <p:cNvPr id="235" name="Google Shape;235;p25"/>
          <p:cNvCxnSpPr/>
          <p:nvPr/>
        </p:nvCxnSpPr>
        <p:spPr>
          <a:xfrm flipH="1">
            <a:off x="3962400" y="1842016"/>
            <a:ext cx="1219200" cy="43934"/>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8039"/>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Effect filter="fade" transition="in">
                                      <p:cBhvr>
                                        <p:cTn dur="500"/>
                                        <p:tgtEl>
                                          <p:spTgt spid="2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animEffect filter="fade" transition="in">
                                      <p:cBhvr>
                                        <p:cTn dur="500"/>
                                        <p:tgtEl>
                                          <p:spTgt spid="2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animEffect filter="fade" transition="in">
                                      <p:cBhvr>
                                        <p:cTn dur="500"/>
                                        <p:tgtEl>
                                          <p:spTgt spid="2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animEffect filter="fade" transition="in">
                                      <p:cBhvr>
                                        <p:cTn dur="500"/>
                                        <p:tgtEl>
                                          <p:spTgt spid="2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Input Statements</a:t>
            </a:r>
            <a:endParaRPr b="1" sz="4000" u="sng">
              <a:latin typeface="Times New Roman"/>
              <a:ea typeface="Times New Roman"/>
              <a:cs typeface="Times New Roman"/>
              <a:sym typeface="Times New Roman"/>
            </a:endParaRPr>
          </a:p>
        </p:txBody>
      </p:sp>
      <p:sp>
        <p:nvSpPr>
          <p:cNvPr id="241" name="Google Shape;241;p26"/>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input( ) – This function is used to accept input from keyboard.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This function will stop the program flow until the user gives an input and end the input with the return key.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Whatever user gives as input, input function convert it into a string. If user enters an integer value still input() function convert it into a string.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So if you need an integer you have to use type conversion.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Syntax:- input([prompt])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prompt is a string or message, representing a default message before input. It is optional</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Ex:-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name = input(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name = input(“Your Name: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mobile = input(“Enter Your Mobile Number: ”)</a:t>
            </a:r>
            <a:endParaRPr sz="16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500"/>
                                        <p:tgtEl>
                                          <p:spTgt spid="2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animEffect filter="fade" transition="in">
                                      <p:cBhvr>
                                        <p:cTn dur="500"/>
                                        <p:tgtEl>
                                          <p:spTgt spid="2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animEffect filter="fade" transition="in">
                                      <p:cBhvr>
                                        <p:cTn dur="500"/>
                                        <p:tgtEl>
                                          <p:spTgt spid="2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animEffect filter="fade" transition="in">
                                      <p:cBhvr>
                                        <p:cTn dur="500"/>
                                        <p:tgtEl>
                                          <p:spTgt spid="2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animEffect filter="fade" transition="in">
                                      <p:cBhvr>
                                        <p:cTn dur="500"/>
                                        <p:tgtEl>
                                          <p:spTgt spid="2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animEffect filter="fade" transition="in">
                                      <p:cBhvr>
                                        <p:cTn dur="500"/>
                                        <p:tgtEl>
                                          <p:spTgt spid="2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animEffect filter="fade" transition="in">
                                      <p:cBhvr>
                                        <p:cTn dur="500"/>
                                        <p:tgtEl>
                                          <p:spTgt spid="24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7" st="7"/>
                                            </p:txEl>
                                          </p:spTgt>
                                        </p:tgtEl>
                                        <p:attrNameLst>
                                          <p:attrName>style.visibility</p:attrName>
                                        </p:attrNameLst>
                                      </p:cBhvr>
                                      <p:to>
                                        <p:strVal val="visible"/>
                                      </p:to>
                                    </p:set>
                                    <p:animEffect filter="fade" transition="in">
                                      <p:cBhvr>
                                        <p:cTn dur="500"/>
                                        <p:tgtEl>
                                          <p:spTgt spid="24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8" st="8"/>
                                            </p:txEl>
                                          </p:spTgt>
                                        </p:tgtEl>
                                        <p:attrNameLst>
                                          <p:attrName>style.visibility</p:attrName>
                                        </p:attrNameLst>
                                      </p:cBhvr>
                                      <p:to>
                                        <p:strVal val="visible"/>
                                      </p:to>
                                    </p:set>
                                    <p:animEffect filter="fade" transition="in">
                                      <p:cBhvr>
                                        <p:cTn dur="500"/>
                                        <p:tgtEl>
                                          <p:spTgt spid="24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9" st="9"/>
                                            </p:txEl>
                                          </p:spTgt>
                                        </p:tgtEl>
                                        <p:attrNameLst>
                                          <p:attrName>style.visibility</p:attrName>
                                        </p:attrNameLst>
                                      </p:cBhvr>
                                      <p:to>
                                        <p:strVal val="visible"/>
                                      </p:to>
                                    </p:set>
                                    <p:animEffect filter="fade" transition="in">
                                      <p:cBhvr>
                                        <p:cTn dur="500"/>
                                        <p:tgtEl>
                                          <p:spTgt spid="24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Input Statements</a:t>
            </a:r>
            <a:endParaRPr b="1" sz="4000" u="sng">
              <a:latin typeface="Times New Roman"/>
              <a:ea typeface="Times New Roman"/>
              <a:cs typeface="Times New Roman"/>
              <a:sym typeface="Times New Roman"/>
            </a:endParaRPr>
          </a:p>
        </p:txBody>
      </p:sp>
      <p:sp>
        <p:nvSpPr>
          <p:cNvPr id="247" name="Google Shape;247;p27"/>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Whatever user gives as input, input function convert it into a string. If user enters an integer value still input() function convert it into a string.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So if you need an integer you have to use type conversion.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Ex:-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mobile = input(“Enter Your Mobile Number: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mb = int(mobile)</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mobile = int ( input (“Enter Your Mobile Number: ”)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price = float ( input (“Total Price: ”)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mobile = complex ( input (“Enter Complex Number: ”)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animEffect filter="fade" transition="in">
                                      <p:cBhvr>
                                        <p:cTn dur="500"/>
                                        <p:tgtEl>
                                          <p:spTgt spid="2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animEffect filter="fade" transition="in">
                                      <p:cBhvr>
                                        <p:cTn dur="500"/>
                                        <p:tgtEl>
                                          <p:spTgt spid="2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animEffect filter="fade" transition="in">
                                      <p:cBhvr>
                                        <p:cTn dur="500"/>
                                        <p:tgtEl>
                                          <p:spTgt spid="2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animEffect filter="fade" transition="in">
                                      <p:cBhvr>
                                        <p:cTn dur="500"/>
                                        <p:tgtEl>
                                          <p:spTgt spid="2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animEffect filter="fade" transition="in">
                                      <p:cBhvr>
                                        <p:cTn dur="500"/>
                                        <p:tgtEl>
                                          <p:spTgt spid="2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animEffect filter="fade" transition="in">
                                      <p:cBhvr>
                                        <p:cTn dur="500"/>
                                        <p:tgtEl>
                                          <p:spTgt spid="2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animEffect filter="fade" transition="in">
                                      <p:cBhvr>
                                        <p:cTn dur="500"/>
                                        <p:tgtEl>
                                          <p:spTgt spid="2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animEffect filter="fade" transition="in">
                                      <p:cBhvr>
                                        <p:cTn dur="500"/>
                                        <p:tgtEl>
                                          <p:spTgt spid="2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animEffect filter="fade" transition="in">
                                      <p:cBhvr>
                                        <p:cTn dur="500"/>
                                        <p:tgtEl>
                                          <p:spTgt spid="2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xEl>
                                              <p:pRg end="9" st="9"/>
                                            </p:txEl>
                                          </p:spTgt>
                                        </p:tgtEl>
                                        <p:attrNameLst>
                                          <p:attrName>style.visibility</p:attrName>
                                        </p:attrNameLst>
                                      </p:cBhvr>
                                      <p:to>
                                        <p:strVal val="visible"/>
                                      </p:to>
                                    </p:set>
                                    <p:animEffect filter="fade" transition="in">
                                      <p:cBhvr>
                                        <p:cTn dur="500"/>
                                        <p:tgtEl>
                                          <p:spTgt spid="24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Escape Sequence</a:t>
            </a:r>
            <a:endParaRPr b="1" sz="4000" u="sng">
              <a:latin typeface="Times New Roman"/>
              <a:ea typeface="Times New Roman"/>
              <a:cs typeface="Times New Roman"/>
              <a:sym typeface="Times New Roman"/>
            </a:endParaRPr>
          </a:p>
        </p:txBody>
      </p:sp>
      <p:graphicFrame>
        <p:nvGraphicFramePr>
          <p:cNvPr id="253" name="Google Shape;253;p28"/>
          <p:cNvGraphicFramePr/>
          <p:nvPr/>
        </p:nvGraphicFramePr>
        <p:xfrm>
          <a:off x="5029200" y="819150"/>
          <a:ext cx="3000000" cy="3000000"/>
        </p:xfrm>
        <a:graphic>
          <a:graphicData uri="http://schemas.openxmlformats.org/drawingml/2006/table">
            <a:tbl>
              <a:tblPr bandRow="1" firstRow="1">
                <a:noFill/>
                <a:tableStyleId>{FD7F53AD-BF50-47AC-978E-A8D9F2143B06}</a:tableStyleId>
              </a:tblPr>
              <a:tblGrid>
                <a:gridCol w="1219200"/>
                <a:gridCol w="2514600"/>
              </a:tblGrid>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Escape Sequence</a:t>
                      </a:r>
                      <a:endParaRPr sz="18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Meaning</a:t>
                      </a:r>
                      <a:endParaRPr sz="1800">
                        <a:latin typeface="Times New Roman"/>
                        <a:ea typeface="Times New Roman"/>
                        <a:cs typeface="Times New Roman"/>
                        <a:sym typeface="Times New Roman"/>
                      </a:endParaRPr>
                    </a:p>
                  </a:txBody>
                  <a:tcPr marT="45725" marB="45725" marR="91450" marL="91450">
                    <a:solidFill>
                      <a:srgbClr val="FBD4B4"/>
                    </a:solidFill>
                  </a:tcPr>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\a</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Bell</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\b</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Backspace</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\f</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Formfeed</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\n</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NewLine</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\r</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Carriage Return</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\t</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Horizontal Tab</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\v</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Vertical Tab</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\newline</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Backslash</a:t>
                      </a:r>
                      <a:r>
                        <a:rPr lang="en-US" sz="1800">
                          <a:latin typeface="Times New Roman"/>
                          <a:ea typeface="Times New Roman"/>
                          <a:cs typeface="Times New Roman"/>
                          <a:sym typeface="Times New Roman"/>
                        </a:rPr>
                        <a:t> and NewLine Ignored</a:t>
                      </a:r>
                      <a:endParaRPr sz="1800">
                        <a:latin typeface="Times New Roman"/>
                        <a:ea typeface="Times New Roman"/>
                        <a:cs typeface="Times New Roman"/>
                        <a:sym typeface="Times New Roman"/>
                      </a:endParaRPr>
                    </a:p>
                  </a:txBody>
                  <a:tcPr marT="45725" marB="45725" marR="91450" marL="91450"/>
                </a:tc>
              </a:tr>
            </a:tbl>
          </a:graphicData>
        </a:graphic>
      </p:graphicFrame>
      <p:graphicFrame>
        <p:nvGraphicFramePr>
          <p:cNvPr id="254" name="Google Shape;254;p28"/>
          <p:cNvGraphicFramePr/>
          <p:nvPr/>
        </p:nvGraphicFramePr>
        <p:xfrm>
          <a:off x="1295400" y="2952750"/>
          <a:ext cx="3000000" cy="3000000"/>
        </p:xfrm>
        <a:graphic>
          <a:graphicData uri="http://schemas.openxmlformats.org/drawingml/2006/table">
            <a:tbl>
              <a:tblPr bandRow="1" firstRow="1">
                <a:noFill/>
                <a:tableStyleId>{FD7F53AD-BF50-47AC-978E-A8D9F2143B06}</a:tableStyleId>
              </a:tblPr>
              <a:tblGrid>
                <a:gridCol w="1143000"/>
                <a:gridCol w="1752600"/>
              </a:tblGrid>
              <a:tr h="370850">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Escape Sequence</a:t>
                      </a:r>
                      <a:endParaRPr sz="18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Meaning</a:t>
                      </a:r>
                      <a:endParaRPr sz="1800">
                        <a:latin typeface="Times New Roman"/>
                        <a:ea typeface="Times New Roman"/>
                        <a:cs typeface="Times New Roman"/>
                        <a:sym typeface="Times New Roman"/>
                      </a:endParaRPr>
                    </a:p>
                  </a:txBody>
                  <a:tcPr marT="45725" marB="45725" marR="91450" marL="91450">
                    <a:solidFill>
                      <a:srgbClr val="FBD4B4"/>
                    </a:solidFill>
                  </a:tcPr>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Backslash</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Single Quote</a:t>
                      </a:r>
                      <a:endParaRPr sz="1800">
                        <a:latin typeface="Times New Roman"/>
                        <a:ea typeface="Times New Roman"/>
                        <a:cs typeface="Times New Roman"/>
                        <a:sym typeface="Times New Roman"/>
                      </a:endParaRPr>
                    </a:p>
                  </a:txBody>
                  <a:tcPr marT="45725" marB="45725" marR="91450" marL="91450"/>
                </a:tc>
              </a:tr>
              <a:tr h="370850">
                <a:tc>
                  <a:txBody>
                    <a:bodyPr/>
                    <a:lstStyle/>
                    <a:p>
                      <a:pPr indent="0" lvl="0" marL="0" marR="0" rtl="0" algn="ctr">
                        <a:spcBef>
                          <a:spcPts val="0"/>
                        </a:spcBef>
                        <a:spcAft>
                          <a:spcPts val="0"/>
                        </a:spcAft>
                        <a:buNone/>
                      </a:pPr>
                      <a:r>
                        <a:rPr b="1" lang="en-US" sz="1800">
                          <a:latin typeface="Times New Roman"/>
                          <a:ea typeface="Times New Roman"/>
                          <a:cs typeface="Times New Roman"/>
                          <a:sym typeface="Times New Roman"/>
                        </a:rPr>
                        <a:t>\”</a:t>
                      </a:r>
                      <a:endParaRPr b="1" sz="1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a:latin typeface="Times New Roman"/>
                          <a:ea typeface="Times New Roman"/>
                          <a:cs typeface="Times New Roman"/>
                          <a:sym typeface="Times New Roman"/>
                        </a:rPr>
                        <a:t>Double Quote</a:t>
                      </a:r>
                      <a:endParaRPr sz="1800">
                        <a:latin typeface="Times New Roman"/>
                        <a:ea typeface="Times New Roman"/>
                        <a:cs typeface="Times New Roman"/>
                        <a:sym typeface="Times New Roman"/>
                      </a:endParaRPr>
                    </a:p>
                  </a:txBody>
                  <a:tcPr marT="45725" marB="45725" marR="91450" marL="91450"/>
                </a:tc>
              </a:tr>
            </a:tbl>
          </a:graphicData>
        </a:graphic>
      </p:graphicFrame>
      <p:sp>
        <p:nvSpPr>
          <p:cNvPr id="255" name="Google Shape;255;p28"/>
          <p:cNvSpPr/>
          <p:nvPr/>
        </p:nvSpPr>
        <p:spPr>
          <a:xfrm>
            <a:off x="609600" y="819150"/>
            <a:ext cx="41148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Escape sequences</a:t>
            </a:r>
            <a:r>
              <a:rPr lang="en-US" sz="1800">
                <a:solidFill>
                  <a:schemeClr val="dk1"/>
                </a:solidFill>
                <a:latin typeface="Times New Roman"/>
                <a:ea typeface="Times New Roman"/>
                <a:cs typeface="Times New Roman"/>
                <a:sym typeface="Times New Roman"/>
              </a:rPr>
              <a:t> – Escape sequences are control character used to move the cursor and print characters such as ‘, “. \ and so 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Comment</a:t>
            </a:r>
            <a:endParaRPr b="1" sz="4000" u="sng">
              <a:latin typeface="Times New Roman"/>
              <a:ea typeface="Times New Roman"/>
              <a:cs typeface="Times New Roman"/>
              <a:sym typeface="Times New Roman"/>
            </a:endParaRPr>
          </a:p>
        </p:txBody>
      </p:sp>
      <p:sp>
        <p:nvSpPr>
          <p:cNvPr id="261" name="Google Shape;261;p29"/>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Comments are non-executable statements. A Comment is used to describe the feature of a program. Comment helps to understand our program, not only ourselves but also other programmer.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There are two type of programs:-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Single Line Comment</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Multi line Comment</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500"/>
                                        <p:tgtEl>
                                          <p:spTgt spid="2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Effect filter="fade" transition="in">
                                      <p:cBhvr>
                                        <p:cTn dur="500"/>
                                        <p:tgtEl>
                                          <p:spTgt spid="2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animEffect filter="fade" transition="in">
                                      <p:cBhvr>
                                        <p:cTn dur="500"/>
                                        <p:tgtEl>
                                          <p:spTgt spid="2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animEffect filter="fade" transition="in">
                                      <p:cBhvr>
                                        <p:cTn dur="500"/>
                                        <p:tgtEl>
                                          <p:spTgt spid="26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Single Line Comment</a:t>
            </a:r>
            <a:endParaRPr b="1" sz="4000" u="sng">
              <a:latin typeface="Times New Roman"/>
              <a:ea typeface="Times New Roman"/>
              <a:cs typeface="Times New Roman"/>
              <a:sym typeface="Times New Roman"/>
            </a:endParaRPr>
          </a:p>
        </p:txBody>
      </p:sp>
      <p:sp>
        <p:nvSpPr>
          <p:cNvPr id="267" name="Google Shape;267;p30"/>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These comments start with a hash symbol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Ex:- </a:t>
            </a:r>
            <a:endParaRPr/>
          </a:p>
          <a:p>
            <a:pPr indent="0" lvl="0" marL="0" rtl="0" algn="l">
              <a:spcBef>
                <a:spcPts val="400"/>
              </a:spcBef>
              <a:spcAft>
                <a:spcPts val="0"/>
              </a:spcAft>
              <a:buClr>
                <a:schemeClr val="dk1"/>
              </a:buClr>
              <a:buSzPts val="2000"/>
              <a:buNone/>
            </a:pPr>
            <a:r>
              <a:rPr b="1" lang="en-US" sz="2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 I am single Line Comment</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a = 2</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b= 32</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c = a+b</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b="1" lang="en-US" sz="2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 This is my first Python Program</a:t>
            </a:r>
            <a:endParaRPr/>
          </a:p>
          <a:p>
            <a:pPr indent="0" lvl="0" marL="0" rtl="0" algn="l">
              <a:spcBef>
                <a:spcPts val="400"/>
              </a:spcBef>
              <a:spcAft>
                <a:spcPts val="0"/>
              </a:spcAft>
              <a:buClr>
                <a:schemeClr val="dk1"/>
              </a:buClr>
              <a:buSzPts val="2000"/>
              <a:buNone/>
            </a:pPr>
            <a:r>
              <a:rPr b="1" lang="en-US" sz="2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 Adding two numbers</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animEffect filter="fade" transition="in">
                                      <p:cBhvr>
                                        <p:cTn dur="500"/>
                                        <p:tgtEl>
                                          <p:spTgt spid="2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animEffect filter="fade" transition="in">
                                      <p:cBhvr>
                                        <p:cTn dur="500"/>
                                        <p:tgtEl>
                                          <p:spTgt spid="2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animEffect filter="fade" transition="in">
                                      <p:cBhvr>
                                        <p:cTn dur="500"/>
                                        <p:tgtEl>
                                          <p:spTgt spid="2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animEffect filter="fade" transition="in">
                                      <p:cBhvr>
                                        <p:cTn dur="500"/>
                                        <p:tgtEl>
                                          <p:spTgt spid="2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animEffect filter="fade" transition="in">
                                      <p:cBhvr>
                                        <p:cTn dur="500"/>
                                        <p:tgtEl>
                                          <p:spTgt spid="2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animEffect filter="fade" transition="in">
                                      <p:cBhvr>
                                        <p:cTn dur="500"/>
                                        <p:tgtEl>
                                          <p:spTgt spid="2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animEffect filter="fade" transition="in">
                                      <p:cBhvr>
                                        <p:cTn dur="500"/>
                                        <p:tgtEl>
                                          <p:spTgt spid="2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7" st="7"/>
                                            </p:txEl>
                                          </p:spTgt>
                                        </p:tgtEl>
                                        <p:attrNameLst>
                                          <p:attrName>style.visibility</p:attrName>
                                        </p:attrNameLst>
                                      </p:cBhvr>
                                      <p:to>
                                        <p:strVal val="visible"/>
                                      </p:to>
                                    </p:set>
                                    <p:animEffect filter="fade" transition="in">
                                      <p:cBhvr>
                                        <p:cTn dur="500"/>
                                        <p:tgtEl>
                                          <p:spTgt spid="2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8" st="8"/>
                                            </p:txEl>
                                          </p:spTgt>
                                        </p:tgtEl>
                                        <p:attrNameLst>
                                          <p:attrName>style.visibility</p:attrName>
                                        </p:attrNameLst>
                                      </p:cBhvr>
                                      <p:to>
                                        <p:strVal val="visible"/>
                                      </p:to>
                                    </p:set>
                                    <p:animEffect filter="fade" transition="in">
                                      <p:cBhvr>
                                        <p:cTn dur="500"/>
                                        <p:tgtEl>
                                          <p:spTgt spid="26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1"/>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Multi Line Comment</a:t>
            </a:r>
            <a:endParaRPr b="1" sz="4000" u="sng">
              <a:latin typeface="Times New Roman"/>
              <a:ea typeface="Times New Roman"/>
              <a:cs typeface="Times New Roman"/>
              <a:sym typeface="Times New Roman"/>
            </a:endParaRPr>
          </a:p>
        </p:txBody>
      </p:sp>
      <p:sp>
        <p:nvSpPr>
          <p:cNvPr id="273" name="Google Shape;273;p31"/>
          <p:cNvSpPr txBox="1"/>
          <p:nvPr>
            <p:ph idx="1" type="body"/>
          </p:nvPr>
        </p:nvSpPr>
        <p:spPr>
          <a:xfrm>
            <a:off x="457200" y="742950"/>
            <a:ext cx="82296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There is no concept of multi line comment in python but we can create string starting and ending with triple double quotes (</a:t>
            </a:r>
            <a:r>
              <a:rPr lang="en-US" sz="1600">
                <a:solidFill>
                  <a:srgbClr val="FF0000"/>
                </a:solidFill>
                <a:latin typeface="Times New Roman"/>
                <a:ea typeface="Times New Roman"/>
                <a:cs typeface="Times New Roman"/>
                <a:sym typeface="Times New Roman"/>
              </a:rPr>
              <a:t>”</a:t>
            </a:r>
            <a:r>
              <a:rPr lang="en-US" sz="1600">
                <a:solidFill>
                  <a:srgbClr val="00B050"/>
                </a:solidFill>
                <a:latin typeface="Times New Roman"/>
                <a:ea typeface="Times New Roman"/>
                <a:cs typeface="Times New Roman"/>
                <a:sym typeface="Times New Roman"/>
              </a:rPr>
              <a:t>”</a:t>
            </a:r>
            <a:r>
              <a:rPr lang="en-US" sz="1600">
                <a:latin typeface="Times New Roman"/>
                <a:ea typeface="Times New Roman"/>
                <a:cs typeface="Times New Roman"/>
                <a:sym typeface="Times New Roman"/>
              </a:rPr>
              <a:t>”) or triple single quotes (</a:t>
            </a:r>
            <a:r>
              <a:rPr lang="en-US" sz="1600">
                <a:solidFill>
                  <a:srgbClr val="FF0000"/>
                </a:solidFill>
                <a:latin typeface="Times New Roman"/>
                <a:ea typeface="Times New Roman"/>
                <a:cs typeface="Times New Roman"/>
                <a:sym typeface="Times New Roman"/>
              </a:rPr>
              <a:t>’</a:t>
            </a:r>
            <a:r>
              <a:rPr lang="en-US" sz="1600">
                <a:solidFill>
                  <a:srgbClr val="00B050"/>
                </a:solidFill>
                <a:latin typeface="Times New Roman"/>
                <a:ea typeface="Times New Roman"/>
                <a:cs typeface="Times New Roman"/>
                <a:sym typeface="Times New Roman"/>
              </a:rPr>
              <a:t>’</a:t>
            </a:r>
            <a:r>
              <a:rPr lang="en-US" sz="1600">
                <a:latin typeface="Times New Roman"/>
                <a:ea typeface="Times New Roman"/>
                <a:cs typeface="Times New Roman"/>
                <a:sym typeface="Times New Roman"/>
              </a:rPr>
              <a:t>’) which can be used as block of comments.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Since strings are not assigned to any variable, then they are removed from memory by the garbage collector and hence these can be used as comments.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It is not recommended to use triple double quotes or triple single quotes for writing comments as it internally occupy memory and would waste time of the interpreter since the interpreter has to check them.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Ex:- </a:t>
            </a:r>
            <a:endParaRPr/>
          </a:p>
          <a:p>
            <a:pPr indent="0" lvl="0" marL="0" rtl="0" algn="l">
              <a:spcBef>
                <a:spcPts val="320"/>
              </a:spcBef>
              <a:spcAft>
                <a:spcPts val="0"/>
              </a:spcAft>
              <a:buClr>
                <a:srgbClr val="FF0000"/>
              </a:buClr>
              <a:buSzPts val="1600"/>
              <a:buNone/>
            </a:pPr>
            <a:r>
              <a:rPr lang="en-US" sz="1600">
                <a:solidFill>
                  <a:srgbClr val="FF0000"/>
                </a:solidFill>
                <a:latin typeface="Times New Roman"/>
                <a:ea typeface="Times New Roman"/>
                <a:cs typeface="Times New Roman"/>
                <a:sym typeface="Times New Roman"/>
              </a:rPr>
              <a:t>”</a:t>
            </a:r>
            <a:r>
              <a:rPr lang="en-US" sz="1600">
                <a:solidFill>
                  <a:srgbClr val="00B050"/>
                </a:solidFill>
                <a:latin typeface="Times New Roman"/>
                <a:ea typeface="Times New Roman"/>
                <a:cs typeface="Times New Roman"/>
                <a:sym typeface="Times New Roman"/>
              </a:rPr>
              <a:t>”</a:t>
            </a:r>
            <a:r>
              <a:rPr lang="en-US" sz="1600">
                <a:latin typeface="Times New Roman"/>
                <a:ea typeface="Times New Roman"/>
                <a:cs typeface="Times New Roman"/>
                <a:sym typeface="Times New Roman"/>
              </a:rPr>
              <a: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Comment Line 1</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Comment Line 2</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Comment Line 3</a:t>
            </a:r>
            <a:endParaRPr/>
          </a:p>
          <a:p>
            <a:pPr indent="0" lvl="0" marL="0" rtl="0" algn="l">
              <a:spcBef>
                <a:spcPts val="320"/>
              </a:spcBef>
              <a:spcAft>
                <a:spcPts val="0"/>
              </a:spcAft>
              <a:buClr>
                <a:srgbClr val="FF0000"/>
              </a:buClr>
              <a:buSzPts val="1600"/>
              <a:buNone/>
            </a:pPr>
            <a:r>
              <a:rPr lang="en-US" sz="1600">
                <a:solidFill>
                  <a:srgbClr val="FF0000"/>
                </a:solidFill>
                <a:latin typeface="Times New Roman"/>
                <a:ea typeface="Times New Roman"/>
                <a:cs typeface="Times New Roman"/>
                <a:sym typeface="Times New Roman"/>
              </a:rPr>
              <a:t>”</a:t>
            </a:r>
            <a:r>
              <a:rPr lang="en-US" sz="1600">
                <a:solidFill>
                  <a:srgbClr val="00B050"/>
                </a:solidFill>
                <a:latin typeface="Times New Roman"/>
                <a:ea typeface="Times New Roman"/>
                <a:cs typeface="Times New Roman"/>
                <a:sym typeface="Times New Roman"/>
              </a:rPr>
              <a:t>”</a:t>
            </a:r>
            <a:r>
              <a:rPr lang="en-US" sz="1600">
                <a:latin typeface="Times New Roman"/>
                <a:ea typeface="Times New Roman"/>
                <a:cs typeface="Times New Roman"/>
                <a:sym typeface="Times New Roman"/>
              </a:rPr>
              <a:t>”</a:t>
            </a:r>
            <a:endParaRPr/>
          </a:p>
        </p:txBody>
      </p:sp>
      <p:sp>
        <p:nvSpPr>
          <p:cNvPr id="274" name="Google Shape;274;p31"/>
          <p:cNvSpPr/>
          <p:nvPr/>
        </p:nvSpPr>
        <p:spPr>
          <a:xfrm>
            <a:off x="3200400" y="3105150"/>
            <a:ext cx="457200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a:t>
            </a:r>
            <a:r>
              <a:rPr lang="en-US" sz="2000">
                <a:solidFill>
                  <a:srgbClr val="00B050"/>
                </a:solidFill>
                <a:latin typeface="Calibri"/>
                <a:ea typeface="Calibri"/>
                <a:cs typeface="Calibri"/>
                <a:sym typeface="Calibri"/>
              </a:rPr>
              <a:t>’</a:t>
            </a: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Comment Line 1</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Comment Line 2</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Comment Line 3</a:t>
            </a:r>
            <a:endParaRPr/>
          </a:p>
          <a:p>
            <a:pPr indent="0" lvl="0" marL="0" marR="0" rtl="0" algn="l">
              <a:spcBef>
                <a:spcPts val="0"/>
              </a:spcBef>
              <a:spcAft>
                <a:spcPts val="0"/>
              </a:spcAft>
              <a:buNone/>
            </a:pPr>
            <a:r>
              <a:rPr lang="en-US" sz="2000">
                <a:solidFill>
                  <a:srgbClr val="FF0000"/>
                </a:solidFill>
                <a:latin typeface="Calibri"/>
                <a:ea typeface="Calibri"/>
                <a:cs typeface="Calibri"/>
                <a:sym typeface="Calibri"/>
              </a:rPr>
              <a:t>’</a:t>
            </a:r>
            <a:r>
              <a:rPr lang="en-US" sz="2000">
                <a:solidFill>
                  <a:srgbClr val="00B050"/>
                </a:solidFill>
                <a:latin typeface="Calibri"/>
                <a:ea typeface="Calibri"/>
                <a:cs typeface="Calibri"/>
                <a:sym typeface="Calibri"/>
              </a:rPr>
              <a:t>’</a:t>
            </a:r>
            <a:r>
              <a:rPr lang="en-US" sz="2000">
                <a:solidFill>
                  <a:schemeClr val="dk1"/>
                </a:solidFill>
                <a:latin typeface="Calibri"/>
                <a:ea typeface="Calibri"/>
                <a:cs typeface="Calibri"/>
                <a:sym typeface="Calibri"/>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500"/>
                                        <p:tgtEl>
                                          <p:spTgt spid="2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animEffect filter="fade" transition="in">
                                      <p:cBhvr>
                                        <p:cTn dur="500"/>
                                        <p:tgtEl>
                                          <p:spTgt spid="2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animEffect filter="fade" transition="in">
                                      <p:cBhvr>
                                        <p:cTn dur="500"/>
                                        <p:tgtEl>
                                          <p:spTgt spid="2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animEffect filter="fade" transition="in">
                                      <p:cBhvr>
                                        <p:cTn dur="500"/>
                                        <p:tgtEl>
                                          <p:spTgt spid="2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4" st="4"/>
                                            </p:txEl>
                                          </p:spTgt>
                                        </p:tgtEl>
                                        <p:attrNameLst>
                                          <p:attrName>style.visibility</p:attrName>
                                        </p:attrNameLst>
                                      </p:cBhvr>
                                      <p:to>
                                        <p:strVal val="visible"/>
                                      </p:to>
                                    </p:set>
                                    <p:animEffect filter="fade" transition="in">
                                      <p:cBhvr>
                                        <p:cTn dur="500"/>
                                        <p:tgtEl>
                                          <p:spTgt spid="2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5" st="5"/>
                                            </p:txEl>
                                          </p:spTgt>
                                        </p:tgtEl>
                                        <p:attrNameLst>
                                          <p:attrName>style.visibility</p:attrName>
                                        </p:attrNameLst>
                                      </p:cBhvr>
                                      <p:to>
                                        <p:strVal val="visible"/>
                                      </p:to>
                                    </p:set>
                                    <p:animEffect filter="fade" transition="in">
                                      <p:cBhvr>
                                        <p:cTn dur="500"/>
                                        <p:tgtEl>
                                          <p:spTgt spid="2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6" st="6"/>
                                            </p:txEl>
                                          </p:spTgt>
                                        </p:tgtEl>
                                        <p:attrNameLst>
                                          <p:attrName>style.visibility</p:attrName>
                                        </p:attrNameLst>
                                      </p:cBhvr>
                                      <p:to>
                                        <p:strVal val="visible"/>
                                      </p:to>
                                    </p:set>
                                    <p:animEffect filter="fade" transition="in">
                                      <p:cBhvr>
                                        <p:cTn dur="500"/>
                                        <p:tgtEl>
                                          <p:spTgt spid="2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7" st="7"/>
                                            </p:txEl>
                                          </p:spTgt>
                                        </p:tgtEl>
                                        <p:attrNameLst>
                                          <p:attrName>style.visibility</p:attrName>
                                        </p:attrNameLst>
                                      </p:cBhvr>
                                      <p:to>
                                        <p:strVal val="visible"/>
                                      </p:to>
                                    </p:set>
                                    <p:animEffect filter="fade" transition="in">
                                      <p:cBhvr>
                                        <p:cTn dur="500"/>
                                        <p:tgtEl>
                                          <p:spTgt spid="2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8" st="8"/>
                                            </p:txEl>
                                          </p:spTgt>
                                        </p:tgtEl>
                                        <p:attrNameLst>
                                          <p:attrName>style.visibility</p:attrName>
                                        </p:attrNameLst>
                                      </p:cBhvr>
                                      <p:to>
                                        <p:strVal val="visible"/>
                                      </p:to>
                                    </p:set>
                                    <p:animEffect filter="fade" transition="in">
                                      <p:cBhvr>
                                        <p:cTn dur="500"/>
                                        <p:tgtEl>
                                          <p:spTgt spid="2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Effect filter="fade" transition="in">
                                      <p:cBhvr>
                                        <p:cTn dur="500"/>
                                        <p:tgtEl>
                                          <p:spTgt spid="2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animEffect filter="fade" transition="in">
                                      <p:cBhvr>
                                        <p:cTn dur="500"/>
                                        <p:tgtEl>
                                          <p:spTgt spid="2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animEffect filter="fade" transition="in">
                                      <p:cBhvr>
                                        <p:cTn dur="500"/>
                                        <p:tgtEl>
                                          <p:spTgt spid="2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animEffect filter="fade" transition="in">
                                      <p:cBhvr>
                                        <p:cTn dur="500"/>
                                        <p:tgtEl>
                                          <p:spTgt spid="2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animEffect filter="fade" transition="in">
                                      <p:cBhvr>
                                        <p:cTn dur="500"/>
                                        <p:tgtEl>
                                          <p:spTgt spid="27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2"/>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If Statement</a:t>
            </a:r>
            <a:endParaRPr/>
          </a:p>
        </p:txBody>
      </p:sp>
      <p:sp>
        <p:nvSpPr>
          <p:cNvPr id="280" name="Google Shape;280;p32"/>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It is used to execute an instruction or block of instructions only if a condition is fulfilled.</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Syntax: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if (condition)</a:t>
            </a:r>
            <a:r>
              <a:rPr b="1" lang="en-US" sz="1600">
                <a:latin typeface="Times New Roman"/>
                <a:ea typeface="Times New Roman"/>
                <a:cs typeface="Times New Roman"/>
                <a:sym typeface="Times New Roman"/>
              </a:rPr>
              <a:t>:</a:t>
            </a:r>
            <a:endParaRPr b="1"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b="1" lang="en-US" sz="1600">
                <a:latin typeface="Times New Roman"/>
                <a:ea typeface="Times New Roman"/>
                <a:cs typeface="Times New Roman"/>
                <a:sym typeface="Times New Roman"/>
              </a:rPr>
              <a:t>	if 5&gt;10:</a:t>
            </a:r>
            <a:endParaRPr b="1"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b="1" lang="en-US" sz="1600">
                <a:latin typeface="Times New Roman"/>
                <a:ea typeface="Times New Roman"/>
                <a:cs typeface="Times New Roman"/>
                <a:sym typeface="Times New Roman"/>
              </a:rPr>
              <a:t>	   a = 1</a:t>
            </a:r>
            <a:endParaRPr b="1"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b="1" lang="en-US" sz="1600">
                <a:latin typeface="Times New Roman"/>
                <a:ea typeface="Times New Roman"/>
                <a:cs typeface="Times New Roman"/>
                <a:sym typeface="Times New Roman"/>
              </a:rPr>
              <a:t>	   b = 2</a:t>
            </a:r>
            <a:endParaRPr b="1"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statement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Rest of the Code</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if (condition)</a:t>
            </a:r>
            <a:r>
              <a:rPr b="1" lang="en-US" sz="1600">
                <a:latin typeface="Times New Roman"/>
                <a:ea typeface="Times New Roman"/>
                <a:cs typeface="Times New Roman"/>
                <a:sym typeface="Times New Roman"/>
              </a:rPr>
              <a: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statement1</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statement2</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Rest of the Code</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p:txBody>
      </p:sp>
      <p:sp>
        <p:nvSpPr>
          <p:cNvPr id="281" name="Google Shape;281;p32"/>
          <p:cNvSpPr/>
          <p:nvPr/>
        </p:nvSpPr>
        <p:spPr>
          <a:xfrm>
            <a:off x="3124200" y="1288018"/>
            <a:ext cx="4904420"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First the condition is tested, If the condition is True</a:t>
            </a:r>
            <a:endParaRPr/>
          </a:p>
        </p:txBody>
      </p:sp>
      <p:sp>
        <p:nvSpPr>
          <p:cNvPr id="282" name="Google Shape;282;p32"/>
          <p:cNvSpPr/>
          <p:nvPr/>
        </p:nvSpPr>
        <p:spPr>
          <a:xfrm>
            <a:off x="4114800" y="1849219"/>
            <a:ext cx="3200400" cy="64633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then the statements given after colon (:) are executed</a:t>
            </a:r>
            <a:endParaRPr sz="1800">
              <a:solidFill>
                <a:schemeClr val="dk1"/>
              </a:solidFill>
              <a:latin typeface="Times New Roman"/>
              <a:ea typeface="Times New Roman"/>
              <a:cs typeface="Times New Roman"/>
              <a:sym typeface="Times New Roman"/>
            </a:endParaRPr>
          </a:p>
        </p:txBody>
      </p:sp>
      <p:cxnSp>
        <p:nvCxnSpPr>
          <p:cNvPr id="283" name="Google Shape;283;p32"/>
          <p:cNvCxnSpPr/>
          <p:nvPr/>
        </p:nvCxnSpPr>
        <p:spPr>
          <a:xfrm flipH="1">
            <a:off x="2362200" y="1352550"/>
            <a:ext cx="762000" cy="216932"/>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8039"/>
              </a:srgbClr>
            </a:outerShdw>
          </a:effectLst>
        </p:spPr>
      </p:cxnSp>
      <p:cxnSp>
        <p:nvCxnSpPr>
          <p:cNvPr id="284" name="Google Shape;284;p32"/>
          <p:cNvCxnSpPr>
            <a:stCxn id="282" idx="1"/>
          </p:cNvCxnSpPr>
          <p:nvPr/>
        </p:nvCxnSpPr>
        <p:spPr>
          <a:xfrm rot="10800000">
            <a:off x="2667000" y="1962085"/>
            <a:ext cx="1447800" cy="2103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8039"/>
              </a:srgbClr>
            </a:outerShdw>
          </a:effectLst>
        </p:spPr>
      </p:cxnSp>
      <p:sp>
        <p:nvSpPr>
          <p:cNvPr id="285" name="Google Shape;285;p32"/>
          <p:cNvSpPr/>
          <p:nvPr/>
        </p:nvSpPr>
        <p:spPr>
          <a:xfrm>
            <a:off x="2895600" y="3105150"/>
            <a:ext cx="304800" cy="381000"/>
          </a:xfrm>
          <a:prstGeom prst="rightBrace">
            <a:avLst>
              <a:gd fmla="val 8333" name="adj1"/>
              <a:gd fmla="val 50000" name="adj2"/>
            </a:avLst>
          </a:prstGeom>
          <a:noFill/>
          <a:ln cap="flat" cmpd="sng" w="25400">
            <a:solidFill>
              <a:schemeClr val="accent3"/>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32"/>
          <p:cNvSpPr txBox="1"/>
          <p:nvPr/>
        </p:nvSpPr>
        <p:spPr>
          <a:xfrm>
            <a:off x="3223219" y="3098528"/>
            <a:ext cx="4049507" cy="338554"/>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Block of statement/ Group of statements/ Suite</a:t>
            </a:r>
            <a:endParaRPr sz="1600">
              <a:solidFill>
                <a:schemeClr val="dk1"/>
              </a:solidFill>
              <a:latin typeface="Times New Roman"/>
              <a:ea typeface="Times New Roman"/>
              <a:cs typeface="Times New Roman"/>
              <a:sym typeface="Times New Roman"/>
            </a:endParaRPr>
          </a:p>
        </p:txBody>
      </p:sp>
      <p:cxnSp>
        <p:nvCxnSpPr>
          <p:cNvPr id="287" name="Google Shape;287;p32"/>
          <p:cNvCxnSpPr/>
          <p:nvPr/>
        </p:nvCxnSpPr>
        <p:spPr>
          <a:xfrm flipH="1">
            <a:off x="2286000" y="1657350"/>
            <a:ext cx="1447800" cy="10668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8039"/>
              </a:srgbClr>
            </a:outerShdw>
          </a:effectLst>
        </p:spPr>
      </p:cxnSp>
      <p:cxnSp>
        <p:nvCxnSpPr>
          <p:cNvPr id="288" name="Google Shape;288;p32"/>
          <p:cNvCxnSpPr/>
          <p:nvPr/>
        </p:nvCxnSpPr>
        <p:spPr>
          <a:xfrm flipH="1">
            <a:off x="3962400" y="2495550"/>
            <a:ext cx="609600" cy="602978"/>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8039"/>
              </a:srgbClr>
            </a:outerShdw>
          </a:effectLst>
        </p:spPr>
      </p:cxnSp>
      <p:sp>
        <p:nvSpPr>
          <p:cNvPr id="289" name="Google Shape;289;p32"/>
          <p:cNvSpPr/>
          <p:nvPr/>
        </p:nvSpPr>
        <p:spPr>
          <a:xfrm>
            <a:off x="495300" y="4019550"/>
            <a:ext cx="68199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 there is single statement it can be written in one line.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Ex:- if (condition): Statement</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Effect filter="fade" transition="in">
                                      <p:cBhvr>
                                        <p:cTn dur="500"/>
                                        <p:tgtEl>
                                          <p:spTgt spid="2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Effect filter="fade" transition="in">
                                      <p:cBhvr>
                                        <p:cTn dur="500"/>
                                        <p:tgtEl>
                                          <p:spTgt spid="2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animEffect filter="fade" transition="in">
                                      <p:cBhvr>
                                        <p:cTn dur="500"/>
                                        <p:tgtEl>
                                          <p:spTgt spid="2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3" st="3"/>
                                            </p:txEl>
                                          </p:spTgt>
                                        </p:tgtEl>
                                        <p:attrNameLst>
                                          <p:attrName>style.visibility</p:attrName>
                                        </p:attrNameLst>
                                      </p:cBhvr>
                                      <p:to>
                                        <p:strVal val="visible"/>
                                      </p:to>
                                    </p:set>
                                    <p:animEffect filter="fade" transition="in">
                                      <p:cBhvr>
                                        <p:cTn dur="500"/>
                                        <p:tgtEl>
                                          <p:spTgt spid="2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4" st="4"/>
                                            </p:txEl>
                                          </p:spTgt>
                                        </p:tgtEl>
                                        <p:attrNameLst>
                                          <p:attrName>style.visibility</p:attrName>
                                        </p:attrNameLst>
                                      </p:cBhvr>
                                      <p:to>
                                        <p:strVal val="visible"/>
                                      </p:to>
                                    </p:set>
                                    <p:animEffect filter="fade" transition="in">
                                      <p:cBhvr>
                                        <p:cTn dur="500"/>
                                        <p:tgtEl>
                                          <p:spTgt spid="28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5" st="5"/>
                                            </p:txEl>
                                          </p:spTgt>
                                        </p:tgtEl>
                                        <p:attrNameLst>
                                          <p:attrName>style.visibility</p:attrName>
                                        </p:attrNameLst>
                                      </p:cBhvr>
                                      <p:to>
                                        <p:strVal val="visible"/>
                                      </p:to>
                                    </p:set>
                                    <p:animEffect filter="fade" transition="in">
                                      <p:cBhvr>
                                        <p:cTn dur="500"/>
                                        <p:tgtEl>
                                          <p:spTgt spid="28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6" st="6"/>
                                            </p:txEl>
                                          </p:spTgt>
                                        </p:tgtEl>
                                        <p:attrNameLst>
                                          <p:attrName>style.visibility</p:attrName>
                                        </p:attrNameLst>
                                      </p:cBhvr>
                                      <p:to>
                                        <p:strVal val="visible"/>
                                      </p:to>
                                    </p:set>
                                    <p:animEffect filter="fade" transition="in">
                                      <p:cBhvr>
                                        <p:cTn dur="500"/>
                                        <p:tgtEl>
                                          <p:spTgt spid="28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7" st="7"/>
                                            </p:txEl>
                                          </p:spTgt>
                                        </p:tgtEl>
                                        <p:attrNameLst>
                                          <p:attrName>style.visibility</p:attrName>
                                        </p:attrNameLst>
                                      </p:cBhvr>
                                      <p:to>
                                        <p:strVal val="visible"/>
                                      </p:to>
                                    </p:set>
                                    <p:animEffect filter="fade" transition="in">
                                      <p:cBhvr>
                                        <p:cTn dur="500"/>
                                        <p:tgtEl>
                                          <p:spTgt spid="28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8" st="8"/>
                                            </p:txEl>
                                          </p:spTgt>
                                        </p:tgtEl>
                                        <p:attrNameLst>
                                          <p:attrName>style.visibility</p:attrName>
                                        </p:attrNameLst>
                                      </p:cBhvr>
                                      <p:to>
                                        <p:strVal val="visible"/>
                                      </p:to>
                                    </p:set>
                                    <p:animEffect filter="fade" transition="in">
                                      <p:cBhvr>
                                        <p:cTn dur="500"/>
                                        <p:tgtEl>
                                          <p:spTgt spid="28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9" st="9"/>
                                            </p:txEl>
                                          </p:spTgt>
                                        </p:tgtEl>
                                        <p:attrNameLst>
                                          <p:attrName>style.visibility</p:attrName>
                                        </p:attrNameLst>
                                      </p:cBhvr>
                                      <p:to>
                                        <p:strVal val="visible"/>
                                      </p:to>
                                    </p:set>
                                    <p:animEffect filter="fade" transition="in">
                                      <p:cBhvr>
                                        <p:cTn dur="500"/>
                                        <p:tgtEl>
                                          <p:spTgt spid="28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0" st="10"/>
                                            </p:txEl>
                                          </p:spTgt>
                                        </p:tgtEl>
                                        <p:attrNameLst>
                                          <p:attrName>style.visibility</p:attrName>
                                        </p:attrNameLst>
                                      </p:cBhvr>
                                      <p:to>
                                        <p:strVal val="visible"/>
                                      </p:to>
                                    </p:set>
                                    <p:animEffect filter="fade" transition="in">
                                      <p:cBhvr>
                                        <p:cTn dur="500"/>
                                        <p:tgtEl>
                                          <p:spTgt spid="28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1" st="11"/>
                                            </p:txEl>
                                          </p:spTgt>
                                        </p:tgtEl>
                                        <p:attrNameLst>
                                          <p:attrName>style.visibility</p:attrName>
                                        </p:attrNameLst>
                                      </p:cBhvr>
                                      <p:to>
                                        <p:strVal val="visible"/>
                                      </p:to>
                                    </p:set>
                                    <p:animEffect filter="fade" transition="in">
                                      <p:cBhvr>
                                        <p:cTn dur="500"/>
                                        <p:tgtEl>
                                          <p:spTgt spid="28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2" st="12"/>
                                            </p:txEl>
                                          </p:spTgt>
                                        </p:tgtEl>
                                        <p:attrNameLst>
                                          <p:attrName>style.visibility</p:attrName>
                                        </p:attrNameLst>
                                      </p:cBhvr>
                                      <p:to>
                                        <p:strVal val="visible"/>
                                      </p:to>
                                    </p:set>
                                    <p:animEffect filter="fade" transition="in">
                                      <p:cBhvr>
                                        <p:cTn dur="500"/>
                                        <p:tgtEl>
                                          <p:spTgt spid="28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3" st="13"/>
                                            </p:txEl>
                                          </p:spTgt>
                                        </p:tgtEl>
                                        <p:attrNameLst>
                                          <p:attrName>style.visibility</p:attrName>
                                        </p:attrNameLst>
                                      </p:cBhvr>
                                      <p:to>
                                        <p:strVal val="visible"/>
                                      </p:to>
                                    </p:set>
                                    <p:animEffect filter="fade" transition="in">
                                      <p:cBhvr>
                                        <p:cTn dur="500"/>
                                        <p:tgtEl>
                                          <p:spTgt spid="28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animEffect filter="fade" transition="in">
                                      <p:cBhvr>
                                        <p:cTn dur="500"/>
                                        <p:tgtEl>
                                          <p:spTgt spid="2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animEffect filter="fade" transition="in">
                                      <p:cBhvr>
                                        <p:cTn dur="500"/>
                                        <p:tgtEl>
                                          <p:spTgt spid="28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cxnSp>
        <p:nvCxnSpPr>
          <p:cNvPr id="294" name="Google Shape;294;p33"/>
          <p:cNvCxnSpPr/>
          <p:nvPr/>
        </p:nvCxnSpPr>
        <p:spPr>
          <a:xfrm>
            <a:off x="4114800" y="0"/>
            <a:ext cx="0" cy="361950"/>
          </a:xfrm>
          <a:prstGeom prst="straightConnector1">
            <a:avLst/>
          </a:prstGeom>
          <a:noFill/>
          <a:ln cap="flat" cmpd="sng" w="9525">
            <a:solidFill>
              <a:srgbClr val="4A7DBA"/>
            </a:solidFill>
            <a:prstDash val="solid"/>
            <a:round/>
            <a:headEnd len="sm" w="sm" type="none"/>
            <a:tailEnd len="med" w="med" type="stealth"/>
          </a:ln>
        </p:spPr>
      </p:cxnSp>
      <p:sp>
        <p:nvSpPr>
          <p:cNvPr id="295" name="Google Shape;295;p33"/>
          <p:cNvSpPr/>
          <p:nvPr/>
        </p:nvSpPr>
        <p:spPr>
          <a:xfrm>
            <a:off x="3505200" y="341586"/>
            <a:ext cx="1219200" cy="838200"/>
          </a:xfrm>
          <a:prstGeom prst="diamond">
            <a:avLst/>
          </a:prstGeom>
          <a:solidFill>
            <a:schemeClr val="l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800">
                <a:solidFill>
                  <a:schemeClr val="dk1"/>
                </a:solidFill>
                <a:latin typeface="Times New Roman"/>
                <a:ea typeface="Times New Roman"/>
                <a:cs typeface="Times New Roman"/>
                <a:sym typeface="Times New Roman"/>
              </a:rPr>
              <a:t>condition</a:t>
            </a:r>
            <a:endParaRPr/>
          </a:p>
        </p:txBody>
      </p:sp>
      <p:cxnSp>
        <p:nvCxnSpPr>
          <p:cNvPr id="296" name="Google Shape;296;p33"/>
          <p:cNvCxnSpPr>
            <a:stCxn id="295" idx="2"/>
          </p:cNvCxnSpPr>
          <p:nvPr/>
        </p:nvCxnSpPr>
        <p:spPr>
          <a:xfrm>
            <a:off x="4114800" y="1179786"/>
            <a:ext cx="0" cy="477600"/>
          </a:xfrm>
          <a:prstGeom prst="straightConnector1">
            <a:avLst/>
          </a:prstGeom>
          <a:noFill/>
          <a:ln cap="flat" cmpd="sng" w="9525">
            <a:solidFill>
              <a:srgbClr val="4A7DBA"/>
            </a:solidFill>
            <a:prstDash val="solid"/>
            <a:round/>
            <a:headEnd len="sm" w="sm" type="none"/>
            <a:tailEnd len="med" w="med" type="stealth"/>
          </a:ln>
        </p:spPr>
      </p:cxnSp>
      <p:sp>
        <p:nvSpPr>
          <p:cNvPr id="297" name="Google Shape;297;p33"/>
          <p:cNvSpPr/>
          <p:nvPr/>
        </p:nvSpPr>
        <p:spPr>
          <a:xfrm>
            <a:off x="3124200" y="1657350"/>
            <a:ext cx="1981200" cy="381000"/>
          </a:xfrm>
          <a:prstGeom prst="rect">
            <a:avLst/>
          </a:prstGeom>
          <a:solidFill>
            <a:schemeClr val="lt1"/>
          </a:solidFill>
          <a:ln cap="flat"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Block of Statement</a:t>
            </a:r>
            <a:endParaRPr/>
          </a:p>
        </p:txBody>
      </p:sp>
      <p:sp>
        <p:nvSpPr>
          <p:cNvPr id="298" name="Google Shape;298;p33"/>
          <p:cNvSpPr txBox="1"/>
          <p:nvPr/>
        </p:nvSpPr>
        <p:spPr>
          <a:xfrm>
            <a:off x="3657600" y="0"/>
            <a:ext cx="338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a:t>
            </a:r>
            <a:endParaRPr/>
          </a:p>
        </p:txBody>
      </p:sp>
      <p:sp>
        <p:nvSpPr>
          <p:cNvPr id="299" name="Google Shape;299;p33"/>
          <p:cNvSpPr txBox="1"/>
          <p:nvPr/>
        </p:nvSpPr>
        <p:spPr>
          <a:xfrm>
            <a:off x="4114800" y="1198661"/>
            <a:ext cx="5166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True</a:t>
            </a:r>
            <a:endParaRPr/>
          </a:p>
        </p:txBody>
      </p:sp>
      <p:cxnSp>
        <p:nvCxnSpPr>
          <p:cNvPr id="300" name="Google Shape;300;p33"/>
          <p:cNvCxnSpPr>
            <a:stCxn id="295" idx="3"/>
          </p:cNvCxnSpPr>
          <p:nvPr/>
        </p:nvCxnSpPr>
        <p:spPr>
          <a:xfrm>
            <a:off x="4724400" y="760686"/>
            <a:ext cx="1371600" cy="0"/>
          </a:xfrm>
          <a:prstGeom prst="straightConnector1">
            <a:avLst/>
          </a:prstGeom>
          <a:noFill/>
          <a:ln cap="flat" cmpd="sng" w="9525">
            <a:solidFill>
              <a:srgbClr val="4A7DBA"/>
            </a:solidFill>
            <a:prstDash val="solid"/>
            <a:round/>
            <a:headEnd len="sm" w="sm" type="none"/>
            <a:tailEnd len="sm" w="sm" type="none"/>
          </a:ln>
        </p:spPr>
      </p:cxnSp>
      <p:cxnSp>
        <p:nvCxnSpPr>
          <p:cNvPr id="301" name="Google Shape;301;p33"/>
          <p:cNvCxnSpPr/>
          <p:nvPr/>
        </p:nvCxnSpPr>
        <p:spPr>
          <a:xfrm>
            <a:off x="6096000" y="760686"/>
            <a:ext cx="0" cy="1658664"/>
          </a:xfrm>
          <a:prstGeom prst="straightConnector1">
            <a:avLst/>
          </a:prstGeom>
          <a:noFill/>
          <a:ln cap="flat" cmpd="sng" w="9525">
            <a:solidFill>
              <a:srgbClr val="4A7DBA"/>
            </a:solidFill>
            <a:prstDash val="solid"/>
            <a:round/>
            <a:headEnd len="sm" w="sm" type="none"/>
            <a:tailEnd len="sm" w="sm" type="none"/>
          </a:ln>
        </p:spPr>
      </p:cxnSp>
      <p:cxnSp>
        <p:nvCxnSpPr>
          <p:cNvPr id="302" name="Google Shape;302;p33"/>
          <p:cNvCxnSpPr>
            <a:stCxn id="297" idx="2"/>
          </p:cNvCxnSpPr>
          <p:nvPr/>
        </p:nvCxnSpPr>
        <p:spPr>
          <a:xfrm>
            <a:off x="4114800" y="2038350"/>
            <a:ext cx="0" cy="762000"/>
          </a:xfrm>
          <a:prstGeom prst="straightConnector1">
            <a:avLst/>
          </a:prstGeom>
          <a:noFill/>
          <a:ln cap="flat" cmpd="sng" w="9525">
            <a:solidFill>
              <a:srgbClr val="4A7DBA"/>
            </a:solidFill>
            <a:prstDash val="solid"/>
            <a:round/>
            <a:headEnd len="sm" w="sm" type="none"/>
            <a:tailEnd len="med" w="med" type="stealth"/>
          </a:ln>
        </p:spPr>
      </p:cxnSp>
      <p:cxnSp>
        <p:nvCxnSpPr>
          <p:cNvPr id="303" name="Google Shape;303;p33"/>
          <p:cNvCxnSpPr/>
          <p:nvPr/>
        </p:nvCxnSpPr>
        <p:spPr>
          <a:xfrm rot="10800000">
            <a:off x="4114800" y="2419350"/>
            <a:ext cx="1981200" cy="0"/>
          </a:xfrm>
          <a:prstGeom prst="straightConnector1">
            <a:avLst/>
          </a:prstGeom>
          <a:noFill/>
          <a:ln cap="flat" cmpd="sng" w="9525">
            <a:solidFill>
              <a:srgbClr val="4A7DBA"/>
            </a:solidFill>
            <a:prstDash val="solid"/>
            <a:round/>
            <a:headEnd len="sm" w="sm" type="none"/>
            <a:tailEnd len="med" w="med" type="stealth"/>
          </a:ln>
        </p:spPr>
      </p:cxnSp>
      <p:sp>
        <p:nvSpPr>
          <p:cNvPr id="304" name="Google Shape;304;p33"/>
          <p:cNvSpPr txBox="1"/>
          <p:nvPr/>
        </p:nvSpPr>
        <p:spPr>
          <a:xfrm>
            <a:off x="6101255" y="1499386"/>
            <a:ext cx="56457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False</a:t>
            </a:r>
            <a:endParaRPr/>
          </a:p>
        </p:txBody>
      </p:sp>
      <p:sp>
        <p:nvSpPr>
          <p:cNvPr id="305" name="Google Shape;305;p33"/>
          <p:cNvSpPr txBox="1"/>
          <p:nvPr/>
        </p:nvSpPr>
        <p:spPr>
          <a:xfrm>
            <a:off x="3633952" y="2265461"/>
            <a:ext cx="48282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Exit</a:t>
            </a:r>
            <a:endParaRPr/>
          </a:p>
        </p:txBody>
      </p:sp>
      <p:sp>
        <p:nvSpPr>
          <p:cNvPr id="306" name="Google Shape;306;p33"/>
          <p:cNvSpPr/>
          <p:nvPr/>
        </p:nvSpPr>
        <p:spPr>
          <a:xfrm>
            <a:off x="3124200" y="2781300"/>
            <a:ext cx="1981200" cy="3810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Nested If Statement</a:t>
            </a:r>
            <a:endParaRPr/>
          </a:p>
        </p:txBody>
      </p:sp>
      <p:sp>
        <p:nvSpPr>
          <p:cNvPr id="312" name="Google Shape;312;p34"/>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Syntax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if (condition)</a:t>
            </a:r>
            <a:r>
              <a:rPr b="1" lang="en-US" sz="1800">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block of statements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if(condition)</a:t>
            </a:r>
            <a:r>
              <a:rPr b="1" lang="en-US" sz="1800">
                <a:latin typeface="Times New Roman"/>
                <a:ea typeface="Times New Roman"/>
                <a:cs typeface="Times New Roman"/>
                <a:sym typeface="Times New Roman"/>
              </a:rPr>
              <a:t>:</a:t>
            </a:r>
            <a:endParaRPr b="1" sz="1800">
              <a:solidFill>
                <a:srgbClr val="00B0F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block of statements</a:t>
            </a:r>
            <a:endParaRPr sz="1800">
              <a:solidFill>
                <a:srgbClr val="00B0F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if(condition)</a:t>
            </a:r>
            <a:r>
              <a:rPr b="1" lang="en-US" sz="1800">
                <a:latin typeface="Times New Roman"/>
                <a:ea typeface="Times New Roman"/>
                <a:cs typeface="Times New Roman"/>
                <a:sym typeface="Times New Roman"/>
              </a:rPr>
              <a:t>:</a:t>
            </a:r>
            <a:endParaRPr b="1" sz="1800">
              <a:solidFill>
                <a:schemeClr val="dk2"/>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block of statements</a:t>
            </a:r>
            <a:endParaRPr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if(condition)</a:t>
            </a:r>
            <a:r>
              <a:rPr b="1" lang="en-US" sz="1800">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block of statements</a:t>
            </a:r>
            <a:endParaRPr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rgbClr val="FF0000"/>
              </a:buClr>
              <a:buSzPts val="1800"/>
              <a:buNone/>
            </a:pPr>
            <a:r>
              <a:rPr lang="en-US" sz="1800">
                <a:solidFill>
                  <a:srgbClr val="FF0000"/>
                </a:solidFill>
                <a:latin typeface="Times New Roman"/>
                <a:ea typeface="Times New Roman"/>
                <a:cs typeface="Times New Roman"/>
                <a:sym typeface="Times New Roman"/>
              </a:rPr>
              <a:t>	</a:t>
            </a:r>
            <a:r>
              <a:rPr lang="en-US" sz="1800">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500"/>
                                        <p:tgtEl>
                                          <p:spTgt spid="3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Effect filter="fade" transition="in">
                                      <p:cBhvr>
                                        <p:cTn dur="500"/>
                                        <p:tgtEl>
                                          <p:spTgt spid="3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animEffect filter="fade" transition="in">
                                      <p:cBhvr>
                                        <p:cTn dur="500"/>
                                        <p:tgtEl>
                                          <p:spTgt spid="3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animEffect filter="fade" transition="in">
                                      <p:cBhvr>
                                        <p:cTn dur="500"/>
                                        <p:tgtEl>
                                          <p:spTgt spid="3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animEffect filter="fade" transition="in">
                                      <p:cBhvr>
                                        <p:cTn dur="500"/>
                                        <p:tgtEl>
                                          <p:spTgt spid="3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5" st="5"/>
                                            </p:txEl>
                                          </p:spTgt>
                                        </p:tgtEl>
                                        <p:attrNameLst>
                                          <p:attrName>style.visibility</p:attrName>
                                        </p:attrNameLst>
                                      </p:cBhvr>
                                      <p:to>
                                        <p:strVal val="visible"/>
                                      </p:to>
                                    </p:set>
                                    <p:animEffect filter="fade" transition="in">
                                      <p:cBhvr>
                                        <p:cTn dur="500"/>
                                        <p:tgtEl>
                                          <p:spTgt spid="3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6" st="6"/>
                                            </p:txEl>
                                          </p:spTgt>
                                        </p:tgtEl>
                                        <p:attrNameLst>
                                          <p:attrName>style.visibility</p:attrName>
                                        </p:attrNameLst>
                                      </p:cBhvr>
                                      <p:to>
                                        <p:strVal val="visible"/>
                                      </p:to>
                                    </p:set>
                                    <p:animEffect filter="fade" transition="in">
                                      <p:cBhvr>
                                        <p:cTn dur="500"/>
                                        <p:tgtEl>
                                          <p:spTgt spid="3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7" st="7"/>
                                            </p:txEl>
                                          </p:spTgt>
                                        </p:tgtEl>
                                        <p:attrNameLst>
                                          <p:attrName>style.visibility</p:attrName>
                                        </p:attrNameLst>
                                      </p:cBhvr>
                                      <p:to>
                                        <p:strVal val="visible"/>
                                      </p:to>
                                    </p:set>
                                    <p:animEffect filter="fade" transition="in">
                                      <p:cBhvr>
                                        <p:cTn dur="500"/>
                                        <p:tgtEl>
                                          <p:spTgt spid="3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8" st="8"/>
                                            </p:txEl>
                                          </p:spTgt>
                                        </p:tgtEl>
                                        <p:attrNameLst>
                                          <p:attrName>style.visibility</p:attrName>
                                        </p:attrNameLst>
                                      </p:cBhvr>
                                      <p:to>
                                        <p:strVal val="visible"/>
                                      </p:to>
                                    </p:set>
                                    <p:animEffect filter="fade" transition="in">
                                      <p:cBhvr>
                                        <p:cTn dur="500"/>
                                        <p:tgtEl>
                                          <p:spTgt spid="3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9" st="9"/>
                                            </p:txEl>
                                          </p:spTgt>
                                        </p:tgtEl>
                                        <p:attrNameLst>
                                          <p:attrName>style.visibility</p:attrName>
                                        </p:attrNameLst>
                                      </p:cBhvr>
                                      <p:to>
                                        <p:strVal val="visible"/>
                                      </p:to>
                                    </p:set>
                                    <p:animEffect filter="fade" transition="in">
                                      <p:cBhvr>
                                        <p:cTn dur="500"/>
                                        <p:tgtEl>
                                          <p:spTgt spid="31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If Statement with Logical Operator</a:t>
            </a:r>
            <a:endParaRPr/>
          </a:p>
        </p:txBody>
      </p:sp>
      <p:sp>
        <p:nvSpPr>
          <p:cNvPr id="318" name="Google Shape;318;p35"/>
          <p:cNvSpPr txBox="1"/>
          <p:nvPr>
            <p:ph idx="1" type="body"/>
          </p:nvPr>
        </p:nvSpPr>
        <p:spPr>
          <a:xfrm>
            <a:off x="457200" y="895350"/>
            <a:ext cx="8229600" cy="3886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if ( (condition1) and (condition2) )</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Rest of the Code</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if ( (condition1) and (condition2) )</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Block of Statements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Rest of the Code </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if ( (condition1) or (condition2) )</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animEffect filter="fade" transition="in">
                                      <p:cBhvr>
                                        <p:cTn dur="500"/>
                                        <p:tgtEl>
                                          <p:spTgt spid="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animEffect filter="fade" transition="in">
                                      <p:cBhvr>
                                        <p:cTn dur="500"/>
                                        <p:tgtEl>
                                          <p:spTgt spid="3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animEffect filter="fade" transition="in">
                                      <p:cBhvr>
                                        <p:cTn dur="500"/>
                                        <p:tgtEl>
                                          <p:spTgt spid="3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animEffect filter="fade" transition="in">
                                      <p:cBhvr>
                                        <p:cTn dur="500"/>
                                        <p:tgtEl>
                                          <p:spTgt spid="3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4" st="4"/>
                                            </p:txEl>
                                          </p:spTgt>
                                        </p:tgtEl>
                                        <p:attrNameLst>
                                          <p:attrName>style.visibility</p:attrName>
                                        </p:attrNameLst>
                                      </p:cBhvr>
                                      <p:to>
                                        <p:strVal val="visible"/>
                                      </p:to>
                                    </p:set>
                                    <p:animEffect filter="fade" transition="in">
                                      <p:cBhvr>
                                        <p:cTn dur="500"/>
                                        <p:tgtEl>
                                          <p:spTgt spid="3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5" st="5"/>
                                            </p:txEl>
                                          </p:spTgt>
                                        </p:tgtEl>
                                        <p:attrNameLst>
                                          <p:attrName>style.visibility</p:attrName>
                                        </p:attrNameLst>
                                      </p:cBhvr>
                                      <p:to>
                                        <p:strVal val="visible"/>
                                      </p:to>
                                    </p:set>
                                    <p:animEffect filter="fade" transition="in">
                                      <p:cBhvr>
                                        <p:cTn dur="500"/>
                                        <p:tgtEl>
                                          <p:spTgt spid="3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6" st="6"/>
                                            </p:txEl>
                                          </p:spTgt>
                                        </p:tgtEl>
                                        <p:attrNameLst>
                                          <p:attrName>style.visibility</p:attrName>
                                        </p:attrNameLst>
                                      </p:cBhvr>
                                      <p:to>
                                        <p:strVal val="visible"/>
                                      </p:to>
                                    </p:set>
                                    <p:animEffect filter="fade" transition="in">
                                      <p:cBhvr>
                                        <p:cTn dur="500"/>
                                        <p:tgtEl>
                                          <p:spTgt spid="31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7" st="7"/>
                                            </p:txEl>
                                          </p:spTgt>
                                        </p:tgtEl>
                                        <p:attrNameLst>
                                          <p:attrName>style.visibility</p:attrName>
                                        </p:attrNameLst>
                                      </p:cBhvr>
                                      <p:to>
                                        <p:strVal val="visible"/>
                                      </p:to>
                                    </p:set>
                                    <p:animEffect filter="fade" transition="in">
                                      <p:cBhvr>
                                        <p:cTn dur="500"/>
                                        <p:tgtEl>
                                          <p:spTgt spid="31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8" st="8"/>
                                            </p:txEl>
                                          </p:spTgt>
                                        </p:tgtEl>
                                        <p:attrNameLst>
                                          <p:attrName>style.visibility</p:attrName>
                                        </p:attrNameLst>
                                      </p:cBhvr>
                                      <p:to>
                                        <p:strVal val="visible"/>
                                      </p:to>
                                    </p:set>
                                    <p:animEffect filter="fade" transition="in">
                                      <p:cBhvr>
                                        <p:cTn dur="500"/>
                                        <p:tgtEl>
                                          <p:spTgt spid="31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9" st="9"/>
                                            </p:txEl>
                                          </p:spTgt>
                                        </p:tgtEl>
                                        <p:attrNameLst>
                                          <p:attrName>style.visibility</p:attrName>
                                        </p:attrNameLst>
                                      </p:cBhvr>
                                      <p:to>
                                        <p:strVal val="visible"/>
                                      </p:to>
                                    </p:set>
                                    <p:animEffect filter="fade" transition="in">
                                      <p:cBhvr>
                                        <p:cTn dur="500"/>
                                        <p:tgtEl>
                                          <p:spTgt spid="31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xEl>
                                              <p:pRg end="10" st="10"/>
                                            </p:txEl>
                                          </p:spTgt>
                                        </p:tgtEl>
                                        <p:attrNameLst>
                                          <p:attrName>style.visibility</p:attrName>
                                        </p:attrNameLst>
                                      </p:cBhvr>
                                      <p:to>
                                        <p:strVal val="visible"/>
                                      </p:to>
                                    </p:set>
                                    <p:animEffect filter="fade" transition="in">
                                      <p:cBhvr>
                                        <p:cTn dur="500"/>
                                        <p:tgtEl>
                                          <p:spTgt spid="31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Indentation</a:t>
            </a:r>
            <a:endParaRPr b="1" sz="4000" u="sng">
              <a:latin typeface="Times New Roman"/>
              <a:ea typeface="Times New Roman"/>
              <a:cs typeface="Times New Roman"/>
              <a:sym typeface="Times New Roman"/>
            </a:endParaRPr>
          </a:p>
        </p:txBody>
      </p:sp>
      <p:sp>
        <p:nvSpPr>
          <p:cNvPr id="324" name="Google Shape;324;p36"/>
          <p:cNvSpPr txBox="1"/>
          <p:nvPr>
            <p:ph idx="1" type="body"/>
          </p:nvPr>
        </p:nvSpPr>
        <p:spPr>
          <a:xfrm>
            <a:off x="457200" y="819150"/>
            <a:ext cx="8229600" cy="91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Indentation refers to spaces that are used in the beginning of a statement. By default python puts 4 spaces but it can be changed by programmers.</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325" name="Google Shape;325;p36"/>
          <p:cNvSpPr/>
          <p:nvPr/>
        </p:nvSpPr>
        <p:spPr>
          <a:xfrm>
            <a:off x="2286000" y="1581150"/>
            <a:ext cx="45720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 (condition)</a:t>
            </a:r>
            <a:r>
              <a:rPr b="1" lang="en-US" sz="1800">
                <a:solidFill>
                  <a:schemeClr val="dk1"/>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Statement</a:t>
            </a:r>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if(condition)</a:t>
            </a:r>
            <a:r>
              <a:rPr b="1" lang="en-US" sz="1800">
                <a:solidFill>
                  <a:schemeClr val="dk1"/>
                </a:solidFill>
                <a:latin typeface="Times New Roman"/>
                <a:ea typeface="Times New Roman"/>
                <a:cs typeface="Times New Roman"/>
                <a:sym typeface="Times New Roman"/>
              </a:rPr>
              <a:t>:</a:t>
            </a:r>
            <a:endParaRPr b="1" sz="1800">
              <a:solidFill>
                <a:srgbClr val="00B0F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statement 1</a:t>
            </a:r>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statement 2</a:t>
            </a:r>
            <a:endParaRPr sz="1800">
              <a:solidFill>
                <a:srgbClr val="00B0F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if(condition)</a:t>
            </a:r>
            <a:r>
              <a:rPr b="1" lang="en-US" sz="1800">
                <a:solidFill>
                  <a:schemeClr val="dk1"/>
                </a:solidFill>
                <a:latin typeface="Times New Roman"/>
                <a:ea typeface="Times New Roman"/>
                <a:cs typeface="Times New Roman"/>
                <a:sym typeface="Times New Roman"/>
              </a:rPr>
              <a:t>:</a:t>
            </a:r>
            <a:endParaRPr b="1" sz="1800">
              <a:solidFill>
                <a:schemeClr val="dk2"/>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Statement</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if(condition)</a:t>
            </a:r>
            <a:r>
              <a:rPr b="1" lang="en-US" sz="1800">
                <a:solidFill>
                  <a:schemeClr val="dk1"/>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Statement 1</a:t>
            </a:r>
            <a:endParaRPr/>
          </a:p>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_</a:t>
            </a:r>
            <a:r>
              <a:rPr b="1" lang="en-US" sz="1800">
                <a:solidFill>
                  <a:srgbClr val="00B050"/>
                </a:solidFill>
                <a:latin typeface="Times New Roman"/>
                <a:ea typeface="Times New Roman"/>
                <a:cs typeface="Times New Roman"/>
                <a:sym typeface="Times New Roman"/>
              </a:rPr>
              <a:t>_</a:t>
            </a:r>
            <a:r>
              <a:rPr b="1" lang="en-US" sz="1800">
                <a:solidFill>
                  <a:srgbClr val="FF0000"/>
                </a:solidFill>
                <a:latin typeface="Times New Roman"/>
                <a:ea typeface="Times New Roman"/>
                <a:cs typeface="Times New Roman"/>
                <a:sym typeface="Times New Roman"/>
              </a:rPr>
              <a:t>_</a:t>
            </a:r>
            <a:r>
              <a:rPr b="1" lang="en-US" sz="1800">
                <a:solidFill>
                  <a:srgbClr val="0070C0"/>
                </a:solidFill>
                <a:latin typeface="Times New Roman"/>
                <a:ea typeface="Times New Roman"/>
                <a:cs typeface="Times New Roman"/>
                <a:sym typeface="Times New Roman"/>
              </a:rPr>
              <a:t>_</a:t>
            </a:r>
            <a:r>
              <a:rPr lang="en-US" sz="1800">
                <a:solidFill>
                  <a:schemeClr val="dk1"/>
                </a:solidFill>
                <a:latin typeface="Times New Roman"/>
                <a:ea typeface="Times New Roman"/>
                <a:cs typeface="Times New Roman"/>
                <a:sym typeface="Times New Roman"/>
              </a:rPr>
              <a:t>Statement 2 </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5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5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500"/>
                                        <p:tgtEl>
                                          <p:spTgt spid="3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7"/>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If Else Statement</a:t>
            </a:r>
            <a:endParaRPr/>
          </a:p>
        </p:txBody>
      </p:sp>
      <p:sp>
        <p:nvSpPr>
          <p:cNvPr id="331" name="Google Shape;331;p37"/>
          <p:cNvSpPr txBox="1"/>
          <p:nvPr>
            <p:ph idx="1" type="body"/>
          </p:nvPr>
        </p:nvSpPr>
        <p:spPr>
          <a:xfrm>
            <a:off x="457200" y="895350"/>
            <a:ext cx="8229600" cy="1143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if… else statement is used when a different sequence of instructions is to be executed depending on the logical value(True/False) of the condition evaluated.</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Syntax: - </a:t>
            </a:r>
            <a:endParaRPr/>
          </a:p>
          <a:p>
            <a:pPr indent="0" lvl="0" marL="0" rtl="0" algn="l">
              <a:spcBef>
                <a:spcPts val="360"/>
              </a:spcBef>
              <a:spcAft>
                <a:spcPts val="0"/>
              </a:spcAft>
              <a:buClr>
                <a:schemeClr val="dk1"/>
              </a:buClr>
              <a:buSzPts val="1800"/>
              <a:buNone/>
            </a:pPr>
            <a:r>
              <a:t/>
            </a:r>
            <a:endParaRPr sz="1800"/>
          </a:p>
        </p:txBody>
      </p:sp>
      <p:sp>
        <p:nvSpPr>
          <p:cNvPr id="332" name="Google Shape;332;p37"/>
          <p:cNvSpPr txBox="1"/>
          <p:nvPr/>
        </p:nvSpPr>
        <p:spPr>
          <a:xfrm>
            <a:off x="762000" y="2114550"/>
            <a:ext cx="2971800" cy="2076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if(condition)</a:t>
            </a:r>
            <a:r>
              <a:rPr b="1" lang="en-US" sz="1800">
                <a:solidFill>
                  <a:schemeClr val="dk1"/>
                </a:solidFill>
                <a:latin typeface="Times New Roman"/>
                <a:ea typeface="Times New Roman"/>
                <a:cs typeface="Times New Roman"/>
                <a:sym typeface="Times New Roman"/>
              </a:rPr>
              <a:t>:</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Statement 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else</a:t>
            </a:r>
            <a:r>
              <a:rPr b="1" lang="en-US" sz="1800">
                <a:solidFill>
                  <a:schemeClr val="dk1"/>
                </a:solidFill>
                <a:latin typeface="Times New Roman"/>
                <a:ea typeface="Times New Roman"/>
                <a:cs typeface="Times New Roman"/>
                <a:sym typeface="Times New Roman"/>
              </a:rPr>
              <a:t>:</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Statement 2</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Rest of the Code</a:t>
            </a:r>
            <a:endParaRPr sz="1800">
              <a:solidFill>
                <a:schemeClr val="dk1"/>
              </a:solidFill>
              <a:latin typeface="Calibri"/>
              <a:ea typeface="Calibri"/>
              <a:cs typeface="Calibri"/>
              <a:sym typeface="Calibri"/>
            </a:endParaRPr>
          </a:p>
        </p:txBody>
      </p:sp>
      <p:sp>
        <p:nvSpPr>
          <p:cNvPr id="333" name="Google Shape;333;p37"/>
          <p:cNvSpPr txBox="1"/>
          <p:nvPr/>
        </p:nvSpPr>
        <p:spPr>
          <a:xfrm>
            <a:off x="4648200" y="1581150"/>
            <a:ext cx="3657600" cy="3181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if(condition)</a:t>
            </a:r>
            <a:r>
              <a:rPr b="1" lang="en-US" sz="1800">
                <a:solidFill>
                  <a:schemeClr val="dk1"/>
                </a:solidFill>
                <a:latin typeface="Times New Roman"/>
                <a:ea typeface="Times New Roman"/>
                <a:cs typeface="Times New Roman"/>
                <a:sym typeface="Times New Roman"/>
              </a:rPr>
              <a:t>:</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Statement 1</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Statement 2</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else</a:t>
            </a:r>
            <a:r>
              <a:rPr b="1" lang="en-US" sz="1800">
                <a:solidFill>
                  <a:schemeClr val="dk1"/>
                </a:solidFill>
                <a:latin typeface="Times New Roman"/>
                <a:ea typeface="Times New Roman"/>
                <a:cs typeface="Times New Roman"/>
                <a:sym typeface="Times New Roman"/>
              </a:rPr>
              <a:t>:</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Statement 3</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          Statement 4</a:t>
            </a:r>
            <a:endParaRPr/>
          </a:p>
          <a:p>
            <a:pPr indent="0" lvl="0" marL="0" marR="0" rtl="0" algn="l">
              <a:spcBef>
                <a:spcPts val="36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animEffect filter="fade" transition="in">
                                      <p:cBhvr>
                                        <p:cTn dur="500"/>
                                        <p:tgtEl>
                                          <p:spTgt spid="3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 st="1"/>
                                            </p:txEl>
                                          </p:spTgt>
                                        </p:tgtEl>
                                        <p:attrNameLst>
                                          <p:attrName>style.visibility</p:attrName>
                                        </p:attrNameLst>
                                      </p:cBhvr>
                                      <p:to>
                                        <p:strVal val="visible"/>
                                      </p:to>
                                    </p:set>
                                    <p:animEffect filter="fade" transition="in">
                                      <p:cBhvr>
                                        <p:cTn dur="500"/>
                                        <p:tgtEl>
                                          <p:spTgt spid="3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2" st="2"/>
                                            </p:txEl>
                                          </p:spTgt>
                                        </p:tgtEl>
                                        <p:attrNameLst>
                                          <p:attrName>style.visibility</p:attrName>
                                        </p:attrNameLst>
                                      </p:cBhvr>
                                      <p:to>
                                        <p:strVal val="visible"/>
                                      </p:to>
                                    </p:set>
                                    <p:animEffect filter="fade" transition="in">
                                      <p:cBhvr>
                                        <p:cTn dur="500"/>
                                        <p:tgtEl>
                                          <p:spTgt spid="3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Effect filter="fade" transition="in">
                                      <p:cBhvr>
                                        <p:cTn dur="500"/>
                                        <p:tgtEl>
                                          <p:spTgt spid="3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Effect filter="fade" transition="in">
                                      <p:cBhvr>
                                        <p:cTn dur="500"/>
                                        <p:tgtEl>
                                          <p:spTgt spid="3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Effect filter="fade" transition="in">
                                      <p:cBhvr>
                                        <p:cTn dur="500"/>
                                        <p:tgtEl>
                                          <p:spTgt spid="3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animEffect filter="fade" transition="in">
                                      <p:cBhvr>
                                        <p:cTn dur="500"/>
                                        <p:tgtEl>
                                          <p:spTgt spid="3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animEffect filter="fade" transition="in">
                                      <p:cBhvr>
                                        <p:cTn dur="500"/>
                                        <p:tgtEl>
                                          <p:spTgt spid="3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Effect filter="fade" transition="in">
                                      <p:cBhvr>
                                        <p:cTn dur="500"/>
                                        <p:tgtEl>
                                          <p:spTgt spid="3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animEffect filter="fade" transition="in">
                                      <p:cBhvr>
                                        <p:cTn dur="500"/>
                                        <p:tgtEl>
                                          <p:spTgt spid="3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animEffect filter="fade" transition="in">
                                      <p:cBhvr>
                                        <p:cTn dur="500"/>
                                        <p:tgtEl>
                                          <p:spTgt spid="3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animEffect filter="fade" transition="in">
                                      <p:cBhvr>
                                        <p:cTn dur="500"/>
                                        <p:tgtEl>
                                          <p:spTgt spid="3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animEffect filter="fade" transition="in">
                                      <p:cBhvr>
                                        <p:cTn dur="500"/>
                                        <p:tgtEl>
                                          <p:spTgt spid="3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5" st="5"/>
                                            </p:txEl>
                                          </p:spTgt>
                                        </p:tgtEl>
                                        <p:attrNameLst>
                                          <p:attrName>style.visibility</p:attrName>
                                        </p:attrNameLst>
                                      </p:cBhvr>
                                      <p:to>
                                        <p:strVal val="visible"/>
                                      </p:to>
                                    </p:set>
                                    <p:animEffect filter="fade" transition="in">
                                      <p:cBhvr>
                                        <p:cTn dur="500"/>
                                        <p:tgtEl>
                                          <p:spTgt spid="3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6" st="6"/>
                                            </p:txEl>
                                          </p:spTgt>
                                        </p:tgtEl>
                                        <p:attrNameLst>
                                          <p:attrName>style.visibility</p:attrName>
                                        </p:attrNameLst>
                                      </p:cBhvr>
                                      <p:to>
                                        <p:strVal val="visible"/>
                                      </p:to>
                                    </p:set>
                                    <p:animEffect filter="fade" transition="in">
                                      <p:cBhvr>
                                        <p:cTn dur="500"/>
                                        <p:tgtEl>
                                          <p:spTgt spid="33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cxnSp>
        <p:nvCxnSpPr>
          <p:cNvPr id="338" name="Google Shape;338;p38"/>
          <p:cNvCxnSpPr/>
          <p:nvPr/>
        </p:nvCxnSpPr>
        <p:spPr>
          <a:xfrm>
            <a:off x="3200400" y="140277"/>
            <a:ext cx="0" cy="342900"/>
          </a:xfrm>
          <a:prstGeom prst="straightConnector1">
            <a:avLst/>
          </a:prstGeom>
          <a:noFill/>
          <a:ln cap="flat" cmpd="sng" w="9525">
            <a:solidFill>
              <a:srgbClr val="4A7DBA"/>
            </a:solidFill>
            <a:prstDash val="solid"/>
            <a:round/>
            <a:headEnd len="sm" w="sm" type="none"/>
            <a:tailEnd len="med" w="med" type="stealth"/>
          </a:ln>
        </p:spPr>
      </p:cxnSp>
      <p:sp>
        <p:nvSpPr>
          <p:cNvPr id="339" name="Google Shape;339;p38"/>
          <p:cNvSpPr/>
          <p:nvPr/>
        </p:nvSpPr>
        <p:spPr>
          <a:xfrm>
            <a:off x="2019300" y="483177"/>
            <a:ext cx="2324100" cy="1002723"/>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Condition ?</a:t>
            </a:r>
            <a:endParaRPr/>
          </a:p>
        </p:txBody>
      </p:sp>
      <p:cxnSp>
        <p:nvCxnSpPr>
          <p:cNvPr id="340" name="Google Shape;340;p38"/>
          <p:cNvCxnSpPr>
            <a:stCxn id="339" idx="3"/>
          </p:cNvCxnSpPr>
          <p:nvPr/>
        </p:nvCxnSpPr>
        <p:spPr>
          <a:xfrm>
            <a:off x="4343400" y="984539"/>
            <a:ext cx="571500" cy="0"/>
          </a:xfrm>
          <a:prstGeom prst="straightConnector1">
            <a:avLst/>
          </a:prstGeom>
          <a:noFill/>
          <a:ln cap="flat" cmpd="sng" w="9525">
            <a:solidFill>
              <a:srgbClr val="4A7DBA"/>
            </a:solidFill>
            <a:prstDash val="solid"/>
            <a:round/>
            <a:headEnd len="sm" w="sm" type="none"/>
            <a:tailEnd len="sm" w="sm" type="none"/>
          </a:ln>
        </p:spPr>
      </p:cxnSp>
      <p:cxnSp>
        <p:nvCxnSpPr>
          <p:cNvPr id="341" name="Google Shape;341;p38"/>
          <p:cNvCxnSpPr/>
          <p:nvPr/>
        </p:nvCxnSpPr>
        <p:spPr>
          <a:xfrm>
            <a:off x="5867400" y="984538"/>
            <a:ext cx="1371600" cy="0"/>
          </a:xfrm>
          <a:prstGeom prst="straightConnector1">
            <a:avLst/>
          </a:prstGeom>
          <a:noFill/>
          <a:ln cap="flat" cmpd="sng" w="9525">
            <a:solidFill>
              <a:srgbClr val="4A7DBA"/>
            </a:solidFill>
            <a:prstDash val="solid"/>
            <a:round/>
            <a:headEnd len="sm" w="sm" type="none"/>
            <a:tailEnd len="sm" w="sm" type="none"/>
          </a:ln>
        </p:spPr>
      </p:cxnSp>
      <p:cxnSp>
        <p:nvCxnSpPr>
          <p:cNvPr id="342" name="Google Shape;342;p38"/>
          <p:cNvCxnSpPr>
            <a:endCxn id="343" idx="0"/>
          </p:cNvCxnSpPr>
          <p:nvPr/>
        </p:nvCxnSpPr>
        <p:spPr>
          <a:xfrm>
            <a:off x="7239000" y="984600"/>
            <a:ext cx="0" cy="1301400"/>
          </a:xfrm>
          <a:prstGeom prst="straightConnector1">
            <a:avLst/>
          </a:prstGeom>
          <a:noFill/>
          <a:ln cap="flat" cmpd="sng" w="9525">
            <a:solidFill>
              <a:srgbClr val="4A7DBA"/>
            </a:solidFill>
            <a:prstDash val="solid"/>
            <a:round/>
            <a:headEnd len="sm" w="sm" type="none"/>
            <a:tailEnd len="med" w="med" type="stealth"/>
          </a:ln>
        </p:spPr>
      </p:cxnSp>
      <p:sp>
        <p:nvSpPr>
          <p:cNvPr id="344" name="Google Shape;344;p38"/>
          <p:cNvSpPr/>
          <p:nvPr/>
        </p:nvSpPr>
        <p:spPr>
          <a:xfrm>
            <a:off x="1676400" y="2286000"/>
            <a:ext cx="3048000" cy="5715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Statement 1</a:t>
            </a:r>
            <a:endParaRPr/>
          </a:p>
        </p:txBody>
      </p:sp>
      <p:sp>
        <p:nvSpPr>
          <p:cNvPr id="343" name="Google Shape;343;p38"/>
          <p:cNvSpPr/>
          <p:nvPr/>
        </p:nvSpPr>
        <p:spPr>
          <a:xfrm>
            <a:off x="5715000" y="2286000"/>
            <a:ext cx="3048000" cy="5715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Statement 2</a:t>
            </a:r>
            <a:endParaRPr/>
          </a:p>
        </p:txBody>
      </p:sp>
      <p:cxnSp>
        <p:nvCxnSpPr>
          <p:cNvPr id="345" name="Google Shape;345;p38"/>
          <p:cNvCxnSpPr/>
          <p:nvPr/>
        </p:nvCxnSpPr>
        <p:spPr>
          <a:xfrm>
            <a:off x="3200400" y="1885950"/>
            <a:ext cx="0" cy="400050"/>
          </a:xfrm>
          <a:prstGeom prst="straightConnector1">
            <a:avLst/>
          </a:prstGeom>
          <a:noFill/>
          <a:ln cap="flat" cmpd="sng" w="9525">
            <a:solidFill>
              <a:srgbClr val="4A7DBA"/>
            </a:solidFill>
            <a:prstDash val="solid"/>
            <a:round/>
            <a:headEnd len="sm" w="sm" type="none"/>
            <a:tailEnd len="med" w="med" type="stealth"/>
          </a:ln>
        </p:spPr>
      </p:cxnSp>
      <p:cxnSp>
        <p:nvCxnSpPr>
          <p:cNvPr id="346" name="Google Shape;346;p38"/>
          <p:cNvCxnSpPr>
            <a:stCxn id="343" idx="2"/>
          </p:cNvCxnSpPr>
          <p:nvPr/>
        </p:nvCxnSpPr>
        <p:spPr>
          <a:xfrm>
            <a:off x="7239000" y="2857500"/>
            <a:ext cx="0" cy="285900"/>
          </a:xfrm>
          <a:prstGeom prst="straightConnector1">
            <a:avLst/>
          </a:prstGeom>
          <a:noFill/>
          <a:ln cap="flat" cmpd="sng" w="9525">
            <a:solidFill>
              <a:srgbClr val="4A7DBA"/>
            </a:solidFill>
            <a:prstDash val="solid"/>
            <a:round/>
            <a:headEnd len="sm" w="sm" type="none"/>
            <a:tailEnd len="sm" w="sm" type="none"/>
          </a:ln>
        </p:spPr>
      </p:cxnSp>
      <p:cxnSp>
        <p:nvCxnSpPr>
          <p:cNvPr id="347" name="Google Shape;347;p38"/>
          <p:cNvCxnSpPr/>
          <p:nvPr/>
        </p:nvCxnSpPr>
        <p:spPr>
          <a:xfrm rot="10800000">
            <a:off x="3200400" y="3143250"/>
            <a:ext cx="4038600" cy="0"/>
          </a:xfrm>
          <a:prstGeom prst="straightConnector1">
            <a:avLst/>
          </a:prstGeom>
          <a:noFill/>
          <a:ln cap="flat" cmpd="sng" w="9525">
            <a:solidFill>
              <a:srgbClr val="4A7DBA"/>
            </a:solidFill>
            <a:prstDash val="solid"/>
            <a:round/>
            <a:headEnd len="sm" w="sm" type="none"/>
            <a:tailEnd len="med" w="med" type="stealth"/>
          </a:ln>
        </p:spPr>
      </p:cxnSp>
      <p:sp>
        <p:nvSpPr>
          <p:cNvPr id="348" name="Google Shape;348;p38"/>
          <p:cNvSpPr/>
          <p:nvPr/>
        </p:nvSpPr>
        <p:spPr>
          <a:xfrm>
            <a:off x="1676400" y="3429000"/>
            <a:ext cx="3048000" cy="57150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Rest of the Code</a:t>
            </a:r>
            <a:endParaRPr/>
          </a:p>
        </p:txBody>
      </p:sp>
      <p:cxnSp>
        <p:nvCxnSpPr>
          <p:cNvPr id="349" name="Google Shape;349;p38"/>
          <p:cNvCxnSpPr>
            <a:stCxn id="344" idx="2"/>
            <a:endCxn id="348" idx="0"/>
          </p:cNvCxnSpPr>
          <p:nvPr/>
        </p:nvCxnSpPr>
        <p:spPr>
          <a:xfrm>
            <a:off x="3200400" y="2857500"/>
            <a:ext cx="0" cy="571500"/>
          </a:xfrm>
          <a:prstGeom prst="straightConnector1">
            <a:avLst/>
          </a:prstGeom>
          <a:noFill/>
          <a:ln cap="flat" cmpd="sng" w="9525">
            <a:solidFill>
              <a:srgbClr val="4A7DBA"/>
            </a:solidFill>
            <a:prstDash val="solid"/>
            <a:round/>
            <a:headEnd len="sm" w="sm" type="none"/>
            <a:tailEnd len="med" w="med" type="stealth"/>
          </a:ln>
        </p:spPr>
      </p:cxnSp>
      <p:sp>
        <p:nvSpPr>
          <p:cNvPr id="350" name="Google Shape;350;p38"/>
          <p:cNvSpPr txBox="1"/>
          <p:nvPr/>
        </p:nvSpPr>
        <p:spPr>
          <a:xfrm>
            <a:off x="5062065" y="864223"/>
            <a:ext cx="621509"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False</a:t>
            </a:r>
            <a:endParaRPr/>
          </a:p>
        </p:txBody>
      </p:sp>
      <p:sp>
        <p:nvSpPr>
          <p:cNvPr id="351" name="Google Shape;351;p38"/>
          <p:cNvSpPr txBox="1"/>
          <p:nvPr/>
        </p:nvSpPr>
        <p:spPr>
          <a:xfrm>
            <a:off x="2981636" y="1659153"/>
            <a:ext cx="562070"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True</a:t>
            </a:r>
            <a:endParaRPr/>
          </a:p>
        </p:txBody>
      </p:sp>
      <p:cxnSp>
        <p:nvCxnSpPr>
          <p:cNvPr id="352" name="Google Shape;352;p38"/>
          <p:cNvCxnSpPr>
            <a:stCxn id="339" idx="2"/>
          </p:cNvCxnSpPr>
          <p:nvPr/>
        </p:nvCxnSpPr>
        <p:spPr>
          <a:xfrm>
            <a:off x="3181350" y="1485900"/>
            <a:ext cx="0" cy="252900"/>
          </a:xfrm>
          <a:prstGeom prst="straightConnector1">
            <a:avLst/>
          </a:prstGeom>
          <a:noFill/>
          <a:ln cap="flat" cmpd="sng" w="9525">
            <a:solidFill>
              <a:srgbClr val="4A7DBA"/>
            </a:solidFill>
            <a:prstDash val="solid"/>
            <a:round/>
            <a:headEnd len="sm" w="sm" type="none"/>
            <a:tailEnd len="sm" w="sm" type="none"/>
          </a:ln>
        </p:spPr>
      </p:cxnSp>
      <p:sp>
        <p:nvSpPr>
          <p:cNvPr id="353" name="Google Shape;353;p38"/>
          <p:cNvSpPr txBox="1"/>
          <p:nvPr/>
        </p:nvSpPr>
        <p:spPr>
          <a:xfrm>
            <a:off x="2743200" y="140277"/>
            <a:ext cx="3385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a:t>
            </a:r>
            <a:endParaRPr/>
          </a:p>
        </p:txBody>
      </p:sp>
      <p:sp>
        <p:nvSpPr>
          <p:cNvPr id="354" name="Google Shape;354;p38"/>
          <p:cNvSpPr txBox="1"/>
          <p:nvPr/>
        </p:nvSpPr>
        <p:spPr>
          <a:xfrm>
            <a:off x="2648622" y="2973973"/>
            <a:ext cx="52770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Exit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Nested If Else Statement</a:t>
            </a:r>
            <a:endParaRPr/>
          </a:p>
        </p:txBody>
      </p:sp>
      <p:sp>
        <p:nvSpPr>
          <p:cNvPr id="360" name="Google Shape;360;p39"/>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In nested if…. else statement, an entire if… else construct is written within either the body of the if statement or the body of an else statement.</a:t>
            </a:r>
            <a:endParaRPr/>
          </a:p>
          <a:p>
            <a:pPr indent="0" lvl="0" marL="0" rtl="0" algn="l">
              <a:spcBef>
                <a:spcPts val="640"/>
              </a:spcBef>
              <a:spcAft>
                <a:spcPts val="0"/>
              </a:spcAft>
              <a:buClr>
                <a:schemeClr val="dk1"/>
              </a:buClr>
              <a:buSzPts val="32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animEffect filter="fade" transition="in">
                                      <p:cBhvr>
                                        <p:cTn dur="500"/>
                                        <p:tgtEl>
                                          <p:spTgt spid="3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animEffect filter="fade" transition="in">
                                      <p:cBhvr>
                                        <p:cTn dur="500"/>
                                        <p:tgtEl>
                                          <p:spTgt spid="36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txBox="1"/>
          <p:nvPr>
            <p:ph idx="1" type="body"/>
          </p:nvPr>
        </p:nvSpPr>
        <p:spPr>
          <a:xfrm>
            <a:off x="533400" y="1047750"/>
            <a:ext cx="3276600" cy="3048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if(condition_1)</a:t>
            </a:r>
            <a:r>
              <a:rPr b="1" lang="en-US" sz="1800">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if(condition_2)</a:t>
            </a:r>
            <a:r>
              <a:rPr b="1" lang="en-US" sz="1800">
                <a:latin typeface="Times New Roman"/>
                <a:ea typeface="Times New Roman"/>
                <a:cs typeface="Times New Roman"/>
                <a:sym typeface="Times New Roman"/>
              </a:rPr>
              <a:t>:</a:t>
            </a:r>
            <a:endParaRPr b="1" sz="1800">
              <a:solidFill>
                <a:srgbClr val="0070C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1</a:t>
            </a:r>
            <a:endParaRPr sz="1800">
              <a:solidFill>
                <a:srgbClr val="0070C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else</a:t>
            </a:r>
            <a:r>
              <a:rPr b="1" lang="en-US" sz="1800">
                <a:latin typeface="Times New Roman"/>
                <a:ea typeface="Times New Roman"/>
                <a:cs typeface="Times New Roman"/>
                <a:sym typeface="Times New Roman"/>
              </a:rPr>
              <a:t>:</a:t>
            </a:r>
            <a:endParaRPr b="1" sz="1800">
              <a:solidFill>
                <a:srgbClr val="0070C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2</a:t>
            </a:r>
            <a:endParaRPr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else</a:t>
            </a:r>
            <a:r>
              <a:rPr b="1" lang="en-US" sz="1800">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3</a:t>
            </a:r>
            <a:endParaRPr sz="1800">
              <a:solidFill>
                <a:srgbClr val="FF0000"/>
              </a:solidFill>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Rest of the Code</a:t>
            </a:r>
            <a:endParaRPr/>
          </a:p>
        </p:txBody>
      </p:sp>
      <p:sp>
        <p:nvSpPr>
          <p:cNvPr id="366" name="Google Shape;366;p40"/>
          <p:cNvSpPr txBox="1"/>
          <p:nvPr>
            <p:ph type="title"/>
          </p:nvPr>
        </p:nvSpPr>
        <p:spPr>
          <a:xfrm>
            <a:off x="457200" y="-19050"/>
            <a:ext cx="8229600" cy="7048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Nested If Else Statement</a:t>
            </a:r>
            <a:endParaRPr/>
          </a:p>
        </p:txBody>
      </p:sp>
      <p:sp>
        <p:nvSpPr>
          <p:cNvPr id="367" name="Google Shape;367;p40"/>
          <p:cNvSpPr/>
          <p:nvPr/>
        </p:nvSpPr>
        <p:spPr>
          <a:xfrm>
            <a:off x="4572000" y="1057692"/>
            <a:ext cx="33528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if(condition_1)</a:t>
            </a:r>
            <a:r>
              <a:rPr b="1" lang="en-US" sz="1800">
                <a:solidFill>
                  <a:schemeClr val="dk1"/>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if(condition_2)</a:t>
            </a:r>
            <a:r>
              <a:rPr b="1" lang="en-US" sz="1800">
                <a:solidFill>
                  <a:schemeClr val="dk1"/>
                </a:solidFill>
                <a:latin typeface="Times New Roman"/>
                <a:ea typeface="Times New Roman"/>
                <a:cs typeface="Times New Roman"/>
                <a:sym typeface="Times New Roman"/>
              </a:rPr>
              <a:t>:</a:t>
            </a:r>
            <a:endParaRPr b="1" sz="1800">
              <a:solidFill>
                <a:srgbClr val="0070C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Statement 1</a:t>
            </a:r>
            <a:endParaRPr sz="1800">
              <a:solidFill>
                <a:srgbClr val="0070C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else:</a:t>
            </a:r>
            <a:endParaRPr sz="1800">
              <a:solidFill>
                <a:srgbClr val="0070C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Statement 2</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else</a:t>
            </a:r>
            <a:r>
              <a:rPr b="1" lang="en-US" sz="1800">
                <a:solidFill>
                  <a:schemeClr val="dk1"/>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if(condition_3)</a:t>
            </a:r>
            <a:r>
              <a:rPr b="1" lang="en-US" sz="1800">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Statement 3</a:t>
            </a:r>
            <a:endParaRPr sz="1800">
              <a:solidFill>
                <a:srgbClr val="0070C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else</a:t>
            </a:r>
            <a:r>
              <a:rPr b="1" lang="en-US" sz="1800">
                <a:solidFill>
                  <a:schemeClr val="dk1"/>
                </a:solidFill>
                <a:latin typeface="Times New Roman"/>
                <a:ea typeface="Times New Roman"/>
                <a:cs typeface="Times New Roman"/>
                <a:sym typeface="Times New Roman"/>
              </a:rPr>
              <a:t>:</a:t>
            </a:r>
            <a:endParaRPr b="1" sz="1800">
              <a:solidFill>
                <a:srgbClr val="0070C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Statement 4</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animEffect filter="fade" transition="in">
                                      <p:cBhvr>
                                        <p:cTn dur="500"/>
                                        <p:tgtEl>
                                          <p:spTgt spid="3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animEffect filter="fade" transition="in">
                                      <p:cBhvr>
                                        <p:cTn dur="500"/>
                                        <p:tgtEl>
                                          <p:spTgt spid="3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2" st="2"/>
                                            </p:txEl>
                                          </p:spTgt>
                                        </p:tgtEl>
                                        <p:attrNameLst>
                                          <p:attrName>style.visibility</p:attrName>
                                        </p:attrNameLst>
                                      </p:cBhvr>
                                      <p:to>
                                        <p:strVal val="visible"/>
                                      </p:to>
                                    </p:set>
                                    <p:animEffect filter="fade" transition="in">
                                      <p:cBhvr>
                                        <p:cTn dur="500"/>
                                        <p:tgtEl>
                                          <p:spTgt spid="3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3" st="3"/>
                                            </p:txEl>
                                          </p:spTgt>
                                        </p:tgtEl>
                                        <p:attrNameLst>
                                          <p:attrName>style.visibility</p:attrName>
                                        </p:attrNameLst>
                                      </p:cBhvr>
                                      <p:to>
                                        <p:strVal val="visible"/>
                                      </p:to>
                                    </p:set>
                                    <p:animEffect filter="fade" transition="in">
                                      <p:cBhvr>
                                        <p:cTn dur="500"/>
                                        <p:tgtEl>
                                          <p:spTgt spid="3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4" st="4"/>
                                            </p:txEl>
                                          </p:spTgt>
                                        </p:tgtEl>
                                        <p:attrNameLst>
                                          <p:attrName>style.visibility</p:attrName>
                                        </p:attrNameLst>
                                      </p:cBhvr>
                                      <p:to>
                                        <p:strVal val="visible"/>
                                      </p:to>
                                    </p:set>
                                    <p:animEffect filter="fade" transition="in">
                                      <p:cBhvr>
                                        <p:cTn dur="500"/>
                                        <p:tgtEl>
                                          <p:spTgt spid="3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5" st="5"/>
                                            </p:txEl>
                                          </p:spTgt>
                                        </p:tgtEl>
                                        <p:attrNameLst>
                                          <p:attrName>style.visibility</p:attrName>
                                        </p:attrNameLst>
                                      </p:cBhvr>
                                      <p:to>
                                        <p:strVal val="visible"/>
                                      </p:to>
                                    </p:set>
                                    <p:animEffect filter="fade" transition="in">
                                      <p:cBhvr>
                                        <p:cTn dur="500"/>
                                        <p:tgtEl>
                                          <p:spTgt spid="3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6" st="6"/>
                                            </p:txEl>
                                          </p:spTgt>
                                        </p:tgtEl>
                                        <p:attrNameLst>
                                          <p:attrName>style.visibility</p:attrName>
                                        </p:attrNameLst>
                                      </p:cBhvr>
                                      <p:to>
                                        <p:strVal val="visible"/>
                                      </p:to>
                                    </p:set>
                                    <p:animEffect filter="fade" transition="in">
                                      <p:cBhvr>
                                        <p:cTn dur="500"/>
                                        <p:tgtEl>
                                          <p:spTgt spid="3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xEl>
                                              <p:pRg end="7" st="7"/>
                                            </p:txEl>
                                          </p:spTgt>
                                        </p:tgtEl>
                                        <p:attrNameLst>
                                          <p:attrName>style.visibility</p:attrName>
                                        </p:attrNameLst>
                                      </p:cBhvr>
                                      <p:to>
                                        <p:strVal val="visible"/>
                                      </p:to>
                                    </p:set>
                                    <p:animEffect filter="fade" transition="in">
                                      <p:cBhvr>
                                        <p:cTn dur="500"/>
                                        <p:tgtEl>
                                          <p:spTgt spid="3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1"/>
          <p:cNvSpPr txBox="1"/>
          <p:nvPr>
            <p:ph type="title"/>
          </p:nvPr>
        </p:nvSpPr>
        <p:spPr>
          <a:xfrm>
            <a:off x="457200" y="-19050"/>
            <a:ext cx="8229600" cy="7048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if elif Statement</a:t>
            </a:r>
            <a:endParaRPr/>
          </a:p>
        </p:txBody>
      </p:sp>
      <p:sp>
        <p:nvSpPr>
          <p:cNvPr id="373" name="Google Shape;373;p41"/>
          <p:cNvSpPr txBox="1"/>
          <p:nvPr>
            <p:ph idx="1" type="body"/>
          </p:nvPr>
        </p:nvSpPr>
        <p:spPr>
          <a:xfrm>
            <a:off x="457200" y="666750"/>
            <a:ext cx="82296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To show a multi-way decision based on several conditions, we use if elif statement.</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if (condition_1)</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1</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elif (condition_2)</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2</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elif (condition_3)</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3</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elif (condition_n)</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n</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500"/>
                                        <p:tgtEl>
                                          <p:spTgt spid="3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animEffect filter="fade" transition="in">
                                      <p:cBhvr>
                                        <p:cTn dur="500"/>
                                        <p:tgtEl>
                                          <p:spTgt spid="3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animEffect filter="fade" transition="in">
                                      <p:cBhvr>
                                        <p:cTn dur="500"/>
                                        <p:tgtEl>
                                          <p:spTgt spid="3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animEffect filter="fade" transition="in">
                                      <p:cBhvr>
                                        <p:cTn dur="500"/>
                                        <p:tgtEl>
                                          <p:spTgt spid="3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4" st="4"/>
                                            </p:txEl>
                                          </p:spTgt>
                                        </p:tgtEl>
                                        <p:attrNameLst>
                                          <p:attrName>style.visibility</p:attrName>
                                        </p:attrNameLst>
                                      </p:cBhvr>
                                      <p:to>
                                        <p:strVal val="visible"/>
                                      </p:to>
                                    </p:set>
                                    <p:animEffect filter="fade" transition="in">
                                      <p:cBhvr>
                                        <p:cTn dur="500"/>
                                        <p:tgtEl>
                                          <p:spTgt spid="3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5" st="5"/>
                                            </p:txEl>
                                          </p:spTgt>
                                        </p:tgtEl>
                                        <p:attrNameLst>
                                          <p:attrName>style.visibility</p:attrName>
                                        </p:attrNameLst>
                                      </p:cBhvr>
                                      <p:to>
                                        <p:strVal val="visible"/>
                                      </p:to>
                                    </p:set>
                                    <p:animEffect filter="fade" transition="in">
                                      <p:cBhvr>
                                        <p:cTn dur="500"/>
                                        <p:tgtEl>
                                          <p:spTgt spid="3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6" st="6"/>
                                            </p:txEl>
                                          </p:spTgt>
                                        </p:tgtEl>
                                        <p:attrNameLst>
                                          <p:attrName>style.visibility</p:attrName>
                                        </p:attrNameLst>
                                      </p:cBhvr>
                                      <p:to>
                                        <p:strVal val="visible"/>
                                      </p:to>
                                    </p:set>
                                    <p:animEffect filter="fade" transition="in">
                                      <p:cBhvr>
                                        <p:cTn dur="500"/>
                                        <p:tgtEl>
                                          <p:spTgt spid="3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7" st="7"/>
                                            </p:txEl>
                                          </p:spTgt>
                                        </p:tgtEl>
                                        <p:attrNameLst>
                                          <p:attrName>style.visibility</p:attrName>
                                        </p:attrNameLst>
                                      </p:cBhvr>
                                      <p:to>
                                        <p:strVal val="visible"/>
                                      </p:to>
                                    </p:set>
                                    <p:animEffect filter="fade" transition="in">
                                      <p:cBhvr>
                                        <p:cTn dur="500"/>
                                        <p:tgtEl>
                                          <p:spTgt spid="3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8" st="8"/>
                                            </p:txEl>
                                          </p:spTgt>
                                        </p:tgtEl>
                                        <p:attrNameLst>
                                          <p:attrName>style.visibility</p:attrName>
                                        </p:attrNameLst>
                                      </p:cBhvr>
                                      <p:to>
                                        <p:strVal val="visible"/>
                                      </p:to>
                                    </p:set>
                                    <p:animEffect filter="fade" transition="in">
                                      <p:cBhvr>
                                        <p:cTn dur="500"/>
                                        <p:tgtEl>
                                          <p:spTgt spid="3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9" st="9"/>
                                            </p:txEl>
                                          </p:spTgt>
                                        </p:tgtEl>
                                        <p:attrNameLst>
                                          <p:attrName>style.visibility</p:attrName>
                                        </p:attrNameLst>
                                      </p:cBhvr>
                                      <p:to>
                                        <p:strVal val="visible"/>
                                      </p:to>
                                    </p:set>
                                    <p:animEffect filter="fade" transition="in">
                                      <p:cBhvr>
                                        <p:cTn dur="500"/>
                                        <p:tgtEl>
                                          <p:spTgt spid="37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ph type="title"/>
          </p:nvPr>
        </p:nvSpPr>
        <p:spPr>
          <a:xfrm>
            <a:off x="457200" y="-19050"/>
            <a:ext cx="8229600" cy="7048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if elif else Statement</a:t>
            </a:r>
            <a:endParaRPr/>
          </a:p>
        </p:txBody>
      </p:sp>
      <p:sp>
        <p:nvSpPr>
          <p:cNvPr id="379" name="Google Shape;379;p42"/>
          <p:cNvSpPr txBox="1"/>
          <p:nvPr>
            <p:ph idx="1" type="body"/>
          </p:nvPr>
        </p:nvSpPr>
        <p:spPr>
          <a:xfrm>
            <a:off x="457200" y="666750"/>
            <a:ext cx="8229600" cy="4343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To show a multi-way decision based on several conditions, we use if elif else statement.</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if (condition_1)</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1</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elif (condition_2)</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2</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elif (condition_3)</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3</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elif (condition_n)</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 n</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else</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Statements x</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0" st="0"/>
                                            </p:txEl>
                                          </p:spTgt>
                                        </p:tgtEl>
                                        <p:attrNameLst>
                                          <p:attrName>style.visibility</p:attrName>
                                        </p:attrNameLst>
                                      </p:cBhvr>
                                      <p:to>
                                        <p:strVal val="visible"/>
                                      </p:to>
                                    </p:set>
                                    <p:animEffect filter="fade" transition="in">
                                      <p:cBhvr>
                                        <p:cTn dur="500"/>
                                        <p:tgtEl>
                                          <p:spTgt spid="3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1" st="1"/>
                                            </p:txEl>
                                          </p:spTgt>
                                        </p:tgtEl>
                                        <p:attrNameLst>
                                          <p:attrName>style.visibility</p:attrName>
                                        </p:attrNameLst>
                                      </p:cBhvr>
                                      <p:to>
                                        <p:strVal val="visible"/>
                                      </p:to>
                                    </p:set>
                                    <p:animEffect filter="fade" transition="in">
                                      <p:cBhvr>
                                        <p:cTn dur="500"/>
                                        <p:tgtEl>
                                          <p:spTgt spid="3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2" st="2"/>
                                            </p:txEl>
                                          </p:spTgt>
                                        </p:tgtEl>
                                        <p:attrNameLst>
                                          <p:attrName>style.visibility</p:attrName>
                                        </p:attrNameLst>
                                      </p:cBhvr>
                                      <p:to>
                                        <p:strVal val="visible"/>
                                      </p:to>
                                    </p:set>
                                    <p:animEffect filter="fade" transition="in">
                                      <p:cBhvr>
                                        <p:cTn dur="500"/>
                                        <p:tgtEl>
                                          <p:spTgt spid="3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3" st="3"/>
                                            </p:txEl>
                                          </p:spTgt>
                                        </p:tgtEl>
                                        <p:attrNameLst>
                                          <p:attrName>style.visibility</p:attrName>
                                        </p:attrNameLst>
                                      </p:cBhvr>
                                      <p:to>
                                        <p:strVal val="visible"/>
                                      </p:to>
                                    </p:set>
                                    <p:animEffect filter="fade" transition="in">
                                      <p:cBhvr>
                                        <p:cTn dur="500"/>
                                        <p:tgtEl>
                                          <p:spTgt spid="3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4" st="4"/>
                                            </p:txEl>
                                          </p:spTgt>
                                        </p:tgtEl>
                                        <p:attrNameLst>
                                          <p:attrName>style.visibility</p:attrName>
                                        </p:attrNameLst>
                                      </p:cBhvr>
                                      <p:to>
                                        <p:strVal val="visible"/>
                                      </p:to>
                                    </p:set>
                                    <p:animEffect filter="fade" transition="in">
                                      <p:cBhvr>
                                        <p:cTn dur="500"/>
                                        <p:tgtEl>
                                          <p:spTgt spid="3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5" st="5"/>
                                            </p:txEl>
                                          </p:spTgt>
                                        </p:tgtEl>
                                        <p:attrNameLst>
                                          <p:attrName>style.visibility</p:attrName>
                                        </p:attrNameLst>
                                      </p:cBhvr>
                                      <p:to>
                                        <p:strVal val="visible"/>
                                      </p:to>
                                    </p:set>
                                    <p:animEffect filter="fade" transition="in">
                                      <p:cBhvr>
                                        <p:cTn dur="500"/>
                                        <p:tgtEl>
                                          <p:spTgt spid="3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6" st="6"/>
                                            </p:txEl>
                                          </p:spTgt>
                                        </p:tgtEl>
                                        <p:attrNameLst>
                                          <p:attrName>style.visibility</p:attrName>
                                        </p:attrNameLst>
                                      </p:cBhvr>
                                      <p:to>
                                        <p:strVal val="visible"/>
                                      </p:to>
                                    </p:set>
                                    <p:animEffect filter="fade" transition="in">
                                      <p:cBhvr>
                                        <p:cTn dur="500"/>
                                        <p:tgtEl>
                                          <p:spTgt spid="3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7" st="7"/>
                                            </p:txEl>
                                          </p:spTgt>
                                        </p:tgtEl>
                                        <p:attrNameLst>
                                          <p:attrName>style.visibility</p:attrName>
                                        </p:attrNameLst>
                                      </p:cBhvr>
                                      <p:to>
                                        <p:strVal val="visible"/>
                                      </p:to>
                                    </p:set>
                                    <p:animEffect filter="fade" transition="in">
                                      <p:cBhvr>
                                        <p:cTn dur="500"/>
                                        <p:tgtEl>
                                          <p:spTgt spid="3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8" st="8"/>
                                            </p:txEl>
                                          </p:spTgt>
                                        </p:tgtEl>
                                        <p:attrNameLst>
                                          <p:attrName>style.visibility</p:attrName>
                                        </p:attrNameLst>
                                      </p:cBhvr>
                                      <p:to>
                                        <p:strVal val="visible"/>
                                      </p:to>
                                    </p:set>
                                    <p:animEffect filter="fade" transition="in">
                                      <p:cBhvr>
                                        <p:cTn dur="500"/>
                                        <p:tgtEl>
                                          <p:spTgt spid="3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9" st="9"/>
                                            </p:txEl>
                                          </p:spTgt>
                                        </p:tgtEl>
                                        <p:attrNameLst>
                                          <p:attrName>style.visibility</p:attrName>
                                        </p:attrNameLst>
                                      </p:cBhvr>
                                      <p:to>
                                        <p:strVal val="visible"/>
                                      </p:to>
                                    </p:set>
                                    <p:animEffect filter="fade" transition="in">
                                      <p:cBhvr>
                                        <p:cTn dur="500"/>
                                        <p:tgtEl>
                                          <p:spTgt spid="37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10" st="10"/>
                                            </p:txEl>
                                          </p:spTgt>
                                        </p:tgtEl>
                                        <p:attrNameLst>
                                          <p:attrName>style.visibility</p:attrName>
                                        </p:attrNameLst>
                                      </p:cBhvr>
                                      <p:to>
                                        <p:strVal val="visible"/>
                                      </p:to>
                                    </p:set>
                                    <p:animEffect filter="fade" transition="in">
                                      <p:cBhvr>
                                        <p:cTn dur="500"/>
                                        <p:tgtEl>
                                          <p:spTgt spid="37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11" st="11"/>
                                            </p:txEl>
                                          </p:spTgt>
                                        </p:tgtEl>
                                        <p:attrNameLst>
                                          <p:attrName>style.visibility</p:attrName>
                                        </p:attrNameLst>
                                      </p:cBhvr>
                                      <p:to>
                                        <p:strVal val="visible"/>
                                      </p:to>
                                    </p:set>
                                    <p:animEffect filter="fade" transition="in">
                                      <p:cBhvr>
                                        <p:cTn dur="500"/>
                                        <p:tgtEl>
                                          <p:spTgt spid="37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cxnSp>
        <p:nvCxnSpPr>
          <p:cNvPr id="384" name="Google Shape;384;p43"/>
          <p:cNvCxnSpPr/>
          <p:nvPr/>
        </p:nvCxnSpPr>
        <p:spPr>
          <a:xfrm>
            <a:off x="1280725" y="0"/>
            <a:ext cx="0" cy="337771"/>
          </a:xfrm>
          <a:prstGeom prst="straightConnector1">
            <a:avLst/>
          </a:prstGeom>
          <a:noFill/>
          <a:ln cap="flat" cmpd="sng" w="9525">
            <a:solidFill>
              <a:srgbClr val="4A7DBA"/>
            </a:solidFill>
            <a:prstDash val="solid"/>
            <a:round/>
            <a:headEnd len="sm" w="sm" type="none"/>
            <a:tailEnd len="med" w="med" type="stealth"/>
          </a:ln>
        </p:spPr>
      </p:cxnSp>
      <p:sp>
        <p:nvSpPr>
          <p:cNvPr id="385" name="Google Shape;385;p43"/>
          <p:cNvSpPr/>
          <p:nvPr/>
        </p:nvSpPr>
        <p:spPr>
          <a:xfrm>
            <a:off x="304801" y="337771"/>
            <a:ext cx="1951849" cy="844427"/>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Condition_1 ?</a:t>
            </a:r>
            <a:endParaRPr/>
          </a:p>
        </p:txBody>
      </p:sp>
      <p:cxnSp>
        <p:nvCxnSpPr>
          <p:cNvPr id="386" name="Google Shape;386;p43"/>
          <p:cNvCxnSpPr>
            <a:stCxn id="385" idx="2"/>
          </p:cNvCxnSpPr>
          <p:nvPr/>
        </p:nvCxnSpPr>
        <p:spPr>
          <a:xfrm>
            <a:off x="1280726" y="1182198"/>
            <a:ext cx="0" cy="225300"/>
          </a:xfrm>
          <a:prstGeom prst="straightConnector1">
            <a:avLst/>
          </a:prstGeom>
          <a:noFill/>
          <a:ln cap="flat" cmpd="sng" w="9525">
            <a:solidFill>
              <a:srgbClr val="4A7DBA"/>
            </a:solidFill>
            <a:prstDash val="solid"/>
            <a:round/>
            <a:headEnd len="sm" w="sm" type="none"/>
            <a:tailEnd len="sm" w="sm" type="none"/>
          </a:ln>
        </p:spPr>
      </p:cxnSp>
      <p:cxnSp>
        <p:nvCxnSpPr>
          <p:cNvPr id="387" name="Google Shape;387;p43"/>
          <p:cNvCxnSpPr/>
          <p:nvPr/>
        </p:nvCxnSpPr>
        <p:spPr>
          <a:xfrm>
            <a:off x="1280725" y="1632558"/>
            <a:ext cx="0" cy="281476"/>
          </a:xfrm>
          <a:prstGeom prst="straightConnector1">
            <a:avLst/>
          </a:prstGeom>
          <a:noFill/>
          <a:ln cap="flat" cmpd="sng" w="9525">
            <a:solidFill>
              <a:srgbClr val="4A7DBA"/>
            </a:solidFill>
            <a:prstDash val="solid"/>
            <a:round/>
            <a:headEnd len="sm" w="sm" type="none"/>
            <a:tailEnd len="med" w="med" type="stealth"/>
          </a:ln>
        </p:spPr>
      </p:cxnSp>
      <p:sp>
        <p:nvSpPr>
          <p:cNvPr id="388" name="Google Shape;388;p43"/>
          <p:cNvSpPr txBox="1"/>
          <p:nvPr/>
        </p:nvSpPr>
        <p:spPr>
          <a:xfrm>
            <a:off x="1074277" y="1375668"/>
            <a:ext cx="400294"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True</a:t>
            </a:r>
            <a:endParaRPr/>
          </a:p>
        </p:txBody>
      </p:sp>
      <p:sp>
        <p:nvSpPr>
          <p:cNvPr id="389" name="Google Shape;389;p43"/>
          <p:cNvSpPr/>
          <p:nvPr/>
        </p:nvSpPr>
        <p:spPr>
          <a:xfrm>
            <a:off x="561623" y="1914034"/>
            <a:ext cx="1561091" cy="45036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Statement 1</a:t>
            </a:r>
            <a:endParaRPr/>
          </a:p>
        </p:txBody>
      </p:sp>
      <p:cxnSp>
        <p:nvCxnSpPr>
          <p:cNvPr id="390" name="Google Shape;390;p43"/>
          <p:cNvCxnSpPr>
            <a:stCxn id="385" idx="3"/>
          </p:cNvCxnSpPr>
          <p:nvPr/>
        </p:nvCxnSpPr>
        <p:spPr>
          <a:xfrm>
            <a:off x="2256650" y="759985"/>
            <a:ext cx="102600" cy="0"/>
          </a:xfrm>
          <a:prstGeom prst="straightConnector1">
            <a:avLst/>
          </a:prstGeom>
          <a:noFill/>
          <a:ln cap="flat" cmpd="sng" w="9525">
            <a:solidFill>
              <a:srgbClr val="4A7DBA"/>
            </a:solidFill>
            <a:prstDash val="solid"/>
            <a:round/>
            <a:headEnd len="sm" w="sm" type="none"/>
            <a:tailEnd len="sm" w="sm" type="none"/>
          </a:ln>
        </p:spPr>
      </p:cxnSp>
      <p:sp>
        <p:nvSpPr>
          <p:cNvPr id="391" name="Google Shape;391;p43"/>
          <p:cNvSpPr txBox="1"/>
          <p:nvPr/>
        </p:nvSpPr>
        <p:spPr>
          <a:xfrm>
            <a:off x="2359378" y="623557"/>
            <a:ext cx="430752"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False</a:t>
            </a:r>
            <a:endParaRPr/>
          </a:p>
        </p:txBody>
      </p:sp>
      <p:cxnSp>
        <p:nvCxnSpPr>
          <p:cNvPr id="392" name="Google Shape;392;p43"/>
          <p:cNvCxnSpPr/>
          <p:nvPr/>
        </p:nvCxnSpPr>
        <p:spPr>
          <a:xfrm>
            <a:off x="2803656" y="759984"/>
            <a:ext cx="120732" cy="1"/>
          </a:xfrm>
          <a:prstGeom prst="straightConnector1">
            <a:avLst/>
          </a:prstGeom>
          <a:noFill/>
          <a:ln cap="flat" cmpd="sng" w="9525">
            <a:solidFill>
              <a:srgbClr val="4A7DBA"/>
            </a:solidFill>
            <a:prstDash val="solid"/>
            <a:round/>
            <a:headEnd len="sm" w="sm" type="none"/>
            <a:tailEnd len="sm" w="sm" type="none"/>
          </a:ln>
        </p:spPr>
      </p:cxnSp>
      <p:sp>
        <p:nvSpPr>
          <p:cNvPr id="393" name="Google Shape;393;p43"/>
          <p:cNvSpPr/>
          <p:nvPr/>
        </p:nvSpPr>
        <p:spPr>
          <a:xfrm>
            <a:off x="1948463" y="896411"/>
            <a:ext cx="1951849" cy="844427"/>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Condition_2 ?</a:t>
            </a:r>
            <a:endParaRPr/>
          </a:p>
        </p:txBody>
      </p:sp>
      <p:cxnSp>
        <p:nvCxnSpPr>
          <p:cNvPr id="394" name="Google Shape;394;p43"/>
          <p:cNvCxnSpPr>
            <a:endCxn id="393" idx="0"/>
          </p:cNvCxnSpPr>
          <p:nvPr/>
        </p:nvCxnSpPr>
        <p:spPr>
          <a:xfrm>
            <a:off x="2924388" y="759911"/>
            <a:ext cx="0" cy="136500"/>
          </a:xfrm>
          <a:prstGeom prst="straightConnector1">
            <a:avLst/>
          </a:prstGeom>
          <a:noFill/>
          <a:ln cap="flat" cmpd="sng" w="9525">
            <a:solidFill>
              <a:srgbClr val="4A7DBA"/>
            </a:solidFill>
            <a:prstDash val="solid"/>
            <a:round/>
            <a:headEnd len="sm" w="sm" type="none"/>
            <a:tailEnd len="med" w="med" type="stealth"/>
          </a:ln>
        </p:spPr>
      </p:cxnSp>
      <p:cxnSp>
        <p:nvCxnSpPr>
          <p:cNvPr id="395" name="Google Shape;395;p43"/>
          <p:cNvCxnSpPr/>
          <p:nvPr/>
        </p:nvCxnSpPr>
        <p:spPr>
          <a:xfrm>
            <a:off x="2924387" y="1720564"/>
            <a:ext cx="0" cy="225181"/>
          </a:xfrm>
          <a:prstGeom prst="straightConnector1">
            <a:avLst/>
          </a:prstGeom>
          <a:noFill/>
          <a:ln cap="flat" cmpd="sng" w="9525">
            <a:solidFill>
              <a:srgbClr val="4A7DBA"/>
            </a:solidFill>
            <a:prstDash val="solid"/>
            <a:round/>
            <a:headEnd len="sm" w="sm" type="none"/>
            <a:tailEnd len="sm" w="sm" type="none"/>
          </a:ln>
        </p:spPr>
      </p:cxnSp>
      <p:cxnSp>
        <p:nvCxnSpPr>
          <p:cNvPr id="396" name="Google Shape;396;p43"/>
          <p:cNvCxnSpPr/>
          <p:nvPr/>
        </p:nvCxnSpPr>
        <p:spPr>
          <a:xfrm>
            <a:off x="2924387" y="2170925"/>
            <a:ext cx="0" cy="281476"/>
          </a:xfrm>
          <a:prstGeom prst="straightConnector1">
            <a:avLst/>
          </a:prstGeom>
          <a:noFill/>
          <a:ln cap="flat" cmpd="sng" w="9525">
            <a:solidFill>
              <a:srgbClr val="4A7DBA"/>
            </a:solidFill>
            <a:prstDash val="solid"/>
            <a:round/>
            <a:headEnd len="sm" w="sm" type="none"/>
            <a:tailEnd len="med" w="med" type="stealth"/>
          </a:ln>
        </p:spPr>
      </p:cxnSp>
      <p:sp>
        <p:nvSpPr>
          <p:cNvPr id="397" name="Google Shape;397;p43"/>
          <p:cNvSpPr txBox="1"/>
          <p:nvPr/>
        </p:nvSpPr>
        <p:spPr>
          <a:xfrm>
            <a:off x="2717939" y="1914034"/>
            <a:ext cx="400294"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True</a:t>
            </a:r>
            <a:endParaRPr/>
          </a:p>
        </p:txBody>
      </p:sp>
      <p:sp>
        <p:nvSpPr>
          <p:cNvPr id="398" name="Google Shape;398;p43"/>
          <p:cNvSpPr/>
          <p:nvPr/>
        </p:nvSpPr>
        <p:spPr>
          <a:xfrm>
            <a:off x="2205285" y="2452401"/>
            <a:ext cx="1550286" cy="45036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Statement 2</a:t>
            </a:r>
            <a:endParaRPr/>
          </a:p>
        </p:txBody>
      </p:sp>
      <p:cxnSp>
        <p:nvCxnSpPr>
          <p:cNvPr id="399" name="Google Shape;399;p43"/>
          <p:cNvCxnSpPr/>
          <p:nvPr/>
        </p:nvCxnSpPr>
        <p:spPr>
          <a:xfrm>
            <a:off x="3935871" y="1315046"/>
            <a:ext cx="102729" cy="0"/>
          </a:xfrm>
          <a:prstGeom prst="straightConnector1">
            <a:avLst/>
          </a:prstGeom>
          <a:noFill/>
          <a:ln cap="flat" cmpd="sng" w="9525">
            <a:solidFill>
              <a:srgbClr val="4A7DBA"/>
            </a:solidFill>
            <a:prstDash val="solid"/>
            <a:round/>
            <a:headEnd len="sm" w="sm" type="none"/>
            <a:tailEnd len="sm" w="sm" type="none"/>
          </a:ln>
        </p:spPr>
      </p:cxnSp>
      <p:sp>
        <p:nvSpPr>
          <p:cNvPr id="400" name="Google Shape;400;p43"/>
          <p:cNvSpPr txBox="1"/>
          <p:nvPr/>
        </p:nvSpPr>
        <p:spPr>
          <a:xfrm>
            <a:off x="4036656" y="1178619"/>
            <a:ext cx="430752"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False</a:t>
            </a:r>
            <a:endParaRPr/>
          </a:p>
        </p:txBody>
      </p:sp>
      <p:sp>
        <p:nvSpPr>
          <p:cNvPr id="401" name="Google Shape;401;p43"/>
          <p:cNvSpPr/>
          <p:nvPr/>
        </p:nvSpPr>
        <p:spPr>
          <a:xfrm>
            <a:off x="3625741" y="1451474"/>
            <a:ext cx="1951849" cy="844427"/>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Condition_3 ?</a:t>
            </a:r>
            <a:endParaRPr/>
          </a:p>
        </p:txBody>
      </p:sp>
      <p:cxnSp>
        <p:nvCxnSpPr>
          <p:cNvPr id="402" name="Google Shape;402;p43"/>
          <p:cNvCxnSpPr/>
          <p:nvPr/>
        </p:nvCxnSpPr>
        <p:spPr>
          <a:xfrm>
            <a:off x="4601665" y="1315046"/>
            <a:ext cx="0" cy="136428"/>
          </a:xfrm>
          <a:prstGeom prst="straightConnector1">
            <a:avLst/>
          </a:prstGeom>
          <a:noFill/>
          <a:ln cap="flat" cmpd="sng" w="9525">
            <a:solidFill>
              <a:srgbClr val="4A7DBA"/>
            </a:solidFill>
            <a:prstDash val="solid"/>
            <a:round/>
            <a:headEnd len="sm" w="sm" type="none"/>
            <a:tailEnd len="med" w="med" type="stealth"/>
          </a:ln>
        </p:spPr>
      </p:cxnSp>
      <p:cxnSp>
        <p:nvCxnSpPr>
          <p:cNvPr id="403" name="Google Shape;403;p43"/>
          <p:cNvCxnSpPr/>
          <p:nvPr/>
        </p:nvCxnSpPr>
        <p:spPr>
          <a:xfrm>
            <a:off x="4601665" y="2275626"/>
            <a:ext cx="0" cy="225181"/>
          </a:xfrm>
          <a:prstGeom prst="straightConnector1">
            <a:avLst/>
          </a:prstGeom>
          <a:noFill/>
          <a:ln cap="flat" cmpd="sng" w="9525">
            <a:solidFill>
              <a:srgbClr val="4A7DBA"/>
            </a:solidFill>
            <a:prstDash val="solid"/>
            <a:round/>
            <a:headEnd len="sm" w="sm" type="none"/>
            <a:tailEnd len="sm" w="sm" type="none"/>
          </a:ln>
        </p:spPr>
      </p:cxnSp>
      <p:cxnSp>
        <p:nvCxnSpPr>
          <p:cNvPr id="404" name="Google Shape;404;p43"/>
          <p:cNvCxnSpPr/>
          <p:nvPr/>
        </p:nvCxnSpPr>
        <p:spPr>
          <a:xfrm>
            <a:off x="4601665" y="2725987"/>
            <a:ext cx="0" cy="281476"/>
          </a:xfrm>
          <a:prstGeom prst="straightConnector1">
            <a:avLst/>
          </a:prstGeom>
          <a:noFill/>
          <a:ln cap="flat" cmpd="sng" w="9525">
            <a:solidFill>
              <a:srgbClr val="4A7DBA"/>
            </a:solidFill>
            <a:prstDash val="solid"/>
            <a:round/>
            <a:headEnd len="sm" w="sm" type="none"/>
            <a:tailEnd len="med" w="med" type="stealth"/>
          </a:ln>
        </p:spPr>
      </p:cxnSp>
      <p:sp>
        <p:nvSpPr>
          <p:cNvPr id="405" name="Google Shape;405;p43"/>
          <p:cNvSpPr txBox="1"/>
          <p:nvPr/>
        </p:nvSpPr>
        <p:spPr>
          <a:xfrm>
            <a:off x="4395217" y="2469097"/>
            <a:ext cx="400294"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True</a:t>
            </a:r>
            <a:endParaRPr/>
          </a:p>
        </p:txBody>
      </p:sp>
      <p:sp>
        <p:nvSpPr>
          <p:cNvPr id="406" name="Google Shape;406;p43"/>
          <p:cNvSpPr/>
          <p:nvPr/>
        </p:nvSpPr>
        <p:spPr>
          <a:xfrm>
            <a:off x="3882563" y="3007463"/>
            <a:ext cx="1560294" cy="45036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Statement 3</a:t>
            </a:r>
            <a:endParaRPr/>
          </a:p>
        </p:txBody>
      </p:sp>
      <p:cxnSp>
        <p:nvCxnSpPr>
          <p:cNvPr id="407" name="Google Shape;407;p43"/>
          <p:cNvCxnSpPr/>
          <p:nvPr/>
        </p:nvCxnSpPr>
        <p:spPr>
          <a:xfrm>
            <a:off x="7245128" y="2412054"/>
            <a:ext cx="102729" cy="0"/>
          </a:xfrm>
          <a:prstGeom prst="straightConnector1">
            <a:avLst/>
          </a:prstGeom>
          <a:noFill/>
          <a:ln cap="flat" cmpd="sng" w="9525">
            <a:solidFill>
              <a:srgbClr val="4A7DBA"/>
            </a:solidFill>
            <a:prstDash val="solid"/>
            <a:round/>
            <a:headEnd len="sm" w="sm" type="none"/>
            <a:tailEnd len="sm" w="sm" type="none"/>
          </a:ln>
        </p:spPr>
      </p:cxnSp>
      <p:sp>
        <p:nvSpPr>
          <p:cNvPr id="408" name="Google Shape;408;p43"/>
          <p:cNvSpPr txBox="1"/>
          <p:nvPr/>
        </p:nvSpPr>
        <p:spPr>
          <a:xfrm>
            <a:off x="7347857" y="2275627"/>
            <a:ext cx="430752"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False</a:t>
            </a:r>
            <a:endParaRPr/>
          </a:p>
        </p:txBody>
      </p:sp>
      <p:sp>
        <p:nvSpPr>
          <p:cNvPr id="409" name="Google Shape;409;p43"/>
          <p:cNvSpPr/>
          <p:nvPr/>
        </p:nvSpPr>
        <p:spPr>
          <a:xfrm>
            <a:off x="5287151" y="1994150"/>
            <a:ext cx="1951849" cy="844427"/>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Condition_n ?</a:t>
            </a:r>
            <a:endParaRPr/>
          </a:p>
        </p:txBody>
      </p:sp>
      <p:cxnSp>
        <p:nvCxnSpPr>
          <p:cNvPr id="410" name="Google Shape;410;p43"/>
          <p:cNvCxnSpPr/>
          <p:nvPr/>
        </p:nvCxnSpPr>
        <p:spPr>
          <a:xfrm>
            <a:off x="7912866" y="2412054"/>
            <a:ext cx="0" cy="136428"/>
          </a:xfrm>
          <a:prstGeom prst="straightConnector1">
            <a:avLst/>
          </a:prstGeom>
          <a:noFill/>
          <a:ln cap="flat" cmpd="sng" w="9525">
            <a:solidFill>
              <a:srgbClr val="4A7DBA"/>
            </a:solidFill>
            <a:prstDash val="solid"/>
            <a:round/>
            <a:headEnd len="sm" w="sm" type="none"/>
            <a:tailEnd len="med" w="med" type="stealth"/>
          </a:ln>
        </p:spPr>
      </p:cxnSp>
      <p:cxnSp>
        <p:nvCxnSpPr>
          <p:cNvPr id="411" name="Google Shape;411;p43"/>
          <p:cNvCxnSpPr/>
          <p:nvPr/>
        </p:nvCxnSpPr>
        <p:spPr>
          <a:xfrm>
            <a:off x="6263076" y="2818303"/>
            <a:ext cx="0" cy="225181"/>
          </a:xfrm>
          <a:prstGeom prst="straightConnector1">
            <a:avLst/>
          </a:prstGeom>
          <a:noFill/>
          <a:ln cap="flat" cmpd="sng" w="9525">
            <a:solidFill>
              <a:srgbClr val="4A7DBA"/>
            </a:solidFill>
            <a:prstDash val="solid"/>
            <a:round/>
            <a:headEnd len="sm" w="sm" type="none"/>
            <a:tailEnd len="sm" w="sm" type="none"/>
          </a:ln>
        </p:spPr>
      </p:cxnSp>
      <p:cxnSp>
        <p:nvCxnSpPr>
          <p:cNvPr id="412" name="Google Shape;412;p43"/>
          <p:cNvCxnSpPr/>
          <p:nvPr/>
        </p:nvCxnSpPr>
        <p:spPr>
          <a:xfrm>
            <a:off x="6263076" y="3268664"/>
            <a:ext cx="0" cy="281476"/>
          </a:xfrm>
          <a:prstGeom prst="straightConnector1">
            <a:avLst/>
          </a:prstGeom>
          <a:noFill/>
          <a:ln cap="flat" cmpd="sng" w="9525">
            <a:solidFill>
              <a:srgbClr val="4A7DBA"/>
            </a:solidFill>
            <a:prstDash val="solid"/>
            <a:round/>
            <a:headEnd len="sm" w="sm" type="none"/>
            <a:tailEnd len="med" w="med" type="stealth"/>
          </a:ln>
        </p:spPr>
      </p:cxnSp>
      <p:sp>
        <p:nvSpPr>
          <p:cNvPr id="413" name="Google Shape;413;p43"/>
          <p:cNvSpPr txBox="1"/>
          <p:nvPr/>
        </p:nvSpPr>
        <p:spPr>
          <a:xfrm>
            <a:off x="6056628" y="3011773"/>
            <a:ext cx="400294"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True</a:t>
            </a:r>
            <a:endParaRPr/>
          </a:p>
        </p:txBody>
      </p:sp>
      <p:sp>
        <p:nvSpPr>
          <p:cNvPr id="414" name="Google Shape;414;p43"/>
          <p:cNvSpPr/>
          <p:nvPr/>
        </p:nvSpPr>
        <p:spPr>
          <a:xfrm>
            <a:off x="5442857" y="3550140"/>
            <a:ext cx="1539321" cy="45036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Statement n</a:t>
            </a:r>
            <a:endParaRPr/>
          </a:p>
        </p:txBody>
      </p:sp>
      <p:cxnSp>
        <p:nvCxnSpPr>
          <p:cNvPr id="415" name="Google Shape;415;p43"/>
          <p:cNvCxnSpPr/>
          <p:nvPr/>
        </p:nvCxnSpPr>
        <p:spPr>
          <a:xfrm>
            <a:off x="4477936" y="1314450"/>
            <a:ext cx="146086" cy="1"/>
          </a:xfrm>
          <a:prstGeom prst="straightConnector1">
            <a:avLst/>
          </a:prstGeom>
          <a:noFill/>
          <a:ln cap="flat" cmpd="sng" w="9525">
            <a:solidFill>
              <a:srgbClr val="4A7DBA"/>
            </a:solidFill>
            <a:prstDash val="solid"/>
            <a:round/>
            <a:headEnd len="sm" w="sm" type="none"/>
            <a:tailEnd len="sm" w="sm" type="none"/>
          </a:ln>
        </p:spPr>
      </p:cxnSp>
      <p:cxnSp>
        <p:nvCxnSpPr>
          <p:cNvPr id="416" name="Google Shape;416;p43"/>
          <p:cNvCxnSpPr/>
          <p:nvPr/>
        </p:nvCxnSpPr>
        <p:spPr>
          <a:xfrm>
            <a:off x="7804068" y="2414592"/>
            <a:ext cx="120732" cy="1"/>
          </a:xfrm>
          <a:prstGeom prst="straightConnector1">
            <a:avLst/>
          </a:prstGeom>
          <a:noFill/>
          <a:ln cap="flat" cmpd="sng" w="9525">
            <a:solidFill>
              <a:srgbClr val="4A7DBA"/>
            </a:solidFill>
            <a:prstDash val="solid"/>
            <a:round/>
            <a:headEnd len="sm" w="sm" type="none"/>
            <a:tailEnd len="sm" w="sm" type="none"/>
          </a:ln>
        </p:spPr>
      </p:cxnSp>
      <p:sp>
        <p:nvSpPr>
          <p:cNvPr id="417" name="Google Shape;417;p43"/>
          <p:cNvSpPr/>
          <p:nvPr/>
        </p:nvSpPr>
        <p:spPr>
          <a:xfrm>
            <a:off x="7143205" y="2548497"/>
            <a:ext cx="1539321" cy="45036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050">
                <a:solidFill>
                  <a:schemeClr val="dk1"/>
                </a:solidFill>
                <a:latin typeface="Times New Roman"/>
                <a:ea typeface="Times New Roman"/>
                <a:cs typeface="Times New Roman"/>
                <a:sym typeface="Times New Roman"/>
              </a:rPr>
              <a:t>Statement x</a:t>
            </a:r>
            <a:endParaRPr/>
          </a:p>
        </p:txBody>
      </p:sp>
      <p:cxnSp>
        <p:nvCxnSpPr>
          <p:cNvPr id="418" name="Google Shape;418;p43"/>
          <p:cNvCxnSpPr>
            <a:stCxn id="389" idx="2"/>
          </p:cNvCxnSpPr>
          <p:nvPr/>
        </p:nvCxnSpPr>
        <p:spPr>
          <a:xfrm>
            <a:off x="1342169" y="2364395"/>
            <a:ext cx="0" cy="2150400"/>
          </a:xfrm>
          <a:prstGeom prst="straightConnector1">
            <a:avLst/>
          </a:prstGeom>
          <a:noFill/>
          <a:ln cap="flat" cmpd="sng" w="9525">
            <a:solidFill>
              <a:srgbClr val="4A7DBA"/>
            </a:solidFill>
            <a:prstDash val="solid"/>
            <a:round/>
            <a:headEnd len="sm" w="sm" type="none"/>
            <a:tailEnd len="med" w="med" type="stealth"/>
          </a:ln>
        </p:spPr>
      </p:cxnSp>
      <p:cxnSp>
        <p:nvCxnSpPr>
          <p:cNvPr id="419" name="Google Shape;419;p43"/>
          <p:cNvCxnSpPr>
            <a:stCxn id="417" idx="2"/>
          </p:cNvCxnSpPr>
          <p:nvPr/>
        </p:nvCxnSpPr>
        <p:spPr>
          <a:xfrm>
            <a:off x="7912866" y="2998858"/>
            <a:ext cx="0" cy="1515900"/>
          </a:xfrm>
          <a:prstGeom prst="straightConnector1">
            <a:avLst/>
          </a:prstGeom>
          <a:noFill/>
          <a:ln cap="flat" cmpd="sng" w="9525">
            <a:solidFill>
              <a:srgbClr val="4A7DBA"/>
            </a:solidFill>
            <a:prstDash val="solid"/>
            <a:round/>
            <a:headEnd len="sm" w="sm" type="none"/>
            <a:tailEnd len="med" w="med" type="stealth"/>
          </a:ln>
        </p:spPr>
      </p:cxnSp>
      <p:cxnSp>
        <p:nvCxnSpPr>
          <p:cNvPr id="420" name="Google Shape;420;p43"/>
          <p:cNvCxnSpPr/>
          <p:nvPr/>
        </p:nvCxnSpPr>
        <p:spPr>
          <a:xfrm>
            <a:off x="1342169" y="4514850"/>
            <a:ext cx="6566907" cy="0"/>
          </a:xfrm>
          <a:prstGeom prst="straightConnector1">
            <a:avLst/>
          </a:prstGeom>
          <a:noFill/>
          <a:ln cap="flat" cmpd="sng" w="9525">
            <a:solidFill>
              <a:srgbClr val="4A7DBA"/>
            </a:solidFill>
            <a:prstDash val="solid"/>
            <a:round/>
            <a:headEnd len="sm" w="sm" type="none"/>
            <a:tailEnd len="sm" w="sm" type="none"/>
          </a:ln>
        </p:spPr>
      </p:cxnSp>
      <p:cxnSp>
        <p:nvCxnSpPr>
          <p:cNvPr id="421" name="Google Shape;421;p43"/>
          <p:cNvCxnSpPr/>
          <p:nvPr/>
        </p:nvCxnSpPr>
        <p:spPr>
          <a:xfrm flipH="1">
            <a:off x="2971799" y="2902761"/>
            <a:ext cx="1" cy="1612089"/>
          </a:xfrm>
          <a:prstGeom prst="straightConnector1">
            <a:avLst/>
          </a:prstGeom>
          <a:noFill/>
          <a:ln cap="flat" cmpd="sng" w="9525">
            <a:solidFill>
              <a:srgbClr val="4A7DBA"/>
            </a:solidFill>
            <a:prstDash val="solid"/>
            <a:round/>
            <a:headEnd len="sm" w="sm" type="none"/>
            <a:tailEnd len="med" w="med" type="stealth"/>
          </a:ln>
        </p:spPr>
      </p:cxnSp>
      <p:cxnSp>
        <p:nvCxnSpPr>
          <p:cNvPr id="422" name="Google Shape;422;p43"/>
          <p:cNvCxnSpPr>
            <a:stCxn id="406" idx="2"/>
          </p:cNvCxnSpPr>
          <p:nvPr/>
        </p:nvCxnSpPr>
        <p:spPr>
          <a:xfrm>
            <a:off x="4662710" y="3457824"/>
            <a:ext cx="0" cy="1056900"/>
          </a:xfrm>
          <a:prstGeom prst="straightConnector1">
            <a:avLst/>
          </a:prstGeom>
          <a:noFill/>
          <a:ln cap="flat" cmpd="sng" w="9525">
            <a:solidFill>
              <a:srgbClr val="4A7DBA"/>
            </a:solidFill>
            <a:prstDash val="solid"/>
            <a:round/>
            <a:headEnd len="sm" w="sm" type="none"/>
            <a:tailEnd len="med" w="med" type="stealth"/>
          </a:ln>
        </p:spPr>
      </p:cxnSp>
      <p:cxnSp>
        <p:nvCxnSpPr>
          <p:cNvPr id="423" name="Google Shape;423;p43"/>
          <p:cNvCxnSpPr/>
          <p:nvPr/>
        </p:nvCxnSpPr>
        <p:spPr>
          <a:xfrm flipH="1">
            <a:off x="6259285" y="4000500"/>
            <a:ext cx="1" cy="514350"/>
          </a:xfrm>
          <a:prstGeom prst="straightConnector1">
            <a:avLst/>
          </a:prstGeom>
          <a:noFill/>
          <a:ln cap="flat" cmpd="sng" w="9525">
            <a:solidFill>
              <a:srgbClr val="4A7DBA"/>
            </a:solidFill>
            <a:prstDash val="solid"/>
            <a:round/>
            <a:headEnd len="sm" w="sm" type="none"/>
            <a:tailEnd len="med" w="med" type="stealth"/>
          </a:ln>
        </p:spPr>
      </p:cxnSp>
      <p:cxnSp>
        <p:nvCxnSpPr>
          <p:cNvPr id="424" name="Google Shape;424;p43"/>
          <p:cNvCxnSpPr/>
          <p:nvPr/>
        </p:nvCxnSpPr>
        <p:spPr>
          <a:xfrm>
            <a:off x="4036656" y="4514850"/>
            <a:ext cx="0" cy="266700"/>
          </a:xfrm>
          <a:prstGeom prst="straightConnector1">
            <a:avLst/>
          </a:prstGeom>
          <a:noFill/>
          <a:ln cap="flat" cmpd="sng" w="9525">
            <a:solidFill>
              <a:srgbClr val="4A7DBA"/>
            </a:solidFill>
            <a:prstDash val="solid"/>
            <a:round/>
            <a:headEnd len="sm" w="sm" type="none"/>
            <a:tailEnd len="med" w="med" type="stealth"/>
          </a:ln>
        </p:spPr>
      </p:cxnSp>
      <p:cxnSp>
        <p:nvCxnSpPr>
          <p:cNvPr id="425" name="Google Shape;425;p43"/>
          <p:cNvCxnSpPr/>
          <p:nvPr/>
        </p:nvCxnSpPr>
        <p:spPr>
          <a:xfrm>
            <a:off x="5555487" y="1873688"/>
            <a:ext cx="102729" cy="0"/>
          </a:xfrm>
          <a:prstGeom prst="straightConnector1">
            <a:avLst/>
          </a:prstGeom>
          <a:noFill/>
          <a:ln cap="flat" cmpd="sng" w="9525">
            <a:solidFill>
              <a:srgbClr val="4A7DBA"/>
            </a:solidFill>
            <a:prstDash val="solid"/>
            <a:round/>
            <a:headEnd len="sm" w="sm" type="none"/>
            <a:tailEnd len="sm" w="sm" type="none"/>
          </a:ln>
        </p:spPr>
      </p:cxnSp>
      <p:sp>
        <p:nvSpPr>
          <p:cNvPr id="426" name="Google Shape;426;p43"/>
          <p:cNvSpPr txBox="1"/>
          <p:nvPr/>
        </p:nvSpPr>
        <p:spPr>
          <a:xfrm>
            <a:off x="5658216" y="1737260"/>
            <a:ext cx="430752" cy="236376"/>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050">
                <a:solidFill>
                  <a:schemeClr val="dk1"/>
                </a:solidFill>
                <a:latin typeface="Times New Roman"/>
                <a:ea typeface="Times New Roman"/>
                <a:cs typeface="Times New Roman"/>
                <a:sym typeface="Times New Roman"/>
              </a:rPr>
              <a:t>False</a:t>
            </a:r>
            <a:endParaRPr/>
          </a:p>
        </p:txBody>
      </p:sp>
      <p:cxnSp>
        <p:nvCxnSpPr>
          <p:cNvPr id="427" name="Google Shape;427;p43"/>
          <p:cNvCxnSpPr/>
          <p:nvPr/>
        </p:nvCxnSpPr>
        <p:spPr>
          <a:xfrm>
            <a:off x="6259286" y="1863822"/>
            <a:ext cx="0" cy="136428"/>
          </a:xfrm>
          <a:prstGeom prst="straightConnector1">
            <a:avLst/>
          </a:prstGeom>
          <a:noFill/>
          <a:ln cap="flat" cmpd="sng" w="9525">
            <a:solidFill>
              <a:srgbClr val="4A7DBA"/>
            </a:solidFill>
            <a:prstDash val="solid"/>
            <a:round/>
            <a:headEnd len="sm" w="sm" type="none"/>
            <a:tailEnd len="med" w="med" type="stealth"/>
          </a:ln>
        </p:spPr>
      </p:cxnSp>
      <p:cxnSp>
        <p:nvCxnSpPr>
          <p:cNvPr id="428" name="Google Shape;428;p43"/>
          <p:cNvCxnSpPr/>
          <p:nvPr/>
        </p:nvCxnSpPr>
        <p:spPr>
          <a:xfrm>
            <a:off x="6084703" y="1873091"/>
            <a:ext cx="174582" cy="1"/>
          </a:xfrm>
          <a:prstGeom prst="straightConnector1">
            <a:avLst/>
          </a:prstGeom>
          <a:noFill/>
          <a:ln cap="flat" cmpd="sng" w="9525">
            <a:solidFill>
              <a:srgbClr val="4A7DBA"/>
            </a:solidFill>
            <a:prstDash val="solid"/>
            <a:round/>
            <a:headEnd len="sm" w="sm" type="none"/>
            <a:tailEnd len="sm" w="sm" type="none"/>
          </a:ln>
        </p:spPr>
      </p:cxnSp>
      <p:sp>
        <p:nvSpPr>
          <p:cNvPr id="429" name="Google Shape;429;p43"/>
          <p:cNvSpPr txBox="1"/>
          <p:nvPr/>
        </p:nvSpPr>
        <p:spPr>
          <a:xfrm>
            <a:off x="3595850" y="4476750"/>
            <a:ext cx="44275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Exit</a:t>
            </a:r>
            <a:endParaRPr/>
          </a:p>
        </p:txBody>
      </p:sp>
      <p:sp>
        <p:nvSpPr>
          <p:cNvPr id="430" name="Google Shape;430;p43"/>
          <p:cNvSpPr txBox="1"/>
          <p:nvPr/>
        </p:nvSpPr>
        <p:spPr>
          <a:xfrm>
            <a:off x="3352800" y="4781550"/>
            <a:ext cx="1388522" cy="307777"/>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RK</dc:creator>
</cp:coreProperties>
</file>