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9863AA-7FE6-4E6B-9C90-F6EE363AD7F9}">
  <a:tblStyle styleId="{899863AA-7FE6-4E6B-9C90-F6EE363AD7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2a33f4b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82a33f4b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a33f4be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2a33f4b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2a33f4be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82a33f4be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2a33f4be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82a33f4bee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2a33f4b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2a33f4bee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2a33f4be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82a33f4be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2a33f4b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82a33f4be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2a33f4b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2a33f4bee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2a33f4be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82a33f4be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2a33f4be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2a33f4b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2a33f4bee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2a33f4b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2a33f4bee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2a33f4be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2a33f4be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2a33f4b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2a33f4be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2a33f4be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2a33f4bee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2a33f4be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2a33f4bee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2a33f4be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2a33f4bee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2a33f4be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2a33f4bee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2a33f4be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2a33f4be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2a33f4be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2a33f4bee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2a33f4be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94113b3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94113b3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4113b39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94113b39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94113b3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94113b3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94113b3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94113b3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2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" u="sng">
                <a:latin typeface="Times New Roman"/>
                <a:ea typeface="Times New Roman"/>
                <a:cs typeface="Times New Roman"/>
                <a:sym typeface="Times New Roman"/>
              </a:rPr>
              <a:t>Directory</a:t>
            </a:r>
            <a:endParaRPr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8953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os module – This module is used to perform simple operation on directories. This module represents operating system dependent functionality.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import os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7475"/>
            <a:ext cx="8229600" cy="442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7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import os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Get current working directory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print("Current Directory:", os.getcwd())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List all files and folders in current directory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print("Files &amp; Folders:", os.listdir())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Create a new directory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os.mkdir("test_folder")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print("Created folder: test_folder")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Rename a directory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os.rename("test_folder", "renamed_folder")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print("Renamed 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Remove a directory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os.rmdir("renamed_folder")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print("Removed folder")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Check if a file/folder exists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print("Does file exist?", os.path.exists("data.csv"))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Join paths (safe for Windows/Linux)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path = os.path.join(os.getcwd(), "example.txt")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print("Full path:", path)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" sz="4000" u="sng"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57200" y="8953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An exception is a runtime error which can be handled by the programmer.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All exceptions are represented as classes in Python.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" sz="2000" u="sng">
                <a:latin typeface="Times New Roman"/>
                <a:ea typeface="Times New Roman"/>
                <a:cs typeface="Times New Roman"/>
                <a:sym typeface="Times New Roman"/>
              </a:rPr>
              <a:t>Type of Exception:-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Built-in Exception – Exceptions which are already available in Python Language. The base class for all built-in exceptions is BaseException class.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User Defined Exception – A programmer can create his own exceptions, called user-defined exceptions.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" sz="4000" u="sng">
                <a:latin typeface="Times New Roman"/>
                <a:ea typeface="Times New Roman"/>
                <a:cs typeface="Times New Roman"/>
                <a:sym typeface="Times New Roman"/>
              </a:rPr>
              <a:t>Need of Exception Handling</a:t>
            </a:r>
            <a:endParaRPr b="1" sz="4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57200" y="895350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When an exception occurs, the program terminates suddenly.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Suddenly termination of program may corrupt the program.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Exception may cause data loss from the database or a file.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625075"/>
            <a:ext cx="3329100" cy="25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try: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 x = 5 / 1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except ZeroDivisionError: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 print("❌ Cannot divide by zero")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else: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 print("✅ Division successful:", x)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finally: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   print("🔚 Done")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42857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4915175" y="625075"/>
            <a:ext cx="3000000" cy="126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print(10 / 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 Exception as 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print("⚠️ Error:", 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4969525" y="2511950"/>
            <a:ext cx="3000000" cy="136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" sz="1100">
                <a:solidFill>
                  <a:schemeClr val="dk1"/>
                </a:solidFill>
              </a:rPr>
              <a:t> → risky code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" sz="1100">
                <a:solidFill>
                  <a:schemeClr val="dk1"/>
                </a:solidFill>
              </a:rPr>
              <a:t> → handles error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chemeClr val="dk1"/>
                </a:solidFill>
              </a:rPr>
              <a:t> → runs if no error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" sz="1100">
                <a:solidFill>
                  <a:schemeClr val="dk1"/>
                </a:solidFill>
              </a:rPr>
              <a:t> → always runs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" sz="4000" u="sng">
                <a:latin typeface="Times New Roman"/>
                <a:ea typeface="Times New Roman"/>
                <a:cs typeface="Times New Roman"/>
                <a:sym typeface="Times New Roman"/>
              </a:rPr>
              <a:t>User Defined Exception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8953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 programmer can create his own exceptions, called user-defined exceptions or Custom Exception.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Creating Exception Class using Exception Class as a Base Class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Raising Exception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Handling Exception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" sz="4000" u="sng">
                <a:latin typeface="Times New Roman"/>
                <a:ea typeface="Times New Roman"/>
                <a:cs typeface="Times New Roman"/>
                <a:sym typeface="Times New Roman"/>
              </a:rPr>
              <a:t>Creating Exception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8953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We can create our own exception by creating a sub class to built-in Exception class.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class MyException(Exception):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pass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class MyException(Exception):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def __init__(self, arg):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	self.msg = arg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381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" sz="4000" u="sng">
                <a:latin typeface="Times New Roman"/>
                <a:ea typeface="Times New Roman"/>
                <a:cs typeface="Times New Roman"/>
                <a:sym typeface="Times New Roman"/>
              </a:rPr>
              <a:t>Handling Exception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8953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Using try and except block Programmer can handle exceptions.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try: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statement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except MyException as mye: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statement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101596"/>
            <a:ext cx="7886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" sz="3000" u="sng">
                <a:latin typeface="Times New Roman"/>
                <a:ea typeface="Times New Roman"/>
                <a:cs typeface="Times New Roman"/>
                <a:sym typeface="Times New Roman"/>
              </a:rPr>
              <a:t>Logging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8650" y="77232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Logging is a way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track events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that happen while your program runs.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Instead of using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, you use the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logging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module, which gives you more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control, levels, and formatting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Useful for debugging, auditing, error tracking, 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800">
                <a:latin typeface="Arial"/>
                <a:ea typeface="Arial"/>
                <a:cs typeface="Arial"/>
                <a:sym typeface="Arial"/>
              </a:rPr>
              <a:t>Basic Example</a:t>
            </a:r>
            <a:endParaRPr b="1" sz="3800"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628650" y="1044075"/>
            <a:ext cx="2994600" cy="3263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import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Configure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logging.basicConfig(level=logging.INFO)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logging.debug("This is a debug message")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logging.info("This is an info message")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logging.warning("This is a warning")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logging.error("This is an error")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logging.critical("This is critical")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2" name="Google Shape;122;p24"/>
          <p:cNvGraphicFramePr/>
          <p:nvPr/>
        </p:nvGraphicFramePr>
        <p:xfrm>
          <a:off x="4669875" y="100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{899863AA-7FE6-4E6B-9C90-F6EE363AD7F9}</a:tableStyleId>
              </a:tblPr>
              <a:tblGrid>
                <a:gridCol w="561975"/>
                <a:gridCol w="2790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Level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Use Case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DEBUG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Detailed info (development, troubleshooting)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INFO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 info about program execution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WARNING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Something unexpected but not breaking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ERROR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serious problem occurred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CRITICAL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serious error, program may not continue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628650" y="308827"/>
            <a:ext cx="7886700" cy="432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import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logging.basicConfig(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filename="app.log",          # log file 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level=logging.DEBUG,         # capture all logs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format="%(asctime)s - %(levelname)s - %(message)s"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logging.info("Application started")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logging.warning("Low disk space")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logging.error("File not found")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What is Polymorphism?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Polymorphism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“one name, many forms”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It allows the same function/method/operator to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behave differently based on the object or input type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 Python, polymorphism is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not strictly enforced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(like Java/C++), because Python is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dynamically typed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628650" y="91353"/>
            <a:ext cx="7886700" cy="454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1. Polymorphism with Functions/Methods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Different classes can have methods with the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same name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but their behavior depends on the object.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Dog: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sound(self):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return "Bark"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Cat: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sound(self):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return "Meow"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Polymorphism: same method name, different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animal in [Dog(), Cat()]: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print(animal.sound())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628650" y="3"/>
            <a:ext cx="7886700" cy="463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Polymorphism with Inheritance (Method Overriding)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Child class </a:t>
            </a:r>
            <a:r>
              <a:rPr b="1" lang="en" sz="1900">
                <a:latin typeface="Arial"/>
                <a:ea typeface="Arial"/>
                <a:cs typeface="Arial"/>
                <a:sym typeface="Arial"/>
              </a:rPr>
              <a:t>overrides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 parent class method.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Animal: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move(self):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print("Animals can move")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Dog(Animal):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move(self):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print("Dogs can run and walk")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obj1 = Animal()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obj2 = Dog()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obj1.move()  # Animals can move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obj2.move()  # Dogs can run and walk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628650" y="156603"/>
            <a:ext cx="7886700" cy="447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Polymorphism with Functions (Duck Typing)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83">
                <a:latin typeface="Arial"/>
                <a:ea typeface="Arial"/>
                <a:cs typeface="Arial"/>
                <a:sym typeface="Arial"/>
              </a:rPr>
              <a:t>Python uses </a:t>
            </a:r>
            <a:r>
              <a:rPr b="1" lang="en" sz="1883">
                <a:latin typeface="Arial"/>
                <a:ea typeface="Arial"/>
                <a:cs typeface="Arial"/>
                <a:sym typeface="Arial"/>
              </a:rPr>
              <a:t>duck typing</a:t>
            </a:r>
            <a:r>
              <a:rPr lang="en" sz="1883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883">
                <a:latin typeface="Arial"/>
                <a:ea typeface="Arial"/>
                <a:cs typeface="Arial"/>
                <a:sym typeface="Arial"/>
              </a:rPr>
            </a:br>
            <a:r>
              <a:rPr lang="en" sz="1883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883">
                <a:latin typeface="Arial"/>
                <a:ea typeface="Arial"/>
                <a:cs typeface="Arial"/>
                <a:sym typeface="Arial"/>
              </a:rPr>
              <a:t>"If it looks like a duck and quacks like a duck, it’s a duck."</a:t>
            </a:r>
            <a:br>
              <a:rPr i="1" lang="en" sz="1883">
                <a:latin typeface="Arial"/>
                <a:ea typeface="Arial"/>
                <a:cs typeface="Arial"/>
                <a:sym typeface="Arial"/>
              </a:rPr>
            </a:br>
            <a:r>
              <a:rPr lang="en" sz="1883">
                <a:latin typeface="Arial"/>
                <a:ea typeface="Arial"/>
                <a:cs typeface="Arial"/>
                <a:sym typeface="Arial"/>
              </a:rPr>
              <a:t> You don’t care about the object’s type, just whether it implements the required method.</a:t>
            </a:r>
            <a:endParaRPr sz="188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Duck: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swim(self):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print("Duck swims in the pond")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Fish: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swim(self):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print("Fish swims in the river")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 make_it_swim(obj):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obj.swim()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make_it_swim(Duck())  # Duck swims in the pond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make_it_swim(Fish())  # Fish swims in the river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628650" y="254452"/>
            <a:ext cx="7886700" cy="437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Operator Overloading (Built-in Polymorphism)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87">
                <a:latin typeface="Arial"/>
                <a:ea typeface="Arial"/>
                <a:cs typeface="Arial"/>
                <a:sym typeface="Arial"/>
              </a:rPr>
              <a:t>Python lets you </a:t>
            </a:r>
            <a:r>
              <a:rPr b="1" lang="en" sz="1487">
                <a:latin typeface="Arial"/>
                <a:ea typeface="Arial"/>
                <a:cs typeface="Arial"/>
                <a:sym typeface="Arial"/>
              </a:rPr>
              <a:t>redefine operators</a:t>
            </a:r>
            <a:r>
              <a:rPr lang="en" sz="1487">
                <a:latin typeface="Arial"/>
                <a:ea typeface="Arial"/>
                <a:cs typeface="Arial"/>
                <a:sym typeface="Arial"/>
              </a:rPr>
              <a:t> for custom classes.</a:t>
            </a:r>
            <a:endParaRPr sz="14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Book: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__init__(self, pages):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self.pages = pages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__gt__(self, other):   # Greater than dunder method/magic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return self.pages &gt; other.pages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= Book(120)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= Book(200)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print(b1 &gt; b2)   # False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print(b2 &gt; b1)   #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What is </a:t>
            </a:r>
            <a:r>
              <a:rPr b="1"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 method</a:t>
            </a:r>
            <a:r>
              <a:rPr b="1" lang="en" sz="2300"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is used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call methods from a parent (super) class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inside a child class.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Commonly used in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extend or reuse parent methods without rewriting them.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400"/>
              <a:t>Avoids duplicating parent code.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628650" y="91353"/>
            <a:ext cx="7886700" cy="454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display(self):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print("Class A")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B(A):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display(self):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print("Class B")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super().display()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C(B):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display(self):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print("Class C")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super().display()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C()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c.display()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What is a Decorator?</a:t>
            </a:r>
            <a:endParaRPr/>
          </a:p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decorator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is a special function that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adds extra functionality to another function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without modifying its source code.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It uses the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@decorator_name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syntax.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Decorators are heavily used in frameworks like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Flask, Django, FastAPI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idx="1" type="body"/>
          </p:nvPr>
        </p:nvSpPr>
        <p:spPr>
          <a:xfrm>
            <a:off x="628650" y="113103"/>
            <a:ext cx="7886700" cy="451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def my_decorator(func):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def wrapper():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print("Before function call")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func()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print("After function call")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return wrapper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@my_decorator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 say_hello():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print("Hello, World!")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say_hello()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argparse</a:t>
            </a:r>
            <a:endParaRPr sz="3900"/>
          </a:p>
        </p:txBody>
      </p:sp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It is used to </a:t>
            </a:r>
            <a:r>
              <a:rPr b="1" lang="en" sz="1100">
                <a:solidFill>
                  <a:schemeClr val="dk1"/>
                </a:solidFill>
              </a:rPr>
              <a:t>handle command-line arguments</a:t>
            </a:r>
            <a:r>
              <a:rPr lang="en" sz="1100">
                <a:solidFill>
                  <a:schemeClr val="dk1"/>
                </a:solidFill>
              </a:rPr>
              <a:t> for Python scripts (like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script.py --name John --age 25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How to Run in terminal/command prompt:</a:t>
            </a:r>
            <a:endParaRPr b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example.py --name Alice --age 30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argparse</a:t>
            </a:r>
            <a:endParaRPr sz="3900"/>
          </a:p>
        </p:txBody>
      </p:sp>
      <p:sp>
        <p:nvSpPr>
          <p:cNvPr id="187" name="Google Shape;187;p36"/>
          <p:cNvSpPr txBox="1"/>
          <p:nvPr>
            <p:ph idx="1" type="body"/>
          </p:nvPr>
        </p:nvSpPr>
        <p:spPr>
          <a:xfrm>
            <a:off x="683025" y="1037402"/>
            <a:ext cx="7886700" cy="405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import argparse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# Step 1: Create parser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parser = argparse.ArgumentParser(description="Simple Argument Parser Example")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# Step 2: Add arguments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parser.add_argument("--name", type=str, help="Enter your name")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parser.add_argument("--age", type=int, help="Enter your age")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# Step 3: Parse arguments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args = parser.parse_args()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# Step 4: Use arguments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print(f"Hello, {args.name}! You are {args.age} years old.")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628650" y="273843"/>
            <a:ext cx="78867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628650" y="1369218"/>
            <a:ext cx="7886700" cy="326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