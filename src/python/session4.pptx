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5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0" r:id="rId5"/>
    <p:sldMasterId id="2147483652" r:id="rId6"/>
    <p:sldMasterId id="2147483654" r:id="rId7"/>
    <p:sldMasterId id="2147483656" r:id="rId8"/>
  </p:sldMasterIdLst>
  <p:notesMasterIdLst>
    <p:notesMasterId r:id="rId9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  <p:sldId id="284" r:id="rId38"/>
    <p:sldId id="285" r:id="rId39"/>
    <p:sldId id="286" r:id="rId40"/>
    <p:sldId id="287" r:id="rId41"/>
    <p:sldId id="288" r:id="rId42"/>
    <p:sldId id="289" r:id="rId43"/>
    <p:sldId id="290" r:id="rId44"/>
    <p:sldId id="291" r:id="rId45"/>
    <p:sldId id="292" r:id="rId46"/>
    <p:sldId id="293" r:id="rId47"/>
    <p:sldId id="294" r:id="rId48"/>
    <p:sldId id="295" r:id="rId49"/>
    <p:sldId id="296" r:id="rId50"/>
    <p:sldId id="297" r:id="rId51"/>
    <p:sldId id="298" r:id="rId52"/>
    <p:sldId id="299" r:id="rId53"/>
    <p:sldId id="300" r:id="rId54"/>
    <p:sldId id="301" r:id="rId55"/>
    <p:sldId id="302" r:id="rId56"/>
  </p:sldIdLst>
  <p:sldSz cy="5143500" cx="9144000"/>
  <p:notesSz cx="6858000" cy="9144000"/>
  <p:embeddedFontLst>
    <p:embeddedFont>
      <p:font typeface="Roboto Mono"/>
      <p:regular r:id="rId57"/>
      <p:bold r:id="rId58"/>
      <p:italic r:id="rId59"/>
      <p:boldItalic r:id="rId6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61" roundtripDataSignature="AMtx7mjVPSa1PEI+rBWpYVkLoIGwJYcC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1.xml"/><Relationship Id="rId42" Type="http://schemas.openxmlformats.org/officeDocument/2006/relationships/slide" Target="slides/slide33.xml"/><Relationship Id="rId41" Type="http://schemas.openxmlformats.org/officeDocument/2006/relationships/slide" Target="slides/slide32.xml"/><Relationship Id="rId44" Type="http://schemas.openxmlformats.org/officeDocument/2006/relationships/slide" Target="slides/slide35.xml"/><Relationship Id="rId43" Type="http://schemas.openxmlformats.org/officeDocument/2006/relationships/slide" Target="slides/slide34.xml"/><Relationship Id="rId46" Type="http://schemas.openxmlformats.org/officeDocument/2006/relationships/slide" Target="slides/slide37.xml"/><Relationship Id="rId45" Type="http://schemas.openxmlformats.org/officeDocument/2006/relationships/slide" Target="slides/slide3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48" Type="http://schemas.openxmlformats.org/officeDocument/2006/relationships/slide" Target="slides/slide39.xml"/><Relationship Id="rId47" Type="http://schemas.openxmlformats.org/officeDocument/2006/relationships/slide" Target="slides/slide38.xml"/><Relationship Id="rId49" Type="http://schemas.openxmlformats.org/officeDocument/2006/relationships/slide" Target="slides/slide40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31" Type="http://schemas.openxmlformats.org/officeDocument/2006/relationships/slide" Target="slides/slide22.xml"/><Relationship Id="rId30" Type="http://schemas.openxmlformats.org/officeDocument/2006/relationships/slide" Target="slides/slide21.xml"/><Relationship Id="rId33" Type="http://schemas.openxmlformats.org/officeDocument/2006/relationships/slide" Target="slides/slide24.xml"/><Relationship Id="rId32" Type="http://schemas.openxmlformats.org/officeDocument/2006/relationships/slide" Target="slides/slide23.xml"/><Relationship Id="rId35" Type="http://schemas.openxmlformats.org/officeDocument/2006/relationships/slide" Target="slides/slide26.xml"/><Relationship Id="rId34" Type="http://schemas.openxmlformats.org/officeDocument/2006/relationships/slide" Target="slides/slide25.xml"/><Relationship Id="rId37" Type="http://schemas.openxmlformats.org/officeDocument/2006/relationships/slide" Target="slides/slide28.xml"/><Relationship Id="rId36" Type="http://schemas.openxmlformats.org/officeDocument/2006/relationships/slide" Target="slides/slide27.xml"/><Relationship Id="rId39" Type="http://schemas.openxmlformats.org/officeDocument/2006/relationships/slide" Target="slides/slide30.xml"/><Relationship Id="rId38" Type="http://schemas.openxmlformats.org/officeDocument/2006/relationships/slide" Target="slides/slide29.xml"/><Relationship Id="rId61" Type="http://customschemas.google.com/relationships/presentationmetadata" Target="metadata"/><Relationship Id="rId20" Type="http://schemas.openxmlformats.org/officeDocument/2006/relationships/slide" Target="slides/slide11.xml"/><Relationship Id="rId22" Type="http://schemas.openxmlformats.org/officeDocument/2006/relationships/slide" Target="slides/slide13.xml"/><Relationship Id="rId21" Type="http://schemas.openxmlformats.org/officeDocument/2006/relationships/slide" Target="slides/slide12.xml"/><Relationship Id="rId24" Type="http://schemas.openxmlformats.org/officeDocument/2006/relationships/slide" Target="slides/slide15.xml"/><Relationship Id="rId23" Type="http://schemas.openxmlformats.org/officeDocument/2006/relationships/slide" Target="slides/slide14.xml"/><Relationship Id="rId60" Type="http://schemas.openxmlformats.org/officeDocument/2006/relationships/font" Target="fonts/RobotoMono-boldItalic.fntdata"/><Relationship Id="rId26" Type="http://schemas.openxmlformats.org/officeDocument/2006/relationships/slide" Target="slides/slide17.xml"/><Relationship Id="rId25" Type="http://schemas.openxmlformats.org/officeDocument/2006/relationships/slide" Target="slides/slide16.xml"/><Relationship Id="rId28" Type="http://schemas.openxmlformats.org/officeDocument/2006/relationships/slide" Target="slides/slide19.xml"/><Relationship Id="rId27" Type="http://schemas.openxmlformats.org/officeDocument/2006/relationships/slide" Target="slides/slide18.xml"/><Relationship Id="rId29" Type="http://schemas.openxmlformats.org/officeDocument/2006/relationships/slide" Target="slides/slide20.xml"/><Relationship Id="rId51" Type="http://schemas.openxmlformats.org/officeDocument/2006/relationships/slide" Target="slides/slide42.xml"/><Relationship Id="rId50" Type="http://schemas.openxmlformats.org/officeDocument/2006/relationships/slide" Target="slides/slide41.xml"/><Relationship Id="rId53" Type="http://schemas.openxmlformats.org/officeDocument/2006/relationships/slide" Target="slides/slide44.xml"/><Relationship Id="rId52" Type="http://schemas.openxmlformats.org/officeDocument/2006/relationships/slide" Target="slides/slide43.xml"/><Relationship Id="rId11" Type="http://schemas.openxmlformats.org/officeDocument/2006/relationships/slide" Target="slides/slide2.xml"/><Relationship Id="rId55" Type="http://schemas.openxmlformats.org/officeDocument/2006/relationships/slide" Target="slides/slide46.xml"/><Relationship Id="rId10" Type="http://schemas.openxmlformats.org/officeDocument/2006/relationships/slide" Target="slides/slide1.xml"/><Relationship Id="rId54" Type="http://schemas.openxmlformats.org/officeDocument/2006/relationships/slide" Target="slides/slide45.xml"/><Relationship Id="rId13" Type="http://schemas.openxmlformats.org/officeDocument/2006/relationships/slide" Target="slides/slide4.xml"/><Relationship Id="rId57" Type="http://schemas.openxmlformats.org/officeDocument/2006/relationships/font" Target="fonts/RobotoMono-regular.fntdata"/><Relationship Id="rId12" Type="http://schemas.openxmlformats.org/officeDocument/2006/relationships/slide" Target="slides/slide3.xml"/><Relationship Id="rId56" Type="http://schemas.openxmlformats.org/officeDocument/2006/relationships/slide" Target="slides/slide47.xml"/><Relationship Id="rId15" Type="http://schemas.openxmlformats.org/officeDocument/2006/relationships/slide" Target="slides/slide6.xml"/><Relationship Id="rId59" Type="http://schemas.openxmlformats.org/officeDocument/2006/relationships/font" Target="fonts/RobotoMono-italic.fntdata"/><Relationship Id="rId14" Type="http://schemas.openxmlformats.org/officeDocument/2006/relationships/slide" Target="slides/slide5.xml"/><Relationship Id="rId58" Type="http://schemas.openxmlformats.org/officeDocument/2006/relationships/font" Target="fonts/RobotoMono-bold.fntdata"/><Relationship Id="rId17" Type="http://schemas.openxmlformats.org/officeDocument/2006/relationships/slide" Target="slides/slide8.xml"/><Relationship Id="rId16" Type="http://schemas.openxmlformats.org/officeDocument/2006/relationships/slide" Target="slides/slide7.xml"/><Relationship Id="rId19" Type="http://schemas.openxmlformats.org/officeDocument/2006/relationships/slide" Target="slides/slide10.xml"/><Relationship Id="rId18" Type="http://schemas.openxmlformats.org/officeDocument/2006/relationships/slide" Target="slides/slide9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dd37d03a65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dd37d03a65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754cf8f0ec_0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754cf8f0ec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4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4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4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4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4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4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5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5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5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5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5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5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5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5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6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6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6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6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6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6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6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6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7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7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4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84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8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8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8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6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86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86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86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86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8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88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88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88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88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90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90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90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90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0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2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92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92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2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2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3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5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theme" Target="../theme/theme6.xml"/></Relationships>
</file>

<file path=ppt/slideMasters/_rels/slideMaster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3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83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8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8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8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5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9" name="Google Shape;19;p85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" name="Google Shape;20;p85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" name="Google Shape;21;p85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" name="Google Shape;22;p85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7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1" name="Google Shape;31;p87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87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" name="Google Shape;33;p87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" name="Google Shape;34;p87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3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9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3" name="Google Shape;43;p89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89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p89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6" name="Google Shape;46;p89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91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5" name="Google Shape;55;p91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Google Shape;56;p91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7" name="Google Shape;57;p91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" name="Google Shape;58;p91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7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"/>
          <p:cNvSpPr/>
          <p:nvPr/>
        </p:nvSpPr>
        <p:spPr>
          <a:xfrm>
            <a:off x="162010" y="2110085"/>
            <a:ext cx="8819979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AF97D3"/>
                </a:solidFill>
                <a:latin typeface="Calibri"/>
                <a:ea typeface="Calibri"/>
                <a:cs typeface="Calibri"/>
                <a:sym typeface="Calibri"/>
              </a:rPr>
              <a:t>Object Oriented Programming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dd37d03a65_0_3"/>
          <p:cNvSpPr txBox="1"/>
          <p:nvPr>
            <p:ph type="title"/>
          </p:nvPr>
        </p:nvSpPr>
        <p:spPr>
          <a:xfrm>
            <a:off x="457200" y="205979"/>
            <a:ext cx="8229600" cy="85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g3dd37d03a65_0_3"/>
          <p:cNvSpPr txBox="1"/>
          <p:nvPr>
            <p:ph idx="1" type="body"/>
          </p:nvPr>
        </p:nvSpPr>
        <p:spPr>
          <a:xfrm>
            <a:off x="457200" y="1200150"/>
            <a:ext cx="2969700" cy="3788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775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b="1" lang="en-US" sz="1300">
                <a:latin typeface="Arial"/>
                <a:ea typeface="Arial"/>
                <a:cs typeface="Arial"/>
                <a:sym typeface="Arial"/>
              </a:rPr>
              <a:t>1️⃣ Class &amp; Object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-282734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Class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→ Blueprint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82734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Object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→ Instance of class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Example: Car blueprint = class, actual car = object 🚗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b="1" lang="en-US" sz="1300">
                <a:latin typeface="Arial"/>
                <a:ea typeface="Arial"/>
                <a:cs typeface="Arial"/>
                <a:sym typeface="Arial"/>
              </a:rPr>
              <a:t>2️⃣ Constructor (</a:t>
            </a:r>
            <a:r>
              <a:rPr b="1" lang="en-US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__init__</a:t>
            </a:r>
            <a:r>
              <a:rPr b="1" lang="en-US" sz="1300">
                <a:latin typeface="Arial"/>
                <a:ea typeface="Arial"/>
                <a:cs typeface="Arial"/>
                <a:sym typeface="Arial"/>
              </a:rPr>
              <a:t>)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-282734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Automatically called when object created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82734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Used to initialize variables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b="1" lang="en-US" sz="1300">
                <a:latin typeface="Arial"/>
                <a:ea typeface="Arial"/>
                <a:cs typeface="Arial"/>
                <a:sym typeface="Arial"/>
              </a:rPr>
              <a:t>3️⃣ Encapsulation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-282734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Data hiding using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private variables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__var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)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82734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Access using methods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g3dd37d03a65_0_3"/>
          <p:cNvSpPr txBox="1"/>
          <p:nvPr/>
        </p:nvSpPr>
        <p:spPr>
          <a:xfrm>
            <a:off x="3686850" y="1063375"/>
            <a:ext cx="2969700" cy="39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4️⃣ Inheritance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Child class inherits parent properties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Code reuse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5️⃣ Polymorphism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Same function name, different behavior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Example: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sound()</a:t>
            </a:r>
            <a:r>
              <a:rPr lang="en-US" sz="1100">
                <a:solidFill>
                  <a:schemeClr val="dk1"/>
                </a:solidFill>
              </a:rPr>
              <a:t> → Dog &amp; </a:t>
            </a:r>
            <a:r>
              <a:rPr lang="en-US" sz="1100">
                <a:solidFill>
                  <a:schemeClr val="dk1"/>
                </a:solidFill>
              </a:rPr>
              <a:t>Cat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6️⃣ Abstraction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Hide implementation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Show only required functionality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Use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ABC</a:t>
            </a:r>
            <a:r>
              <a:rPr lang="en-US" sz="1100">
                <a:solidFill>
                  <a:schemeClr val="dk1"/>
                </a:solidFill>
              </a:rPr>
              <a:t> module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"/>
          <p:cNvSpPr txBox="1"/>
          <p:nvPr>
            <p:ph type="title"/>
          </p:nvPr>
        </p:nvSpPr>
        <p:spPr>
          <a:xfrm>
            <a:off x="457200" y="-19050"/>
            <a:ext cx="8229600" cy="7012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b="1" lang="en-US" sz="4000" u="sng">
                <a:latin typeface="Times New Roman"/>
                <a:ea typeface="Times New Roman"/>
                <a:cs typeface="Times New Roman"/>
                <a:sym typeface="Times New Roman"/>
              </a:rPr>
              <a:t>Class</a:t>
            </a:r>
            <a:endParaRPr/>
          </a:p>
        </p:txBody>
      </p:sp>
      <p:sp>
        <p:nvSpPr>
          <p:cNvPr id="82" name="Google Shape;82;p2"/>
          <p:cNvSpPr txBox="1"/>
          <p:nvPr>
            <p:ph idx="1" type="body"/>
          </p:nvPr>
        </p:nvSpPr>
        <p:spPr>
          <a:xfrm>
            <a:off x="457200" y="895350"/>
            <a:ext cx="822960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A Python class is a group of attributes and methods(function). 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 sz="2000" u="sng">
                <a:latin typeface="Times New Roman"/>
                <a:ea typeface="Times New Roman"/>
                <a:cs typeface="Times New Roman"/>
                <a:sym typeface="Times New Roman"/>
              </a:rPr>
              <a:t>What is Attribute ?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Attributes are represented by variable that contains data.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 sz="2000" u="sng">
                <a:latin typeface="Times New Roman"/>
                <a:ea typeface="Times New Roman"/>
                <a:cs typeface="Times New Roman"/>
                <a:sym typeface="Times New Roman"/>
              </a:rPr>
              <a:t>What is Method?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Method performs an action or task. It is similar to function.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-US" sz="2000" u="sng">
                <a:latin typeface="Times New Roman"/>
                <a:ea typeface="Times New Roman"/>
                <a:cs typeface="Times New Roman"/>
                <a:sym typeface="Times New Roman"/>
              </a:rPr>
              <a:t>What is a Function?</a:t>
            </a:r>
            <a:endParaRPr b="1" sz="2000" u="sng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A function in Python is a block of reusable code that performs a specific task.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def add (x,y):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return(x+y)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print(add(12,15))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print(add(15,105))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print(add(200,300))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a =  add(500,300)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end="16" st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">
                                            <p:txEl>
                                              <p:pRg end="16" st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end="17" st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">
                                            <p:txEl>
                                              <p:pRg end="17" st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end="18" st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">
                                            <p:txEl>
                                              <p:pRg end="18" st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754cf8f0ec_0_30"/>
          <p:cNvSpPr txBox="1"/>
          <p:nvPr>
            <p:ph type="title"/>
          </p:nvPr>
        </p:nvSpPr>
        <p:spPr>
          <a:xfrm>
            <a:off x="457200" y="205979"/>
            <a:ext cx="8229600" cy="85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g3754cf8f0ec_0_30"/>
          <p:cNvSpPr txBox="1"/>
          <p:nvPr>
            <p:ph idx="1" type="body"/>
          </p:nvPr>
        </p:nvSpPr>
        <p:spPr>
          <a:xfrm>
            <a:off x="457200" y="1200151"/>
            <a:ext cx="8229600" cy="3394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9" name="Google Shape;89;g3754cf8f0ec_0_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064" y="0"/>
            <a:ext cx="7601372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"/>
          <p:cNvSpPr txBox="1"/>
          <p:nvPr>
            <p:ph type="title"/>
          </p:nvPr>
        </p:nvSpPr>
        <p:spPr>
          <a:xfrm>
            <a:off x="457200" y="-1905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lang="en-US" sz="3600" u="sng">
                <a:latin typeface="Times New Roman"/>
                <a:ea typeface="Times New Roman"/>
                <a:cs typeface="Times New Roman"/>
                <a:sym typeface="Times New Roman"/>
              </a:rPr>
              <a:t>How to Create Class</a:t>
            </a:r>
            <a:endParaRPr b="1" sz="3600"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3"/>
          <p:cNvSpPr txBox="1"/>
          <p:nvPr>
            <p:ph idx="1" type="body"/>
          </p:nvPr>
        </p:nvSpPr>
        <p:spPr>
          <a:xfrm>
            <a:off x="457200" y="819150"/>
            <a:ext cx="8229600" cy="39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  <a:buNone/>
            </a:pPr>
            <a:r>
              <a:rPr lang="en-US" sz="1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Classname(object) </a:t>
            </a: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     def __init__(self)</a:t>
            </a: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	self.variable_name = value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	self.variable_name = ‘value’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     def method_name(self)</a:t>
            </a: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	Body of Method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class - class keyword is used to create a class</a:t>
            </a:r>
            <a:endParaRPr/>
          </a:p>
          <a:p>
            <a:pPr indent="-342900" lvl="0" marL="3429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object - object represents the base class name from where all classes in Python are derived. This class is also derived from object class. This is optional.</a:t>
            </a:r>
            <a:endParaRPr/>
          </a:p>
          <a:p>
            <a:pPr indent="-342900" lvl="0" marL="3429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__init__() – This method is used to initialize the variables. This is a special method. We do not call this method explicitly. </a:t>
            </a:r>
            <a:endParaRPr/>
          </a:p>
          <a:p>
            <a:pPr indent="-342900" lvl="0" marL="3429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self – self is a variable which refers to current class instance/object. </a:t>
            </a:r>
            <a:endParaRPr/>
          </a:p>
        </p:txBody>
      </p:sp>
      <p:sp>
        <p:nvSpPr>
          <p:cNvPr id="96" name="Google Shape;96;p3"/>
          <p:cNvSpPr txBox="1"/>
          <p:nvPr/>
        </p:nvSpPr>
        <p:spPr>
          <a:xfrm>
            <a:off x="4202589" y="1579873"/>
            <a:ext cx="902811" cy="30777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Attributes</a:t>
            </a:r>
            <a:endParaRPr/>
          </a:p>
        </p:txBody>
      </p:sp>
      <p:sp>
        <p:nvSpPr>
          <p:cNvPr id="97" name="Google Shape;97;p3"/>
          <p:cNvSpPr/>
          <p:nvPr/>
        </p:nvSpPr>
        <p:spPr>
          <a:xfrm>
            <a:off x="3821589" y="1581150"/>
            <a:ext cx="381000" cy="381000"/>
          </a:xfrm>
          <a:prstGeom prst="rightBrace">
            <a:avLst>
              <a:gd fmla="val 8333" name="adj1"/>
              <a:gd fmla="val 50000" name="adj2"/>
            </a:avLst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5257800" y="861358"/>
            <a:ext cx="3505200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Classname </a:t>
            </a: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def __init__(self)</a:t>
            </a: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self.variable_name = value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self.variable_name = ‘value’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def method_name(self)</a:t>
            </a: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Body of Method</a:t>
            </a:r>
            <a:endParaRPr/>
          </a:p>
        </p:txBody>
      </p:sp>
      <p:sp>
        <p:nvSpPr>
          <p:cNvPr id="99" name="Google Shape;99;p3"/>
          <p:cNvSpPr txBox="1"/>
          <p:nvPr/>
        </p:nvSpPr>
        <p:spPr>
          <a:xfrm>
            <a:off x="381000" y="1654373"/>
            <a:ext cx="744114" cy="30777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00" name="Google Shape;100;p3"/>
          <p:cNvCxnSpPr/>
          <p:nvPr/>
        </p:nvCxnSpPr>
        <p:spPr>
          <a:xfrm>
            <a:off x="594862" y="1965127"/>
            <a:ext cx="202340" cy="225623"/>
          </a:xfrm>
          <a:prstGeom prst="straightConnector1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01" name="Google Shape;101;p3"/>
          <p:cNvCxnSpPr/>
          <p:nvPr/>
        </p:nvCxnSpPr>
        <p:spPr>
          <a:xfrm flipH="1" rot="10800000">
            <a:off x="685800" y="1428750"/>
            <a:ext cx="222805" cy="228600"/>
          </a:xfrm>
          <a:prstGeom prst="straightConnector1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02" name="Google Shape;102;p3"/>
          <p:cNvSpPr txBox="1"/>
          <p:nvPr/>
        </p:nvSpPr>
        <p:spPr>
          <a:xfrm>
            <a:off x="1295400" y="341041"/>
            <a:ext cx="1371600" cy="36933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 class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" name="Google Shape;103;p3"/>
          <p:cNvCxnSpPr>
            <a:stCxn id="102" idx="2"/>
          </p:cNvCxnSpPr>
          <p:nvPr/>
        </p:nvCxnSpPr>
        <p:spPr>
          <a:xfrm>
            <a:off x="1981200" y="710373"/>
            <a:ext cx="152400" cy="2385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4" name="Google Shape;104;p3"/>
          <p:cNvSpPr txBox="1"/>
          <p:nvPr/>
        </p:nvSpPr>
        <p:spPr>
          <a:xfrm>
            <a:off x="2794168" y="1070464"/>
            <a:ext cx="1371600" cy="36933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constructer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5" name="Google Shape;105;p3"/>
          <p:cNvCxnSpPr/>
          <p:nvPr/>
        </p:nvCxnSpPr>
        <p:spPr>
          <a:xfrm rot="10800000">
            <a:off x="2362200" y="1255130"/>
            <a:ext cx="419100" cy="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"/>
          <p:cNvSpPr txBox="1"/>
          <p:nvPr>
            <p:ph idx="1" type="body"/>
          </p:nvPr>
        </p:nvSpPr>
        <p:spPr>
          <a:xfrm>
            <a:off x="457200" y="895350"/>
            <a:ext cx="82296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class Mobile: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	# Constructor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	def __init__(self, m):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6875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		self.model = m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self.model_1 =‘RealMe X’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	def show_model(self, p):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		price = p				# Local Varaible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		print("Model:", self.model, "and Price:", price)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# Passing Argument to Constructor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realme = Mobile('Realme X')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68750"/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# Accessing Method from outside Class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realme.show_model(1000)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p5"/>
          <p:cNvSpPr txBox="1"/>
          <p:nvPr>
            <p:ph type="title"/>
          </p:nvPr>
        </p:nvSpPr>
        <p:spPr>
          <a:xfrm>
            <a:off x="457200" y="-1905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lang="en-US" sz="3600" u="sng">
                <a:latin typeface="Times New Roman"/>
                <a:ea typeface="Times New Roman"/>
                <a:cs typeface="Times New Roman"/>
                <a:sym typeface="Times New Roman"/>
              </a:rPr>
              <a:t>How to Create Class</a:t>
            </a:r>
            <a:endParaRPr b="1" sz="3600"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" name="Google Shape;112;p5"/>
          <p:cNvSpPr txBox="1"/>
          <p:nvPr/>
        </p:nvSpPr>
        <p:spPr>
          <a:xfrm>
            <a:off x="3232950" y="2102911"/>
            <a:ext cx="1461900" cy="3078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Formal Argument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13" name="Google Shape;113;p5"/>
          <p:cNvCxnSpPr/>
          <p:nvPr/>
        </p:nvCxnSpPr>
        <p:spPr>
          <a:xfrm flipH="1">
            <a:off x="2775750" y="2137388"/>
            <a:ext cx="457200" cy="23880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</p:cxnSp>
      <p:sp>
        <p:nvSpPr>
          <p:cNvPr id="114" name="Google Shape;114;p5"/>
          <p:cNvSpPr txBox="1"/>
          <p:nvPr/>
        </p:nvSpPr>
        <p:spPr>
          <a:xfrm>
            <a:off x="3272643" y="1004639"/>
            <a:ext cx="1371600" cy="369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constructor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5" name="Google Shape;115;p5"/>
          <p:cNvCxnSpPr/>
          <p:nvPr/>
        </p:nvCxnSpPr>
        <p:spPr>
          <a:xfrm flipH="1">
            <a:off x="2470775" y="1189305"/>
            <a:ext cx="789000" cy="3699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6" name="Google Shape;116;p5"/>
          <p:cNvSpPr txBox="1"/>
          <p:nvPr/>
        </p:nvSpPr>
        <p:spPr>
          <a:xfrm>
            <a:off x="1184968" y="3441189"/>
            <a:ext cx="1371600" cy="369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7" name="Google Shape;117;p5"/>
          <p:cNvCxnSpPr/>
          <p:nvPr/>
        </p:nvCxnSpPr>
        <p:spPr>
          <a:xfrm rot="10800000">
            <a:off x="730700" y="3418780"/>
            <a:ext cx="387000" cy="1527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8" name="Google Shape;118;p5"/>
          <p:cNvSpPr txBox="1"/>
          <p:nvPr/>
        </p:nvSpPr>
        <p:spPr>
          <a:xfrm>
            <a:off x="3518242" y="1675475"/>
            <a:ext cx="2487600" cy="3078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Instance Variable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9" name="Google Shape;119;p5"/>
          <p:cNvCxnSpPr/>
          <p:nvPr/>
        </p:nvCxnSpPr>
        <p:spPr>
          <a:xfrm flipH="1">
            <a:off x="2644650" y="1767505"/>
            <a:ext cx="754200" cy="855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0" name="Google Shape;120;p5"/>
          <p:cNvSpPr txBox="1"/>
          <p:nvPr/>
        </p:nvSpPr>
        <p:spPr>
          <a:xfrm>
            <a:off x="3251398" y="2896901"/>
            <a:ext cx="1927800" cy="2769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Accessing Instance Variable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1" name="Google Shape;121;p5"/>
          <p:cNvCxnSpPr>
            <a:stCxn id="120" idx="1"/>
          </p:cNvCxnSpPr>
          <p:nvPr/>
        </p:nvCxnSpPr>
        <p:spPr>
          <a:xfrm rot="10800000">
            <a:off x="2748598" y="2820551"/>
            <a:ext cx="502800" cy="21480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</p:cxnSp>
      <p:sp>
        <p:nvSpPr>
          <p:cNvPr id="122" name="Google Shape;122;p5"/>
          <p:cNvSpPr txBox="1"/>
          <p:nvPr/>
        </p:nvSpPr>
        <p:spPr>
          <a:xfrm>
            <a:off x="68475" y="1853008"/>
            <a:ext cx="1244700" cy="2769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Instance Method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3" name="Google Shape;123;p5"/>
          <p:cNvCxnSpPr>
            <a:stCxn id="122" idx="2"/>
          </p:cNvCxnSpPr>
          <p:nvPr/>
        </p:nvCxnSpPr>
        <p:spPr>
          <a:xfrm>
            <a:off x="690825" y="2129908"/>
            <a:ext cx="290100" cy="21240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16" st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">
                                            <p:txEl>
                                              <p:pRg end="16" st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17" st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">
                                            <p:txEl>
                                              <p:pRg end="17" st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18" st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">
                                            <p:txEl>
                                              <p:pRg end="18" st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"/>
          <p:cNvSpPr txBox="1"/>
          <p:nvPr>
            <p:ph type="title"/>
          </p:nvPr>
        </p:nvSpPr>
        <p:spPr>
          <a:xfrm>
            <a:off x="457200" y="-1905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b="1" lang="en-US" sz="4000" u="sng">
                <a:latin typeface="Times New Roman"/>
                <a:ea typeface="Times New Roman"/>
                <a:cs typeface="Times New Roman"/>
                <a:sym typeface="Times New Roman"/>
              </a:rPr>
              <a:t>Rules</a:t>
            </a:r>
            <a:endParaRPr/>
          </a:p>
        </p:txBody>
      </p:sp>
      <p:sp>
        <p:nvSpPr>
          <p:cNvPr id="129" name="Google Shape;129;p4"/>
          <p:cNvSpPr txBox="1"/>
          <p:nvPr>
            <p:ph idx="1" type="body"/>
          </p:nvPr>
        </p:nvSpPr>
        <p:spPr>
          <a:xfrm>
            <a:off x="457200" y="895350"/>
            <a:ext cx="8229600" cy="21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The class name can be any valid identifier.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It can't be Python reserved word.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 valid class name starts with a letter, followed by any number of letter, numbers or underscores.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 class name generally starts with Capital Letter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"/>
          <p:cNvSpPr txBox="1"/>
          <p:nvPr>
            <p:ph type="title"/>
          </p:nvPr>
        </p:nvSpPr>
        <p:spPr>
          <a:xfrm>
            <a:off x="457200" y="-1905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b="1" lang="en-US" sz="4000" u="sng">
                <a:latin typeface="Times New Roman"/>
                <a:ea typeface="Times New Roman"/>
                <a:cs typeface="Times New Roman"/>
                <a:sym typeface="Times New Roman"/>
              </a:rPr>
              <a:t>Object</a:t>
            </a:r>
            <a:endParaRPr/>
          </a:p>
        </p:txBody>
      </p:sp>
      <p:sp>
        <p:nvSpPr>
          <p:cNvPr id="135" name="Google Shape;135;p8"/>
          <p:cNvSpPr txBox="1"/>
          <p:nvPr>
            <p:ph idx="1" type="body"/>
          </p:nvPr>
        </p:nvSpPr>
        <p:spPr>
          <a:xfrm>
            <a:off x="457200" y="819150"/>
            <a:ext cx="8229600" cy="39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Object is class type variable or class instance. To use a class, we should create an object to the class. </a:t>
            </a:r>
            <a:endParaRPr/>
          </a:p>
          <a:p>
            <a:pPr indent="-342900" lvl="0" marL="3429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Instance creation represents allotting memory necessary to store the actual data of the variables. </a:t>
            </a:r>
            <a:endParaRPr/>
          </a:p>
          <a:p>
            <a:pPr indent="-342900" lvl="0" marL="3429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Each time you create an object of a class a copy of each variables defined in the class is created. </a:t>
            </a:r>
            <a:endParaRPr/>
          </a:p>
          <a:p>
            <a:pPr indent="-342900" lvl="0" marL="3429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In other words you can say that each object of a class has its own copy of data members defined in the class.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Syntax: -    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object_name = class_name()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object_name = class_name(arg)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3"/>
          <p:cNvSpPr txBox="1"/>
          <p:nvPr>
            <p:ph type="title"/>
          </p:nvPr>
        </p:nvSpPr>
        <p:spPr>
          <a:xfrm>
            <a:off x="457200" y="41671"/>
            <a:ext cx="8229600" cy="7012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1" lang="en-US" sz="3200" u="sng">
                <a:latin typeface="Times New Roman"/>
                <a:ea typeface="Times New Roman"/>
                <a:cs typeface="Times New Roman"/>
                <a:sym typeface="Times New Roman"/>
              </a:rPr>
              <a:t>self Variable</a:t>
            </a:r>
            <a:endParaRPr/>
          </a:p>
        </p:txBody>
      </p:sp>
      <p:sp>
        <p:nvSpPr>
          <p:cNvPr id="141" name="Google Shape;141;p13"/>
          <p:cNvSpPr txBox="1"/>
          <p:nvPr>
            <p:ph idx="1" type="body"/>
          </p:nvPr>
        </p:nvSpPr>
        <p:spPr>
          <a:xfrm>
            <a:off x="457200" y="819150"/>
            <a:ext cx="8153400" cy="40802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i="1" lang="en-US" sz="1800">
                <a:latin typeface="Times New Roman"/>
                <a:ea typeface="Times New Roman"/>
                <a:cs typeface="Times New Roman"/>
                <a:sym typeface="Times New Roman"/>
              </a:rPr>
              <a:t>self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is a default variable that contains the memory address of the current object.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This variable is used to refer all the instance variable and method.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When we create object of a class, the object name contains the memory location of the object. 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This memory location is internally passed to </a:t>
            </a:r>
            <a:r>
              <a:rPr i="1" lang="en-US" sz="1800">
                <a:latin typeface="Times New Roman"/>
                <a:ea typeface="Times New Roman"/>
                <a:cs typeface="Times New Roman"/>
                <a:sym typeface="Times New Roman"/>
              </a:rPr>
              <a:t>self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, as </a:t>
            </a:r>
            <a:r>
              <a:rPr i="1" lang="en-US" sz="1800">
                <a:latin typeface="Times New Roman"/>
                <a:ea typeface="Times New Roman"/>
                <a:cs typeface="Times New Roman"/>
                <a:sym typeface="Times New Roman"/>
              </a:rPr>
              <a:t>self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knows the memory address of the object so we can access variable and method of object.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self is the first argument to any object method because the first argument is always the object reference. This is automatic, whether you call it </a:t>
            </a:r>
            <a:r>
              <a:rPr i="1" lang="en-US" sz="1800">
                <a:latin typeface="Times New Roman"/>
                <a:ea typeface="Times New Roman"/>
                <a:cs typeface="Times New Roman"/>
                <a:sym typeface="Times New Roman"/>
              </a:rPr>
              <a:t>self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or not.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def __init__(self):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def show_model(self):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1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457200" y="3810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b="1" lang="en-US" u="sng">
                <a:latin typeface="Times New Roman"/>
                <a:ea typeface="Times New Roman"/>
                <a:cs typeface="Times New Roman"/>
                <a:sym typeface="Times New Roman"/>
              </a:rPr>
              <a:t>Constructor</a:t>
            </a:r>
            <a:endParaRPr b="1"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" name="Google Shape;147;p15"/>
          <p:cNvSpPr txBox="1"/>
          <p:nvPr>
            <p:ph idx="1" type="body"/>
          </p:nvPr>
        </p:nvSpPr>
        <p:spPr>
          <a:xfrm>
            <a:off x="457200" y="8953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Python supports a special type of method called constructor for initializing the instance variable of a class. 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class constructor, if defined is called whenever a program creates an object of that class.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constructor is called only once at the time of creating an instance.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two instances are created for a class, the constructor will be called once for each instance. 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8"/>
          <p:cNvSpPr txBox="1"/>
          <p:nvPr>
            <p:ph type="title"/>
          </p:nvPr>
        </p:nvSpPr>
        <p:spPr>
          <a:xfrm>
            <a:off x="457200" y="3810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b="1" lang="en-US" sz="4000" u="sng">
                <a:latin typeface="Times New Roman"/>
                <a:ea typeface="Times New Roman"/>
                <a:cs typeface="Times New Roman"/>
                <a:sym typeface="Times New Roman"/>
              </a:rPr>
              <a:t>Type of Variable</a:t>
            </a:r>
            <a:endParaRPr b="1" sz="4000"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18"/>
          <p:cNvSpPr txBox="1"/>
          <p:nvPr>
            <p:ph idx="1" type="body"/>
          </p:nvPr>
        </p:nvSpPr>
        <p:spPr>
          <a:xfrm>
            <a:off x="457200" y="9715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Instance Variable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Class Variable / Static Variable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9"/>
          <p:cNvSpPr txBox="1"/>
          <p:nvPr>
            <p:ph type="title"/>
          </p:nvPr>
        </p:nvSpPr>
        <p:spPr>
          <a:xfrm>
            <a:off x="457200" y="3810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b="1" lang="en-US" sz="4000" u="sng">
                <a:latin typeface="Times New Roman"/>
                <a:ea typeface="Times New Roman"/>
                <a:cs typeface="Times New Roman"/>
                <a:sym typeface="Times New Roman"/>
              </a:rPr>
              <a:t>Instance Variable </a:t>
            </a:r>
            <a:endParaRPr/>
          </a:p>
        </p:txBody>
      </p:sp>
      <p:sp>
        <p:nvSpPr>
          <p:cNvPr id="159" name="Google Shape;159;p19"/>
          <p:cNvSpPr txBox="1"/>
          <p:nvPr>
            <p:ph idx="1" type="body"/>
          </p:nvPr>
        </p:nvSpPr>
        <p:spPr>
          <a:xfrm>
            <a:off x="457200" y="971550"/>
            <a:ext cx="822960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Instance variables are the variables whose separate copy is created in every object.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Instance variables are defined and initialized using a constructor with self parameter. 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Ex:-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class Mobile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    def __init__(self):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	self.model = ‘RealMe X’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   def show_model(self):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	print(self.model)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realme = Mobile( )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0" name="Google Shape;160;p19"/>
          <p:cNvSpPr txBox="1"/>
          <p:nvPr/>
        </p:nvSpPr>
        <p:spPr>
          <a:xfrm>
            <a:off x="4648200" y="2605278"/>
            <a:ext cx="1433662" cy="30777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Instance Variable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1" name="Google Shape;161;p19"/>
          <p:cNvCxnSpPr>
            <a:stCxn id="160" idx="1"/>
          </p:cNvCxnSpPr>
          <p:nvPr/>
        </p:nvCxnSpPr>
        <p:spPr>
          <a:xfrm rot="10800000">
            <a:off x="3886200" y="2759167"/>
            <a:ext cx="762000" cy="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0"/>
          <p:cNvSpPr txBox="1"/>
          <p:nvPr>
            <p:ph type="title"/>
          </p:nvPr>
        </p:nvSpPr>
        <p:spPr>
          <a:xfrm>
            <a:off x="457200" y="-19050"/>
            <a:ext cx="8229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lang="en-US" sz="3600" u="sng">
                <a:latin typeface="Times New Roman"/>
                <a:ea typeface="Times New Roman"/>
                <a:cs typeface="Times New Roman"/>
                <a:sym typeface="Times New Roman"/>
              </a:rPr>
              <a:t>Accessing Instance Variable </a:t>
            </a:r>
            <a:endParaRPr b="1" sz="3600"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" name="Google Shape;167;p20"/>
          <p:cNvSpPr txBox="1"/>
          <p:nvPr>
            <p:ph idx="1" type="body"/>
          </p:nvPr>
        </p:nvSpPr>
        <p:spPr>
          <a:xfrm>
            <a:off x="457200" y="819150"/>
            <a:ext cx="82296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 u="sng">
                <a:latin typeface="Times New Roman"/>
                <a:ea typeface="Times New Roman"/>
                <a:cs typeface="Times New Roman"/>
                <a:sym typeface="Times New Roman"/>
              </a:rPr>
              <a:t>With Instance Method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To access instance variable, we need instance methods with self as first parameter then we can access instance variable using self.variable_name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class Mobile</a:t>
            </a: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    def __init__(self):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	self.model = ‘RealMe X’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   def show_model(self):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	self.model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realme = Mobile( )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3962400" y="2233659"/>
            <a:ext cx="1249701" cy="276999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Instance Variable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9" name="Google Shape;169;p20"/>
          <p:cNvCxnSpPr>
            <a:stCxn id="168" idx="1"/>
          </p:cNvCxnSpPr>
          <p:nvPr/>
        </p:nvCxnSpPr>
        <p:spPr>
          <a:xfrm flipH="1">
            <a:off x="3581400" y="2372159"/>
            <a:ext cx="381000" cy="4710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70" name="Google Shape;170;p20"/>
          <p:cNvSpPr txBox="1"/>
          <p:nvPr/>
        </p:nvSpPr>
        <p:spPr>
          <a:xfrm>
            <a:off x="2639323" y="3285351"/>
            <a:ext cx="1927772" cy="276999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Accessing Instance Variable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1" name="Google Shape;171;p20"/>
          <p:cNvCxnSpPr>
            <a:stCxn id="170" idx="1"/>
          </p:cNvCxnSpPr>
          <p:nvPr/>
        </p:nvCxnSpPr>
        <p:spPr>
          <a:xfrm rot="10800000">
            <a:off x="2136523" y="3209050"/>
            <a:ext cx="502800" cy="21480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72" name="Google Shape;172;p20"/>
          <p:cNvSpPr txBox="1"/>
          <p:nvPr/>
        </p:nvSpPr>
        <p:spPr>
          <a:xfrm>
            <a:off x="3048000" y="2663058"/>
            <a:ext cx="1244636" cy="276999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Instance Method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3" name="Google Shape;173;p20"/>
          <p:cNvCxnSpPr>
            <a:stCxn id="172" idx="1"/>
          </p:cNvCxnSpPr>
          <p:nvPr/>
        </p:nvCxnSpPr>
        <p:spPr>
          <a:xfrm flipH="1">
            <a:off x="2667000" y="2801558"/>
            <a:ext cx="381000" cy="4710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1"/>
          <p:cNvSpPr txBox="1"/>
          <p:nvPr>
            <p:ph type="title"/>
          </p:nvPr>
        </p:nvSpPr>
        <p:spPr>
          <a:xfrm>
            <a:off x="457200" y="-19050"/>
            <a:ext cx="8229600" cy="704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lang="en-US" sz="3600" u="sng">
                <a:latin typeface="Times New Roman"/>
                <a:ea typeface="Times New Roman"/>
                <a:cs typeface="Times New Roman"/>
                <a:sym typeface="Times New Roman"/>
              </a:rPr>
              <a:t>Accessing Instance Variable </a:t>
            </a:r>
            <a:endParaRPr b="1" sz="3600"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9" name="Google Shape;179;p21"/>
          <p:cNvSpPr txBox="1"/>
          <p:nvPr>
            <p:ph idx="1" type="body"/>
          </p:nvPr>
        </p:nvSpPr>
        <p:spPr>
          <a:xfrm>
            <a:off x="457200" y="666750"/>
            <a:ext cx="82296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 u="sng">
                <a:latin typeface="Times New Roman"/>
                <a:ea typeface="Times New Roman"/>
                <a:cs typeface="Times New Roman"/>
                <a:sym typeface="Times New Roman"/>
              </a:rPr>
              <a:t>Outside Class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We can access instance variable using object_name.variable_name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class Mobile</a:t>
            </a: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    def __init__(self):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	self.model = ‘RealMe X’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   def show_model(self):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	self.model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realme = Mobile( )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realme.model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" name="Google Shape;180;p21"/>
          <p:cNvSpPr txBox="1"/>
          <p:nvPr/>
        </p:nvSpPr>
        <p:spPr>
          <a:xfrm>
            <a:off x="4015751" y="1944751"/>
            <a:ext cx="1249701" cy="276999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Instance Variable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1" name="Google Shape;181;p21"/>
          <p:cNvCxnSpPr>
            <a:stCxn id="180" idx="1"/>
          </p:cNvCxnSpPr>
          <p:nvPr/>
        </p:nvCxnSpPr>
        <p:spPr>
          <a:xfrm rot="10800000">
            <a:off x="3582851" y="2083251"/>
            <a:ext cx="432900" cy="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82" name="Google Shape;182;p21"/>
          <p:cNvSpPr txBox="1"/>
          <p:nvPr/>
        </p:nvSpPr>
        <p:spPr>
          <a:xfrm>
            <a:off x="3352800" y="2266949"/>
            <a:ext cx="1244636" cy="276999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Instance Method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3" name="Google Shape;183;p21"/>
          <p:cNvCxnSpPr>
            <a:stCxn id="182" idx="1"/>
          </p:cNvCxnSpPr>
          <p:nvPr/>
        </p:nvCxnSpPr>
        <p:spPr>
          <a:xfrm rot="10800000">
            <a:off x="2743200" y="2405449"/>
            <a:ext cx="609600" cy="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84" name="Google Shape;184;p21"/>
          <p:cNvSpPr txBox="1"/>
          <p:nvPr/>
        </p:nvSpPr>
        <p:spPr>
          <a:xfrm>
            <a:off x="2748096" y="2876550"/>
            <a:ext cx="1892506" cy="276999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Accessing Instance Variable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5" name="Google Shape;185;p21"/>
          <p:cNvCxnSpPr>
            <a:stCxn id="184" idx="1"/>
          </p:cNvCxnSpPr>
          <p:nvPr/>
        </p:nvCxnSpPr>
        <p:spPr>
          <a:xfrm rot="10800000">
            <a:off x="2245296" y="2800250"/>
            <a:ext cx="502800" cy="21480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86" name="Google Shape;186;p21"/>
          <p:cNvSpPr txBox="1"/>
          <p:nvPr/>
        </p:nvSpPr>
        <p:spPr>
          <a:xfrm>
            <a:off x="2239086" y="3396049"/>
            <a:ext cx="3079433" cy="276999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Accessing Instance Variable from outside Class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7" name="Google Shape;187;p21"/>
          <p:cNvCxnSpPr/>
          <p:nvPr/>
        </p:nvCxnSpPr>
        <p:spPr>
          <a:xfrm flipH="1">
            <a:off x="1828800" y="3534548"/>
            <a:ext cx="410286" cy="27802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3"/>
          <p:cNvSpPr txBox="1"/>
          <p:nvPr>
            <p:ph type="title"/>
          </p:nvPr>
        </p:nvSpPr>
        <p:spPr>
          <a:xfrm>
            <a:off x="457200" y="3810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b="1" lang="en-US" sz="4000" u="sng">
                <a:latin typeface="Times New Roman"/>
                <a:ea typeface="Times New Roman"/>
                <a:cs typeface="Times New Roman"/>
                <a:sym typeface="Times New Roman"/>
              </a:rPr>
              <a:t>Class Variable / Static Variable</a:t>
            </a:r>
            <a:endParaRPr b="1" sz="4000"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" name="Google Shape;193;p23"/>
          <p:cNvSpPr txBox="1"/>
          <p:nvPr>
            <p:ph idx="1" type="body"/>
          </p:nvPr>
        </p:nvSpPr>
        <p:spPr>
          <a:xfrm>
            <a:off x="457200" y="971550"/>
            <a:ext cx="82296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Class variables are the variables whose single copy is available to all the instance of the class.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If we modify the copy of class variable in an instance, it will effect all the copies in the other instance.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Ex:-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class Mobile</a:t>
            </a: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fp = ‘Yes’</a:t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    def __init__(self):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          self.model = ‘RealMe X’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   def show_model(self):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         print(self.model)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realme = Mobile( )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" name="Google Shape;194;p23"/>
          <p:cNvSpPr txBox="1"/>
          <p:nvPr/>
        </p:nvSpPr>
        <p:spPr>
          <a:xfrm>
            <a:off x="2895600" y="2331246"/>
            <a:ext cx="1186159" cy="30777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 Variable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5" name="Google Shape;195;p23"/>
          <p:cNvCxnSpPr>
            <a:stCxn id="194" idx="1"/>
          </p:cNvCxnSpPr>
          <p:nvPr/>
        </p:nvCxnSpPr>
        <p:spPr>
          <a:xfrm flipH="1">
            <a:off x="1981200" y="2485135"/>
            <a:ext cx="914400" cy="6390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3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3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4"/>
          <p:cNvSpPr txBox="1"/>
          <p:nvPr>
            <p:ph type="title"/>
          </p:nvPr>
        </p:nvSpPr>
        <p:spPr>
          <a:xfrm>
            <a:off x="457200" y="-19050"/>
            <a:ext cx="8229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lang="en-US" sz="3600" u="sng">
                <a:latin typeface="Times New Roman"/>
                <a:ea typeface="Times New Roman"/>
                <a:cs typeface="Times New Roman"/>
                <a:sym typeface="Times New Roman"/>
              </a:rPr>
              <a:t>Accessing Class/Static Variable </a:t>
            </a:r>
            <a:endParaRPr b="1" sz="3600"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" name="Google Shape;201;p24"/>
          <p:cNvSpPr txBox="1"/>
          <p:nvPr>
            <p:ph idx="1" type="body"/>
          </p:nvPr>
        </p:nvSpPr>
        <p:spPr>
          <a:xfrm>
            <a:off x="457200" y="742950"/>
            <a:ext cx="8229600" cy="41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 u="sng">
                <a:latin typeface="Times New Roman"/>
                <a:ea typeface="Times New Roman"/>
                <a:cs typeface="Times New Roman"/>
                <a:sym typeface="Times New Roman"/>
              </a:rPr>
              <a:t>With Class Method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To access class variable, we need class methods with cls as first parameter then we can access class variable using cls.variable_name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class Mobile</a:t>
            </a: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fp = ‘Yes’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    def __init__(self):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          self.model = ‘RealMe X’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   def show_model(self):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         print(self.model)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r>
              <a:rPr lang="en-US" sz="1600"/>
              <a:t>@classmethod</a:t>
            </a:r>
            <a:endParaRPr sz="1600"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    def is_fp(cls):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          cls.fp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realme = Mobile( )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" name="Google Shape;202;p24"/>
          <p:cNvSpPr txBox="1"/>
          <p:nvPr/>
        </p:nvSpPr>
        <p:spPr>
          <a:xfrm>
            <a:off x="2895600" y="1892834"/>
            <a:ext cx="1186159" cy="30777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 Variable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3" name="Google Shape;203;p24"/>
          <p:cNvCxnSpPr>
            <a:stCxn id="202" idx="1"/>
          </p:cNvCxnSpPr>
          <p:nvPr/>
        </p:nvCxnSpPr>
        <p:spPr>
          <a:xfrm rot="10800000">
            <a:off x="2057400" y="2046723"/>
            <a:ext cx="838200" cy="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204" name="Google Shape;204;p24"/>
          <p:cNvSpPr txBox="1"/>
          <p:nvPr/>
        </p:nvSpPr>
        <p:spPr>
          <a:xfrm>
            <a:off x="2829587" y="3339704"/>
            <a:ext cx="1177566" cy="30777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 Method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5" name="Google Shape;205;p24"/>
          <p:cNvCxnSpPr/>
          <p:nvPr/>
        </p:nvCxnSpPr>
        <p:spPr>
          <a:xfrm flipH="1">
            <a:off x="2296187" y="3515533"/>
            <a:ext cx="521175" cy="131948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206" name="Google Shape;206;p24"/>
          <p:cNvSpPr txBox="1"/>
          <p:nvPr/>
        </p:nvSpPr>
        <p:spPr>
          <a:xfrm>
            <a:off x="2667594" y="4016109"/>
            <a:ext cx="3439018" cy="30777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Accessing Class Variable inside Class Method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7" name="Google Shape;207;p24"/>
          <p:cNvCxnSpPr>
            <a:stCxn id="206" idx="1"/>
          </p:cNvCxnSpPr>
          <p:nvPr/>
        </p:nvCxnSpPr>
        <p:spPr>
          <a:xfrm flipH="1">
            <a:off x="2063394" y="4169998"/>
            <a:ext cx="604200" cy="1080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1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1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1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5"/>
          <p:cNvSpPr txBox="1"/>
          <p:nvPr>
            <p:ph type="title"/>
          </p:nvPr>
        </p:nvSpPr>
        <p:spPr>
          <a:xfrm>
            <a:off x="457200" y="-19050"/>
            <a:ext cx="8229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lang="en-US" sz="3600" u="sng">
                <a:latin typeface="Times New Roman"/>
                <a:ea typeface="Times New Roman"/>
                <a:cs typeface="Times New Roman"/>
                <a:sym typeface="Times New Roman"/>
              </a:rPr>
              <a:t>Accessing Class/Static Variable</a:t>
            </a:r>
            <a:endParaRPr b="1" sz="3600"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3" name="Google Shape;213;p25"/>
          <p:cNvSpPr txBox="1"/>
          <p:nvPr>
            <p:ph idx="1" type="body"/>
          </p:nvPr>
        </p:nvSpPr>
        <p:spPr>
          <a:xfrm>
            <a:off x="457200" y="742950"/>
            <a:ext cx="8229600" cy="41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 u="sng">
                <a:latin typeface="Times New Roman"/>
                <a:ea typeface="Times New Roman"/>
                <a:cs typeface="Times New Roman"/>
                <a:sym typeface="Times New Roman"/>
              </a:rPr>
              <a:t>Outside Class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We can access class variable using Classname.variable_name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class Mobile</a:t>
            </a: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fp = ‘Yes’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r>
              <a:rPr lang="en-US" sz="1600"/>
              <a:t>@classmethod</a:t>
            </a:r>
            <a:endParaRPr sz="1600"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    def show(cls):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          cls.fp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realme = Mobile( )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Mobile.fp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4" name="Google Shape;214;p25"/>
          <p:cNvSpPr txBox="1"/>
          <p:nvPr/>
        </p:nvSpPr>
        <p:spPr>
          <a:xfrm>
            <a:off x="2895600" y="1680813"/>
            <a:ext cx="1186159" cy="30777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 Variable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5" name="Google Shape;215;p25"/>
          <p:cNvCxnSpPr/>
          <p:nvPr/>
        </p:nvCxnSpPr>
        <p:spPr>
          <a:xfrm flipH="1">
            <a:off x="2057400" y="1797778"/>
            <a:ext cx="838200" cy="36923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216" name="Google Shape;216;p25"/>
          <p:cNvSpPr txBox="1"/>
          <p:nvPr/>
        </p:nvSpPr>
        <p:spPr>
          <a:xfrm>
            <a:off x="2743200" y="2280518"/>
            <a:ext cx="1177566" cy="30777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 Method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7" name="Google Shape;217;p25"/>
          <p:cNvCxnSpPr/>
          <p:nvPr/>
        </p:nvCxnSpPr>
        <p:spPr>
          <a:xfrm flipH="1">
            <a:off x="2146953" y="2456347"/>
            <a:ext cx="584022" cy="65532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218" name="Google Shape;218;p25"/>
          <p:cNvSpPr txBox="1"/>
          <p:nvPr/>
        </p:nvSpPr>
        <p:spPr>
          <a:xfrm>
            <a:off x="2626650" y="2876550"/>
            <a:ext cx="3439018" cy="30777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Accessing Class Variable inside Class Method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9" name="Google Shape;219;p25"/>
          <p:cNvCxnSpPr>
            <a:stCxn id="218" idx="1"/>
          </p:cNvCxnSpPr>
          <p:nvPr/>
        </p:nvCxnSpPr>
        <p:spPr>
          <a:xfrm flipH="1">
            <a:off x="2022450" y="3030439"/>
            <a:ext cx="604200" cy="1080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220" name="Google Shape;220;p25"/>
          <p:cNvSpPr txBox="1"/>
          <p:nvPr/>
        </p:nvSpPr>
        <p:spPr>
          <a:xfrm>
            <a:off x="2438964" y="4019550"/>
            <a:ext cx="2904578" cy="30777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Accessing Class Variable outside class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1" name="Google Shape;221;p25"/>
          <p:cNvCxnSpPr>
            <a:stCxn id="220" idx="1"/>
          </p:cNvCxnSpPr>
          <p:nvPr/>
        </p:nvCxnSpPr>
        <p:spPr>
          <a:xfrm flipH="1">
            <a:off x="1834764" y="4173439"/>
            <a:ext cx="604200" cy="1080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3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3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3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9"/>
          <p:cNvSpPr txBox="1"/>
          <p:nvPr>
            <p:ph type="title"/>
          </p:nvPr>
        </p:nvSpPr>
        <p:spPr>
          <a:xfrm>
            <a:off x="457200" y="3810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b="1" lang="en-US" sz="4000" u="sng">
                <a:latin typeface="Times New Roman"/>
                <a:ea typeface="Times New Roman"/>
                <a:cs typeface="Times New Roman"/>
                <a:sym typeface="Times New Roman"/>
              </a:rPr>
              <a:t>Type of Methods</a:t>
            </a:r>
            <a:endParaRPr b="1" sz="4000"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7" name="Google Shape;227;p29"/>
          <p:cNvSpPr txBox="1"/>
          <p:nvPr>
            <p:ph idx="1" type="body"/>
          </p:nvPr>
        </p:nvSpPr>
        <p:spPr>
          <a:xfrm>
            <a:off x="172575" y="874513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Instance Methods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Class Methods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Static Methods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0"/>
          <p:cNvSpPr txBox="1"/>
          <p:nvPr>
            <p:ph type="title"/>
          </p:nvPr>
        </p:nvSpPr>
        <p:spPr>
          <a:xfrm>
            <a:off x="457200" y="3810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b="1" lang="en-US" sz="4000" u="sng">
                <a:latin typeface="Times New Roman"/>
                <a:ea typeface="Times New Roman"/>
                <a:cs typeface="Times New Roman"/>
                <a:sym typeface="Times New Roman"/>
              </a:rPr>
              <a:t>Instance Method</a:t>
            </a:r>
            <a:endParaRPr b="1" sz="4000"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3" name="Google Shape;233;p30"/>
          <p:cNvSpPr txBox="1"/>
          <p:nvPr>
            <p:ph idx="1" type="body"/>
          </p:nvPr>
        </p:nvSpPr>
        <p:spPr>
          <a:xfrm>
            <a:off x="457200" y="895350"/>
            <a:ext cx="8229600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Instance methods are the methods which act upon the instance variables of the class.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Instance method need to know the memory address of the instance which is provided through </a:t>
            </a:r>
            <a:r>
              <a:rPr i="1" lang="en-US" sz="1800">
                <a:latin typeface="Times New Roman"/>
                <a:ea typeface="Times New Roman"/>
                <a:cs typeface="Times New Roman"/>
                <a:sym typeface="Times New Roman"/>
              </a:rPr>
              <a:t>self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variable by default as first parameter for the instance method.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Syntax:- 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def method_name(</a:t>
            </a:r>
            <a:r>
              <a:rPr i="1" lang="en-US" sz="1800">
                <a:latin typeface="Times New Roman"/>
                <a:ea typeface="Times New Roman"/>
                <a:cs typeface="Times New Roman"/>
                <a:sym typeface="Times New Roman"/>
              </a:rPr>
              <a:t>self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):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	function body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def method_name(self, f1, f2):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	function body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4" name="Google Shape;234;p30"/>
          <p:cNvSpPr/>
          <p:nvPr/>
        </p:nvSpPr>
        <p:spPr>
          <a:xfrm>
            <a:off x="3505200" y="2266950"/>
            <a:ext cx="228600" cy="457200"/>
          </a:xfrm>
          <a:prstGeom prst="rightBrace">
            <a:avLst>
              <a:gd fmla="val 8333" name="adj1"/>
              <a:gd fmla="val 50000" name="adj2"/>
            </a:avLst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30"/>
          <p:cNvSpPr/>
          <p:nvPr/>
        </p:nvSpPr>
        <p:spPr>
          <a:xfrm>
            <a:off x="3505200" y="3333750"/>
            <a:ext cx="228600" cy="457200"/>
          </a:xfrm>
          <a:prstGeom prst="rightBrace">
            <a:avLst>
              <a:gd fmla="val 8333" name="adj1"/>
              <a:gd fmla="val 50000" name="adj2"/>
            </a:avLst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30"/>
          <p:cNvSpPr txBox="1"/>
          <p:nvPr/>
        </p:nvSpPr>
        <p:spPr>
          <a:xfrm>
            <a:off x="3757027" y="2310884"/>
            <a:ext cx="4261488" cy="30777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Instance Method without Parameter/Formal Arguments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30"/>
          <p:cNvSpPr txBox="1"/>
          <p:nvPr/>
        </p:nvSpPr>
        <p:spPr>
          <a:xfrm>
            <a:off x="3733800" y="3409950"/>
            <a:ext cx="4070666" cy="30777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Instance Method with Parameter/Formal Arguments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3"/>
          <p:cNvSpPr txBox="1"/>
          <p:nvPr>
            <p:ph type="title"/>
          </p:nvPr>
        </p:nvSpPr>
        <p:spPr>
          <a:xfrm>
            <a:off x="457200" y="3810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b="1" lang="en-US" sz="4000" u="sng">
                <a:latin typeface="Times New Roman"/>
                <a:ea typeface="Times New Roman"/>
                <a:cs typeface="Times New Roman"/>
                <a:sym typeface="Times New Roman"/>
              </a:rPr>
              <a:t>Instance Method with Parameter</a:t>
            </a:r>
            <a:endParaRPr b="1" sz="4000"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3" name="Google Shape;243;p33"/>
          <p:cNvSpPr txBox="1"/>
          <p:nvPr>
            <p:ph idx="1" type="body"/>
          </p:nvPr>
        </p:nvSpPr>
        <p:spPr>
          <a:xfrm>
            <a:off x="1066800" y="895350"/>
            <a:ext cx="5181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class Mobile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    def __init__(self):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           self.model = ‘RealMe X’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   def show_model(self, p):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           self.price = p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           print(self.model, self.price)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realme = Mobile( )</a:t>
            </a:r>
            <a:endParaRPr/>
          </a:p>
        </p:txBody>
      </p:sp>
      <p:sp>
        <p:nvSpPr>
          <p:cNvPr id="244" name="Google Shape;244;p33"/>
          <p:cNvSpPr txBox="1"/>
          <p:nvPr/>
        </p:nvSpPr>
        <p:spPr>
          <a:xfrm>
            <a:off x="4051093" y="1746371"/>
            <a:ext cx="2599943" cy="30777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Instance Method with parameter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5" name="Google Shape;245;p33"/>
          <p:cNvCxnSpPr>
            <a:stCxn id="244" idx="1"/>
          </p:cNvCxnSpPr>
          <p:nvPr/>
        </p:nvCxnSpPr>
        <p:spPr>
          <a:xfrm flipH="1">
            <a:off x="3441493" y="1900260"/>
            <a:ext cx="609600" cy="38250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246" name="Google Shape;246;p33"/>
          <p:cNvSpPr txBox="1"/>
          <p:nvPr/>
        </p:nvSpPr>
        <p:spPr>
          <a:xfrm>
            <a:off x="76199" y="2571750"/>
            <a:ext cx="1447801" cy="30777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Instance Variable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7" name="Google Shape;247;p33"/>
          <p:cNvCxnSpPr>
            <a:stCxn id="246" idx="3"/>
          </p:cNvCxnSpPr>
          <p:nvPr/>
        </p:nvCxnSpPr>
        <p:spPr>
          <a:xfrm flipH="1" rot="10800000">
            <a:off x="1524000" y="2724139"/>
            <a:ext cx="228600" cy="150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248" name="Google Shape;248;p33"/>
          <p:cNvSpPr txBox="1"/>
          <p:nvPr/>
        </p:nvSpPr>
        <p:spPr>
          <a:xfrm>
            <a:off x="3576828" y="2571750"/>
            <a:ext cx="948529" cy="30777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Parameter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9" name="Google Shape;249;p33"/>
          <p:cNvCxnSpPr>
            <a:stCxn id="248" idx="1"/>
          </p:cNvCxnSpPr>
          <p:nvPr/>
        </p:nvCxnSpPr>
        <p:spPr>
          <a:xfrm rot="10800000">
            <a:off x="3136728" y="2725639"/>
            <a:ext cx="440100" cy="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250" name="Google Shape;250;p33"/>
          <p:cNvSpPr txBox="1"/>
          <p:nvPr/>
        </p:nvSpPr>
        <p:spPr>
          <a:xfrm>
            <a:off x="4200864" y="1024704"/>
            <a:ext cx="1420197" cy="30777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Instance variable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1" name="Google Shape;251;p33"/>
          <p:cNvCxnSpPr>
            <a:stCxn id="250" idx="1"/>
          </p:cNvCxnSpPr>
          <p:nvPr/>
        </p:nvCxnSpPr>
        <p:spPr>
          <a:xfrm flipH="1">
            <a:off x="3770064" y="1178593"/>
            <a:ext cx="430800" cy="37650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4"/>
          <p:cNvSpPr txBox="1"/>
          <p:nvPr>
            <p:ph type="title"/>
          </p:nvPr>
        </p:nvSpPr>
        <p:spPr>
          <a:xfrm>
            <a:off x="457200" y="3810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b="1" lang="en-US" sz="4000" u="sng">
                <a:latin typeface="Times New Roman"/>
                <a:ea typeface="Times New Roman"/>
                <a:cs typeface="Times New Roman"/>
                <a:sym typeface="Times New Roman"/>
              </a:rPr>
              <a:t>Calling Instance Method with Argument</a:t>
            </a:r>
            <a:endParaRPr b="1" sz="4000"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7" name="Google Shape;257;p34"/>
          <p:cNvSpPr txBox="1"/>
          <p:nvPr>
            <p:ph idx="1" type="body"/>
          </p:nvPr>
        </p:nvSpPr>
        <p:spPr>
          <a:xfrm>
            <a:off x="457200" y="89535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Syntax:- object_name.method_name(Actual_argument)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Ex:- realme.show_model(1000)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class Mobile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    def __init__(self):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           self.model = ‘RealMe X’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   def show_model(self, p):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           self.price = p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           print(self.model, self.price)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realme = Mobile( )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realme.show_model(1000)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8" name="Google Shape;258;p34"/>
          <p:cNvSpPr txBox="1"/>
          <p:nvPr/>
        </p:nvSpPr>
        <p:spPr>
          <a:xfrm>
            <a:off x="3505200" y="4324350"/>
            <a:ext cx="2417393" cy="30777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Calling Method with argument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9" name="Google Shape;259;p34"/>
          <p:cNvCxnSpPr/>
          <p:nvPr/>
        </p:nvCxnSpPr>
        <p:spPr>
          <a:xfrm rot="10800000">
            <a:off x="3048000" y="4400550"/>
            <a:ext cx="457200" cy="77688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7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7"/>
          <p:cNvSpPr txBox="1"/>
          <p:nvPr>
            <p:ph type="title"/>
          </p:nvPr>
        </p:nvSpPr>
        <p:spPr>
          <a:xfrm>
            <a:off x="457200" y="3810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b="1" lang="en-US" sz="4000" u="sng">
                <a:latin typeface="Times New Roman"/>
                <a:ea typeface="Times New Roman"/>
                <a:cs typeface="Times New Roman"/>
                <a:sym typeface="Times New Roman"/>
              </a:rPr>
              <a:t>Class Methods</a:t>
            </a:r>
            <a:endParaRPr b="1" sz="4000"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5" name="Google Shape;265;p37"/>
          <p:cNvSpPr txBox="1"/>
          <p:nvPr>
            <p:ph idx="1" type="body"/>
          </p:nvPr>
        </p:nvSpPr>
        <p:spPr>
          <a:xfrm>
            <a:off x="457200" y="895350"/>
            <a:ext cx="8229600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Class methods are the methods which act upon the class variables or static variable of the class.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Decorator @classmethod need to write above the class method.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By default, the first parameter of class method is cls which refers to the class itself.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Syntax:- 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@classmethod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def method_name(cls):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	method body</a:t>
            </a:r>
            <a:endParaRPr/>
          </a:p>
          <a:p>
            <a:pPr indent="0" lvl="0" marL="0" rtl="0" algn="l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@classmethod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def method_name(cls, f1, f2):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	method body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6" name="Google Shape;266;p37"/>
          <p:cNvSpPr/>
          <p:nvPr/>
        </p:nvSpPr>
        <p:spPr>
          <a:xfrm>
            <a:off x="3505200" y="3028950"/>
            <a:ext cx="228600" cy="457200"/>
          </a:xfrm>
          <a:prstGeom prst="rightBrace">
            <a:avLst>
              <a:gd fmla="val 8333" name="adj1"/>
              <a:gd fmla="val 50000" name="adj2"/>
            </a:avLst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37"/>
          <p:cNvSpPr/>
          <p:nvPr/>
        </p:nvSpPr>
        <p:spPr>
          <a:xfrm>
            <a:off x="3505200" y="4095750"/>
            <a:ext cx="228600" cy="457200"/>
          </a:xfrm>
          <a:prstGeom prst="rightBrace">
            <a:avLst>
              <a:gd fmla="val 8333" name="adj1"/>
              <a:gd fmla="val 50000" name="adj2"/>
            </a:avLst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37"/>
          <p:cNvSpPr txBox="1"/>
          <p:nvPr/>
        </p:nvSpPr>
        <p:spPr>
          <a:xfrm>
            <a:off x="3757027" y="3072884"/>
            <a:ext cx="4013984" cy="30777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 Method without Parameter/Formal Arguments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37"/>
          <p:cNvSpPr txBox="1"/>
          <p:nvPr/>
        </p:nvSpPr>
        <p:spPr>
          <a:xfrm>
            <a:off x="3733800" y="4171950"/>
            <a:ext cx="3763916" cy="30777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 Method with Parameter/Formal Arguments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37"/>
          <p:cNvSpPr txBox="1"/>
          <p:nvPr/>
        </p:nvSpPr>
        <p:spPr>
          <a:xfrm>
            <a:off x="2667000" y="2374759"/>
            <a:ext cx="913520" cy="30777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Decorator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1" name="Google Shape;271;p37"/>
          <p:cNvCxnSpPr/>
          <p:nvPr/>
        </p:nvCxnSpPr>
        <p:spPr>
          <a:xfrm flipH="1">
            <a:off x="1981200" y="2528647"/>
            <a:ext cx="685800" cy="153889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272" name="Google Shape;272;p37"/>
          <p:cNvSpPr txBox="1"/>
          <p:nvPr/>
        </p:nvSpPr>
        <p:spPr>
          <a:xfrm>
            <a:off x="2609633" y="3562350"/>
            <a:ext cx="913520" cy="30777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Decorator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3" name="Google Shape;273;p37"/>
          <p:cNvCxnSpPr/>
          <p:nvPr/>
        </p:nvCxnSpPr>
        <p:spPr>
          <a:xfrm flipH="1">
            <a:off x="1923833" y="3716238"/>
            <a:ext cx="685800" cy="153889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5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1"/>
          <p:cNvSpPr txBox="1"/>
          <p:nvPr>
            <p:ph type="title"/>
          </p:nvPr>
        </p:nvSpPr>
        <p:spPr>
          <a:xfrm>
            <a:off x="457200" y="3810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b="1" lang="en-US" sz="4000" u="sng">
                <a:latin typeface="Times New Roman"/>
                <a:ea typeface="Times New Roman"/>
                <a:cs typeface="Times New Roman"/>
                <a:sym typeface="Times New Roman"/>
              </a:rPr>
              <a:t>Calling Class Method with Argument</a:t>
            </a:r>
            <a:endParaRPr b="1" sz="4000"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" name="Google Shape;279;p41"/>
          <p:cNvSpPr txBox="1"/>
          <p:nvPr>
            <p:ph idx="1" type="body"/>
          </p:nvPr>
        </p:nvSpPr>
        <p:spPr>
          <a:xfrm>
            <a:off x="685800" y="895350"/>
            <a:ext cx="7543800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Syntax:- Classname.method_name(Actual_argument)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Ex:- Mobile.show_model(‘4GB’)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class Mobile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    fp = ‘Yes’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    @classmethod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    def show_model(cls, r)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           cls.ram = r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           print(cls.fp, cls.ram)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realme = Mobile( )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Mobile.show_model(101)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41"/>
          <p:cNvSpPr txBox="1"/>
          <p:nvPr/>
        </p:nvSpPr>
        <p:spPr>
          <a:xfrm>
            <a:off x="3754807" y="4321373"/>
            <a:ext cx="2417393" cy="30777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Calling Method with argument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1" name="Google Shape;281;p41"/>
          <p:cNvCxnSpPr/>
          <p:nvPr/>
        </p:nvCxnSpPr>
        <p:spPr>
          <a:xfrm rot="10800000">
            <a:off x="3297607" y="4397573"/>
            <a:ext cx="457200" cy="77688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9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2"/>
          <p:cNvSpPr txBox="1"/>
          <p:nvPr>
            <p:ph type="title"/>
          </p:nvPr>
        </p:nvSpPr>
        <p:spPr>
          <a:xfrm>
            <a:off x="457200" y="3810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b="1" lang="en-US" sz="4000" u="sng">
                <a:latin typeface="Times New Roman"/>
                <a:ea typeface="Times New Roman"/>
                <a:cs typeface="Times New Roman"/>
                <a:sym typeface="Times New Roman"/>
              </a:rPr>
              <a:t>Static Methods</a:t>
            </a:r>
            <a:endParaRPr b="1" sz="4000"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7" name="Google Shape;287;p42"/>
          <p:cNvSpPr txBox="1"/>
          <p:nvPr>
            <p:ph idx="1" type="body"/>
          </p:nvPr>
        </p:nvSpPr>
        <p:spPr>
          <a:xfrm>
            <a:off x="457200" y="895350"/>
            <a:ext cx="8229600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Static Methods are used when some processing is related to the class but does not need the class or its instances to perform any work.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We use static method when we want to pass some values from outside and perform some action in the method.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Decorator @staticmethod need to write above the static method.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Syntax:- 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@staticmethod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def method_name():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	method body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@staticmethod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def method_name(f1, f2):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	method body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8" name="Google Shape;288;p42"/>
          <p:cNvSpPr/>
          <p:nvPr/>
        </p:nvSpPr>
        <p:spPr>
          <a:xfrm>
            <a:off x="2808871" y="2903327"/>
            <a:ext cx="228600" cy="457200"/>
          </a:xfrm>
          <a:prstGeom prst="rightBrace">
            <a:avLst>
              <a:gd fmla="val 8333" name="adj1"/>
              <a:gd fmla="val 50000" name="adj2"/>
            </a:avLst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42"/>
          <p:cNvSpPr/>
          <p:nvPr/>
        </p:nvSpPr>
        <p:spPr>
          <a:xfrm>
            <a:off x="3082166" y="4170461"/>
            <a:ext cx="228600" cy="457200"/>
          </a:xfrm>
          <a:prstGeom prst="rightBrace">
            <a:avLst>
              <a:gd fmla="val 8333" name="adj1"/>
              <a:gd fmla="val 50000" name="adj2"/>
            </a:avLst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42"/>
          <p:cNvSpPr txBox="1"/>
          <p:nvPr/>
        </p:nvSpPr>
        <p:spPr>
          <a:xfrm>
            <a:off x="3060698" y="2947261"/>
            <a:ext cx="4051815" cy="30777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Static Method without Parameter/Formal Arguments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42"/>
          <p:cNvSpPr txBox="1"/>
          <p:nvPr/>
        </p:nvSpPr>
        <p:spPr>
          <a:xfrm>
            <a:off x="3310766" y="4246661"/>
            <a:ext cx="3801746" cy="30777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Static Method with Parameter/Formal Arguments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42"/>
          <p:cNvSpPr txBox="1"/>
          <p:nvPr/>
        </p:nvSpPr>
        <p:spPr>
          <a:xfrm>
            <a:off x="2603938" y="2343150"/>
            <a:ext cx="913520" cy="30777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Decorator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3" name="Google Shape;293;p42"/>
          <p:cNvCxnSpPr/>
          <p:nvPr/>
        </p:nvCxnSpPr>
        <p:spPr>
          <a:xfrm flipH="1">
            <a:off x="1918138" y="2497038"/>
            <a:ext cx="685800" cy="153889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294" name="Google Shape;294;p42"/>
          <p:cNvSpPr txBox="1"/>
          <p:nvPr/>
        </p:nvSpPr>
        <p:spPr>
          <a:xfrm>
            <a:off x="2590800" y="3542951"/>
            <a:ext cx="913520" cy="30777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Decorator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5" name="Google Shape;295;p42"/>
          <p:cNvCxnSpPr/>
          <p:nvPr/>
        </p:nvCxnSpPr>
        <p:spPr>
          <a:xfrm flipH="1">
            <a:off x="1905000" y="3696839"/>
            <a:ext cx="685800" cy="153889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7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3"/>
          <p:cNvSpPr txBox="1"/>
          <p:nvPr>
            <p:ph type="title"/>
          </p:nvPr>
        </p:nvSpPr>
        <p:spPr>
          <a:xfrm>
            <a:off x="457200" y="3810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b="1" lang="en-US" sz="4000" u="sng">
                <a:latin typeface="Times New Roman"/>
                <a:ea typeface="Times New Roman"/>
                <a:cs typeface="Times New Roman"/>
                <a:sym typeface="Times New Roman"/>
              </a:rPr>
              <a:t>Static Method without Parameter</a:t>
            </a:r>
            <a:endParaRPr b="1" sz="4000"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1" name="Google Shape;301;p43"/>
          <p:cNvSpPr txBox="1"/>
          <p:nvPr>
            <p:ph idx="1" type="body"/>
          </p:nvPr>
        </p:nvSpPr>
        <p:spPr>
          <a:xfrm>
            <a:off x="4838501" y="971550"/>
            <a:ext cx="30480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class Mobile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fp = ‘Yes’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   @staticmethod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   def show_model()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           print(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Mobile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.fp)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realme = Mobile( )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2" name="Google Shape;302;p43"/>
          <p:cNvSpPr txBox="1"/>
          <p:nvPr/>
        </p:nvSpPr>
        <p:spPr>
          <a:xfrm>
            <a:off x="7471403" y="1634638"/>
            <a:ext cx="1215397" cy="30777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Static Method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3" name="Google Shape;303;p43"/>
          <p:cNvCxnSpPr/>
          <p:nvPr/>
        </p:nvCxnSpPr>
        <p:spPr>
          <a:xfrm rot="10800000">
            <a:off x="7001163" y="1819304"/>
            <a:ext cx="457200" cy="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304" name="Google Shape;304;p43"/>
          <p:cNvSpPr txBox="1"/>
          <p:nvPr/>
        </p:nvSpPr>
        <p:spPr>
          <a:xfrm>
            <a:off x="609600" y="971550"/>
            <a:ext cx="34290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Mobile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/>
          </a:p>
          <a:p>
            <a:pPr indent="0" lvl="0" marL="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@staticmethod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def show_model()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/>
          </a:p>
          <a:p>
            <a:pPr indent="0" lvl="0" marL="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print(“RealMe X”)</a:t>
            </a:r>
            <a:endParaRPr/>
          </a:p>
          <a:p>
            <a:pPr indent="0" lvl="0" marL="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realme = Mobile( )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5" name="Google Shape;305;p43"/>
          <p:cNvSpPr txBox="1"/>
          <p:nvPr/>
        </p:nvSpPr>
        <p:spPr>
          <a:xfrm>
            <a:off x="3204203" y="1581150"/>
            <a:ext cx="1215397" cy="30777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Static Method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6" name="Google Shape;306;p43"/>
          <p:cNvCxnSpPr>
            <a:stCxn id="305" idx="1"/>
          </p:cNvCxnSpPr>
          <p:nvPr/>
        </p:nvCxnSpPr>
        <p:spPr>
          <a:xfrm flipH="1">
            <a:off x="2734103" y="1735038"/>
            <a:ext cx="470100" cy="10710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307" name="Google Shape;307;p43"/>
          <p:cNvSpPr txBox="1"/>
          <p:nvPr/>
        </p:nvSpPr>
        <p:spPr>
          <a:xfrm>
            <a:off x="3000801" y="1137868"/>
            <a:ext cx="913520" cy="30777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Decorator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8" name="Google Shape;308;p43"/>
          <p:cNvCxnSpPr/>
          <p:nvPr/>
        </p:nvCxnSpPr>
        <p:spPr>
          <a:xfrm flipH="1">
            <a:off x="2315001" y="1291756"/>
            <a:ext cx="685800" cy="153889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6"/>
          <p:cNvSpPr txBox="1"/>
          <p:nvPr>
            <p:ph type="title"/>
          </p:nvPr>
        </p:nvSpPr>
        <p:spPr>
          <a:xfrm>
            <a:off x="457200" y="3810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b="1" lang="en-US" sz="4000" u="sng">
                <a:latin typeface="Times New Roman"/>
                <a:ea typeface="Times New Roman"/>
                <a:cs typeface="Times New Roman"/>
                <a:sym typeface="Times New Roman"/>
              </a:rPr>
              <a:t>Calling Static Method with Argument</a:t>
            </a:r>
            <a:endParaRPr b="1" sz="4000"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4" name="Google Shape;314;p46"/>
          <p:cNvSpPr txBox="1"/>
          <p:nvPr>
            <p:ph idx="1" type="body"/>
          </p:nvPr>
        </p:nvSpPr>
        <p:spPr>
          <a:xfrm>
            <a:off x="685800" y="895350"/>
            <a:ext cx="7543800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Syntax:- Classname.method_name(Actual_argument)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Ex:- Mobile.show_model(1000)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class Mobile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    @staticmethod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   def show_model(m, p):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           model = m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           price = p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           print(model, price)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realme = Mobile( )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Mobile.show_model(‘RealMe X’, 1000)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5" name="Google Shape;315;p46"/>
          <p:cNvSpPr txBox="1"/>
          <p:nvPr/>
        </p:nvSpPr>
        <p:spPr>
          <a:xfrm>
            <a:off x="5029200" y="3946327"/>
            <a:ext cx="2417393" cy="30777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Calling Method with argument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6" name="Google Shape;316;p46"/>
          <p:cNvCxnSpPr/>
          <p:nvPr/>
        </p:nvCxnSpPr>
        <p:spPr>
          <a:xfrm rot="10800000">
            <a:off x="4572000" y="4022527"/>
            <a:ext cx="457200" cy="77688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7"/>
          <p:cNvSpPr txBox="1"/>
          <p:nvPr>
            <p:ph type="title"/>
          </p:nvPr>
        </p:nvSpPr>
        <p:spPr>
          <a:xfrm>
            <a:off x="457200" y="3810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b="1" lang="en-US" sz="4000" u="sng">
                <a:latin typeface="Times New Roman"/>
                <a:ea typeface="Times New Roman"/>
                <a:cs typeface="Times New Roman"/>
                <a:sym typeface="Times New Roman"/>
              </a:rPr>
              <a:t>Nested Class</a:t>
            </a:r>
            <a:endParaRPr b="1" sz="4000"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2" name="Google Shape;322;p47"/>
          <p:cNvSpPr txBox="1"/>
          <p:nvPr>
            <p:ph idx="1" type="body"/>
          </p:nvPr>
        </p:nvSpPr>
        <p:spPr>
          <a:xfrm>
            <a:off x="228600" y="895350"/>
            <a:ext cx="8229600" cy="39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A class within a class is called as nested class or nesting of a class.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class OuterClassName: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        def __init__(self):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              self.variable_name = value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              self.innerClassObjectName = self.InnerClassName( )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       def method_name(self):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              method body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        class InnerClassName: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              def __init__(self):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                     self.variable_name = value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              def method_name(self):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                     method body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3" name="Google Shape;323;p47"/>
          <p:cNvSpPr txBox="1"/>
          <p:nvPr/>
        </p:nvSpPr>
        <p:spPr>
          <a:xfrm>
            <a:off x="6553200" y="2038350"/>
            <a:ext cx="1683474" cy="338554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Inner Class Object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4" name="Google Shape;324;p47"/>
          <p:cNvCxnSpPr>
            <a:stCxn id="323" idx="1"/>
          </p:cNvCxnSpPr>
          <p:nvPr/>
        </p:nvCxnSpPr>
        <p:spPr>
          <a:xfrm flipH="1">
            <a:off x="5715000" y="2207627"/>
            <a:ext cx="838200" cy="1530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2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2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2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2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8"/>
          <p:cNvSpPr txBox="1"/>
          <p:nvPr>
            <p:ph idx="1" type="body"/>
          </p:nvPr>
        </p:nvSpPr>
        <p:spPr>
          <a:xfrm>
            <a:off x="457200" y="209550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class Army: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      def __init__(self):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            self.name = ‘Rahul’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            self.gn = self.Gun()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      def show(self):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            print(self.name)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      class Gun: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            def __init__(self):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	self.name = ‘AK47’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	self.capacity = ’75 Rounds’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	self.length = ‘34.3 in’	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           def disp(self):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                 print(self.name, self.capacity, self.length)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a = Army()</a:t>
            </a:r>
            <a:endParaRPr/>
          </a:p>
        </p:txBody>
      </p:sp>
      <p:sp>
        <p:nvSpPr>
          <p:cNvPr id="330" name="Google Shape;330;p48"/>
          <p:cNvSpPr txBox="1"/>
          <p:nvPr/>
        </p:nvSpPr>
        <p:spPr>
          <a:xfrm>
            <a:off x="2971800" y="2187355"/>
            <a:ext cx="1085554" cy="338554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Inner Class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1" name="Google Shape;331;p48"/>
          <p:cNvCxnSpPr>
            <a:stCxn id="330" idx="1"/>
          </p:cNvCxnSpPr>
          <p:nvPr/>
        </p:nvCxnSpPr>
        <p:spPr>
          <a:xfrm flipH="1">
            <a:off x="2133600" y="2356632"/>
            <a:ext cx="838200" cy="1530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332" name="Google Shape;332;p48"/>
          <p:cNvSpPr txBox="1"/>
          <p:nvPr/>
        </p:nvSpPr>
        <p:spPr>
          <a:xfrm>
            <a:off x="4038600" y="1200150"/>
            <a:ext cx="1683474" cy="338554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Inner Class Object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3" name="Google Shape;333;p48"/>
          <p:cNvCxnSpPr>
            <a:stCxn id="332" idx="1"/>
          </p:cNvCxnSpPr>
          <p:nvPr/>
        </p:nvCxnSpPr>
        <p:spPr>
          <a:xfrm flipH="1">
            <a:off x="3200400" y="1369427"/>
            <a:ext cx="838200" cy="1530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334" name="Google Shape;334;p48"/>
          <p:cNvSpPr txBox="1"/>
          <p:nvPr/>
        </p:nvSpPr>
        <p:spPr>
          <a:xfrm>
            <a:off x="2607910" y="209550"/>
            <a:ext cx="1129861" cy="338554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Outer Class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5" name="Google Shape;335;p48"/>
          <p:cNvCxnSpPr>
            <a:stCxn id="334" idx="1"/>
          </p:cNvCxnSpPr>
          <p:nvPr/>
        </p:nvCxnSpPr>
        <p:spPr>
          <a:xfrm flipH="1">
            <a:off x="1769710" y="378827"/>
            <a:ext cx="838200" cy="1530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336" name="Google Shape;336;p48"/>
          <p:cNvSpPr txBox="1"/>
          <p:nvPr/>
        </p:nvSpPr>
        <p:spPr>
          <a:xfrm>
            <a:off x="2438400" y="4552950"/>
            <a:ext cx="1727781" cy="338554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Outer Class Object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7" name="Google Shape;337;p48"/>
          <p:cNvCxnSpPr>
            <a:stCxn id="336" idx="1"/>
          </p:cNvCxnSpPr>
          <p:nvPr/>
        </p:nvCxnSpPr>
        <p:spPr>
          <a:xfrm flipH="1">
            <a:off x="1600200" y="4722227"/>
            <a:ext cx="838200" cy="1530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9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9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9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9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9"/>
          <p:cNvSpPr txBox="1"/>
          <p:nvPr>
            <p:ph type="title"/>
          </p:nvPr>
        </p:nvSpPr>
        <p:spPr>
          <a:xfrm>
            <a:off x="457200" y="-1905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b="1" lang="en-US" u="sng">
                <a:latin typeface="Times New Roman"/>
                <a:ea typeface="Times New Roman"/>
                <a:cs typeface="Times New Roman"/>
                <a:sym typeface="Times New Roman"/>
              </a:rPr>
              <a:t>Inheritance </a:t>
            </a:r>
            <a:endParaRPr b="1"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3" name="Google Shape;343;p49"/>
          <p:cNvSpPr txBox="1"/>
          <p:nvPr>
            <p:ph idx="1" type="body"/>
          </p:nvPr>
        </p:nvSpPr>
        <p:spPr>
          <a:xfrm>
            <a:off x="457200" y="81915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mechanism of deriving a new class from an old one (existing class) such that the new class inherit all the members (variables and methods) of old class is called inheritance or derivation. </a:t>
            </a:r>
            <a:endParaRPr/>
          </a:p>
        </p:txBody>
      </p:sp>
      <p:sp>
        <p:nvSpPr>
          <p:cNvPr id="344" name="Google Shape;344;p49"/>
          <p:cNvSpPr/>
          <p:nvPr/>
        </p:nvSpPr>
        <p:spPr>
          <a:xfrm>
            <a:off x="2895600" y="2190750"/>
            <a:ext cx="2286000" cy="533400"/>
          </a:xfrm>
          <a:prstGeom prst="rect">
            <a:avLst/>
          </a:prstGeom>
          <a:gradFill>
            <a:gsLst>
              <a:gs pos="0">
                <a:srgbClr val="DAFEA4"/>
              </a:gs>
              <a:gs pos="35000">
                <a:srgbClr val="E3FEBF"/>
              </a:gs>
              <a:gs pos="100000">
                <a:srgbClr val="F4FEE6"/>
              </a:gs>
            </a:gsLst>
            <a:lin ang="16200000" scaled="0"/>
          </a:gradFill>
          <a:ln cap="flat" cmpd="sng" w="9525">
            <a:solidFill>
              <a:srgbClr val="97B85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Old Class </a:t>
            </a:r>
            <a:endParaRPr b="1"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49"/>
          <p:cNvSpPr/>
          <p:nvPr/>
        </p:nvSpPr>
        <p:spPr>
          <a:xfrm>
            <a:off x="2895600" y="3333750"/>
            <a:ext cx="2286000" cy="533400"/>
          </a:xfrm>
          <a:prstGeom prst="rect">
            <a:avLst/>
          </a:prstGeom>
          <a:gradFill>
            <a:gsLst>
              <a:gs pos="0">
                <a:srgbClr val="C8B2E9"/>
              </a:gs>
              <a:gs pos="35000">
                <a:srgbClr val="D6CAED"/>
              </a:gs>
              <a:gs pos="100000">
                <a:srgbClr val="EFE8FA"/>
              </a:gs>
            </a:gsLst>
            <a:lin ang="16200000" scaled="0"/>
          </a:gradFill>
          <a:ln cap="flat" cmpd="sng" w="9525">
            <a:solidFill>
              <a:srgbClr val="7C5F9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New Class </a:t>
            </a:r>
            <a:endParaRPr b="1"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6" name="Google Shape;346;p49"/>
          <p:cNvCxnSpPr>
            <a:stCxn id="344" idx="2"/>
            <a:endCxn id="345" idx="0"/>
          </p:cNvCxnSpPr>
          <p:nvPr/>
        </p:nvCxnSpPr>
        <p:spPr>
          <a:xfrm>
            <a:off x="4038600" y="2724150"/>
            <a:ext cx="0" cy="6096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50"/>
          <p:cNvSpPr txBox="1"/>
          <p:nvPr>
            <p:ph type="title"/>
          </p:nvPr>
        </p:nvSpPr>
        <p:spPr>
          <a:xfrm>
            <a:off x="457200" y="3571"/>
            <a:ext cx="8229600" cy="6631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b="1" lang="en-US" u="sng">
                <a:latin typeface="Times New Roman"/>
                <a:ea typeface="Times New Roman"/>
                <a:cs typeface="Times New Roman"/>
                <a:sym typeface="Times New Roman"/>
              </a:rPr>
              <a:t>Super Class and Sub Class </a:t>
            </a:r>
            <a:endParaRPr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2" name="Google Shape;352;p50"/>
          <p:cNvSpPr txBox="1"/>
          <p:nvPr>
            <p:ph idx="1" type="body"/>
          </p:nvPr>
        </p:nvSpPr>
        <p:spPr>
          <a:xfrm>
            <a:off x="457200" y="781050"/>
            <a:ext cx="815340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The old class is referred to as the Super class and the new one is called the Sub class.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Parent Class 	- Base Class or Super Class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Child Class 	- Derived Class or Sub Class</a:t>
            </a:r>
            <a:endParaRPr/>
          </a:p>
        </p:txBody>
      </p:sp>
      <p:sp>
        <p:nvSpPr>
          <p:cNvPr id="353" name="Google Shape;353;p50"/>
          <p:cNvSpPr/>
          <p:nvPr/>
        </p:nvSpPr>
        <p:spPr>
          <a:xfrm>
            <a:off x="914400" y="2095500"/>
            <a:ext cx="2819400" cy="800100"/>
          </a:xfrm>
          <a:prstGeom prst="rect">
            <a:avLst/>
          </a:prstGeom>
          <a:gradFill>
            <a:gsLst>
              <a:gs pos="0">
                <a:srgbClr val="DAFEA4"/>
              </a:gs>
              <a:gs pos="35000">
                <a:srgbClr val="E3FEBF"/>
              </a:gs>
              <a:gs pos="100000">
                <a:srgbClr val="F4FEE6"/>
              </a:gs>
            </a:gsLst>
            <a:lin ang="16200000" scaled="0"/>
          </a:gradFill>
          <a:ln cap="flat" cmpd="sng" w="9525">
            <a:solidFill>
              <a:srgbClr val="97B85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Parent Class </a:t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4" name="Google Shape;354;p50"/>
          <p:cNvSpPr/>
          <p:nvPr/>
        </p:nvSpPr>
        <p:spPr>
          <a:xfrm>
            <a:off x="914400" y="3638550"/>
            <a:ext cx="2819400" cy="800100"/>
          </a:xfrm>
          <a:prstGeom prst="rect">
            <a:avLst/>
          </a:prstGeom>
          <a:gradFill>
            <a:gsLst>
              <a:gs pos="0">
                <a:srgbClr val="C8B2E9"/>
              </a:gs>
              <a:gs pos="35000">
                <a:srgbClr val="D6CAED"/>
              </a:gs>
              <a:gs pos="100000">
                <a:srgbClr val="EFE8FA"/>
              </a:gs>
            </a:gsLst>
            <a:lin ang="16200000" scaled="0"/>
          </a:gradFill>
          <a:ln cap="flat" cmpd="sng" w="9525">
            <a:solidFill>
              <a:srgbClr val="7C5F9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Child Class </a:t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55" name="Google Shape;355;p50"/>
          <p:cNvCxnSpPr>
            <a:stCxn id="353" idx="2"/>
          </p:cNvCxnSpPr>
          <p:nvPr/>
        </p:nvCxnSpPr>
        <p:spPr>
          <a:xfrm>
            <a:off x="2324100" y="2895600"/>
            <a:ext cx="0" cy="743100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356" name="Google Shape;356;p50"/>
          <p:cNvSpPr/>
          <p:nvPr/>
        </p:nvSpPr>
        <p:spPr>
          <a:xfrm>
            <a:off x="5791200" y="1885950"/>
            <a:ext cx="2133600" cy="1181100"/>
          </a:xfrm>
          <a:prstGeom prst="rect">
            <a:avLst/>
          </a:prstGeom>
          <a:gradFill>
            <a:gsLst>
              <a:gs pos="0">
                <a:srgbClr val="DAFEA4"/>
              </a:gs>
              <a:gs pos="35000">
                <a:srgbClr val="E3FEBF"/>
              </a:gs>
              <a:gs pos="100000">
                <a:srgbClr val="F4FEE6"/>
              </a:gs>
            </a:gsLst>
            <a:lin ang="16200000" scaled="0"/>
          </a:gradFill>
          <a:ln cap="flat" cmpd="sng" w="9525">
            <a:solidFill>
              <a:srgbClr val="97B85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Father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Home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Money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Business </a:t>
            </a:r>
            <a:endParaRPr/>
          </a:p>
        </p:txBody>
      </p:sp>
      <p:sp>
        <p:nvSpPr>
          <p:cNvPr id="357" name="Google Shape;357;p50"/>
          <p:cNvSpPr/>
          <p:nvPr/>
        </p:nvSpPr>
        <p:spPr>
          <a:xfrm>
            <a:off x="5791200" y="3524250"/>
            <a:ext cx="2133600" cy="914400"/>
          </a:xfrm>
          <a:prstGeom prst="rect">
            <a:avLst/>
          </a:prstGeom>
          <a:gradFill>
            <a:gsLst>
              <a:gs pos="0">
                <a:srgbClr val="C8B2E9"/>
              </a:gs>
              <a:gs pos="35000">
                <a:srgbClr val="D6CAED"/>
              </a:gs>
              <a:gs pos="100000">
                <a:srgbClr val="EFE8FA"/>
              </a:gs>
            </a:gsLst>
            <a:lin ang="16200000" scaled="0"/>
          </a:gradFill>
          <a:ln cap="flat" cmpd="sng" w="9525">
            <a:solidFill>
              <a:srgbClr val="7C5F9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Son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BMW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Job</a:t>
            </a:r>
            <a:endParaRPr/>
          </a:p>
        </p:txBody>
      </p:sp>
      <p:cxnSp>
        <p:nvCxnSpPr>
          <p:cNvPr id="358" name="Google Shape;358;p50"/>
          <p:cNvCxnSpPr>
            <a:stCxn id="356" idx="2"/>
            <a:endCxn id="357" idx="0"/>
          </p:cNvCxnSpPr>
          <p:nvPr/>
        </p:nvCxnSpPr>
        <p:spPr>
          <a:xfrm>
            <a:off x="6858000" y="3067050"/>
            <a:ext cx="0" cy="457200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grpSp>
        <p:nvGrpSpPr>
          <p:cNvPr id="359" name="Google Shape;359;p50"/>
          <p:cNvGrpSpPr/>
          <p:nvPr/>
        </p:nvGrpSpPr>
        <p:grpSpPr>
          <a:xfrm>
            <a:off x="6477000" y="2419350"/>
            <a:ext cx="1981200" cy="1333500"/>
            <a:chOff x="6553200" y="4038600"/>
            <a:chExt cx="1981200" cy="1676400"/>
          </a:xfrm>
        </p:grpSpPr>
        <p:cxnSp>
          <p:nvCxnSpPr>
            <p:cNvPr id="360" name="Google Shape;360;p50"/>
            <p:cNvCxnSpPr/>
            <p:nvPr/>
          </p:nvCxnSpPr>
          <p:spPr>
            <a:xfrm>
              <a:off x="6934200" y="4038600"/>
              <a:ext cx="16002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</p:cxnSp>
        <p:cxnSp>
          <p:nvCxnSpPr>
            <p:cNvPr id="361" name="Google Shape;361;p50"/>
            <p:cNvCxnSpPr/>
            <p:nvPr/>
          </p:nvCxnSpPr>
          <p:spPr>
            <a:xfrm>
              <a:off x="7010400" y="4343400"/>
              <a:ext cx="15240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</p:cxnSp>
        <p:cxnSp>
          <p:nvCxnSpPr>
            <p:cNvPr id="362" name="Google Shape;362;p50"/>
            <p:cNvCxnSpPr/>
            <p:nvPr/>
          </p:nvCxnSpPr>
          <p:spPr>
            <a:xfrm>
              <a:off x="7239000" y="4648200"/>
              <a:ext cx="12954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</p:cxnSp>
        <p:cxnSp>
          <p:nvCxnSpPr>
            <p:cNvPr id="363" name="Google Shape;363;p50"/>
            <p:cNvCxnSpPr/>
            <p:nvPr/>
          </p:nvCxnSpPr>
          <p:spPr>
            <a:xfrm>
              <a:off x="8534400" y="4038600"/>
              <a:ext cx="0" cy="16764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</p:cxnSp>
        <p:cxnSp>
          <p:nvCxnSpPr>
            <p:cNvPr id="364" name="Google Shape;364;p50"/>
            <p:cNvCxnSpPr/>
            <p:nvPr/>
          </p:nvCxnSpPr>
          <p:spPr>
            <a:xfrm rot="10800000">
              <a:off x="6553200" y="5715000"/>
              <a:ext cx="19812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med" w="med" type="stealth"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</p:cxnSp>
      </p:grpSp>
      <p:cxnSp>
        <p:nvCxnSpPr>
          <p:cNvPr id="365" name="Google Shape;365;p50"/>
          <p:cNvCxnSpPr>
            <a:stCxn id="353" idx="3"/>
          </p:cNvCxnSpPr>
          <p:nvPr/>
        </p:nvCxnSpPr>
        <p:spPr>
          <a:xfrm>
            <a:off x="3733800" y="2495550"/>
            <a:ext cx="20574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366" name="Google Shape;366;p50"/>
          <p:cNvCxnSpPr>
            <a:stCxn id="354" idx="3"/>
          </p:cNvCxnSpPr>
          <p:nvPr/>
        </p:nvCxnSpPr>
        <p:spPr>
          <a:xfrm>
            <a:off x="3733800" y="4038600"/>
            <a:ext cx="20574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53"/>
          <p:cNvSpPr txBox="1"/>
          <p:nvPr>
            <p:ph idx="1" type="body"/>
          </p:nvPr>
        </p:nvSpPr>
        <p:spPr>
          <a:xfrm>
            <a:off x="381000" y="514350"/>
            <a:ext cx="3733800" cy="44196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Employee </a:t>
            </a:r>
            <a:r>
              <a:rPr b="1"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id = 1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@classmethod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def getid(cls): 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return cls.id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def setname(self, name):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self.name = name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def getname(self): 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return self.name 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def setsalary(self, salary): 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self.salary = salary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def getsalary(self): 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return self.salary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def setovertime(self, ot): 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self.ot = ot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def getovertime(self): 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return self.ot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2" name="Google Shape;372;p53"/>
          <p:cNvSpPr txBox="1"/>
          <p:nvPr/>
        </p:nvSpPr>
        <p:spPr>
          <a:xfrm>
            <a:off x="4724400" y="514350"/>
            <a:ext cx="4114800" cy="29718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Manager </a:t>
            </a: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def setsalary(self, salary): </a:t>
            </a:r>
            <a:endParaRPr/>
          </a:p>
          <a:p>
            <a:pPr indent="0" lvl="0" marL="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self.salary = salary</a:t>
            </a:r>
            <a:endParaRPr/>
          </a:p>
          <a:p>
            <a:pPr indent="0" lvl="0" marL="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def getsalary(self): </a:t>
            </a:r>
            <a:endParaRPr/>
          </a:p>
          <a:p>
            <a:pPr indent="0" lvl="0" marL="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return self.salary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def getseniorname(self, sname): </a:t>
            </a:r>
            <a:endParaRPr/>
          </a:p>
          <a:p>
            <a:pPr indent="0" lvl="0" marL="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self.sname = sname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def getseniorname(self): </a:t>
            </a:r>
            <a:endParaRPr/>
          </a:p>
          <a:p>
            <a:pPr indent="0" lvl="0" marL="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return self.sname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3" name="Google Shape;373;p53"/>
          <p:cNvSpPr/>
          <p:nvPr/>
        </p:nvSpPr>
        <p:spPr>
          <a:xfrm>
            <a:off x="1447800" y="177284"/>
            <a:ext cx="143084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Parent Class</a:t>
            </a:r>
            <a:endParaRPr/>
          </a:p>
        </p:txBody>
      </p:sp>
      <p:sp>
        <p:nvSpPr>
          <p:cNvPr id="374" name="Google Shape;374;p53"/>
          <p:cNvSpPr/>
          <p:nvPr/>
        </p:nvSpPr>
        <p:spPr>
          <a:xfrm>
            <a:off x="6019800" y="145018"/>
            <a:ext cx="13195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Child Class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54"/>
          <p:cNvSpPr txBox="1"/>
          <p:nvPr>
            <p:ph type="title"/>
          </p:nvPr>
        </p:nvSpPr>
        <p:spPr>
          <a:xfrm>
            <a:off x="457200" y="79771"/>
            <a:ext cx="8229600" cy="6631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b="1" lang="en-US" u="sng">
                <a:latin typeface="Times New Roman"/>
                <a:ea typeface="Times New Roman"/>
                <a:cs typeface="Times New Roman"/>
                <a:sym typeface="Times New Roman"/>
              </a:rPr>
              <a:t>Type of Inheritance</a:t>
            </a:r>
            <a:endParaRPr b="1"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0" name="Google Shape;380;p54"/>
          <p:cNvSpPr txBox="1"/>
          <p:nvPr>
            <p:ph idx="1" type="body"/>
          </p:nvPr>
        </p:nvSpPr>
        <p:spPr>
          <a:xfrm>
            <a:off x="457200" y="952500"/>
            <a:ext cx="8229600" cy="405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Single Inheritance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Multi-level Inheritance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Hierarchical Inheritance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Multiple Inheritance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55"/>
          <p:cNvSpPr txBox="1"/>
          <p:nvPr>
            <p:ph type="title"/>
          </p:nvPr>
        </p:nvSpPr>
        <p:spPr>
          <a:xfrm>
            <a:off x="457200" y="3810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b="1" lang="en-US" u="sng">
                <a:latin typeface="Times New Roman"/>
                <a:ea typeface="Times New Roman"/>
                <a:cs typeface="Times New Roman"/>
                <a:sym typeface="Times New Roman"/>
              </a:rPr>
              <a:t>Declaration of Child Class </a:t>
            </a:r>
            <a:endParaRPr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6" name="Google Shape;386;p55"/>
          <p:cNvSpPr txBox="1"/>
          <p:nvPr>
            <p:ph idx="1" type="body"/>
          </p:nvPr>
        </p:nvSpPr>
        <p:spPr>
          <a:xfrm>
            <a:off x="457200" y="9715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None/>
            </a:pPr>
            <a:r>
              <a:rPr lang="en-US" sz="2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ChildClassName (ParentClassName) :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	 members of Child class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rgbClr val="FF0000"/>
              </a:buClr>
              <a:buSzPts val="2000"/>
              <a:buNone/>
            </a:pPr>
            <a:r>
              <a:rPr lang="en-US" sz="2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Mobile (object) : 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	 members of Child class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rgbClr val="FF0000"/>
              </a:buClr>
              <a:buSzPts val="2000"/>
              <a:buNone/>
            </a:pPr>
            <a:r>
              <a:rPr lang="en-US" sz="2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Mobile : 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	 members of Child class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56"/>
          <p:cNvSpPr txBox="1"/>
          <p:nvPr>
            <p:ph type="title"/>
          </p:nvPr>
        </p:nvSpPr>
        <p:spPr>
          <a:xfrm>
            <a:off x="457200" y="22621"/>
            <a:ext cx="8229600" cy="7203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b="1" lang="en-US" u="sng">
                <a:latin typeface="Times New Roman"/>
                <a:ea typeface="Times New Roman"/>
                <a:cs typeface="Times New Roman"/>
                <a:sym typeface="Times New Roman"/>
              </a:rPr>
              <a:t>Single Inheritance </a:t>
            </a:r>
            <a:endParaRPr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2" name="Google Shape;392;p56"/>
          <p:cNvSpPr txBox="1"/>
          <p:nvPr>
            <p:ph idx="1" type="body"/>
          </p:nvPr>
        </p:nvSpPr>
        <p:spPr>
          <a:xfrm>
            <a:off x="457200" y="81915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If a class is derived from one base class (Parent Class), it is called Single Inheritance. </a:t>
            </a:r>
            <a:endParaRPr/>
          </a:p>
        </p:txBody>
      </p:sp>
      <p:sp>
        <p:nvSpPr>
          <p:cNvPr id="393" name="Google Shape;393;p56"/>
          <p:cNvSpPr/>
          <p:nvPr/>
        </p:nvSpPr>
        <p:spPr>
          <a:xfrm>
            <a:off x="2057400" y="2571750"/>
            <a:ext cx="1776761" cy="561109"/>
          </a:xfrm>
          <a:prstGeom prst="rect">
            <a:avLst/>
          </a:prstGeom>
          <a:gradFill>
            <a:gsLst>
              <a:gs pos="0">
                <a:srgbClr val="DAFEA4"/>
              </a:gs>
              <a:gs pos="35000">
                <a:srgbClr val="E3FEBF"/>
              </a:gs>
              <a:gs pos="100000">
                <a:srgbClr val="F4FEE6"/>
              </a:gs>
            </a:gsLst>
            <a:lin ang="16200000" scaled="0"/>
          </a:gradFill>
          <a:ln cap="flat" cmpd="sng" w="9525">
            <a:solidFill>
              <a:srgbClr val="97B85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Father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4" name="Google Shape;394;p56"/>
          <p:cNvSpPr/>
          <p:nvPr/>
        </p:nvSpPr>
        <p:spPr>
          <a:xfrm>
            <a:off x="2057400" y="3714750"/>
            <a:ext cx="1776761" cy="561109"/>
          </a:xfrm>
          <a:prstGeom prst="rect">
            <a:avLst/>
          </a:prstGeom>
          <a:gradFill>
            <a:gsLst>
              <a:gs pos="0">
                <a:srgbClr val="C8B2E9"/>
              </a:gs>
              <a:gs pos="35000">
                <a:srgbClr val="D6CAED"/>
              </a:gs>
              <a:gs pos="100000">
                <a:srgbClr val="EFE8FA"/>
              </a:gs>
            </a:gsLst>
            <a:lin ang="16200000" scaled="0"/>
          </a:gradFill>
          <a:ln cap="flat" cmpd="sng" w="9525">
            <a:solidFill>
              <a:srgbClr val="7C5F9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Son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95" name="Google Shape;395;p56"/>
          <p:cNvCxnSpPr>
            <a:endCxn id="394" idx="0"/>
          </p:cNvCxnSpPr>
          <p:nvPr/>
        </p:nvCxnSpPr>
        <p:spPr>
          <a:xfrm>
            <a:off x="2945781" y="3138150"/>
            <a:ext cx="0" cy="576600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grpSp>
        <p:nvGrpSpPr>
          <p:cNvPr id="396" name="Google Shape;396;p56"/>
          <p:cNvGrpSpPr/>
          <p:nvPr/>
        </p:nvGrpSpPr>
        <p:grpSpPr>
          <a:xfrm>
            <a:off x="4114800" y="2724150"/>
            <a:ext cx="2438400" cy="342900"/>
            <a:chOff x="5638800" y="2438400"/>
            <a:chExt cx="3124200" cy="838200"/>
          </a:xfrm>
        </p:grpSpPr>
        <p:sp>
          <p:nvSpPr>
            <p:cNvPr id="397" name="Google Shape;397;p56"/>
            <p:cNvSpPr/>
            <p:nvPr/>
          </p:nvSpPr>
          <p:spPr>
            <a:xfrm>
              <a:off x="6629400" y="2438400"/>
              <a:ext cx="2133600" cy="838200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Parent Class</a:t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98" name="Google Shape;398;p56"/>
            <p:cNvCxnSpPr>
              <a:stCxn id="397" idx="1"/>
            </p:cNvCxnSpPr>
            <p:nvPr/>
          </p:nvCxnSpPr>
          <p:spPr>
            <a:xfrm rot="10800000">
              <a:off x="5638800" y="2857500"/>
              <a:ext cx="990600" cy="0"/>
            </a:xfrm>
            <a:prstGeom prst="straightConnector1">
              <a:avLst/>
            </a:prstGeom>
            <a:noFill/>
            <a:ln cap="flat" cmpd="sng" w="9525">
              <a:solidFill>
                <a:srgbClr val="45A9C4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  <p:grpSp>
        <p:nvGrpSpPr>
          <p:cNvPr id="399" name="Google Shape;399;p56"/>
          <p:cNvGrpSpPr/>
          <p:nvPr/>
        </p:nvGrpSpPr>
        <p:grpSpPr>
          <a:xfrm>
            <a:off x="4191000" y="3905250"/>
            <a:ext cx="2438400" cy="342900"/>
            <a:chOff x="5638800" y="4800600"/>
            <a:chExt cx="3124200" cy="838200"/>
          </a:xfrm>
        </p:grpSpPr>
        <p:sp>
          <p:nvSpPr>
            <p:cNvPr id="400" name="Google Shape;400;p56"/>
            <p:cNvSpPr/>
            <p:nvPr/>
          </p:nvSpPr>
          <p:spPr>
            <a:xfrm>
              <a:off x="6629400" y="4800600"/>
              <a:ext cx="2133600" cy="838200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Child Class</a:t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401" name="Google Shape;401;p56"/>
            <p:cNvCxnSpPr/>
            <p:nvPr/>
          </p:nvCxnSpPr>
          <p:spPr>
            <a:xfrm rot="10800000">
              <a:off x="5638800" y="5181600"/>
              <a:ext cx="990600" cy="0"/>
            </a:xfrm>
            <a:prstGeom prst="straightConnector1">
              <a:avLst/>
            </a:prstGeom>
            <a:noFill/>
            <a:ln cap="flat" cmpd="sng" w="9525">
              <a:solidFill>
                <a:srgbClr val="45A9C4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  <p:sp>
        <p:nvSpPr>
          <p:cNvPr id="402" name="Google Shape;402;p56"/>
          <p:cNvSpPr/>
          <p:nvPr/>
        </p:nvSpPr>
        <p:spPr>
          <a:xfrm>
            <a:off x="2057400" y="1428750"/>
            <a:ext cx="1776761" cy="561109"/>
          </a:xfrm>
          <a:prstGeom prst="rect">
            <a:avLst/>
          </a:prstGeom>
          <a:gradFill>
            <a:gsLst>
              <a:gs pos="0">
                <a:srgbClr val="FFA09D"/>
              </a:gs>
              <a:gs pos="35000">
                <a:srgbClr val="FFBCBC"/>
              </a:gs>
              <a:gs pos="100000">
                <a:srgbClr val="FFE2E2"/>
              </a:gs>
            </a:gsLst>
            <a:lin ang="16200000" scaled="0"/>
          </a:gradFill>
          <a:ln cap="flat" cmpd="sng" w="9525">
            <a:solidFill>
              <a:srgbClr val="BD4B4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03" name="Google Shape;403;p56"/>
          <p:cNvCxnSpPr/>
          <p:nvPr/>
        </p:nvCxnSpPr>
        <p:spPr>
          <a:xfrm>
            <a:off x="2929621" y="1991560"/>
            <a:ext cx="1" cy="576696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57"/>
          <p:cNvSpPr txBox="1"/>
          <p:nvPr>
            <p:ph idx="1" type="body"/>
          </p:nvPr>
        </p:nvSpPr>
        <p:spPr>
          <a:xfrm>
            <a:off x="457200" y="285750"/>
            <a:ext cx="82296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Syntax:-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class ParentClassName(object): 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        members of Parent Class 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class ChildClassName(ParentClassName):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        members of Child Class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Example:-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class Father: 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        members of class Father 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class Son (Father):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       members of class Son 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409" name="Google Shape;409;p57"/>
          <p:cNvGrpSpPr/>
          <p:nvPr/>
        </p:nvGrpSpPr>
        <p:grpSpPr>
          <a:xfrm>
            <a:off x="3496544" y="3028950"/>
            <a:ext cx="1981200" cy="658906"/>
            <a:chOff x="5943600" y="1143000"/>
            <a:chExt cx="2438400" cy="1295400"/>
          </a:xfrm>
        </p:grpSpPr>
        <p:sp>
          <p:nvSpPr>
            <p:cNvPr id="410" name="Google Shape;410;p57"/>
            <p:cNvSpPr/>
            <p:nvPr/>
          </p:nvSpPr>
          <p:spPr>
            <a:xfrm>
              <a:off x="5943600" y="1143000"/>
              <a:ext cx="381000" cy="1295400"/>
            </a:xfrm>
            <a:prstGeom prst="rightBrace">
              <a:avLst>
                <a:gd fmla="val 8333" name="adj1"/>
                <a:gd fmla="val 50000" name="adj2"/>
              </a:avLst>
            </a:prstGeom>
            <a:noFill/>
            <a:ln cap="flat" cmpd="sng" w="254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" name="Google Shape;411;p57"/>
            <p:cNvSpPr/>
            <p:nvPr/>
          </p:nvSpPr>
          <p:spPr>
            <a:xfrm>
              <a:off x="6324600" y="1368287"/>
              <a:ext cx="2057400" cy="689113"/>
            </a:xfrm>
            <a:prstGeom prst="rect">
              <a:avLst/>
            </a:prstGeom>
            <a:gradFill>
              <a:gsLst>
                <a:gs pos="0">
                  <a:srgbClr val="DAFEA4"/>
                </a:gs>
                <a:gs pos="35000">
                  <a:srgbClr val="E3FEBF"/>
                </a:gs>
                <a:gs pos="100000">
                  <a:srgbClr val="F4FEE6"/>
                </a:gs>
              </a:gsLst>
              <a:lin ang="16200000" scaled="0"/>
            </a:gradFill>
            <a:ln cap="flat" cmpd="sng" w="9525">
              <a:solidFill>
                <a:srgbClr val="97B853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Parent Class</a:t>
              </a:r>
              <a:endParaRPr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412" name="Google Shape;412;p57"/>
          <p:cNvGrpSpPr/>
          <p:nvPr/>
        </p:nvGrpSpPr>
        <p:grpSpPr>
          <a:xfrm>
            <a:off x="3429000" y="3896285"/>
            <a:ext cx="2055019" cy="665630"/>
            <a:chOff x="5943600" y="2971800"/>
            <a:chExt cx="2438400" cy="1295400"/>
          </a:xfrm>
        </p:grpSpPr>
        <p:sp>
          <p:nvSpPr>
            <p:cNvPr id="413" name="Google Shape;413;p57"/>
            <p:cNvSpPr/>
            <p:nvPr/>
          </p:nvSpPr>
          <p:spPr>
            <a:xfrm>
              <a:off x="5943600" y="2971800"/>
              <a:ext cx="381000" cy="1295400"/>
            </a:xfrm>
            <a:prstGeom prst="rightBrace">
              <a:avLst>
                <a:gd fmla="val 8333" name="adj1"/>
                <a:gd fmla="val 50000" name="adj2"/>
              </a:avLst>
            </a:prstGeom>
            <a:noFill/>
            <a:ln cap="flat" cmpd="sng" w="254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4" name="Google Shape;414;p57"/>
            <p:cNvSpPr/>
            <p:nvPr/>
          </p:nvSpPr>
          <p:spPr>
            <a:xfrm>
              <a:off x="6324600" y="3276600"/>
              <a:ext cx="2057400" cy="609600"/>
            </a:xfrm>
            <a:prstGeom prst="rect">
              <a:avLst/>
            </a:prstGeom>
            <a:gradFill>
              <a:gsLst>
                <a:gs pos="0">
                  <a:srgbClr val="C8B2E9"/>
                </a:gs>
                <a:gs pos="35000">
                  <a:srgbClr val="D6CAED"/>
                </a:gs>
                <a:gs pos="100000">
                  <a:srgbClr val="EFE8FA"/>
                </a:gs>
              </a:gsLst>
              <a:lin ang="16200000" scaled="0"/>
            </a:gradFill>
            <a:ln cap="flat" cmpd="sng" w="9525">
              <a:solidFill>
                <a:srgbClr val="7C5F9F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Child Class</a:t>
              </a:r>
              <a:endParaRPr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415" name="Google Shape;415;p57"/>
          <p:cNvSpPr/>
          <p:nvPr/>
        </p:nvSpPr>
        <p:spPr>
          <a:xfrm>
            <a:off x="6477000" y="2724150"/>
            <a:ext cx="1776761" cy="561109"/>
          </a:xfrm>
          <a:prstGeom prst="rect">
            <a:avLst/>
          </a:prstGeom>
          <a:gradFill>
            <a:gsLst>
              <a:gs pos="0">
                <a:srgbClr val="DAFEA4"/>
              </a:gs>
              <a:gs pos="35000">
                <a:srgbClr val="E3FEBF"/>
              </a:gs>
              <a:gs pos="100000">
                <a:srgbClr val="F4FEE6"/>
              </a:gs>
            </a:gsLst>
            <a:lin ang="16200000" scaled="0"/>
          </a:gradFill>
          <a:ln cap="flat" cmpd="sng" w="9525">
            <a:solidFill>
              <a:srgbClr val="97B85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Father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6" name="Google Shape;416;p57"/>
          <p:cNvSpPr/>
          <p:nvPr/>
        </p:nvSpPr>
        <p:spPr>
          <a:xfrm>
            <a:off x="6477000" y="3867150"/>
            <a:ext cx="1776761" cy="561109"/>
          </a:xfrm>
          <a:prstGeom prst="rect">
            <a:avLst/>
          </a:prstGeom>
          <a:gradFill>
            <a:gsLst>
              <a:gs pos="0">
                <a:srgbClr val="C8B2E9"/>
              </a:gs>
              <a:gs pos="35000">
                <a:srgbClr val="D6CAED"/>
              </a:gs>
              <a:gs pos="100000">
                <a:srgbClr val="EFE8FA"/>
              </a:gs>
            </a:gsLst>
            <a:lin ang="16200000" scaled="0"/>
          </a:gradFill>
          <a:ln cap="flat" cmpd="sng" w="9525">
            <a:solidFill>
              <a:srgbClr val="7C5F9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Son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17" name="Google Shape;417;p57"/>
          <p:cNvCxnSpPr>
            <a:endCxn id="416" idx="0"/>
          </p:cNvCxnSpPr>
          <p:nvPr/>
        </p:nvCxnSpPr>
        <p:spPr>
          <a:xfrm>
            <a:off x="7365380" y="3290550"/>
            <a:ext cx="0" cy="576600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418" name="Google Shape;418;p57"/>
          <p:cNvSpPr/>
          <p:nvPr/>
        </p:nvSpPr>
        <p:spPr>
          <a:xfrm>
            <a:off x="6400800" y="438150"/>
            <a:ext cx="1776761" cy="561109"/>
          </a:xfrm>
          <a:prstGeom prst="rect">
            <a:avLst/>
          </a:prstGeom>
          <a:gradFill>
            <a:gsLst>
              <a:gs pos="0">
                <a:srgbClr val="DAFEA4"/>
              </a:gs>
              <a:gs pos="35000">
                <a:srgbClr val="E3FEBF"/>
              </a:gs>
              <a:gs pos="100000">
                <a:srgbClr val="F4FEE6"/>
              </a:gs>
            </a:gsLst>
            <a:lin ang="16200000" scaled="0"/>
          </a:gradFill>
          <a:ln cap="flat" cmpd="sng" w="9525">
            <a:solidFill>
              <a:srgbClr val="97B85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Parent Class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9" name="Google Shape;419;p57"/>
          <p:cNvSpPr/>
          <p:nvPr/>
        </p:nvSpPr>
        <p:spPr>
          <a:xfrm>
            <a:off x="6400800" y="1581150"/>
            <a:ext cx="1776761" cy="561109"/>
          </a:xfrm>
          <a:prstGeom prst="rect">
            <a:avLst/>
          </a:prstGeom>
          <a:gradFill>
            <a:gsLst>
              <a:gs pos="0">
                <a:srgbClr val="C8B2E9"/>
              </a:gs>
              <a:gs pos="35000">
                <a:srgbClr val="D6CAED"/>
              </a:gs>
              <a:gs pos="100000">
                <a:srgbClr val="EFE8FA"/>
              </a:gs>
            </a:gsLst>
            <a:lin ang="16200000" scaled="0"/>
          </a:gradFill>
          <a:ln cap="flat" cmpd="sng" w="9525">
            <a:solidFill>
              <a:srgbClr val="7C5F9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Child Class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20" name="Google Shape;420;p57"/>
          <p:cNvCxnSpPr>
            <a:endCxn id="419" idx="0"/>
          </p:cNvCxnSpPr>
          <p:nvPr/>
        </p:nvCxnSpPr>
        <p:spPr>
          <a:xfrm>
            <a:off x="7289180" y="1004550"/>
            <a:ext cx="0" cy="576600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8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8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8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58"/>
          <p:cNvSpPr txBox="1"/>
          <p:nvPr>
            <p:ph type="title"/>
          </p:nvPr>
        </p:nvSpPr>
        <p:spPr>
          <a:xfrm>
            <a:off x="457200" y="3810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b="1" lang="en-US" sz="4000" u="sng">
                <a:latin typeface="Times New Roman"/>
                <a:ea typeface="Times New Roman"/>
                <a:cs typeface="Times New Roman"/>
                <a:sym typeface="Times New Roman"/>
              </a:rPr>
              <a:t>Inheritance</a:t>
            </a:r>
            <a:endParaRPr b="1" sz="4000"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6" name="Google Shape;426;p58"/>
          <p:cNvSpPr txBox="1"/>
          <p:nvPr>
            <p:ph idx="1" type="body"/>
          </p:nvPr>
        </p:nvSpPr>
        <p:spPr>
          <a:xfrm>
            <a:off x="457200" y="8953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We can access Parent Class Variables and Methods using Child Class Object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We can also access Parent Class Variables and Methods using Parent Class Object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We can not access Child Class Variables and Methods using Parent Class Object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59"/>
          <p:cNvSpPr txBox="1"/>
          <p:nvPr>
            <p:ph type="title"/>
          </p:nvPr>
        </p:nvSpPr>
        <p:spPr>
          <a:xfrm>
            <a:off x="457200" y="3810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lang="en-US" sz="3600" u="sng">
                <a:latin typeface="Times New Roman"/>
                <a:ea typeface="Times New Roman"/>
                <a:cs typeface="Times New Roman"/>
                <a:sym typeface="Times New Roman"/>
              </a:rPr>
              <a:t>Constructor in Inheritance</a:t>
            </a:r>
            <a:endParaRPr b="1" sz="3600"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2" name="Google Shape;432;p59"/>
          <p:cNvSpPr txBox="1"/>
          <p:nvPr>
            <p:ph idx="1" type="body"/>
          </p:nvPr>
        </p:nvSpPr>
        <p:spPr>
          <a:xfrm>
            <a:off x="457200" y="895350"/>
            <a:ext cx="82296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By default, The constructor in the parent class is available to the child class.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class Father: 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        def __init__(self): 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	self.money = 2000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	print("Father Class Constructor")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class Son (Father):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       def disp(self):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		print(“Son Class Instance Method:”,self.money)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s = Son( )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s.disp() 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s.money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3" name="Google Shape;433;p59"/>
          <p:cNvSpPr txBox="1"/>
          <p:nvPr/>
        </p:nvSpPr>
        <p:spPr>
          <a:xfrm>
            <a:off x="5614074" y="2077819"/>
            <a:ext cx="299652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will happen if we define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constructor in both classes ?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2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2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2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2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60"/>
          <p:cNvSpPr txBox="1"/>
          <p:nvPr>
            <p:ph type="title"/>
          </p:nvPr>
        </p:nvSpPr>
        <p:spPr>
          <a:xfrm>
            <a:off x="457200" y="-1905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b="1" lang="en-US" sz="4000" u="sng">
                <a:latin typeface="Times New Roman"/>
                <a:ea typeface="Times New Roman"/>
                <a:cs typeface="Times New Roman"/>
                <a:sym typeface="Times New Roman"/>
              </a:rPr>
              <a:t>Constructor Overriding</a:t>
            </a:r>
            <a:endParaRPr b="1" sz="4000"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9" name="Google Shape;439;p60"/>
          <p:cNvSpPr txBox="1"/>
          <p:nvPr>
            <p:ph idx="1" type="body"/>
          </p:nvPr>
        </p:nvSpPr>
        <p:spPr>
          <a:xfrm>
            <a:off x="457200" y="819150"/>
            <a:ext cx="8229600" cy="39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If we write constructor in the both classes, parent class and child class then the parent class constructor is not available to the child class.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In this case only child class constructor is accessible which means child class constructor is replacing parent class constructor.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Constructor overriding is used when programmer want to modify the existing behavior of a constructor.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61"/>
          <p:cNvSpPr txBox="1"/>
          <p:nvPr>
            <p:ph type="title"/>
          </p:nvPr>
        </p:nvSpPr>
        <p:spPr>
          <a:xfrm>
            <a:off x="457200" y="-1905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b="1" lang="en-US" sz="4000" u="sng">
                <a:latin typeface="Times New Roman"/>
                <a:ea typeface="Times New Roman"/>
                <a:cs typeface="Times New Roman"/>
                <a:sym typeface="Times New Roman"/>
              </a:rPr>
              <a:t>Constructor Overriding</a:t>
            </a:r>
            <a:endParaRPr b="1" sz="4000"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5" name="Google Shape;445;p61"/>
          <p:cNvSpPr txBox="1"/>
          <p:nvPr>
            <p:ph idx="1" type="body"/>
          </p:nvPr>
        </p:nvSpPr>
        <p:spPr>
          <a:xfrm>
            <a:off x="457200" y="819150"/>
            <a:ext cx="8229600" cy="41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class Father: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	def __init__(self):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		self.money = 2000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		print("Father Class Constructor")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class Son(Father):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	def __init__(self):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		self.money = 5000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		print("Son Class Constructor")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	def disp(self):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		print(self.money)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s = Son()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s.disp()</a:t>
            </a:r>
            <a:endParaRPr/>
          </a:p>
        </p:txBody>
      </p:sp>
      <p:sp>
        <p:nvSpPr>
          <p:cNvPr id="446" name="Google Shape;446;p61"/>
          <p:cNvSpPr txBox="1"/>
          <p:nvPr/>
        </p:nvSpPr>
        <p:spPr>
          <a:xfrm>
            <a:off x="5614074" y="2077819"/>
            <a:ext cx="242245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can we call parent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constructor ?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5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5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5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5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62"/>
          <p:cNvSpPr txBox="1"/>
          <p:nvPr>
            <p:ph type="title"/>
          </p:nvPr>
        </p:nvSpPr>
        <p:spPr>
          <a:xfrm>
            <a:off x="457200" y="-1905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1" lang="en-US" sz="3200" u="sng">
                <a:latin typeface="Times New Roman"/>
                <a:ea typeface="Times New Roman"/>
                <a:cs typeface="Times New Roman"/>
                <a:sym typeface="Times New Roman"/>
              </a:rPr>
              <a:t>Constructor with super( ) Method</a:t>
            </a:r>
            <a:endParaRPr b="1" sz="3200"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2" name="Google Shape;452;p62"/>
          <p:cNvSpPr txBox="1"/>
          <p:nvPr>
            <p:ph idx="1" type="body"/>
          </p:nvPr>
        </p:nvSpPr>
        <p:spPr>
          <a:xfrm>
            <a:off x="457200" y="819150"/>
            <a:ext cx="8229600" cy="39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If we write constructor in the both classes, parent class and child class then the parent class constructor is not available to the child class. 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In this case only child class constructor is accessible which means child class constructor is replacing parent class constructor.</a:t>
            </a:r>
            <a:endParaRPr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en-US" sz="1900">
                <a:latin typeface="Times New Roman"/>
                <a:ea typeface="Times New Roman"/>
                <a:cs typeface="Times New Roman"/>
                <a:sym typeface="Times New Roman"/>
              </a:rPr>
              <a:t>super ( ) </a:t>
            </a: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method is used to call parent class constructor or methods from the child class.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63"/>
          <p:cNvSpPr txBox="1"/>
          <p:nvPr>
            <p:ph type="title"/>
          </p:nvPr>
        </p:nvSpPr>
        <p:spPr>
          <a:xfrm>
            <a:off x="457200" y="-1905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b="1" lang="en-US" u="sng">
                <a:latin typeface="Times New Roman"/>
                <a:ea typeface="Times New Roman"/>
                <a:cs typeface="Times New Roman"/>
                <a:sym typeface="Times New Roman"/>
              </a:rPr>
              <a:t>Multi-level Inheritance </a:t>
            </a:r>
            <a:endParaRPr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8" name="Google Shape;458;p63"/>
          <p:cNvSpPr txBox="1"/>
          <p:nvPr>
            <p:ph idx="1" type="body"/>
          </p:nvPr>
        </p:nvSpPr>
        <p:spPr>
          <a:xfrm>
            <a:off x="457200" y="81915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In multi-level inheritance, the class inherits the feature of another derived class (Child Class).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9" name="Google Shape;459;p63"/>
          <p:cNvSpPr/>
          <p:nvPr/>
        </p:nvSpPr>
        <p:spPr>
          <a:xfrm>
            <a:off x="2514600" y="2286000"/>
            <a:ext cx="1828800" cy="438150"/>
          </a:xfrm>
          <a:prstGeom prst="rect">
            <a:avLst/>
          </a:prstGeom>
          <a:gradFill>
            <a:gsLst>
              <a:gs pos="0">
                <a:srgbClr val="DAFEA4"/>
              </a:gs>
              <a:gs pos="35000">
                <a:srgbClr val="E3FEBF"/>
              </a:gs>
              <a:gs pos="100000">
                <a:srgbClr val="F4FEE6"/>
              </a:gs>
            </a:gsLst>
            <a:lin ang="16200000" scaled="0"/>
          </a:gradFill>
          <a:ln cap="flat" cmpd="sng" w="9525">
            <a:solidFill>
              <a:srgbClr val="97B85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Father</a:t>
            </a:r>
            <a:endParaRPr b="1"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0" name="Google Shape;460;p63"/>
          <p:cNvSpPr/>
          <p:nvPr/>
        </p:nvSpPr>
        <p:spPr>
          <a:xfrm>
            <a:off x="2537468" y="4343400"/>
            <a:ext cx="1805932" cy="438150"/>
          </a:xfrm>
          <a:prstGeom prst="rect">
            <a:avLst/>
          </a:prstGeom>
          <a:gradFill>
            <a:gsLst>
              <a:gs pos="0">
                <a:srgbClr val="FFBB82"/>
              </a:gs>
              <a:gs pos="35000">
                <a:srgbClr val="FFCFA8"/>
              </a:gs>
              <a:gs pos="100000">
                <a:srgbClr val="FFEBD9"/>
              </a:gs>
            </a:gsLst>
            <a:lin ang="16200000" scaled="0"/>
          </a:gradFill>
          <a:ln cap="flat" cmpd="sng" w="9525">
            <a:solidFill>
              <a:srgbClr val="F591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GrandSon</a:t>
            </a:r>
            <a:endParaRPr b="1"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1" name="Google Shape;461;p63"/>
          <p:cNvSpPr/>
          <p:nvPr/>
        </p:nvSpPr>
        <p:spPr>
          <a:xfrm>
            <a:off x="2537468" y="3333750"/>
            <a:ext cx="1805932" cy="438150"/>
          </a:xfrm>
          <a:prstGeom prst="rect">
            <a:avLst/>
          </a:prstGeom>
          <a:gradFill>
            <a:gsLst>
              <a:gs pos="0">
                <a:srgbClr val="C8B2E9"/>
              </a:gs>
              <a:gs pos="35000">
                <a:srgbClr val="D6CAED"/>
              </a:gs>
              <a:gs pos="100000">
                <a:srgbClr val="EFE8FA"/>
              </a:gs>
            </a:gsLst>
            <a:lin ang="16200000" scaled="0"/>
          </a:gradFill>
          <a:ln cap="flat" cmpd="sng" w="9525">
            <a:solidFill>
              <a:srgbClr val="7C5F9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Son</a:t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62" name="Google Shape;462;p63"/>
          <p:cNvCxnSpPr>
            <a:stCxn id="459" idx="2"/>
          </p:cNvCxnSpPr>
          <p:nvPr/>
        </p:nvCxnSpPr>
        <p:spPr>
          <a:xfrm>
            <a:off x="3429000" y="2724150"/>
            <a:ext cx="0" cy="609600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463" name="Google Shape;463;p63"/>
          <p:cNvCxnSpPr>
            <a:stCxn id="461" idx="2"/>
            <a:endCxn id="460" idx="0"/>
          </p:cNvCxnSpPr>
          <p:nvPr/>
        </p:nvCxnSpPr>
        <p:spPr>
          <a:xfrm>
            <a:off x="3440434" y="3771900"/>
            <a:ext cx="0" cy="5715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464" name="Google Shape;464;p63"/>
          <p:cNvSpPr txBox="1"/>
          <p:nvPr/>
        </p:nvSpPr>
        <p:spPr>
          <a:xfrm>
            <a:off x="5511227" y="2320409"/>
            <a:ext cx="1332416" cy="369332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Parent Class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65" name="Google Shape;465;p63"/>
          <p:cNvCxnSpPr>
            <a:stCxn id="464" idx="1"/>
          </p:cNvCxnSpPr>
          <p:nvPr/>
        </p:nvCxnSpPr>
        <p:spPr>
          <a:xfrm rot="10800000">
            <a:off x="4482527" y="2505075"/>
            <a:ext cx="1028700" cy="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466" name="Google Shape;466;p63"/>
          <p:cNvSpPr txBox="1"/>
          <p:nvPr/>
        </p:nvSpPr>
        <p:spPr>
          <a:xfrm>
            <a:off x="5715000" y="3368159"/>
            <a:ext cx="1255472" cy="369332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Child Class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67" name="Google Shape;467;p63"/>
          <p:cNvCxnSpPr>
            <a:stCxn id="466" idx="1"/>
          </p:cNvCxnSpPr>
          <p:nvPr/>
        </p:nvCxnSpPr>
        <p:spPr>
          <a:xfrm rot="10800000">
            <a:off x="4495800" y="3552825"/>
            <a:ext cx="1219200" cy="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468" name="Google Shape;468;p63"/>
          <p:cNvSpPr txBox="1"/>
          <p:nvPr/>
        </p:nvSpPr>
        <p:spPr>
          <a:xfrm>
            <a:off x="5836796" y="4325478"/>
            <a:ext cx="2013693" cy="40011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GrandChild Class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69" name="Google Shape;469;p63"/>
          <p:cNvCxnSpPr>
            <a:stCxn id="468" idx="1"/>
          </p:cNvCxnSpPr>
          <p:nvPr/>
        </p:nvCxnSpPr>
        <p:spPr>
          <a:xfrm rot="10800000">
            <a:off x="4465196" y="4525533"/>
            <a:ext cx="1371600" cy="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470" name="Google Shape;470;p63"/>
          <p:cNvSpPr/>
          <p:nvPr/>
        </p:nvSpPr>
        <p:spPr>
          <a:xfrm>
            <a:off x="2514601" y="1371600"/>
            <a:ext cx="1828800" cy="438150"/>
          </a:xfrm>
          <a:prstGeom prst="rect">
            <a:avLst/>
          </a:prstGeom>
          <a:gradFill>
            <a:gsLst>
              <a:gs pos="0">
                <a:srgbClr val="FFA09D"/>
              </a:gs>
              <a:gs pos="35000">
                <a:srgbClr val="FFBCBC"/>
              </a:gs>
              <a:gs pos="100000">
                <a:srgbClr val="FFE2E2"/>
              </a:gs>
            </a:gsLst>
            <a:lin ang="16200000" scaled="0"/>
          </a:gradFill>
          <a:ln cap="flat" cmpd="sng" w="9525">
            <a:solidFill>
              <a:srgbClr val="BD4B4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</a:t>
            </a:r>
            <a:endParaRPr b="1"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71" name="Google Shape;471;p63"/>
          <p:cNvCxnSpPr>
            <a:stCxn id="470" idx="2"/>
            <a:endCxn id="459" idx="0"/>
          </p:cNvCxnSpPr>
          <p:nvPr/>
        </p:nvCxnSpPr>
        <p:spPr>
          <a:xfrm>
            <a:off x="3429001" y="1809750"/>
            <a:ext cx="0" cy="4764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65"/>
          <p:cNvSpPr txBox="1"/>
          <p:nvPr>
            <p:ph idx="1" type="body"/>
          </p:nvPr>
        </p:nvSpPr>
        <p:spPr>
          <a:xfrm>
            <a:off x="228600" y="742950"/>
            <a:ext cx="4112111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class Father (object): 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	members of class Father 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class Son (Father):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	members of class Son 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class GrandSon (Son):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	members of class GrandSon </a:t>
            </a:r>
            <a:endParaRPr/>
          </a:p>
        </p:txBody>
      </p:sp>
      <p:sp>
        <p:nvSpPr>
          <p:cNvPr id="477" name="Google Shape;477;p65"/>
          <p:cNvSpPr/>
          <p:nvPr/>
        </p:nvSpPr>
        <p:spPr>
          <a:xfrm>
            <a:off x="4340711" y="891764"/>
            <a:ext cx="381000" cy="536986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254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65"/>
          <p:cNvSpPr/>
          <p:nvPr/>
        </p:nvSpPr>
        <p:spPr>
          <a:xfrm>
            <a:off x="4721711" y="971550"/>
            <a:ext cx="1524000" cy="457200"/>
          </a:xfrm>
          <a:prstGeom prst="rect">
            <a:avLst/>
          </a:prstGeom>
          <a:gradFill>
            <a:gsLst>
              <a:gs pos="0">
                <a:srgbClr val="DAFEA4"/>
              </a:gs>
              <a:gs pos="35000">
                <a:srgbClr val="E3FEBF"/>
              </a:gs>
              <a:gs pos="100000">
                <a:srgbClr val="F4FEE6"/>
              </a:gs>
            </a:gsLst>
            <a:lin ang="16200000" scaled="0"/>
          </a:gradFill>
          <a:ln cap="flat" cmpd="sng" w="9525">
            <a:solidFill>
              <a:srgbClr val="97B85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Parent Class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9" name="Google Shape;479;p65"/>
          <p:cNvSpPr/>
          <p:nvPr/>
        </p:nvSpPr>
        <p:spPr>
          <a:xfrm>
            <a:off x="4343400" y="2021989"/>
            <a:ext cx="381000" cy="485775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65"/>
          <p:cNvSpPr/>
          <p:nvPr/>
        </p:nvSpPr>
        <p:spPr>
          <a:xfrm>
            <a:off x="4724400" y="2021989"/>
            <a:ext cx="1600200" cy="441736"/>
          </a:xfrm>
          <a:prstGeom prst="rect">
            <a:avLst/>
          </a:prstGeom>
          <a:gradFill>
            <a:gsLst>
              <a:gs pos="0">
                <a:srgbClr val="C8B2E9"/>
              </a:gs>
              <a:gs pos="35000">
                <a:srgbClr val="D6CAED"/>
              </a:gs>
              <a:gs pos="100000">
                <a:srgbClr val="EFE8FA"/>
              </a:gs>
            </a:gsLst>
            <a:lin ang="16200000" scaled="0"/>
          </a:gradFill>
          <a:ln cap="flat" cmpd="sng" w="9525">
            <a:solidFill>
              <a:srgbClr val="7C5F9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Child Class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1" name="Google Shape;481;p65"/>
          <p:cNvSpPr/>
          <p:nvPr/>
        </p:nvSpPr>
        <p:spPr>
          <a:xfrm>
            <a:off x="4346089" y="3105150"/>
            <a:ext cx="381000" cy="485775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65"/>
          <p:cNvSpPr/>
          <p:nvPr/>
        </p:nvSpPr>
        <p:spPr>
          <a:xfrm>
            <a:off x="4724400" y="3105150"/>
            <a:ext cx="2057400" cy="457200"/>
          </a:xfrm>
          <a:prstGeom prst="rect">
            <a:avLst/>
          </a:prstGeom>
          <a:gradFill>
            <a:gsLst>
              <a:gs pos="0">
                <a:srgbClr val="FFBB82"/>
              </a:gs>
              <a:gs pos="35000">
                <a:srgbClr val="FFCFA8"/>
              </a:gs>
              <a:gs pos="100000">
                <a:srgbClr val="FFEBD9"/>
              </a:gs>
            </a:gsLst>
            <a:lin ang="16200000" scaled="0"/>
          </a:gradFill>
          <a:ln cap="flat" cmpd="sng" w="9525">
            <a:solidFill>
              <a:srgbClr val="F591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GrandChild Class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3" name="Google Shape;483;p65"/>
          <p:cNvSpPr/>
          <p:nvPr/>
        </p:nvSpPr>
        <p:spPr>
          <a:xfrm>
            <a:off x="7010400" y="1035760"/>
            <a:ext cx="1828800" cy="438150"/>
          </a:xfrm>
          <a:prstGeom prst="rect">
            <a:avLst/>
          </a:prstGeom>
          <a:gradFill>
            <a:gsLst>
              <a:gs pos="0">
                <a:srgbClr val="DAFEA4"/>
              </a:gs>
              <a:gs pos="35000">
                <a:srgbClr val="E3FEBF"/>
              </a:gs>
              <a:gs pos="100000">
                <a:srgbClr val="F4FEE6"/>
              </a:gs>
            </a:gsLst>
            <a:lin ang="16200000" scaled="0"/>
          </a:gradFill>
          <a:ln cap="flat" cmpd="sng" w="9525">
            <a:solidFill>
              <a:srgbClr val="97B85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Father</a:t>
            </a:r>
            <a:endParaRPr b="1"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4" name="Google Shape;484;p65"/>
          <p:cNvSpPr/>
          <p:nvPr/>
        </p:nvSpPr>
        <p:spPr>
          <a:xfrm>
            <a:off x="7033268" y="3093160"/>
            <a:ext cx="1805932" cy="438150"/>
          </a:xfrm>
          <a:prstGeom prst="rect">
            <a:avLst/>
          </a:prstGeom>
          <a:gradFill>
            <a:gsLst>
              <a:gs pos="0">
                <a:srgbClr val="FFBB82"/>
              </a:gs>
              <a:gs pos="35000">
                <a:srgbClr val="FFCFA8"/>
              </a:gs>
              <a:gs pos="100000">
                <a:srgbClr val="FFEBD9"/>
              </a:gs>
            </a:gsLst>
            <a:lin ang="16200000" scaled="0"/>
          </a:gradFill>
          <a:ln cap="flat" cmpd="sng" w="9525">
            <a:solidFill>
              <a:srgbClr val="F591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GrandSon</a:t>
            </a:r>
            <a:endParaRPr b="1"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5" name="Google Shape;485;p65"/>
          <p:cNvSpPr/>
          <p:nvPr/>
        </p:nvSpPr>
        <p:spPr>
          <a:xfrm>
            <a:off x="7033268" y="2083510"/>
            <a:ext cx="1805932" cy="438150"/>
          </a:xfrm>
          <a:prstGeom prst="rect">
            <a:avLst/>
          </a:prstGeom>
          <a:gradFill>
            <a:gsLst>
              <a:gs pos="0">
                <a:srgbClr val="C8B2E9"/>
              </a:gs>
              <a:gs pos="35000">
                <a:srgbClr val="D6CAED"/>
              </a:gs>
              <a:gs pos="100000">
                <a:srgbClr val="EFE8FA"/>
              </a:gs>
            </a:gsLst>
            <a:lin ang="16200000" scaled="0"/>
          </a:gradFill>
          <a:ln cap="flat" cmpd="sng" w="9525">
            <a:solidFill>
              <a:srgbClr val="7C5F9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Son</a:t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86" name="Google Shape;486;p65"/>
          <p:cNvCxnSpPr>
            <a:stCxn id="483" idx="2"/>
          </p:cNvCxnSpPr>
          <p:nvPr/>
        </p:nvCxnSpPr>
        <p:spPr>
          <a:xfrm>
            <a:off x="7924800" y="1473910"/>
            <a:ext cx="0" cy="609600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487" name="Google Shape;487;p65"/>
          <p:cNvCxnSpPr>
            <a:stCxn id="485" idx="2"/>
            <a:endCxn id="484" idx="0"/>
          </p:cNvCxnSpPr>
          <p:nvPr/>
        </p:nvCxnSpPr>
        <p:spPr>
          <a:xfrm>
            <a:off x="7936234" y="2521660"/>
            <a:ext cx="0" cy="5715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488" name="Google Shape;488;p65"/>
          <p:cNvSpPr/>
          <p:nvPr/>
        </p:nvSpPr>
        <p:spPr>
          <a:xfrm>
            <a:off x="7010400" y="133350"/>
            <a:ext cx="1828800" cy="438150"/>
          </a:xfrm>
          <a:prstGeom prst="rect">
            <a:avLst/>
          </a:prstGeom>
          <a:gradFill>
            <a:gsLst>
              <a:gs pos="0">
                <a:srgbClr val="FFA09D"/>
              </a:gs>
              <a:gs pos="35000">
                <a:srgbClr val="FFBCBC"/>
              </a:gs>
              <a:gs pos="100000">
                <a:srgbClr val="FFE2E2"/>
              </a:gs>
            </a:gsLst>
            <a:lin ang="16200000" scaled="0"/>
          </a:gradFill>
          <a:ln cap="flat" cmpd="sng" w="9525">
            <a:solidFill>
              <a:srgbClr val="BD4B4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</a:t>
            </a:r>
            <a:endParaRPr b="1"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89" name="Google Shape;489;p65"/>
          <p:cNvCxnSpPr>
            <a:stCxn id="488" idx="2"/>
          </p:cNvCxnSpPr>
          <p:nvPr/>
        </p:nvCxnSpPr>
        <p:spPr>
          <a:xfrm>
            <a:off x="7924800" y="571500"/>
            <a:ext cx="0" cy="4764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6"/>
          <p:cNvSpPr txBox="1"/>
          <p:nvPr>
            <p:ph type="title"/>
          </p:nvPr>
        </p:nvSpPr>
        <p:spPr>
          <a:xfrm>
            <a:off x="457200" y="0"/>
            <a:ext cx="8229600" cy="7203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b="1" lang="en-US" u="sng">
                <a:latin typeface="Times New Roman"/>
                <a:ea typeface="Times New Roman"/>
                <a:cs typeface="Times New Roman"/>
                <a:sym typeface="Times New Roman"/>
              </a:rPr>
              <a:t>Hierarchical Inheritance </a:t>
            </a:r>
            <a:endParaRPr b="1" u="sng"/>
          </a:p>
        </p:txBody>
      </p:sp>
      <p:sp>
        <p:nvSpPr>
          <p:cNvPr id="495" name="Google Shape;495;p66"/>
          <p:cNvSpPr/>
          <p:nvPr/>
        </p:nvSpPr>
        <p:spPr>
          <a:xfrm>
            <a:off x="3217718" y="1833995"/>
            <a:ext cx="1981200" cy="432955"/>
          </a:xfrm>
          <a:prstGeom prst="rect">
            <a:avLst/>
          </a:prstGeom>
          <a:gradFill>
            <a:gsLst>
              <a:gs pos="0">
                <a:srgbClr val="DAFEA4"/>
              </a:gs>
              <a:gs pos="35000">
                <a:srgbClr val="E3FEBF"/>
              </a:gs>
              <a:gs pos="100000">
                <a:srgbClr val="F4FEE6"/>
              </a:gs>
            </a:gsLst>
            <a:lin ang="16200000" scaled="0"/>
          </a:gradFill>
          <a:ln cap="flat" cmpd="sng" w="9525">
            <a:solidFill>
              <a:srgbClr val="97B85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Father</a:t>
            </a:r>
            <a:endParaRPr b="1"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6" name="Google Shape;496;p66"/>
          <p:cNvSpPr/>
          <p:nvPr/>
        </p:nvSpPr>
        <p:spPr>
          <a:xfrm>
            <a:off x="1295400" y="2971800"/>
            <a:ext cx="1295400" cy="393595"/>
          </a:xfrm>
          <a:prstGeom prst="rect">
            <a:avLst/>
          </a:prstGeom>
          <a:gradFill>
            <a:gsLst>
              <a:gs pos="0">
                <a:srgbClr val="C8B2E9"/>
              </a:gs>
              <a:gs pos="35000">
                <a:srgbClr val="D6CAED"/>
              </a:gs>
              <a:gs pos="100000">
                <a:srgbClr val="EFE8FA"/>
              </a:gs>
            </a:gsLst>
            <a:lin ang="16200000" scaled="0"/>
          </a:gradFill>
          <a:ln cap="flat" cmpd="sng" w="9525">
            <a:solidFill>
              <a:srgbClr val="7C5F9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Son</a:t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7" name="Google Shape;497;p66"/>
          <p:cNvSpPr/>
          <p:nvPr/>
        </p:nvSpPr>
        <p:spPr>
          <a:xfrm>
            <a:off x="3217718" y="2971800"/>
            <a:ext cx="1887682" cy="393595"/>
          </a:xfrm>
          <a:prstGeom prst="rect">
            <a:avLst/>
          </a:prstGeom>
          <a:gradFill>
            <a:gsLst>
              <a:gs pos="0">
                <a:srgbClr val="C8B2E9"/>
              </a:gs>
              <a:gs pos="35000">
                <a:srgbClr val="D6CAED"/>
              </a:gs>
              <a:gs pos="100000">
                <a:srgbClr val="EFE8FA"/>
              </a:gs>
            </a:gsLst>
            <a:lin ang="16200000" scaled="0"/>
          </a:gradFill>
          <a:ln cap="flat" cmpd="sng" w="9525">
            <a:solidFill>
              <a:srgbClr val="7C5F9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Daughter</a:t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8" name="Google Shape;498;p66"/>
          <p:cNvSpPr/>
          <p:nvPr/>
        </p:nvSpPr>
        <p:spPr>
          <a:xfrm>
            <a:off x="5791200" y="2971800"/>
            <a:ext cx="1295400" cy="393595"/>
          </a:xfrm>
          <a:prstGeom prst="rect">
            <a:avLst/>
          </a:prstGeom>
          <a:gradFill>
            <a:gsLst>
              <a:gs pos="0">
                <a:srgbClr val="C8B2E9"/>
              </a:gs>
              <a:gs pos="35000">
                <a:srgbClr val="D6CAED"/>
              </a:gs>
              <a:gs pos="100000">
                <a:srgbClr val="EFE8FA"/>
              </a:gs>
            </a:gsLst>
            <a:lin ang="16200000" scaled="0"/>
          </a:gradFill>
          <a:ln cap="flat" cmpd="sng" w="9525">
            <a:solidFill>
              <a:srgbClr val="7C5F9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Son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99" name="Google Shape;499;p66"/>
          <p:cNvCxnSpPr>
            <a:stCxn id="495" idx="2"/>
          </p:cNvCxnSpPr>
          <p:nvPr/>
        </p:nvCxnSpPr>
        <p:spPr>
          <a:xfrm>
            <a:off x="4208318" y="2266950"/>
            <a:ext cx="0" cy="70500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grpSp>
        <p:nvGrpSpPr>
          <p:cNvPr id="500" name="Google Shape;500;p66"/>
          <p:cNvGrpSpPr/>
          <p:nvPr/>
        </p:nvGrpSpPr>
        <p:grpSpPr>
          <a:xfrm>
            <a:off x="1943100" y="2276522"/>
            <a:ext cx="1714500" cy="695278"/>
            <a:chOff x="1943100" y="2369127"/>
            <a:chExt cx="1714500" cy="1593271"/>
          </a:xfrm>
        </p:grpSpPr>
        <p:cxnSp>
          <p:nvCxnSpPr>
            <p:cNvPr id="501" name="Google Shape;501;p66"/>
            <p:cNvCxnSpPr/>
            <p:nvPr/>
          </p:nvCxnSpPr>
          <p:spPr>
            <a:xfrm>
              <a:off x="3657600" y="2369127"/>
              <a:ext cx="0" cy="450273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</p:cxnSp>
        <p:cxnSp>
          <p:nvCxnSpPr>
            <p:cNvPr id="502" name="Google Shape;502;p66"/>
            <p:cNvCxnSpPr/>
            <p:nvPr/>
          </p:nvCxnSpPr>
          <p:spPr>
            <a:xfrm rot="10800000">
              <a:off x="1943100" y="2819400"/>
              <a:ext cx="1714500" cy="0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</p:cxnSp>
        <p:cxnSp>
          <p:nvCxnSpPr>
            <p:cNvPr id="503" name="Google Shape;503;p66"/>
            <p:cNvCxnSpPr>
              <a:endCxn id="496" idx="0"/>
            </p:cNvCxnSpPr>
            <p:nvPr/>
          </p:nvCxnSpPr>
          <p:spPr>
            <a:xfrm>
              <a:off x="1943100" y="2819398"/>
              <a:ext cx="0" cy="1143000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med" w="med" type="stealth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</p:cxnSp>
      </p:grpSp>
      <p:grpSp>
        <p:nvGrpSpPr>
          <p:cNvPr id="504" name="Google Shape;504;p66"/>
          <p:cNvGrpSpPr/>
          <p:nvPr/>
        </p:nvGrpSpPr>
        <p:grpSpPr>
          <a:xfrm>
            <a:off x="4724400" y="2273498"/>
            <a:ext cx="1714500" cy="698302"/>
            <a:chOff x="4724400" y="2362200"/>
            <a:chExt cx="1714500" cy="1600202"/>
          </a:xfrm>
        </p:grpSpPr>
        <p:cxnSp>
          <p:nvCxnSpPr>
            <p:cNvPr id="505" name="Google Shape;505;p66"/>
            <p:cNvCxnSpPr/>
            <p:nvPr/>
          </p:nvCxnSpPr>
          <p:spPr>
            <a:xfrm>
              <a:off x="4724400" y="2362200"/>
              <a:ext cx="0" cy="450273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</p:cxnSp>
        <p:cxnSp>
          <p:nvCxnSpPr>
            <p:cNvPr id="506" name="Google Shape;506;p66"/>
            <p:cNvCxnSpPr/>
            <p:nvPr/>
          </p:nvCxnSpPr>
          <p:spPr>
            <a:xfrm>
              <a:off x="4724400" y="2812473"/>
              <a:ext cx="1714500" cy="0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</p:cxnSp>
        <p:cxnSp>
          <p:nvCxnSpPr>
            <p:cNvPr id="507" name="Google Shape;507;p66"/>
            <p:cNvCxnSpPr>
              <a:endCxn id="498" idx="0"/>
            </p:cNvCxnSpPr>
            <p:nvPr/>
          </p:nvCxnSpPr>
          <p:spPr>
            <a:xfrm>
              <a:off x="6438900" y="2819402"/>
              <a:ext cx="0" cy="1143000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med" w="med" type="stealth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</p:cxnSp>
      </p:grpSp>
      <p:sp>
        <p:nvSpPr>
          <p:cNvPr id="508" name="Google Shape;508;p66"/>
          <p:cNvSpPr txBox="1"/>
          <p:nvPr/>
        </p:nvSpPr>
        <p:spPr>
          <a:xfrm>
            <a:off x="7010400" y="1833995"/>
            <a:ext cx="1457450" cy="40011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Parent Class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509" name="Google Shape;509;p66"/>
          <p:cNvCxnSpPr>
            <a:stCxn id="508" idx="1"/>
          </p:cNvCxnSpPr>
          <p:nvPr/>
        </p:nvCxnSpPr>
        <p:spPr>
          <a:xfrm rot="10800000">
            <a:off x="5564400" y="2034050"/>
            <a:ext cx="1446000" cy="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grpSp>
        <p:nvGrpSpPr>
          <p:cNvPr id="510" name="Google Shape;510;p66"/>
          <p:cNvGrpSpPr/>
          <p:nvPr/>
        </p:nvGrpSpPr>
        <p:grpSpPr>
          <a:xfrm>
            <a:off x="2209890" y="3543283"/>
            <a:ext cx="3903300" cy="1330970"/>
            <a:chOff x="2209890" y="4724380"/>
            <a:chExt cx="3903300" cy="1774627"/>
          </a:xfrm>
        </p:grpSpPr>
        <p:sp>
          <p:nvSpPr>
            <p:cNvPr id="511" name="Google Shape;511;p66"/>
            <p:cNvSpPr txBox="1"/>
            <p:nvPr/>
          </p:nvSpPr>
          <p:spPr>
            <a:xfrm>
              <a:off x="3124200" y="5801380"/>
              <a:ext cx="1846980" cy="697627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Child Class</a:t>
              </a:r>
              <a:endParaRPr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512" name="Google Shape;512;p66"/>
            <p:cNvCxnSpPr>
              <a:stCxn id="511" idx="0"/>
            </p:cNvCxnSpPr>
            <p:nvPr/>
          </p:nvCxnSpPr>
          <p:spPr>
            <a:xfrm rot="10800000">
              <a:off x="2209890" y="4724380"/>
              <a:ext cx="1837800" cy="1077000"/>
            </a:xfrm>
            <a:prstGeom prst="straightConnector1">
              <a:avLst/>
            </a:prstGeom>
            <a:noFill/>
            <a:ln cap="flat" cmpd="sng" w="9525">
              <a:solidFill>
                <a:srgbClr val="4A7DBA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513" name="Google Shape;513;p66"/>
            <p:cNvCxnSpPr>
              <a:stCxn id="511" idx="0"/>
            </p:cNvCxnSpPr>
            <p:nvPr/>
          </p:nvCxnSpPr>
          <p:spPr>
            <a:xfrm flipH="1" rot="10800000">
              <a:off x="4047690" y="4724380"/>
              <a:ext cx="2065500" cy="1077000"/>
            </a:xfrm>
            <a:prstGeom prst="straightConnector1">
              <a:avLst/>
            </a:prstGeom>
            <a:noFill/>
            <a:ln cap="flat" cmpd="sng" w="9525">
              <a:solidFill>
                <a:srgbClr val="4A7DBA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514" name="Google Shape;514;p66"/>
            <p:cNvCxnSpPr>
              <a:stCxn id="511" idx="0"/>
            </p:cNvCxnSpPr>
            <p:nvPr/>
          </p:nvCxnSpPr>
          <p:spPr>
            <a:xfrm flipH="1" rot="10800000">
              <a:off x="4047690" y="4724380"/>
              <a:ext cx="208200" cy="1077000"/>
            </a:xfrm>
            <a:prstGeom prst="straightConnector1">
              <a:avLst/>
            </a:prstGeom>
            <a:noFill/>
            <a:ln cap="flat" cmpd="sng" w="9525">
              <a:solidFill>
                <a:srgbClr val="4A7DBA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  <p:sp>
        <p:nvSpPr>
          <p:cNvPr id="515" name="Google Shape;515;p66"/>
          <p:cNvSpPr/>
          <p:nvPr/>
        </p:nvSpPr>
        <p:spPr>
          <a:xfrm>
            <a:off x="3276600" y="895350"/>
            <a:ext cx="1828800" cy="438150"/>
          </a:xfrm>
          <a:prstGeom prst="rect">
            <a:avLst/>
          </a:prstGeom>
          <a:gradFill>
            <a:gsLst>
              <a:gs pos="0">
                <a:srgbClr val="FFA09D"/>
              </a:gs>
              <a:gs pos="35000">
                <a:srgbClr val="FFBCBC"/>
              </a:gs>
              <a:gs pos="100000">
                <a:srgbClr val="FFE2E2"/>
              </a:gs>
            </a:gsLst>
            <a:lin ang="16200000" scaled="0"/>
          </a:gradFill>
          <a:ln cap="flat" cmpd="sng" w="9525">
            <a:solidFill>
              <a:srgbClr val="BD4B4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</a:t>
            </a:r>
            <a:endParaRPr b="1"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516" name="Google Shape;516;p66"/>
          <p:cNvCxnSpPr>
            <a:stCxn id="515" idx="2"/>
          </p:cNvCxnSpPr>
          <p:nvPr/>
        </p:nvCxnSpPr>
        <p:spPr>
          <a:xfrm>
            <a:off x="4191000" y="1333500"/>
            <a:ext cx="0" cy="4764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68"/>
          <p:cNvSpPr txBox="1"/>
          <p:nvPr>
            <p:ph idx="1" type="body"/>
          </p:nvPr>
        </p:nvSpPr>
        <p:spPr>
          <a:xfrm>
            <a:off x="228600" y="742950"/>
            <a:ext cx="4112111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class Father (object): 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    members of class Father 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class Son (Father):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    members of class Son 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class Daughter (Father):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   members of class Daughter </a:t>
            </a:r>
            <a:endParaRPr/>
          </a:p>
        </p:txBody>
      </p:sp>
      <p:sp>
        <p:nvSpPr>
          <p:cNvPr id="522" name="Google Shape;522;p68"/>
          <p:cNvSpPr/>
          <p:nvPr/>
        </p:nvSpPr>
        <p:spPr>
          <a:xfrm>
            <a:off x="3505200" y="891764"/>
            <a:ext cx="381000" cy="536986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254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68"/>
          <p:cNvSpPr/>
          <p:nvPr/>
        </p:nvSpPr>
        <p:spPr>
          <a:xfrm>
            <a:off x="3886200" y="971550"/>
            <a:ext cx="1524000" cy="457200"/>
          </a:xfrm>
          <a:prstGeom prst="rect">
            <a:avLst/>
          </a:prstGeom>
          <a:gradFill>
            <a:gsLst>
              <a:gs pos="0">
                <a:srgbClr val="DAFEA4"/>
              </a:gs>
              <a:gs pos="35000">
                <a:srgbClr val="E3FEBF"/>
              </a:gs>
              <a:gs pos="100000">
                <a:srgbClr val="F4FEE6"/>
              </a:gs>
            </a:gsLst>
            <a:lin ang="16200000" scaled="0"/>
          </a:gradFill>
          <a:ln cap="flat" cmpd="sng" w="9525">
            <a:solidFill>
              <a:srgbClr val="97B85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Parent Class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4" name="Google Shape;524;p68"/>
          <p:cNvSpPr/>
          <p:nvPr/>
        </p:nvSpPr>
        <p:spPr>
          <a:xfrm>
            <a:off x="3507889" y="2021989"/>
            <a:ext cx="381000" cy="485775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68"/>
          <p:cNvSpPr/>
          <p:nvPr/>
        </p:nvSpPr>
        <p:spPr>
          <a:xfrm>
            <a:off x="3888889" y="2021989"/>
            <a:ext cx="1600200" cy="441736"/>
          </a:xfrm>
          <a:prstGeom prst="rect">
            <a:avLst/>
          </a:prstGeom>
          <a:gradFill>
            <a:gsLst>
              <a:gs pos="0">
                <a:srgbClr val="C8B2E9"/>
              </a:gs>
              <a:gs pos="35000">
                <a:srgbClr val="D6CAED"/>
              </a:gs>
              <a:gs pos="100000">
                <a:srgbClr val="EFE8FA"/>
              </a:gs>
            </a:gsLst>
            <a:lin ang="16200000" scaled="0"/>
          </a:gradFill>
          <a:ln cap="flat" cmpd="sng" w="9525">
            <a:solidFill>
              <a:srgbClr val="7C5F9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Child Class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6" name="Google Shape;526;p68"/>
          <p:cNvSpPr/>
          <p:nvPr/>
        </p:nvSpPr>
        <p:spPr>
          <a:xfrm>
            <a:off x="6248400" y="1492960"/>
            <a:ext cx="1828800" cy="438150"/>
          </a:xfrm>
          <a:prstGeom prst="rect">
            <a:avLst/>
          </a:prstGeom>
          <a:gradFill>
            <a:gsLst>
              <a:gs pos="0">
                <a:srgbClr val="DAFEA4"/>
              </a:gs>
              <a:gs pos="35000">
                <a:srgbClr val="E3FEBF"/>
              </a:gs>
              <a:gs pos="100000">
                <a:srgbClr val="F4FEE6"/>
              </a:gs>
            </a:gsLst>
            <a:lin ang="16200000" scaled="0"/>
          </a:gradFill>
          <a:ln cap="flat" cmpd="sng" w="9525">
            <a:solidFill>
              <a:srgbClr val="97B85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Father</a:t>
            </a:r>
            <a:endParaRPr b="1"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7" name="Google Shape;527;p68"/>
          <p:cNvSpPr/>
          <p:nvPr/>
        </p:nvSpPr>
        <p:spPr>
          <a:xfrm>
            <a:off x="5890268" y="2667000"/>
            <a:ext cx="891532" cy="438150"/>
          </a:xfrm>
          <a:prstGeom prst="rect">
            <a:avLst/>
          </a:prstGeom>
          <a:gradFill>
            <a:gsLst>
              <a:gs pos="0">
                <a:srgbClr val="C8B2E9"/>
              </a:gs>
              <a:gs pos="35000">
                <a:srgbClr val="D6CAED"/>
              </a:gs>
              <a:gs pos="100000">
                <a:srgbClr val="EFE8FA"/>
              </a:gs>
            </a:gsLst>
            <a:lin ang="16200000" scaled="0"/>
          </a:gradFill>
          <a:ln cap="flat" cmpd="sng" w="9525">
            <a:solidFill>
              <a:srgbClr val="7C5F9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Son</a:t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8" name="Google Shape;528;p68"/>
          <p:cNvSpPr/>
          <p:nvPr/>
        </p:nvSpPr>
        <p:spPr>
          <a:xfrm>
            <a:off x="6248400" y="590550"/>
            <a:ext cx="1828800" cy="438150"/>
          </a:xfrm>
          <a:prstGeom prst="rect">
            <a:avLst/>
          </a:prstGeom>
          <a:gradFill>
            <a:gsLst>
              <a:gs pos="0">
                <a:srgbClr val="FFA09D"/>
              </a:gs>
              <a:gs pos="35000">
                <a:srgbClr val="FFBCBC"/>
              </a:gs>
              <a:gs pos="100000">
                <a:srgbClr val="FFE2E2"/>
              </a:gs>
            </a:gsLst>
            <a:lin ang="16200000" scaled="0"/>
          </a:gradFill>
          <a:ln cap="flat" cmpd="sng" w="9525">
            <a:solidFill>
              <a:srgbClr val="BD4B4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</a:t>
            </a:r>
            <a:endParaRPr b="1"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529" name="Google Shape;529;p68"/>
          <p:cNvCxnSpPr>
            <a:stCxn id="528" idx="2"/>
          </p:cNvCxnSpPr>
          <p:nvPr/>
        </p:nvCxnSpPr>
        <p:spPr>
          <a:xfrm>
            <a:off x="7162800" y="1028700"/>
            <a:ext cx="0" cy="4764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530" name="Google Shape;530;p68"/>
          <p:cNvSpPr/>
          <p:nvPr/>
        </p:nvSpPr>
        <p:spPr>
          <a:xfrm>
            <a:off x="3507889" y="3105150"/>
            <a:ext cx="381000" cy="485775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68"/>
          <p:cNvSpPr/>
          <p:nvPr/>
        </p:nvSpPr>
        <p:spPr>
          <a:xfrm>
            <a:off x="3888889" y="3105150"/>
            <a:ext cx="1600200" cy="441736"/>
          </a:xfrm>
          <a:prstGeom prst="rect">
            <a:avLst/>
          </a:prstGeom>
          <a:gradFill>
            <a:gsLst>
              <a:gs pos="0">
                <a:srgbClr val="C8B2E9"/>
              </a:gs>
              <a:gs pos="35000">
                <a:srgbClr val="D6CAED"/>
              </a:gs>
              <a:gs pos="100000">
                <a:srgbClr val="EFE8FA"/>
              </a:gs>
            </a:gsLst>
            <a:lin ang="16200000" scaled="0"/>
          </a:gradFill>
          <a:ln cap="flat" cmpd="sng" w="9525">
            <a:solidFill>
              <a:srgbClr val="7C5F9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Child Class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532" name="Google Shape;532;p68"/>
          <p:cNvGrpSpPr/>
          <p:nvPr/>
        </p:nvGrpSpPr>
        <p:grpSpPr>
          <a:xfrm>
            <a:off x="6305550" y="1947470"/>
            <a:ext cx="857250" cy="695278"/>
            <a:chOff x="1943100" y="2369127"/>
            <a:chExt cx="1714500" cy="1593271"/>
          </a:xfrm>
        </p:grpSpPr>
        <p:cxnSp>
          <p:nvCxnSpPr>
            <p:cNvPr id="533" name="Google Shape;533;p68"/>
            <p:cNvCxnSpPr/>
            <p:nvPr/>
          </p:nvCxnSpPr>
          <p:spPr>
            <a:xfrm>
              <a:off x="3657600" y="2369127"/>
              <a:ext cx="0" cy="450273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</p:cxnSp>
        <p:cxnSp>
          <p:nvCxnSpPr>
            <p:cNvPr id="534" name="Google Shape;534;p68"/>
            <p:cNvCxnSpPr/>
            <p:nvPr/>
          </p:nvCxnSpPr>
          <p:spPr>
            <a:xfrm rot="10800000">
              <a:off x="1943100" y="2819400"/>
              <a:ext cx="1714500" cy="0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</p:cxnSp>
        <p:cxnSp>
          <p:nvCxnSpPr>
            <p:cNvPr id="535" name="Google Shape;535;p68"/>
            <p:cNvCxnSpPr/>
            <p:nvPr/>
          </p:nvCxnSpPr>
          <p:spPr>
            <a:xfrm>
              <a:off x="1943100" y="2819400"/>
              <a:ext cx="0" cy="1142998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med" w="med" type="stealth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</p:cxnSp>
      </p:grpSp>
      <p:sp>
        <p:nvSpPr>
          <p:cNvPr id="536" name="Google Shape;536;p68"/>
          <p:cNvSpPr/>
          <p:nvPr/>
        </p:nvSpPr>
        <p:spPr>
          <a:xfrm>
            <a:off x="7467600" y="2642748"/>
            <a:ext cx="1295400" cy="438150"/>
          </a:xfrm>
          <a:prstGeom prst="rect">
            <a:avLst/>
          </a:prstGeom>
          <a:gradFill>
            <a:gsLst>
              <a:gs pos="0">
                <a:srgbClr val="C8B2E9"/>
              </a:gs>
              <a:gs pos="35000">
                <a:srgbClr val="D6CAED"/>
              </a:gs>
              <a:gs pos="100000">
                <a:srgbClr val="EFE8FA"/>
              </a:gs>
            </a:gsLst>
            <a:lin ang="16200000" scaled="0"/>
          </a:gradFill>
          <a:ln cap="flat" cmpd="sng" w="9525">
            <a:solidFill>
              <a:srgbClr val="7C5F9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Daughter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537" name="Google Shape;537;p68"/>
          <p:cNvGrpSpPr/>
          <p:nvPr/>
        </p:nvGrpSpPr>
        <p:grpSpPr>
          <a:xfrm>
            <a:off x="7162800" y="2143961"/>
            <a:ext cx="914400" cy="498787"/>
            <a:chOff x="7162800" y="2143961"/>
            <a:chExt cx="914400" cy="498787"/>
          </a:xfrm>
        </p:grpSpPr>
        <p:cxnSp>
          <p:nvCxnSpPr>
            <p:cNvPr id="538" name="Google Shape;538;p68"/>
            <p:cNvCxnSpPr/>
            <p:nvPr/>
          </p:nvCxnSpPr>
          <p:spPr>
            <a:xfrm flipH="1" rot="10800000">
              <a:off x="7162800" y="2143962"/>
              <a:ext cx="914400" cy="4528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</p:cxnSp>
        <p:cxnSp>
          <p:nvCxnSpPr>
            <p:cNvPr id="539" name="Google Shape;539;p68"/>
            <p:cNvCxnSpPr/>
            <p:nvPr/>
          </p:nvCxnSpPr>
          <p:spPr>
            <a:xfrm>
              <a:off x="8077200" y="2143961"/>
              <a:ext cx="0" cy="498787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med" w="med" type="stealth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69"/>
          <p:cNvSpPr txBox="1"/>
          <p:nvPr>
            <p:ph type="title"/>
          </p:nvPr>
        </p:nvSpPr>
        <p:spPr>
          <a:xfrm>
            <a:off x="457200" y="22621"/>
            <a:ext cx="8229600" cy="6631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b="1" lang="en-US" u="sng">
                <a:latin typeface="Times New Roman"/>
                <a:ea typeface="Times New Roman"/>
                <a:cs typeface="Times New Roman"/>
                <a:sym typeface="Times New Roman"/>
              </a:rPr>
              <a:t>Multiple Inheritance </a:t>
            </a:r>
            <a:endParaRPr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5" name="Google Shape;545;p69"/>
          <p:cNvSpPr txBox="1"/>
          <p:nvPr>
            <p:ph idx="1" type="body"/>
          </p:nvPr>
        </p:nvSpPr>
        <p:spPr>
          <a:xfrm>
            <a:off x="457200" y="742950"/>
            <a:ext cx="8229600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If a class is derived from more than one parent class, then it is called multiple inheritance.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546" name="Google Shape;546;p69"/>
          <p:cNvCxnSpPr/>
          <p:nvPr/>
        </p:nvCxnSpPr>
        <p:spPr>
          <a:xfrm rot="10800000">
            <a:off x="5448300" y="2867812"/>
            <a:ext cx="571500" cy="0"/>
          </a:xfrm>
          <a:prstGeom prst="straightConnector1">
            <a:avLst/>
          </a:prstGeom>
          <a:noFill/>
          <a:ln cap="flat" cmpd="sng" w="9525">
            <a:solidFill>
              <a:srgbClr val="45A9C4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547" name="Google Shape;547;p69"/>
          <p:cNvSpPr/>
          <p:nvPr/>
        </p:nvSpPr>
        <p:spPr>
          <a:xfrm>
            <a:off x="6019800" y="2702613"/>
            <a:ext cx="1447800" cy="3429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Parent Class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8" name="Google Shape;548;p69"/>
          <p:cNvSpPr/>
          <p:nvPr/>
        </p:nvSpPr>
        <p:spPr>
          <a:xfrm>
            <a:off x="5867400" y="3656457"/>
            <a:ext cx="1371600" cy="363093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Child Class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549" name="Google Shape;549;p69"/>
          <p:cNvCxnSpPr>
            <a:stCxn id="548" idx="1"/>
          </p:cNvCxnSpPr>
          <p:nvPr/>
        </p:nvCxnSpPr>
        <p:spPr>
          <a:xfrm flipH="1">
            <a:off x="5029200" y="3838004"/>
            <a:ext cx="838200" cy="18600"/>
          </a:xfrm>
          <a:prstGeom prst="straightConnector1">
            <a:avLst/>
          </a:prstGeom>
          <a:noFill/>
          <a:ln cap="flat" cmpd="sng" w="9525">
            <a:solidFill>
              <a:srgbClr val="45A9C4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50" name="Google Shape;550;p69"/>
          <p:cNvCxnSpPr/>
          <p:nvPr/>
        </p:nvCxnSpPr>
        <p:spPr>
          <a:xfrm>
            <a:off x="2305050" y="2880754"/>
            <a:ext cx="590550" cy="0"/>
          </a:xfrm>
          <a:prstGeom prst="straightConnector1">
            <a:avLst/>
          </a:prstGeom>
          <a:noFill/>
          <a:ln cap="flat" cmpd="sng" w="9525">
            <a:solidFill>
              <a:srgbClr val="45A9C4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551" name="Google Shape;551;p69"/>
          <p:cNvSpPr/>
          <p:nvPr/>
        </p:nvSpPr>
        <p:spPr>
          <a:xfrm>
            <a:off x="914400" y="2709304"/>
            <a:ext cx="1409700" cy="3429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Parent Class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2" name="Google Shape;552;p69"/>
          <p:cNvSpPr/>
          <p:nvPr/>
        </p:nvSpPr>
        <p:spPr>
          <a:xfrm>
            <a:off x="3200400" y="2635938"/>
            <a:ext cx="950278" cy="476250"/>
          </a:xfrm>
          <a:prstGeom prst="rect">
            <a:avLst/>
          </a:prstGeom>
          <a:gradFill>
            <a:gsLst>
              <a:gs pos="0">
                <a:srgbClr val="DAFEA4"/>
              </a:gs>
              <a:gs pos="35000">
                <a:srgbClr val="E3FEBF"/>
              </a:gs>
              <a:gs pos="100000">
                <a:srgbClr val="F4FEE6"/>
              </a:gs>
            </a:gsLst>
            <a:lin ang="16200000" scaled="0"/>
          </a:gradFill>
          <a:ln cap="flat" cmpd="sng" w="9525">
            <a:solidFill>
              <a:srgbClr val="97B85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Parent 1</a:t>
            </a:r>
            <a:endParaRPr b="1"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3" name="Google Shape;553;p69"/>
          <p:cNvSpPr/>
          <p:nvPr/>
        </p:nvSpPr>
        <p:spPr>
          <a:xfrm>
            <a:off x="4232552" y="2609961"/>
            <a:ext cx="962504" cy="502227"/>
          </a:xfrm>
          <a:prstGeom prst="rect">
            <a:avLst/>
          </a:prstGeom>
          <a:gradFill>
            <a:gsLst>
              <a:gs pos="0">
                <a:srgbClr val="DAFEA4"/>
              </a:gs>
              <a:gs pos="35000">
                <a:srgbClr val="E3FEBF"/>
              </a:gs>
              <a:gs pos="100000">
                <a:srgbClr val="F4FEE6"/>
              </a:gs>
            </a:gsLst>
            <a:lin ang="16200000" scaled="0"/>
          </a:gradFill>
          <a:ln cap="flat" cmpd="sng" w="9525">
            <a:solidFill>
              <a:srgbClr val="97B85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Parent 2</a:t>
            </a:r>
            <a:endParaRPr b="1" sz="1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4" name="Google Shape;554;p69"/>
          <p:cNvSpPr/>
          <p:nvPr/>
        </p:nvSpPr>
        <p:spPr>
          <a:xfrm>
            <a:off x="3671371" y="3610177"/>
            <a:ext cx="1066801" cy="492611"/>
          </a:xfrm>
          <a:prstGeom prst="rect">
            <a:avLst/>
          </a:prstGeom>
          <a:gradFill>
            <a:gsLst>
              <a:gs pos="0">
                <a:srgbClr val="C8B2E9"/>
              </a:gs>
              <a:gs pos="35000">
                <a:srgbClr val="D6CAED"/>
              </a:gs>
              <a:gs pos="100000">
                <a:srgbClr val="EFE8FA"/>
              </a:gs>
            </a:gsLst>
            <a:lin ang="16200000" scaled="0"/>
          </a:gradFill>
          <a:ln cap="flat" cmpd="sng" w="9525">
            <a:solidFill>
              <a:srgbClr val="7C5F9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Child</a:t>
            </a:r>
            <a:endParaRPr b="1"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555" name="Google Shape;555;p69"/>
          <p:cNvCxnSpPr>
            <a:endCxn id="554" idx="0"/>
          </p:cNvCxnSpPr>
          <p:nvPr/>
        </p:nvCxnSpPr>
        <p:spPr>
          <a:xfrm>
            <a:off x="3747571" y="3112177"/>
            <a:ext cx="457200" cy="498000"/>
          </a:xfrm>
          <a:prstGeom prst="straightConnector1">
            <a:avLst/>
          </a:prstGeom>
          <a:noFill/>
          <a:ln cap="flat" cmpd="sng" w="25400">
            <a:solidFill>
              <a:schemeClr val="accent3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556" name="Google Shape;556;p69"/>
          <p:cNvCxnSpPr>
            <a:endCxn id="554" idx="0"/>
          </p:cNvCxnSpPr>
          <p:nvPr/>
        </p:nvCxnSpPr>
        <p:spPr>
          <a:xfrm flipH="1">
            <a:off x="4204772" y="3112177"/>
            <a:ext cx="506400" cy="498000"/>
          </a:xfrm>
          <a:prstGeom prst="straightConnector1">
            <a:avLst/>
          </a:prstGeom>
          <a:noFill/>
          <a:ln cap="flat" cmpd="sng" w="25400">
            <a:solidFill>
              <a:schemeClr val="accent3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557" name="Google Shape;557;p69"/>
          <p:cNvSpPr/>
          <p:nvPr/>
        </p:nvSpPr>
        <p:spPr>
          <a:xfrm>
            <a:off x="3236278" y="1457527"/>
            <a:ext cx="1828800" cy="438150"/>
          </a:xfrm>
          <a:prstGeom prst="rect">
            <a:avLst/>
          </a:prstGeom>
          <a:gradFill>
            <a:gsLst>
              <a:gs pos="0">
                <a:srgbClr val="FFA09D"/>
              </a:gs>
              <a:gs pos="35000">
                <a:srgbClr val="FFBCBC"/>
              </a:gs>
              <a:gs pos="100000">
                <a:srgbClr val="FFE2E2"/>
              </a:gs>
            </a:gsLst>
            <a:lin ang="16200000" scaled="0"/>
          </a:gradFill>
          <a:ln cap="flat" cmpd="sng" w="9525">
            <a:solidFill>
              <a:srgbClr val="BD4B4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</a:t>
            </a:r>
            <a:endParaRPr b="1"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558" name="Google Shape;558;p69"/>
          <p:cNvCxnSpPr>
            <a:stCxn id="557" idx="2"/>
            <a:endCxn id="552" idx="0"/>
          </p:cNvCxnSpPr>
          <p:nvPr/>
        </p:nvCxnSpPr>
        <p:spPr>
          <a:xfrm flipH="1">
            <a:off x="3675478" y="1895677"/>
            <a:ext cx="475200" cy="74040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559" name="Google Shape;559;p69"/>
          <p:cNvCxnSpPr>
            <a:stCxn id="557" idx="2"/>
            <a:endCxn id="553" idx="0"/>
          </p:cNvCxnSpPr>
          <p:nvPr/>
        </p:nvCxnSpPr>
        <p:spPr>
          <a:xfrm>
            <a:off x="4150678" y="1895677"/>
            <a:ext cx="563100" cy="71430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71"/>
          <p:cNvSpPr txBox="1"/>
          <p:nvPr>
            <p:ph idx="1" type="body"/>
          </p:nvPr>
        </p:nvSpPr>
        <p:spPr>
          <a:xfrm>
            <a:off x="228600" y="742950"/>
            <a:ext cx="4112111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class Father (object): 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    members of class Father 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class Mother (object):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    members of class Mother 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class Son (Father, Mother):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   members of class Son </a:t>
            </a:r>
            <a:endParaRPr/>
          </a:p>
        </p:txBody>
      </p:sp>
      <p:sp>
        <p:nvSpPr>
          <p:cNvPr id="565" name="Google Shape;565;p71"/>
          <p:cNvSpPr/>
          <p:nvPr/>
        </p:nvSpPr>
        <p:spPr>
          <a:xfrm>
            <a:off x="3505200" y="891764"/>
            <a:ext cx="381000" cy="536986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254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71"/>
          <p:cNvSpPr/>
          <p:nvPr/>
        </p:nvSpPr>
        <p:spPr>
          <a:xfrm>
            <a:off x="3886200" y="971550"/>
            <a:ext cx="1524000" cy="457200"/>
          </a:xfrm>
          <a:prstGeom prst="rect">
            <a:avLst/>
          </a:prstGeom>
          <a:gradFill>
            <a:gsLst>
              <a:gs pos="0">
                <a:srgbClr val="DAFEA4"/>
              </a:gs>
              <a:gs pos="35000">
                <a:srgbClr val="E3FEBF"/>
              </a:gs>
              <a:gs pos="100000">
                <a:srgbClr val="F4FEE6"/>
              </a:gs>
            </a:gsLst>
            <a:lin ang="16200000" scaled="0"/>
          </a:gradFill>
          <a:ln cap="flat" cmpd="sng" w="9525">
            <a:solidFill>
              <a:srgbClr val="97B85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Parent Class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7" name="Google Shape;567;p71"/>
          <p:cNvSpPr/>
          <p:nvPr/>
        </p:nvSpPr>
        <p:spPr>
          <a:xfrm>
            <a:off x="3507889" y="2021989"/>
            <a:ext cx="381000" cy="485775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254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71"/>
          <p:cNvSpPr/>
          <p:nvPr/>
        </p:nvSpPr>
        <p:spPr>
          <a:xfrm>
            <a:off x="3888889" y="2021989"/>
            <a:ext cx="1600200" cy="441736"/>
          </a:xfrm>
          <a:prstGeom prst="rect">
            <a:avLst/>
          </a:prstGeom>
          <a:gradFill>
            <a:gsLst>
              <a:gs pos="0">
                <a:srgbClr val="DAFEA4"/>
              </a:gs>
              <a:gs pos="35000">
                <a:srgbClr val="E3FEBF"/>
              </a:gs>
              <a:gs pos="100000">
                <a:srgbClr val="F4FEE6"/>
              </a:gs>
            </a:gsLst>
            <a:lin ang="16200000" scaled="0"/>
          </a:gradFill>
          <a:ln cap="flat" cmpd="sng" w="9525">
            <a:solidFill>
              <a:srgbClr val="97B85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Parent Class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9" name="Google Shape;569;p71"/>
          <p:cNvSpPr/>
          <p:nvPr/>
        </p:nvSpPr>
        <p:spPr>
          <a:xfrm>
            <a:off x="3507889" y="3105150"/>
            <a:ext cx="381000" cy="485775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71"/>
          <p:cNvSpPr/>
          <p:nvPr/>
        </p:nvSpPr>
        <p:spPr>
          <a:xfrm>
            <a:off x="3888889" y="3105150"/>
            <a:ext cx="1600200" cy="441736"/>
          </a:xfrm>
          <a:prstGeom prst="rect">
            <a:avLst/>
          </a:prstGeom>
          <a:gradFill>
            <a:gsLst>
              <a:gs pos="0">
                <a:srgbClr val="C8B2E9"/>
              </a:gs>
              <a:gs pos="35000">
                <a:srgbClr val="D6CAED"/>
              </a:gs>
              <a:gs pos="100000">
                <a:srgbClr val="EFE8FA"/>
              </a:gs>
            </a:gsLst>
            <a:lin ang="16200000" scaled="0"/>
          </a:gradFill>
          <a:ln cap="flat" cmpd="sng" w="9525">
            <a:solidFill>
              <a:srgbClr val="7C5F9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Child Class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1" name="Google Shape;571;p71"/>
          <p:cNvSpPr/>
          <p:nvPr/>
        </p:nvSpPr>
        <p:spPr>
          <a:xfrm>
            <a:off x="6768028" y="1464161"/>
            <a:ext cx="950278" cy="476250"/>
          </a:xfrm>
          <a:prstGeom prst="rect">
            <a:avLst/>
          </a:prstGeom>
          <a:gradFill>
            <a:gsLst>
              <a:gs pos="0">
                <a:srgbClr val="DAFEA4"/>
              </a:gs>
              <a:gs pos="35000">
                <a:srgbClr val="E3FEBF"/>
              </a:gs>
              <a:gs pos="100000">
                <a:srgbClr val="F4FEE6"/>
              </a:gs>
            </a:gsLst>
            <a:lin ang="16200000" scaled="0"/>
          </a:gradFill>
          <a:ln cap="flat" cmpd="sng" w="9525">
            <a:solidFill>
              <a:srgbClr val="97B85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Father</a:t>
            </a:r>
            <a:endParaRPr b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2" name="Google Shape;572;p71"/>
          <p:cNvSpPr/>
          <p:nvPr/>
        </p:nvSpPr>
        <p:spPr>
          <a:xfrm>
            <a:off x="7800180" y="1438184"/>
            <a:ext cx="962504" cy="502227"/>
          </a:xfrm>
          <a:prstGeom prst="rect">
            <a:avLst/>
          </a:prstGeom>
          <a:gradFill>
            <a:gsLst>
              <a:gs pos="0">
                <a:srgbClr val="DAFEA4"/>
              </a:gs>
              <a:gs pos="35000">
                <a:srgbClr val="E3FEBF"/>
              </a:gs>
              <a:gs pos="100000">
                <a:srgbClr val="F4FEE6"/>
              </a:gs>
            </a:gsLst>
            <a:lin ang="16200000" scaled="0"/>
          </a:gradFill>
          <a:ln cap="flat" cmpd="sng" w="9525">
            <a:solidFill>
              <a:srgbClr val="97B85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Mother</a:t>
            </a:r>
            <a:endParaRPr b="1"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3" name="Google Shape;573;p71"/>
          <p:cNvSpPr/>
          <p:nvPr/>
        </p:nvSpPr>
        <p:spPr>
          <a:xfrm>
            <a:off x="7238999" y="2438400"/>
            <a:ext cx="1066801" cy="492611"/>
          </a:xfrm>
          <a:prstGeom prst="rect">
            <a:avLst/>
          </a:prstGeom>
          <a:gradFill>
            <a:gsLst>
              <a:gs pos="0">
                <a:srgbClr val="C8B2E9"/>
              </a:gs>
              <a:gs pos="35000">
                <a:srgbClr val="D6CAED"/>
              </a:gs>
              <a:gs pos="100000">
                <a:srgbClr val="EFE8FA"/>
              </a:gs>
            </a:gsLst>
            <a:lin ang="16200000" scaled="0"/>
          </a:gradFill>
          <a:ln cap="flat" cmpd="sng" w="9525">
            <a:solidFill>
              <a:srgbClr val="7C5F9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Son</a:t>
            </a:r>
            <a:endParaRPr b="1"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574" name="Google Shape;574;p71"/>
          <p:cNvCxnSpPr>
            <a:endCxn id="573" idx="0"/>
          </p:cNvCxnSpPr>
          <p:nvPr/>
        </p:nvCxnSpPr>
        <p:spPr>
          <a:xfrm>
            <a:off x="7315199" y="1940400"/>
            <a:ext cx="457200" cy="498000"/>
          </a:xfrm>
          <a:prstGeom prst="straightConnector1">
            <a:avLst/>
          </a:prstGeom>
          <a:noFill/>
          <a:ln cap="flat" cmpd="sng" w="25400">
            <a:solidFill>
              <a:schemeClr val="accent3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575" name="Google Shape;575;p71"/>
          <p:cNvCxnSpPr>
            <a:endCxn id="573" idx="0"/>
          </p:cNvCxnSpPr>
          <p:nvPr/>
        </p:nvCxnSpPr>
        <p:spPr>
          <a:xfrm flipH="1">
            <a:off x="7772400" y="1940400"/>
            <a:ext cx="506400" cy="498000"/>
          </a:xfrm>
          <a:prstGeom prst="straightConnector1">
            <a:avLst/>
          </a:prstGeom>
          <a:noFill/>
          <a:ln cap="flat" cmpd="sng" w="25400">
            <a:solidFill>
              <a:schemeClr val="accent3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576" name="Google Shape;576;p71"/>
          <p:cNvSpPr/>
          <p:nvPr/>
        </p:nvSpPr>
        <p:spPr>
          <a:xfrm>
            <a:off x="6803906" y="285750"/>
            <a:ext cx="1828800" cy="438150"/>
          </a:xfrm>
          <a:prstGeom prst="rect">
            <a:avLst/>
          </a:prstGeom>
          <a:gradFill>
            <a:gsLst>
              <a:gs pos="0">
                <a:srgbClr val="FFA09D"/>
              </a:gs>
              <a:gs pos="35000">
                <a:srgbClr val="FFBCBC"/>
              </a:gs>
              <a:gs pos="100000">
                <a:srgbClr val="FFE2E2"/>
              </a:gs>
            </a:gsLst>
            <a:lin ang="16200000" scaled="0"/>
          </a:gradFill>
          <a:ln cap="flat" cmpd="sng" w="9525">
            <a:solidFill>
              <a:srgbClr val="BD4B4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</a:t>
            </a:r>
            <a:endParaRPr b="1"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577" name="Google Shape;577;p71"/>
          <p:cNvCxnSpPr>
            <a:stCxn id="576" idx="2"/>
            <a:endCxn id="571" idx="0"/>
          </p:cNvCxnSpPr>
          <p:nvPr/>
        </p:nvCxnSpPr>
        <p:spPr>
          <a:xfrm flipH="1">
            <a:off x="7243106" y="723900"/>
            <a:ext cx="475200" cy="74040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578" name="Google Shape;578;p71"/>
          <p:cNvCxnSpPr>
            <a:stCxn id="576" idx="2"/>
            <a:endCxn id="572" idx="0"/>
          </p:cNvCxnSpPr>
          <p:nvPr/>
        </p:nvCxnSpPr>
        <p:spPr>
          <a:xfrm>
            <a:off x="7718306" y="723900"/>
            <a:ext cx="563100" cy="71430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73"/>
          <p:cNvSpPr/>
          <p:nvPr/>
        </p:nvSpPr>
        <p:spPr>
          <a:xfrm>
            <a:off x="6234944" y="2552700"/>
            <a:ext cx="950278" cy="476250"/>
          </a:xfrm>
          <a:prstGeom prst="rect">
            <a:avLst/>
          </a:prstGeom>
          <a:gradFill>
            <a:gsLst>
              <a:gs pos="0">
                <a:srgbClr val="DAFEA4"/>
              </a:gs>
              <a:gs pos="35000">
                <a:srgbClr val="E3FEBF"/>
              </a:gs>
              <a:gs pos="100000">
                <a:srgbClr val="F4FEE6"/>
              </a:gs>
            </a:gsLst>
            <a:lin ang="16200000" scaled="0"/>
          </a:gradFill>
          <a:ln cap="flat" cmpd="sng" w="9525">
            <a:solidFill>
              <a:srgbClr val="97B85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Father</a:t>
            </a:r>
            <a:endParaRPr b="1"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4" name="Google Shape;584;p73"/>
          <p:cNvSpPr/>
          <p:nvPr/>
        </p:nvSpPr>
        <p:spPr>
          <a:xfrm>
            <a:off x="7267096" y="2526723"/>
            <a:ext cx="962504" cy="502227"/>
          </a:xfrm>
          <a:prstGeom prst="rect">
            <a:avLst/>
          </a:prstGeom>
          <a:gradFill>
            <a:gsLst>
              <a:gs pos="0">
                <a:srgbClr val="DAFEA4"/>
              </a:gs>
              <a:gs pos="35000">
                <a:srgbClr val="E3FEBF"/>
              </a:gs>
              <a:gs pos="100000">
                <a:srgbClr val="F4FEE6"/>
              </a:gs>
            </a:gsLst>
            <a:lin ang="16200000" scaled="0"/>
          </a:gradFill>
          <a:ln cap="flat" cmpd="sng" w="9525">
            <a:solidFill>
              <a:srgbClr val="97B85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Mother</a:t>
            </a:r>
            <a:endParaRPr b="1" sz="1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5" name="Google Shape;585;p73"/>
          <p:cNvSpPr/>
          <p:nvPr/>
        </p:nvSpPr>
        <p:spPr>
          <a:xfrm>
            <a:off x="6705915" y="3526939"/>
            <a:ext cx="1066801" cy="492611"/>
          </a:xfrm>
          <a:prstGeom prst="rect">
            <a:avLst/>
          </a:prstGeom>
          <a:gradFill>
            <a:gsLst>
              <a:gs pos="0">
                <a:srgbClr val="C8B2E9"/>
              </a:gs>
              <a:gs pos="35000">
                <a:srgbClr val="D6CAED"/>
              </a:gs>
              <a:gs pos="100000">
                <a:srgbClr val="EFE8FA"/>
              </a:gs>
            </a:gsLst>
            <a:lin ang="16200000" scaled="0"/>
          </a:gradFill>
          <a:ln cap="flat" cmpd="sng" w="9525">
            <a:solidFill>
              <a:srgbClr val="7C5F9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Son</a:t>
            </a:r>
            <a:endParaRPr b="1"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586" name="Google Shape;586;p73"/>
          <p:cNvCxnSpPr>
            <a:endCxn id="585" idx="0"/>
          </p:cNvCxnSpPr>
          <p:nvPr/>
        </p:nvCxnSpPr>
        <p:spPr>
          <a:xfrm>
            <a:off x="6782116" y="3028939"/>
            <a:ext cx="457200" cy="498000"/>
          </a:xfrm>
          <a:prstGeom prst="straightConnector1">
            <a:avLst/>
          </a:prstGeom>
          <a:noFill/>
          <a:ln cap="flat" cmpd="sng" w="25400">
            <a:solidFill>
              <a:schemeClr val="accent3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587" name="Google Shape;587;p73"/>
          <p:cNvCxnSpPr>
            <a:endCxn id="585" idx="0"/>
          </p:cNvCxnSpPr>
          <p:nvPr/>
        </p:nvCxnSpPr>
        <p:spPr>
          <a:xfrm flipH="1">
            <a:off x="7239316" y="3028939"/>
            <a:ext cx="506400" cy="498000"/>
          </a:xfrm>
          <a:prstGeom prst="straightConnector1">
            <a:avLst/>
          </a:prstGeom>
          <a:noFill/>
          <a:ln cap="flat" cmpd="sng" w="25400">
            <a:solidFill>
              <a:schemeClr val="accent3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588" name="Google Shape;588;p73"/>
          <p:cNvSpPr/>
          <p:nvPr/>
        </p:nvSpPr>
        <p:spPr>
          <a:xfrm>
            <a:off x="6270822" y="1374289"/>
            <a:ext cx="1828800" cy="438150"/>
          </a:xfrm>
          <a:prstGeom prst="rect">
            <a:avLst/>
          </a:prstGeom>
          <a:gradFill>
            <a:gsLst>
              <a:gs pos="0">
                <a:srgbClr val="FFA09D"/>
              </a:gs>
              <a:gs pos="35000">
                <a:srgbClr val="FFBCBC"/>
              </a:gs>
              <a:gs pos="100000">
                <a:srgbClr val="FFE2E2"/>
              </a:gs>
            </a:gsLst>
            <a:lin ang="16200000" scaled="0"/>
          </a:gradFill>
          <a:ln cap="flat" cmpd="sng" w="9525">
            <a:solidFill>
              <a:srgbClr val="BD4B4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</a:t>
            </a:r>
            <a:endParaRPr b="1"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589" name="Google Shape;589;p73"/>
          <p:cNvCxnSpPr>
            <a:stCxn id="588" idx="2"/>
            <a:endCxn id="583" idx="0"/>
          </p:cNvCxnSpPr>
          <p:nvPr/>
        </p:nvCxnSpPr>
        <p:spPr>
          <a:xfrm flipH="1">
            <a:off x="6710022" y="1812439"/>
            <a:ext cx="475200" cy="74040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590" name="Google Shape;590;p73"/>
          <p:cNvCxnSpPr>
            <a:stCxn id="588" idx="2"/>
            <a:endCxn id="584" idx="0"/>
          </p:cNvCxnSpPr>
          <p:nvPr/>
        </p:nvCxnSpPr>
        <p:spPr>
          <a:xfrm>
            <a:off x="7185222" y="1812439"/>
            <a:ext cx="563100" cy="71430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591" name="Google Shape;591;p73"/>
          <p:cNvSpPr txBox="1"/>
          <p:nvPr>
            <p:ph type="title"/>
          </p:nvPr>
        </p:nvSpPr>
        <p:spPr>
          <a:xfrm>
            <a:off x="457200" y="3810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b="1" lang="en-US" sz="4000" u="sng">
                <a:latin typeface="Times New Roman"/>
                <a:ea typeface="Times New Roman"/>
                <a:cs typeface="Times New Roman"/>
                <a:sym typeface="Times New Roman"/>
              </a:rPr>
              <a:t>Method Resolution Order (MRO)</a:t>
            </a:r>
            <a:endParaRPr b="1" sz="4000"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2" name="Google Shape;592;p73"/>
          <p:cNvSpPr txBox="1"/>
          <p:nvPr>
            <p:ph idx="1" type="body"/>
          </p:nvPr>
        </p:nvSpPr>
        <p:spPr>
          <a:xfrm>
            <a:off x="152400" y="895350"/>
            <a:ext cx="5334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        s = Son()</a:t>
            </a:r>
            <a:endParaRPr/>
          </a:p>
          <a:p>
            <a:pPr indent="-342900" lvl="0" marL="3429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The search will start from Son. As the object of Son is created, the constructor of Son is called.</a:t>
            </a:r>
            <a:endParaRPr/>
          </a:p>
          <a:p>
            <a:pPr indent="-342900" lvl="0" marL="3429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Son has super().__init__() inside his constructor so its parent class, the one in the left side ‘Father’ class’s constructor is called.</a:t>
            </a:r>
            <a:endParaRPr/>
          </a:p>
          <a:p>
            <a:pPr indent="-342900" lvl="0" marL="3429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Father class also has super().__init__() inside his constructor so its parent ‘object’ class’s constructor is called.</a:t>
            </a:r>
            <a:endParaRPr/>
          </a:p>
          <a:p>
            <a:pPr indent="-342900" lvl="0" marL="3429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Object does not have any constructor so the search will continue down to right hand side class (Mother) of object class so Mother class’s constructor is called.</a:t>
            </a:r>
            <a:endParaRPr/>
          </a:p>
          <a:p>
            <a:pPr indent="-342900" lvl="0" marL="3429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As Mother class also has super().__inti__() so its parent class ‘object’ constructor is called but as object class already visited, the search will stop here.</a:t>
            </a:r>
            <a:endParaRPr/>
          </a:p>
        </p:txBody>
      </p:sp>
      <p:sp>
        <p:nvSpPr>
          <p:cNvPr id="593" name="Google Shape;593;p73"/>
          <p:cNvSpPr/>
          <p:nvPr/>
        </p:nvSpPr>
        <p:spPr>
          <a:xfrm>
            <a:off x="5715000" y="3636083"/>
            <a:ext cx="762000" cy="246306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chemeClr val="dk1"/>
              </a:gs>
              <a:gs pos="80000">
                <a:schemeClr val="dk1"/>
              </a:gs>
              <a:gs pos="100000">
                <a:schemeClr val="dk1"/>
              </a:gs>
            </a:gsLst>
            <a:lin ang="16200000" scaled="0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73"/>
          <p:cNvSpPr/>
          <p:nvPr/>
        </p:nvSpPr>
        <p:spPr>
          <a:xfrm>
            <a:off x="5410200" y="2724150"/>
            <a:ext cx="762000" cy="246306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chemeClr val="dk1"/>
              </a:gs>
              <a:gs pos="80000">
                <a:schemeClr val="dk1"/>
              </a:gs>
              <a:gs pos="100000">
                <a:schemeClr val="dk1"/>
              </a:gs>
            </a:gsLst>
            <a:lin ang="16200000" scaled="0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73"/>
          <p:cNvSpPr/>
          <p:nvPr/>
        </p:nvSpPr>
        <p:spPr>
          <a:xfrm>
            <a:off x="5410200" y="1470211"/>
            <a:ext cx="762000" cy="246306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chemeClr val="dk1"/>
              </a:gs>
              <a:gs pos="80000">
                <a:schemeClr val="dk1"/>
              </a:gs>
              <a:gs pos="100000">
                <a:schemeClr val="dk1"/>
              </a:gs>
            </a:gsLst>
            <a:lin ang="16200000" scaled="0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73"/>
          <p:cNvSpPr/>
          <p:nvPr/>
        </p:nvSpPr>
        <p:spPr>
          <a:xfrm rot="10800000">
            <a:off x="8305800" y="2654683"/>
            <a:ext cx="762000" cy="246306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chemeClr val="dk1"/>
              </a:gs>
              <a:gs pos="80000">
                <a:schemeClr val="dk1"/>
              </a:gs>
              <a:gs pos="100000">
                <a:schemeClr val="dk1"/>
              </a:gs>
            </a:gsLst>
            <a:lin ang="16200000" scaled="0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2006-08-16T00:00:00.0000000Z</dcterms:created>
  <dc:creator>R</dc:creator>
</cp:coreProperties>
</file>