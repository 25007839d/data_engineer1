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7" roundtripDataSignature="AMtx7mjS2b3wvgtFJpWo4zGGMh1AwFGF1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AA705B-74BD-4309-A868-7F1B09B252B4}">
  <a:tblStyle styleId="{2CAA705B-74BD-4309-A868-7F1B09B252B4}" styleName="Table_0">
    <a:wholeTbl>
      <a:tcTxStyle b="off" i="off">
        <a:font>
          <a:latin typeface="Calibri"/>
          <a:ea typeface="Calibri"/>
          <a:cs typeface="Calibri"/>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F3B81AAF-B9A5-4101-99E6-C2B7CB4CFF26}"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slide" Target="slides/slide40.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customschemas.google.com/relationships/presentationmetadata" Target="meta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4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2"/>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 name="Google Shape;14;p42"/>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2"/>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 name="Shape 17"/>
        <p:cNvGrpSpPr/>
        <p:nvPr/>
      </p:nvGrpSpPr>
      <p:grpSpPr>
        <a:xfrm>
          <a:off x="0" y="0"/>
          <a:ext cx="0" cy="0"/>
          <a:chOff x="0" y="0"/>
          <a:chExt cx="0" cy="0"/>
        </a:xfrm>
      </p:grpSpPr>
      <p:sp>
        <p:nvSpPr>
          <p:cNvPr id="18" name="Google Shape;18;p43"/>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41"/>
          <p:cNvSpPr txBox="1"/>
          <p:nvPr>
            <p:ph idx="1" type="body"/>
          </p:nvPr>
        </p:nvSpPr>
        <p:spPr>
          <a:xfrm>
            <a:off x="457200" y="1200151"/>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4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4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1"/>
          <p:cNvSpPr/>
          <p:nvPr/>
        </p:nvSpPr>
        <p:spPr>
          <a:xfrm>
            <a:off x="2053788" y="1395502"/>
            <a:ext cx="4575612" cy="186204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1500" u="none" cap="none" strike="noStrike">
                <a:solidFill>
                  <a:srgbClr val="6F91C8"/>
                </a:solidFill>
                <a:latin typeface="Calibri"/>
                <a:ea typeface="Calibri"/>
                <a:cs typeface="Calibri"/>
                <a:sym typeface="Calibri"/>
              </a:rPr>
              <a:t>Python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2"/>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Why use</a:t>
            </a:r>
            <a:endParaRPr/>
          </a:p>
        </p:txBody>
      </p:sp>
      <p:sp>
        <p:nvSpPr>
          <p:cNvPr id="32" name="Google Shape;32;p2"/>
          <p:cNvSpPr/>
          <p:nvPr/>
        </p:nvSpPr>
        <p:spPr>
          <a:xfrm>
            <a:off x="381000" y="2038350"/>
            <a:ext cx="838200" cy="129540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200" u="none" cap="none" strike="noStrike">
                <a:solidFill>
                  <a:schemeClr val="lt1"/>
                </a:solidFill>
                <a:latin typeface="Calibri"/>
                <a:ea typeface="Calibri"/>
                <a:cs typeface="Calibri"/>
                <a:sym typeface="Calibri"/>
              </a:rPr>
              <a:t>DB/file/API/IOT/cloud</a:t>
            </a:r>
            <a:endParaRPr/>
          </a:p>
        </p:txBody>
      </p:sp>
      <p:sp>
        <p:nvSpPr>
          <p:cNvPr id="33" name="Google Shape;33;p2"/>
          <p:cNvSpPr/>
          <p:nvPr/>
        </p:nvSpPr>
        <p:spPr>
          <a:xfrm>
            <a:off x="2971800" y="2038350"/>
            <a:ext cx="1143000" cy="129540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Data transformation</a:t>
            </a:r>
            <a:endParaRPr/>
          </a:p>
        </p:txBody>
      </p:sp>
      <p:sp>
        <p:nvSpPr>
          <p:cNvPr id="34" name="Google Shape;34;p2"/>
          <p:cNvSpPr/>
          <p:nvPr/>
        </p:nvSpPr>
        <p:spPr>
          <a:xfrm>
            <a:off x="6019800" y="2038350"/>
            <a:ext cx="838200" cy="1295400"/>
          </a:xfrm>
          <a:prstGeom prst="rect">
            <a:avLst/>
          </a:prstGeom>
          <a:solidFill>
            <a:schemeClr val="accent1"/>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400" u="none" cap="none" strike="noStrike">
                <a:solidFill>
                  <a:schemeClr val="lt1"/>
                </a:solidFill>
                <a:latin typeface="Calibri"/>
                <a:ea typeface="Calibri"/>
                <a:cs typeface="Calibri"/>
                <a:sym typeface="Calibri"/>
              </a:rPr>
              <a:t>DB/File system/cloud</a:t>
            </a:r>
            <a:endParaRPr/>
          </a:p>
        </p:txBody>
      </p:sp>
      <p:cxnSp>
        <p:nvCxnSpPr>
          <p:cNvPr id="35" name="Google Shape;35;p2"/>
          <p:cNvCxnSpPr/>
          <p:nvPr/>
        </p:nvCxnSpPr>
        <p:spPr>
          <a:xfrm>
            <a:off x="1295400" y="2686050"/>
            <a:ext cx="1524000" cy="0"/>
          </a:xfrm>
          <a:prstGeom prst="straightConnector1">
            <a:avLst/>
          </a:prstGeom>
          <a:noFill/>
          <a:ln cap="flat" cmpd="sng" w="9525">
            <a:solidFill>
              <a:srgbClr val="4A7DBA"/>
            </a:solidFill>
            <a:prstDash val="solid"/>
            <a:round/>
            <a:headEnd len="sm" w="sm" type="none"/>
            <a:tailEnd len="med" w="med" type="triangle"/>
          </a:ln>
        </p:spPr>
      </p:cxnSp>
      <p:cxnSp>
        <p:nvCxnSpPr>
          <p:cNvPr id="36" name="Google Shape;36;p2"/>
          <p:cNvCxnSpPr/>
          <p:nvPr/>
        </p:nvCxnSpPr>
        <p:spPr>
          <a:xfrm>
            <a:off x="4000500" y="2692090"/>
            <a:ext cx="1866900" cy="0"/>
          </a:xfrm>
          <a:prstGeom prst="straightConnector1">
            <a:avLst/>
          </a:prstGeom>
          <a:noFill/>
          <a:ln cap="flat" cmpd="sng" w="9525">
            <a:solidFill>
              <a:srgbClr val="4A7DBA"/>
            </a:solidFill>
            <a:prstDash val="solid"/>
            <a:round/>
            <a:headEnd len="sm" w="sm" type="none"/>
            <a:tailEnd len="med" w="med" type="triangle"/>
          </a:ln>
        </p:spPr>
      </p:cxnSp>
      <p:sp>
        <p:nvSpPr>
          <p:cNvPr id="37" name="Google Shape;37;p2"/>
          <p:cNvSpPr txBox="1"/>
          <p:nvPr/>
        </p:nvSpPr>
        <p:spPr>
          <a:xfrm>
            <a:off x="381000" y="1657350"/>
            <a:ext cx="8080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source</a:t>
            </a:r>
            <a:endParaRPr/>
          </a:p>
        </p:txBody>
      </p:sp>
      <p:sp>
        <p:nvSpPr>
          <p:cNvPr id="38" name="Google Shape;38;p2"/>
          <p:cNvSpPr txBox="1"/>
          <p:nvPr/>
        </p:nvSpPr>
        <p:spPr>
          <a:xfrm>
            <a:off x="6093303" y="1689973"/>
            <a:ext cx="7646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Target</a:t>
            </a:r>
            <a:endParaRPr/>
          </a:p>
        </p:txBody>
      </p:sp>
      <p:sp>
        <p:nvSpPr>
          <p:cNvPr id="39" name="Google Shape;39;p2"/>
          <p:cNvSpPr txBox="1"/>
          <p:nvPr/>
        </p:nvSpPr>
        <p:spPr>
          <a:xfrm>
            <a:off x="1600200" y="3525825"/>
            <a:ext cx="418377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Loct_id : ‘node-201/year-2025/area-north’</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Node_id, year, area</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201,	2025, north</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3"/>
          <p:cNvSpPr txBox="1"/>
          <p:nvPr>
            <p:ph type="title"/>
          </p:nvPr>
        </p:nvSpPr>
        <p:spPr>
          <a:xfrm>
            <a:off x="457200" y="571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What is Python ?</a:t>
            </a:r>
            <a:endParaRPr b="1" sz="4000" u="sng">
              <a:latin typeface="Times New Roman"/>
              <a:ea typeface="Times New Roman"/>
              <a:cs typeface="Times New Roman"/>
              <a:sym typeface="Times New Roman"/>
            </a:endParaRPr>
          </a:p>
        </p:txBody>
      </p:sp>
      <p:sp>
        <p:nvSpPr>
          <p:cNvPr id="45" name="Google Shape;45;p3"/>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None/>
            </a:pPr>
            <a:r>
              <a:rPr lang="en-US" sz="2400">
                <a:latin typeface="Times New Roman"/>
                <a:ea typeface="Times New Roman"/>
                <a:cs typeface="Times New Roman"/>
                <a:sym typeface="Times New Roman"/>
              </a:rPr>
              <a:t>Python is a clear and powerful object-oriented programming language, comparable to Perl, Ruby, or Java. </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Python is a programming language that combines features of C and Java. </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
                                            <p:txEl>
                                              <p:pRg end="0" st="0"/>
                                            </p:txEl>
                                          </p:spTgt>
                                        </p:tgtEl>
                                        <p:attrNameLst>
                                          <p:attrName>style.visibility</p:attrName>
                                        </p:attrNameLst>
                                      </p:cBhvr>
                                      <p:to>
                                        <p:strVal val="visible"/>
                                      </p:to>
                                    </p:set>
                                    <p:animEffect filter="fade" transition="in">
                                      <p:cBhvr>
                                        <p:cTn dur="500"/>
                                        <p:tgtEl>
                                          <p:spTgt spid="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
                                            <p:txEl>
                                              <p:pRg end="1" st="1"/>
                                            </p:txEl>
                                          </p:spTgt>
                                        </p:tgtEl>
                                        <p:attrNameLst>
                                          <p:attrName>style.visibility</p:attrName>
                                        </p:attrNameLst>
                                      </p:cBhvr>
                                      <p:to>
                                        <p:strVal val="visible"/>
                                      </p:to>
                                    </p:set>
                                    <p:animEffect filter="fade" transition="in">
                                      <p:cBhvr>
                                        <p:cTn dur="500"/>
                                        <p:tgtEl>
                                          <p:spTgt spid="45">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History</a:t>
            </a:r>
            <a:endParaRPr b="1" sz="4000" u="sng">
              <a:latin typeface="Times New Roman"/>
              <a:ea typeface="Times New Roman"/>
              <a:cs typeface="Times New Roman"/>
              <a:sym typeface="Times New Roman"/>
            </a:endParaRPr>
          </a:p>
        </p:txBody>
      </p:sp>
      <p:sp>
        <p:nvSpPr>
          <p:cNvPr id="51" name="Google Shape;51;p4"/>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Python was developed by </a:t>
            </a:r>
            <a:r>
              <a:rPr i="1" lang="en-US" sz="2000">
                <a:latin typeface="Times New Roman"/>
                <a:ea typeface="Times New Roman"/>
                <a:cs typeface="Times New Roman"/>
                <a:sym typeface="Times New Roman"/>
              </a:rPr>
              <a:t>Guido Van Rossum</a:t>
            </a:r>
            <a:r>
              <a:rPr lang="en-US" sz="2000">
                <a:latin typeface="Times New Roman"/>
                <a:ea typeface="Times New Roman"/>
                <a:cs typeface="Times New Roman"/>
                <a:sym typeface="Times New Roman"/>
              </a:rPr>
              <a:t> in the year </a:t>
            </a:r>
            <a:r>
              <a:rPr i="1" lang="en-US" sz="2000">
                <a:latin typeface="Times New Roman"/>
                <a:ea typeface="Times New Roman"/>
                <a:cs typeface="Times New Roman"/>
                <a:sym typeface="Times New Roman"/>
              </a:rPr>
              <a:t>1990</a:t>
            </a:r>
            <a:r>
              <a:rPr lang="en-US" sz="2000">
                <a:latin typeface="Times New Roman"/>
                <a:ea typeface="Times New Roman"/>
                <a:cs typeface="Times New Roman"/>
                <a:sym typeface="Times New Roman"/>
              </a:rPr>
              <a:t> at Stichting Mathematisch Centrum in the Netherlands as a successor of a language called ABC.</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Name “Python” picked from TV Show Monty Python’s Flying Circus. </a:t>
            </a:r>
            <a:endParaRPr sz="2000"/>
          </a:p>
        </p:txBody>
      </p:sp>
      <p:sp>
        <p:nvSpPr>
          <p:cNvPr id="52" name="Google Shape;52;p4"/>
          <p:cNvSpPr/>
          <p:nvPr/>
        </p:nvSpPr>
        <p:spPr>
          <a:xfrm>
            <a:off x="914400" y="2756416"/>
            <a:ext cx="387279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https://docs.python.org/3/license.html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
                                            <p:txEl>
                                              <p:pRg end="0" st="0"/>
                                            </p:txEl>
                                          </p:spTgt>
                                        </p:tgtEl>
                                        <p:attrNameLst>
                                          <p:attrName>style.visibility</p:attrName>
                                        </p:attrNameLst>
                                      </p:cBhvr>
                                      <p:to>
                                        <p:strVal val="visible"/>
                                      </p:to>
                                    </p:set>
                                    <p:animEffect filter="fade" transition="in">
                                      <p:cBhvr>
                                        <p:cTn dur="500"/>
                                        <p:tgtEl>
                                          <p:spTgt spid="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
                                            <p:txEl>
                                              <p:pRg end="1" st="1"/>
                                            </p:txEl>
                                          </p:spTgt>
                                        </p:tgtEl>
                                        <p:attrNameLst>
                                          <p:attrName>style.visibility</p:attrName>
                                        </p:attrNameLst>
                                      </p:cBhvr>
                                      <p:to>
                                        <p:strVal val="visible"/>
                                      </p:to>
                                    </p:set>
                                    <p:animEffect filter="fade" transition="in">
                                      <p:cBhvr>
                                        <p:cTn dur="500"/>
                                        <p:tgtEl>
                                          <p:spTgt spid="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
                                        </p:tgtEl>
                                        <p:attrNameLst>
                                          <p:attrName>style.visibility</p:attrName>
                                        </p:attrNameLst>
                                      </p:cBhvr>
                                      <p:to>
                                        <p:strVal val="visible"/>
                                      </p:to>
                                    </p:set>
                                    <p:animEffect filter="fade" transition="in">
                                      <p:cBhvr>
                                        <p:cTn dur="50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Features</a:t>
            </a:r>
            <a:endParaRPr b="1" sz="4000" u="sng">
              <a:latin typeface="Times New Roman"/>
              <a:ea typeface="Times New Roman"/>
              <a:cs typeface="Times New Roman"/>
              <a:sym typeface="Times New Roman"/>
            </a:endParaRPr>
          </a:p>
        </p:txBody>
      </p:sp>
      <p:sp>
        <p:nvSpPr>
          <p:cNvPr id="58" name="Google Shape;58;p5"/>
          <p:cNvSpPr txBox="1"/>
          <p:nvPr>
            <p:ph idx="1" type="body"/>
          </p:nvPr>
        </p:nvSpPr>
        <p:spPr>
          <a:xfrm>
            <a:off x="457200" y="9715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Easy to Learn</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High Level Language</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Interpreted Language</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Platform Independent </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Object Oriented</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Huge Library</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Scalable</a:t>
            </a:r>
            <a:endParaRPr/>
          </a:p>
          <a:p>
            <a:pPr indent="-190500" lvl="0" marL="342900" rtl="0" algn="l">
              <a:spcBef>
                <a:spcPts val="480"/>
              </a:spcBef>
              <a:spcAft>
                <a:spcPts val="0"/>
              </a:spcAft>
              <a:buClr>
                <a:schemeClr val="dk1"/>
              </a:buClr>
              <a:buSzPts val="2400"/>
              <a:buNone/>
            </a:pPr>
            <a:r>
              <a:t/>
            </a:r>
            <a:endParaRPr sz="24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0" st="0"/>
                                            </p:txEl>
                                          </p:spTgt>
                                        </p:tgtEl>
                                        <p:attrNameLst>
                                          <p:attrName>style.visibility</p:attrName>
                                        </p:attrNameLst>
                                      </p:cBhvr>
                                      <p:to>
                                        <p:strVal val="visible"/>
                                      </p:to>
                                    </p:set>
                                    <p:animEffect filter="fade" transition="in">
                                      <p:cBhvr>
                                        <p:cTn dur="500"/>
                                        <p:tgtEl>
                                          <p:spTgt spid="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1" st="1"/>
                                            </p:txEl>
                                          </p:spTgt>
                                        </p:tgtEl>
                                        <p:attrNameLst>
                                          <p:attrName>style.visibility</p:attrName>
                                        </p:attrNameLst>
                                      </p:cBhvr>
                                      <p:to>
                                        <p:strVal val="visible"/>
                                      </p:to>
                                    </p:set>
                                    <p:animEffect filter="fade" transition="in">
                                      <p:cBhvr>
                                        <p:cTn dur="500"/>
                                        <p:tgtEl>
                                          <p:spTgt spid="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2" st="2"/>
                                            </p:txEl>
                                          </p:spTgt>
                                        </p:tgtEl>
                                        <p:attrNameLst>
                                          <p:attrName>style.visibility</p:attrName>
                                        </p:attrNameLst>
                                      </p:cBhvr>
                                      <p:to>
                                        <p:strVal val="visible"/>
                                      </p:to>
                                    </p:set>
                                    <p:animEffect filter="fade" transition="in">
                                      <p:cBhvr>
                                        <p:cTn dur="500"/>
                                        <p:tgtEl>
                                          <p:spTgt spid="5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3" st="3"/>
                                            </p:txEl>
                                          </p:spTgt>
                                        </p:tgtEl>
                                        <p:attrNameLst>
                                          <p:attrName>style.visibility</p:attrName>
                                        </p:attrNameLst>
                                      </p:cBhvr>
                                      <p:to>
                                        <p:strVal val="visible"/>
                                      </p:to>
                                    </p:set>
                                    <p:animEffect filter="fade" transition="in">
                                      <p:cBhvr>
                                        <p:cTn dur="500"/>
                                        <p:tgtEl>
                                          <p:spTgt spid="5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4" st="4"/>
                                            </p:txEl>
                                          </p:spTgt>
                                        </p:tgtEl>
                                        <p:attrNameLst>
                                          <p:attrName>style.visibility</p:attrName>
                                        </p:attrNameLst>
                                      </p:cBhvr>
                                      <p:to>
                                        <p:strVal val="visible"/>
                                      </p:to>
                                    </p:set>
                                    <p:animEffect filter="fade" transition="in">
                                      <p:cBhvr>
                                        <p:cTn dur="500"/>
                                        <p:tgtEl>
                                          <p:spTgt spid="5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5" st="5"/>
                                            </p:txEl>
                                          </p:spTgt>
                                        </p:tgtEl>
                                        <p:attrNameLst>
                                          <p:attrName>style.visibility</p:attrName>
                                        </p:attrNameLst>
                                      </p:cBhvr>
                                      <p:to>
                                        <p:strVal val="visible"/>
                                      </p:to>
                                    </p:set>
                                    <p:animEffect filter="fade" transition="in">
                                      <p:cBhvr>
                                        <p:cTn dur="500"/>
                                        <p:tgtEl>
                                          <p:spTgt spid="5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6" st="6"/>
                                            </p:txEl>
                                          </p:spTgt>
                                        </p:tgtEl>
                                        <p:attrNameLst>
                                          <p:attrName>style.visibility</p:attrName>
                                        </p:attrNameLst>
                                      </p:cBhvr>
                                      <p:to>
                                        <p:strVal val="visible"/>
                                      </p:to>
                                    </p:set>
                                    <p:animEffect filter="fade" transition="in">
                                      <p:cBhvr>
                                        <p:cTn dur="500"/>
                                        <p:tgtEl>
                                          <p:spTgt spid="5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
                                            <p:txEl>
                                              <p:pRg end="7" st="7"/>
                                            </p:txEl>
                                          </p:spTgt>
                                        </p:tgtEl>
                                        <p:attrNameLst>
                                          <p:attrName>style.visibility</p:attrName>
                                        </p:attrNameLst>
                                      </p:cBhvr>
                                      <p:to>
                                        <p:strVal val="visible"/>
                                      </p:to>
                                    </p:set>
                                    <p:animEffect filter="fade" transition="in">
                                      <p:cBhvr>
                                        <p:cTn dur="500"/>
                                        <p:tgtEl>
                                          <p:spTgt spid="58">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Application for Python</a:t>
            </a:r>
            <a:endParaRPr b="1" sz="4000" u="sng">
              <a:latin typeface="Times New Roman"/>
              <a:ea typeface="Times New Roman"/>
              <a:cs typeface="Times New Roman"/>
              <a:sym typeface="Times New Roman"/>
            </a:endParaRPr>
          </a:p>
        </p:txBody>
      </p:sp>
      <p:sp>
        <p:nvSpPr>
          <p:cNvPr id="64" name="Google Shape;64;p6"/>
          <p:cNvSpPr txBox="1"/>
          <p:nvPr>
            <p:ph idx="1" type="body"/>
          </p:nvPr>
        </p:nvSpPr>
        <p:spPr>
          <a:xfrm>
            <a:off x="457200" y="929878"/>
            <a:ext cx="8229600" cy="392787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Web Application - Django, Pyramid, Flask, Bottle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Desktop GUI Application – Tkinter</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Console Based Application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Games and 3D Application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Mobile Application</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Scientific and Numeric</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Data Science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Machine Learning - scikit-learn and TensorFlow</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Data Analysis - Matplotlib, Seaborn</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Business Application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0" st="0"/>
                                            </p:txEl>
                                          </p:spTgt>
                                        </p:tgtEl>
                                        <p:attrNameLst>
                                          <p:attrName>style.visibility</p:attrName>
                                        </p:attrNameLst>
                                      </p:cBhvr>
                                      <p:to>
                                        <p:strVal val="visible"/>
                                      </p:to>
                                    </p:set>
                                    <p:animEffect filter="fade" transition="in">
                                      <p:cBhvr>
                                        <p:cTn dur="500"/>
                                        <p:tgtEl>
                                          <p:spTgt spid="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1" st="1"/>
                                            </p:txEl>
                                          </p:spTgt>
                                        </p:tgtEl>
                                        <p:attrNameLst>
                                          <p:attrName>style.visibility</p:attrName>
                                        </p:attrNameLst>
                                      </p:cBhvr>
                                      <p:to>
                                        <p:strVal val="visible"/>
                                      </p:to>
                                    </p:set>
                                    <p:animEffect filter="fade" transition="in">
                                      <p:cBhvr>
                                        <p:cTn dur="500"/>
                                        <p:tgtEl>
                                          <p:spTgt spid="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2" st="2"/>
                                            </p:txEl>
                                          </p:spTgt>
                                        </p:tgtEl>
                                        <p:attrNameLst>
                                          <p:attrName>style.visibility</p:attrName>
                                        </p:attrNameLst>
                                      </p:cBhvr>
                                      <p:to>
                                        <p:strVal val="visible"/>
                                      </p:to>
                                    </p:set>
                                    <p:animEffect filter="fade" transition="in">
                                      <p:cBhvr>
                                        <p:cTn dur="500"/>
                                        <p:tgtEl>
                                          <p:spTgt spid="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3" st="3"/>
                                            </p:txEl>
                                          </p:spTgt>
                                        </p:tgtEl>
                                        <p:attrNameLst>
                                          <p:attrName>style.visibility</p:attrName>
                                        </p:attrNameLst>
                                      </p:cBhvr>
                                      <p:to>
                                        <p:strVal val="visible"/>
                                      </p:to>
                                    </p:set>
                                    <p:animEffect filter="fade" transition="in">
                                      <p:cBhvr>
                                        <p:cTn dur="500"/>
                                        <p:tgtEl>
                                          <p:spTgt spid="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4" st="4"/>
                                            </p:txEl>
                                          </p:spTgt>
                                        </p:tgtEl>
                                        <p:attrNameLst>
                                          <p:attrName>style.visibility</p:attrName>
                                        </p:attrNameLst>
                                      </p:cBhvr>
                                      <p:to>
                                        <p:strVal val="visible"/>
                                      </p:to>
                                    </p:set>
                                    <p:animEffect filter="fade" transition="in">
                                      <p:cBhvr>
                                        <p:cTn dur="500"/>
                                        <p:tgtEl>
                                          <p:spTgt spid="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5" st="5"/>
                                            </p:txEl>
                                          </p:spTgt>
                                        </p:tgtEl>
                                        <p:attrNameLst>
                                          <p:attrName>style.visibility</p:attrName>
                                        </p:attrNameLst>
                                      </p:cBhvr>
                                      <p:to>
                                        <p:strVal val="visible"/>
                                      </p:to>
                                    </p:set>
                                    <p:animEffect filter="fade" transition="in">
                                      <p:cBhvr>
                                        <p:cTn dur="500"/>
                                        <p:tgtEl>
                                          <p:spTgt spid="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6" st="6"/>
                                            </p:txEl>
                                          </p:spTgt>
                                        </p:tgtEl>
                                        <p:attrNameLst>
                                          <p:attrName>style.visibility</p:attrName>
                                        </p:attrNameLst>
                                      </p:cBhvr>
                                      <p:to>
                                        <p:strVal val="visible"/>
                                      </p:to>
                                    </p:set>
                                    <p:animEffect filter="fade" transition="in">
                                      <p:cBhvr>
                                        <p:cTn dur="500"/>
                                        <p:tgtEl>
                                          <p:spTgt spid="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7" st="7"/>
                                            </p:txEl>
                                          </p:spTgt>
                                        </p:tgtEl>
                                        <p:attrNameLst>
                                          <p:attrName>style.visibility</p:attrName>
                                        </p:attrNameLst>
                                      </p:cBhvr>
                                      <p:to>
                                        <p:strVal val="visible"/>
                                      </p:to>
                                    </p:set>
                                    <p:animEffect filter="fade" transition="in">
                                      <p:cBhvr>
                                        <p:cTn dur="500"/>
                                        <p:tgtEl>
                                          <p:spTgt spid="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8" st="8"/>
                                            </p:txEl>
                                          </p:spTgt>
                                        </p:tgtEl>
                                        <p:attrNameLst>
                                          <p:attrName>style.visibility</p:attrName>
                                        </p:attrNameLst>
                                      </p:cBhvr>
                                      <p:to>
                                        <p:strVal val="visible"/>
                                      </p:to>
                                    </p:set>
                                    <p:animEffect filter="fade" transition="in">
                                      <p:cBhvr>
                                        <p:cTn dur="500"/>
                                        <p:tgtEl>
                                          <p:spTgt spid="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
                                            <p:txEl>
                                              <p:pRg end="9" st="9"/>
                                            </p:txEl>
                                          </p:spTgt>
                                        </p:tgtEl>
                                        <p:attrNameLst>
                                          <p:attrName>style.visibility</p:attrName>
                                        </p:attrNameLst>
                                      </p:cBhvr>
                                      <p:to>
                                        <p:strVal val="visible"/>
                                      </p:to>
                                    </p:set>
                                    <p:animEffect filter="fade" transition="in">
                                      <p:cBhvr>
                                        <p:cTn dur="500"/>
                                        <p:tgtEl>
                                          <p:spTgt spid="6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7"/>
          <p:cNvSpPr txBox="1"/>
          <p:nvPr>
            <p:ph idx="1" type="body"/>
          </p:nvPr>
        </p:nvSpPr>
        <p:spPr>
          <a:xfrm>
            <a:off x="457200" y="514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Byte Code – Byte Code represents the fixed set of instruction created by Python developers representing all type of operations like arithmetic operations, comparison operation, memory related operation etc.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The size of each byte code instruction is 1 byte or 8 bits.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We can find byte code instruction in the .pyc file.</a:t>
            </a:r>
            <a:endParaRPr/>
          </a:p>
          <a:p>
            <a:pPr indent="-215900" lvl="0" marL="342900" rtl="0" algn="l">
              <a:spcBef>
                <a:spcPts val="400"/>
              </a:spcBef>
              <a:spcAft>
                <a:spcPts val="0"/>
              </a:spcAft>
              <a:buClr>
                <a:schemeClr val="dk1"/>
              </a:buClr>
              <a:buSzPts val="2000"/>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0" st="0"/>
                                            </p:txEl>
                                          </p:spTgt>
                                        </p:tgtEl>
                                        <p:attrNameLst>
                                          <p:attrName>style.visibility</p:attrName>
                                        </p:attrNameLst>
                                      </p:cBhvr>
                                      <p:to>
                                        <p:strVal val="visible"/>
                                      </p:to>
                                    </p:set>
                                    <p:animEffect filter="fade" transition="in">
                                      <p:cBhvr>
                                        <p:cTn dur="500"/>
                                        <p:tgtEl>
                                          <p:spTgt spid="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1" st="1"/>
                                            </p:txEl>
                                          </p:spTgt>
                                        </p:tgtEl>
                                        <p:attrNameLst>
                                          <p:attrName>style.visibility</p:attrName>
                                        </p:attrNameLst>
                                      </p:cBhvr>
                                      <p:to>
                                        <p:strVal val="visible"/>
                                      </p:to>
                                    </p:set>
                                    <p:animEffect filter="fade" transition="in">
                                      <p:cBhvr>
                                        <p:cTn dur="500"/>
                                        <p:tgtEl>
                                          <p:spTgt spid="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2" st="2"/>
                                            </p:txEl>
                                          </p:spTgt>
                                        </p:tgtEl>
                                        <p:attrNameLst>
                                          <p:attrName>style.visibility</p:attrName>
                                        </p:attrNameLst>
                                      </p:cBhvr>
                                      <p:to>
                                        <p:strVal val="visible"/>
                                      </p:to>
                                    </p:set>
                                    <p:animEffect filter="fade" transition="in">
                                      <p:cBhvr>
                                        <p:cTn dur="500"/>
                                        <p:tgtEl>
                                          <p:spTgt spid="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
                                            <p:txEl>
                                              <p:pRg end="3" st="3"/>
                                            </p:txEl>
                                          </p:spTgt>
                                        </p:tgtEl>
                                        <p:attrNameLst>
                                          <p:attrName>style.visibility</p:attrName>
                                        </p:attrNameLst>
                                      </p:cBhvr>
                                      <p:to>
                                        <p:strVal val="visible"/>
                                      </p:to>
                                    </p:set>
                                    <p:animEffect filter="fade" transition="in">
                                      <p:cBhvr>
                                        <p:cTn dur="500"/>
                                        <p:tgtEl>
                                          <p:spTgt spid="6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8"/>
          <p:cNvSpPr txBox="1"/>
          <p:nvPr>
            <p:ph idx="1" type="body"/>
          </p:nvPr>
        </p:nvSpPr>
        <p:spPr>
          <a:xfrm>
            <a:off x="457200" y="396478"/>
            <a:ext cx="8229600" cy="40040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Python Compiler – A Python Compiler converts the program source code into byte code.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Type of Python Compilers :-</a:t>
            </a:r>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CPython</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Jpython/ Jython</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PyPy</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RubyPython</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IronPython</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StacklessPython</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Pythonxy</a:t>
            </a:r>
            <a:endParaRPr sz="1600">
              <a:latin typeface="Times New Roman"/>
              <a:ea typeface="Times New Roman"/>
              <a:cs typeface="Times New Roman"/>
              <a:sym typeface="Times New Roman"/>
            </a:endParaRPr>
          </a:p>
          <a:p>
            <a:pPr indent="-285750" lvl="1" marL="742950" rtl="0" algn="l">
              <a:spcBef>
                <a:spcPts val="320"/>
              </a:spcBef>
              <a:spcAft>
                <a:spcPts val="0"/>
              </a:spcAft>
              <a:buClr>
                <a:schemeClr val="dk1"/>
              </a:buClr>
              <a:buSzPts val="1600"/>
              <a:buFont typeface="Arial"/>
              <a:buChar char="•"/>
            </a:pPr>
            <a:r>
              <a:rPr lang="en-US" sz="1600">
                <a:latin typeface="Times New Roman"/>
                <a:ea typeface="Times New Roman"/>
                <a:cs typeface="Times New Roman"/>
                <a:sym typeface="Times New Roman"/>
              </a:rPr>
              <a:t>AnacondaPython</a:t>
            </a:r>
            <a:endParaRPr sz="16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0" st="0"/>
                                            </p:txEl>
                                          </p:spTgt>
                                        </p:tgtEl>
                                        <p:attrNameLst>
                                          <p:attrName>style.visibility</p:attrName>
                                        </p:attrNameLst>
                                      </p:cBhvr>
                                      <p:to>
                                        <p:strVal val="visible"/>
                                      </p:to>
                                    </p:set>
                                    <p:animEffect filter="fade" transition="in">
                                      <p:cBhvr>
                                        <p:cTn dur="500"/>
                                        <p:tgtEl>
                                          <p:spTgt spid="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1" st="1"/>
                                            </p:txEl>
                                          </p:spTgt>
                                        </p:tgtEl>
                                        <p:attrNameLst>
                                          <p:attrName>style.visibility</p:attrName>
                                        </p:attrNameLst>
                                      </p:cBhvr>
                                      <p:to>
                                        <p:strVal val="visible"/>
                                      </p:to>
                                    </p:set>
                                    <p:animEffect filter="fade" transition="in">
                                      <p:cBhvr>
                                        <p:cTn dur="500"/>
                                        <p:tgtEl>
                                          <p:spTgt spid="7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2" st="2"/>
                                            </p:txEl>
                                          </p:spTgt>
                                        </p:tgtEl>
                                        <p:attrNameLst>
                                          <p:attrName>style.visibility</p:attrName>
                                        </p:attrNameLst>
                                      </p:cBhvr>
                                      <p:to>
                                        <p:strVal val="visible"/>
                                      </p:to>
                                    </p:set>
                                    <p:animEffect filter="fade" transition="in">
                                      <p:cBhvr>
                                        <p:cTn dur="500"/>
                                        <p:tgtEl>
                                          <p:spTgt spid="7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3" st="3"/>
                                            </p:txEl>
                                          </p:spTgt>
                                        </p:tgtEl>
                                        <p:attrNameLst>
                                          <p:attrName>style.visibility</p:attrName>
                                        </p:attrNameLst>
                                      </p:cBhvr>
                                      <p:to>
                                        <p:strVal val="visible"/>
                                      </p:to>
                                    </p:set>
                                    <p:animEffect filter="fade" transition="in">
                                      <p:cBhvr>
                                        <p:cTn dur="500"/>
                                        <p:tgtEl>
                                          <p:spTgt spid="7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4" st="4"/>
                                            </p:txEl>
                                          </p:spTgt>
                                        </p:tgtEl>
                                        <p:attrNameLst>
                                          <p:attrName>style.visibility</p:attrName>
                                        </p:attrNameLst>
                                      </p:cBhvr>
                                      <p:to>
                                        <p:strVal val="visible"/>
                                      </p:to>
                                    </p:set>
                                    <p:animEffect filter="fade" transition="in">
                                      <p:cBhvr>
                                        <p:cTn dur="500"/>
                                        <p:tgtEl>
                                          <p:spTgt spid="7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5" st="5"/>
                                            </p:txEl>
                                          </p:spTgt>
                                        </p:tgtEl>
                                        <p:attrNameLst>
                                          <p:attrName>style.visibility</p:attrName>
                                        </p:attrNameLst>
                                      </p:cBhvr>
                                      <p:to>
                                        <p:strVal val="visible"/>
                                      </p:to>
                                    </p:set>
                                    <p:animEffect filter="fade" transition="in">
                                      <p:cBhvr>
                                        <p:cTn dur="500"/>
                                        <p:tgtEl>
                                          <p:spTgt spid="7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6" st="6"/>
                                            </p:txEl>
                                          </p:spTgt>
                                        </p:tgtEl>
                                        <p:attrNameLst>
                                          <p:attrName>style.visibility</p:attrName>
                                        </p:attrNameLst>
                                      </p:cBhvr>
                                      <p:to>
                                        <p:strVal val="visible"/>
                                      </p:to>
                                    </p:set>
                                    <p:animEffect filter="fade" transition="in">
                                      <p:cBhvr>
                                        <p:cTn dur="500"/>
                                        <p:tgtEl>
                                          <p:spTgt spid="7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7" st="7"/>
                                            </p:txEl>
                                          </p:spTgt>
                                        </p:tgtEl>
                                        <p:attrNameLst>
                                          <p:attrName>style.visibility</p:attrName>
                                        </p:attrNameLst>
                                      </p:cBhvr>
                                      <p:to>
                                        <p:strVal val="visible"/>
                                      </p:to>
                                    </p:set>
                                    <p:animEffect filter="fade" transition="in">
                                      <p:cBhvr>
                                        <p:cTn dur="500"/>
                                        <p:tgtEl>
                                          <p:spTgt spid="7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8" st="8"/>
                                            </p:txEl>
                                          </p:spTgt>
                                        </p:tgtEl>
                                        <p:attrNameLst>
                                          <p:attrName>style.visibility</p:attrName>
                                        </p:attrNameLst>
                                      </p:cBhvr>
                                      <p:to>
                                        <p:strVal val="visible"/>
                                      </p:to>
                                    </p:set>
                                    <p:animEffect filter="fade" transition="in">
                                      <p:cBhvr>
                                        <p:cTn dur="500"/>
                                        <p:tgtEl>
                                          <p:spTgt spid="7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
                                            <p:txEl>
                                              <p:pRg end="9" st="9"/>
                                            </p:txEl>
                                          </p:spTgt>
                                        </p:tgtEl>
                                        <p:attrNameLst>
                                          <p:attrName>style.visibility</p:attrName>
                                        </p:attrNameLst>
                                      </p:cBhvr>
                                      <p:to>
                                        <p:strVal val="visible"/>
                                      </p:to>
                                    </p:set>
                                    <p:animEffect filter="fade" transition="in">
                                      <p:cBhvr>
                                        <p:cTn dur="500"/>
                                        <p:tgtEl>
                                          <p:spTgt spid="7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9"/>
          <p:cNvSpPr/>
          <p:nvPr/>
        </p:nvSpPr>
        <p:spPr>
          <a:xfrm>
            <a:off x="662167" y="2966095"/>
            <a:ext cx="1295400" cy="8382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Source Code/ Program</a:t>
            </a:r>
            <a:endParaRPr sz="1400">
              <a:solidFill>
                <a:schemeClr val="dk1"/>
              </a:solidFill>
              <a:latin typeface="Times New Roman"/>
              <a:ea typeface="Times New Roman"/>
              <a:cs typeface="Times New Roman"/>
              <a:sym typeface="Times New Roman"/>
            </a:endParaRPr>
          </a:p>
        </p:txBody>
      </p:sp>
      <p:sp>
        <p:nvSpPr>
          <p:cNvPr id="80" name="Google Shape;80;p9"/>
          <p:cNvSpPr txBox="1"/>
          <p:nvPr/>
        </p:nvSpPr>
        <p:spPr>
          <a:xfrm>
            <a:off x="762001" y="3804295"/>
            <a:ext cx="7617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Python.py</a:t>
            </a:r>
            <a:endParaRPr sz="1200">
              <a:solidFill>
                <a:schemeClr val="dk1"/>
              </a:solidFill>
              <a:latin typeface="Calibri"/>
              <a:ea typeface="Calibri"/>
              <a:cs typeface="Calibri"/>
              <a:sym typeface="Calibri"/>
            </a:endParaRPr>
          </a:p>
        </p:txBody>
      </p:sp>
      <p:sp>
        <p:nvSpPr>
          <p:cNvPr id="81" name="Google Shape;81;p9"/>
          <p:cNvSpPr/>
          <p:nvPr/>
        </p:nvSpPr>
        <p:spPr>
          <a:xfrm>
            <a:off x="3124201" y="2966095"/>
            <a:ext cx="1143000" cy="8382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Byte Code</a:t>
            </a:r>
            <a:endParaRPr sz="1400">
              <a:solidFill>
                <a:schemeClr val="dk1"/>
              </a:solidFill>
              <a:latin typeface="Times New Roman"/>
              <a:ea typeface="Times New Roman"/>
              <a:cs typeface="Times New Roman"/>
              <a:sym typeface="Times New Roman"/>
            </a:endParaRPr>
          </a:p>
        </p:txBody>
      </p:sp>
      <p:cxnSp>
        <p:nvCxnSpPr>
          <p:cNvPr id="82" name="Google Shape;82;p9"/>
          <p:cNvCxnSpPr>
            <a:stCxn id="79" idx="3"/>
            <a:endCxn id="81" idx="1"/>
          </p:cNvCxnSpPr>
          <p:nvPr/>
        </p:nvCxnSpPr>
        <p:spPr>
          <a:xfrm>
            <a:off x="1957567" y="3385195"/>
            <a:ext cx="1166700" cy="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83" name="Google Shape;83;p9"/>
          <p:cNvSpPr txBox="1"/>
          <p:nvPr/>
        </p:nvSpPr>
        <p:spPr>
          <a:xfrm>
            <a:off x="1974527" y="3423295"/>
            <a:ext cx="1149674"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Compile using </a:t>
            </a:r>
            <a:endParaRPr/>
          </a:p>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Python Compiler</a:t>
            </a:r>
            <a:endParaRPr sz="1100">
              <a:solidFill>
                <a:schemeClr val="dk1"/>
              </a:solidFill>
              <a:latin typeface="Times New Roman"/>
              <a:ea typeface="Times New Roman"/>
              <a:cs typeface="Times New Roman"/>
              <a:sym typeface="Times New Roman"/>
            </a:endParaRPr>
          </a:p>
        </p:txBody>
      </p:sp>
      <p:sp>
        <p:nvSpPr>
          <p:cNvPr id="84" name="Google Shape;84;p9"/>
          <p:cNvSpPr txBox="1"/>
          <p:nvPr/>
        </p:nvSpPr>
        <p:spPr>
          <a:xfrm>
            <a:off x="3111974" y="3804295"/>
            <a:ext cx="8793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Python.pyc</a:t>
            </a:r>
            <a:endParaRPr sz="1200">
              <a:solidFill>
                <a:schemeClr val="dk1"/>
              </a:solidFill>
              <a:latin typeface="Calibri"/>
              <a:ea typeface="Calibri"/>
              <a:cs typeface="Calibri"/>
              <a:sym typeface="Calibri"/>
            </a:endParaRPr>
          </a:p>
        </p:txBody>
      </p:sp>
      <p:sp>
        <p:nvSpPr>
          <p:cNvPr id="85" name="Google Shape;85;p9"/>
          <p:cNvSpPr/>
          <p:nvPr/>
        </p:nvSpPr>
        <p:spPr>
          <a:xfrm>
            <a:off x="5181600" y="2966095"/>
            <a:ext cx="1447800" cy="838200"/>
          </a:xfrm>
          <a:prstGeom prst="rect">
            <a:avLst/>
          </a:prstGeom>
          <a:solidFill>
            <a:schemeClr val="lt1"/>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Binary Code / Machine Code</a:t>
            </a:r>
            <a:endParaRPr sz="1400">
              <a:solidFill>
                <a:schemeClr val="dk1"/>
              </a:solidFill>
              <a:latin typeface="Times New Roman"/>
              <a:ea typeface="Times New Roman"/>
              <a:cs typeface="Times New Roman"/>
              <a:sym typeface="Times New Roman"/>
            </a:endParaRPr>
          </a:p>
        </p:txBody>
      </p:sp>
      <p:cxnSp>
        <p:nvCxnSpPr>
          <p:cNvPr id="86" name="Google Shape;86;p9"/>
          <p:cNvCxnSpPr>
            <a:stCxn id="81" idx="3"/>
            <a:endCxn id="85" idx="1"/>
          </p:cNvCxnSpPr>
          <p:nvPr/>
        </p:nvCxnSpPr>
        <p:spPr>
          <a:xfrm>
            <a:off x="4267201" y="3385195"/>
            <a:ext cx="914400" cy="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
        <p:nvSpPr>
          <p:cNvPr id="87" name="Google Shape;87;p9"/>
          <p:cNvSpPr txBox="1"/>
          <p:nvPr/>
        </p:nvSpPr>
        <p:spPr>
          <a:xfrm>
            <a:off x="4267200" y="2952750"/>
            <a:ext cx="974947"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Run Program </a:t>
            </a:r>
            <a:endParaRPr/>
          </a:p>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using PVM</a:t>
            </a:r>
            <a:endParaRPr sz="1100">
              <a:solidFill>
                <a:schemeClr val="dk1"/>
              </a:solidFill>
              <a:latin typeface="Times New Roman"/>
              <a:ea typeface="Times New Roman"/>
              <a:cs typeface="Times New Roman"/>
              <a:sym typeface="Times New Roman"/>
            </a:endParaRPr>
          </a:p>
        </p:txBody>
      </p:sp>
      <p:sp>
        <p:nvSpPr>
          <p:cNvPr id="88" name="Google Shape;88;p9"/>
          <p:cNvSpPr/>
          <p:nvPr/>
        </p:nvSpPr>
        <p:spPr>
          <a:xfrm>
            <a:off x="7287083" y="3135987"/>
            <a:ext cx="1094917" cy="495300"/>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Computer</a:t>
            </a:r>
            <a:endParaRPr sz="1400">
              <a:solidFill>
                <a:schemeClr val="dk1"/>
              </a:solidFill>
              <a:latin typeface="Times New Roman"/>
              <a:ea typeface="Times New Roman"/>
              <a:cs typeface="Times New Roman"/>
              <a:sym typeface="Times New Roman"/>
            </a:endParaRPr>
          </a:p>
        </p:txBody>
      </p:sp>
      <p:cxnSp>
        <p:nvCxnSpPr>
          <p:cNvPr id="89" name="Google Shape;89;p9"/>
          <p:cNvCxnSpPr>
            <a:stCxn id="85" idx="3"/>
            <a:endCxn id="88" idx="1"/>
          </p:cNvCxnSpPr>
          <p:nvPr/>
        </p:nvCxnSpPr>
        <p:spPr>
          <a:xfrm flipH="1" rot="10800000">
            <a:off x="6629400" y="3383695"/>
            <a:ext cx="657600" cy="15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sp>
        <p:nvSpPr>
          <p:cNvPr id="90" name="Google Shape;90;p9"/>
          <p:cNvSpPr txBox="1"/>
          <p:nvPr>
            <p:ph idx="1" type="body"/>
          </p:nvPr>
        </p:nvSpPr>
        <p:spPr>
          <a:xfrm>
            <a:off x="457200" y="472678"/>
            <a:ext cx="8229600" cy="23276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600"/>
              <a:buChar char="•"/>
            </a:pPr>
            <a:r>
              <a:rPr lang="en-US" sz="1600">
                <a:latin typeface="Times New Roman"/>
                <a:ea typeface="Times New Roman"/>
                <a:cs typeface="Times New Roman"/>
                <a:sym typeface="Times New Roman"/>
              </a:rPr>
              <a:t>Write Source Code / Program</a:t>
            </a:r>
            <a:endParaRPr/>
          </a:p>
          <a:p>
            <a:pPr indent="-342900" lvl="0" marL="342900" rtl="0" algn="l">
              <a:spcBef>
                <a:spcPts val="320"/>
              </a:spcBef>
              <a:spcAft>
                <a:spcPts val="0"/>
              </a:spcAft>
              <a:buClr>
                <a:schemeClr val="dk1"/>
              </a:buClr>
              <a:buSzPts val="1600"/>
              <a:buChar char="•"/>
            </a:pPr>
            <a:r>
              <a:rPr lang="en-US" sz="1600">
                <a:latin typeface="Times New Roman"/>
                <a:ea typeface="Times New Roman"/>
                <a:cs typeface="Times New Roman"/>
                <a:sym typeface="Times New Roman"/>
              </a:rPr>
              <a:t>Compile the Program using Python Compiler</a:t>
            </a:r>
            <a:endParaRPr/>
          </a:p>
          <a:p>
            <a:pPr indent="-342900" lvl="0" marL="342900" rtl="0" algn="l">
              <a:spcBef>
                <a:spcPts val="320"/>
              </a:spcBef>
              <a:spcAft>
                <a:spcPts val="0"/>
              </a:spcAft>
              <a:buClr>
                <a:schemeClr val="dk1"/>
              </a:buClr>
              <a:buSzPts val="1600"/>
              <a:buChar char="•"/>
            </a:pPr>
            <a:r>
              <a:rPr lang="en-US" sz="1600">
                <a:latin typeface="Times New Roman"/>
                <a:ea typeface="Times New Roman"/>
                <a:cs typeface="Times New Roman"/>
                <a:sym typeface="Times New Roman"/>
              </a:rPr>
              <a:t>Compiler Converts the Python Program into byte Code</a:t>
            </a:r>
            <a:endParaRPr/>
          </a:p>
          <a:p>
            <a:pPr indent="-342900" lvl="0" marL="342900" rtl="0" algn="l">
              <a:spcBef>
                <a:spcPts val="320"/>
              </a:spcBef>
              <a:spcAft>
                <a:spcPts val="0"/>
              </a:spcAft>
              <a:buClr>
                <a:schemeClr val="dk1"/>
              </a:buClr>
              <a:buSzPts val="1600"/>
              <a:buChar char="•"/>
            </a:pPr>
            <a:r>
              <a:rPr lang="en-US" sz="1600">
                <a:latin typeface="Times New Roman"/>
                <a:ea typeface="Times New Roman"/>
                <a:cs typeface="Times New Roman"/>
                <a:sym typeface="Times New Roman"/>
              </a:rPr>
              <a:t>Computer/Machine Can not understand Byte Code so we convert it into Machine Code using PVM</a:t>
            </a:r>
            <a:endParaRPr/>
          </a:p>
          <a:p>
            <a:pPr indent="-342900" lvl="0" marL="342900" rtl="0" algn="l">
              <a:spcBef>
                <a:spcPts val="320"/>
              </a:spcBef>
              <a:spcAft>
                <a:spcPts val="0"/>
              </a:spcAft>
              <a:buClr>
                <a:schemeClr val="dk1"/>
              </a:buClr>
              <a:buSzPts val="1600"/>
              <a:buChar char="•"/>
            </a:pPr>
            <a:r>
              <a:rPr lang="en-US" sz="1600">
                <a:latin typeface="Times New Roman"/>
                <a:ea typeface="Times New Roman"/>
                <a:cs typeface="Times New Roman"/>
                <a:sym typeface="Times New Roman"/>
              </a:rPr>
              <a:t>PVM uses an interpreter which understands the byte code and convert it into machine code</a:t>
            </a:r>
            <a:endParaRPr/>
          </a:p>
          <a:p>
            <a:pPr indent="-342900" lvl="0" marL="342900" rtl="0" algn="l">
              <a:spcBef>
                <a:spcPts val="320"/>
              </a:spcBef>
              <a:spcAft>
                <a:spcPts val="0"/>
              </a:spcAft>
              <a:buClr>
                <a:schemeClr val="dk1"/>
              </a:buClr>
              <a:buSzPts val="1600"/>
              <a:buChar char="•"/>
            </a:pPr>
            <a:r>
              <a:rPr lang="en-US" sz="1600">
                <a:latin typeface="Times New Roman"/>
                <a:ea typeface="Times New Roman"/>
                <a:cs typeface="Times New Roman"/>
                <a:sym typeface="Times New Roman"/>
              </a:rPr>
              <a:t>Machine Code instructions are then executed by the processor and results are displayed</a:t>
            </a:r>
            <a:endParaRPr/>
          </a:p>
          <a:p>
            <a:pPr indent="-241300" lvl="0" marL="342900" rtl="0" algn="l">
              <a:spcBef>
                <a:spcPts val="320"/>
              </a:spcBef>
              <a:spcAft>
                <a:spcPts val="0"/>
              </a:spcAft>
              <a:buClr>
                <a:schemeClr val="dk1"/>
              </a:buClr>
              <a:buSzPts val="1600"/>
              <a:buNone/>
            </a:pPr>
            <a:r>
              <a:t/>
            </a:r>
            <a:endParaRPr sz="1600">
              <a:latin typeface="Times New Roman"/>
              <a:ea typeface="Times New Roman"/>
              <a:cs typeface="Times New Roman"/>
              <a:sym typeface="Times New Roman"/>
            </a:endParaRPr>
          </a:p>
        </p:txBody>
      </p:sp>
      <p:sp>
        <p:nvSpPr>
          <p:cNvPr id="91" name="Google Shape;91;p9"/>
          <p:cNvSpPr txBox="1"/>
          <p:nvPr/>
        </p:nvSpPr>
        <p:spPr>
          <a:xfrm>
            <a:off x="7543800" y="3630180"/>
            <a:ext cx="6303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Output</a:t>
            </a:r>
            <a:endParaRPr sz="1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Effect filter="fade" transition="in">
                                      <p:cBhvr>
                                        <p:cTn dur="500"/>
                                        <p:tgtEl>
                                          <p:spTgt spid="9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Effect filter="fade" transition="in">
                                      <p:cBhvr>
                                        <p:cTn dur="500"/>
                                        <p:tgtEl>
                                          <p:spTgt spid="9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Effect filter="fade" transition="in">
                                      <p:cBhvr>
                                        <p:cTn dur="500"/>
                                        <p:tgtEl>
                                          <p:spTgt spid="9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Effect filter="fade" transition="in">
                                      <p:cBhvr>
                                        <p:cTn dur="500"/>
                                        <p:tgtEl>
                                          <p:spTgt spid="9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animEffect filter="fade" transition="in">
                                      <p:cBhvr>
                                        <p:cTn dur="500"/>
                                        <p:tgtEl>
                                          <p:spTgt spid="9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animEffect filter="fade" transition="in">
                                      <p:cBhvr>
                                        <p:cTn dur="500"/>
                                        <p:tgtEl>
                                          <p:spTgt spid="9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animEffect filter="fade" transition="in">
                                      <p:cBhvr>
                                        <p:cTn dur="500"/>
                                        <p:tgtEl>
                                          <p:spTgt spid="9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500"/>
                                        <p:tgtEl>
                                          <p:spTgt spid="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500"/>
                                        <p:tgtEl>
                                          <p:spTgt spid="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500"/>
                                        <p:tgtEl>
                                          <p:spTgt spid="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gtEl>
                                        <p:attrNameLst>
                                          <p:attrName>style.visibility</p:attrName>
                                        </p:attrNameLst>
                                      </p:cBhvr>
                                      <p:to>
                                        <p:strVal val="visible"/>
                                      </p:to>
                                    </p:set>
                                    <p:animEffect filter="fade" transition="in">
                                      <p:cBhvr>
                                        <p:cTn dur="500"/>
                                        <p:tgtEl>
                                          <p:spTgt spid="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500"/>
                                        <p:tgtEl>
                                          <p:spTgt spid="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5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
                                        </p:tgtEl>
                                        <p:attrNameLst>
                                          <p:attrName>style.visibility</p:attrName>
                                        </p:attrNameLst>
                                      </p:cBhvr>
                                      <p:to>
                                        <p:strVal val="visible"/>
                                      </p:to>
                                    </p:set>
                                    <p:animEffect filter="fade" transition="in">
                                      <p:cBhvr>
                                        <p:cTn dur="500"/>
                                        <p:tgtEl>
                                          <p:spTgt spid="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500"/>
                                        <p:tgtEl>
                                          <p:spTgt spid="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gtEl>
                                        <p:attrNameLst>
                                          <p:attrName>style.visibility</p:attrName>
                                        </p:attrNameLst>
                                      </p:cBhvr>
                                      <p:to>
                                        <p:strVal val="visible"/>
                                      </p:to>
                                    </p:set>
                                    <p:animEffect filter="fade" transition="in">
                                      <p:cBhvr>
                                        <p:cTn dur="500"/>
                                        <p:tgtEl>
                                          <p:spTgt spid="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500"/>
                                        <p:tgtEl>
                                          <p:spTgt spid="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
                                        </p:tgtEl>
                                        <p:attrNameLst>
                                          <p:attrName>style.visibility</p:attrName>
                                        </p:attrNameLst>
                                      </p:cBhvr>
                                      <p:to>
                                        <p:strVal val="visible"/>
                                      </p:to>
                                    </p:set>
                                    <p:animEffect filter="fade" transition="in">
                                      <p:cBhvr>
                                        <p:cTn dur="500"/>
                                        <p:tgtEl>
                                          <p:spTgt spid="88"/>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5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Python Virtual Machine</a:t>
            </a:r>
            <a:endParaRPr b="1" sz="4000" u="sng">
              <a:latin typeface="Times New Roman"/>
              <a:ea typeface="Times New Roman"/>
              <a:cs typeface="Times New Roman"/>
              <a:sym typeface="Times New Roman"/>
            </a:endParaRPr>
          </a:p>
        </p:txBody>
      </p:sp>
      <p:sp>
        <p:nvSpPr>
          <p:cNvPr id="97" name="Google Shape;97;p10"/>
          <p:cNvSpPr txBox="1"/>
          <p:nvPr>
            <p:ph idx="1" type="body"/>
          </p:nvPr>
        </p:nvSpPr>
        <p:spPr>
          <a:xfrm>
            <a:off x="457200" y="895350"/>
            <a:ext cx="8229600" cy="1828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Python Virtual Machine (PVM) is a program which provides programming environment. The role of PVM is to convert the byte code instructions into machine code so the computer can execute those machine code instructions and display the output.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Interpreter converts the byte code into machine code and sends that machine code to the computer processor for execution.</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sp>
        <p:nvSpPr>
          <p:cNvPr id="98" name="Google Shape;98;p10"/>
          <p:cNvSpPr/>
          <p:nvPr/>
        </p:nvSpPr>
        <p:spPr>
          <a:xfrm>
            <a:off x="228600" y="3042295"/>
            <a:ext cx="1295400" cy="8382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Source Code/ Program</a:t>
            </a:r>
            <a:endParaRPr sz="1400">
              <a:solidFill>
                <a:schemeClr val="dk1"/>
              </a:solidFill>
              <a:latin typeface="Times New Roman"/>
              <a:ea typeface="Times New Roman"/>
              <a:cs typeface="Times New Roman"/>
              <a:sym typeface="Times New Roman"/>
            </a:endParaRPr>
          </a:p>
        </p:txBody>
      </p:sp>
      <p:sp>
        <p:nvSpPr>
          <p:cNvPr id="99" name="Google Shape;99;p10"/>
          <p:cNvSpPr txBox="1"/>
          <p:nvPr/>
        </p:nvSpPr>
        <p:spPr>
          <a:xfrm>
            <a:off x="328434" y="3880495"/>
            <a:ext cx="761747" cy="2616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Python.py</a:t>
            </a:r>
            <a:endParaRPr sz="1200">
              <a:solidFill>
                <a:schemeClr val="dk1"/>
              </a:solidFill>
              <a:latin typeface="Calibri"/>
              <a:ea typeface="Calibri"/>
              <a:cs typeface="Calibri"/>
              <a:sym typeface="Calibri"/>
            </a:endParaRPr>
          </a:p>
        </p:txBody>
      </p:sp>
      <p:sp>
        <p:nvSpPr>
          <p:cNvPr id="100" name="Google Shape;100;p10"/>
          <p:cNvSpPr/>
          <p:nvPr/>
        </p:nvSpPr>
        <p:spPr>
          <a:xfrm>
            <a:off x="2690634" y="3042295"/>
            <a:ext cx="1143000" cy="838200"/>
          </a:xfrm>
          <a:prstGeom prst="rect">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Byte Code</a:t>
            </a:r>
            <a:endParaRPr sz="1400">
              <a:solidFill>
                <a:schemeClr val="dk1"/>
              </a:solidFill>
              <a:latin typeface="Times New Roman"/>
              <a:ea typeface="Times New Roman"/>
              <a:cs typeface="Times New Roman"/>
              <a:sym typeface="Times New Roman"/>
            </a:endParaRPr>
          </a:p>
        </p:txBody>
      </p:sp>
      <p:cxnSp>
        <p:nvCxnSpPr>
          <p:cNvPr id="101" name="Google Shape;101;p10"/>
          <p:cNvCxnSpPr>
            <a:stCxn id="98" idx="3"/>
            <a:endCxn id="100" idx="1"/>
          </p:cNvCxnSpPr>
          <p:nvPr/>
        </p:nvCxnSpPr>
        <p:spPr>
          <a:xfrm>
            <a:off x="1524000" y="3461395"/>
            <a:ext cx="1166700" cy="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102" name="Google Shape;102;p10"/>
          <p:cNvSpPr txBox="1"/>
          <p:nvPr/>
        </p:nvSpPr>
        <p:spPr>
          <a:xfrm>
            <a:off x="1540960" y="3499495"/>
            <a:ext cx="1149674"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Compile using </a:t>
            </a:r>
            <a:endParaRPr/>
          </a:p>
          <a:p>
            <a:pPr indent="0" lvl="0" marL="0" marR="0" rtl="0" algn="ctr">
              <a:spcBef>
                <a:spcPts val="0"/>
              </a:spcBef>
              <a:spcAft>
                <a:spcPts val="0"/>
              </a:spcAft>
              <a:buNone/>
            </a:pPr>
            <a:r>
              <a:rPr lang="en-US" sz="1100">
                <a:solidFill>
                  <a:schemeClr val="dk1"/>
                </a:solidFill>
                <a:latin typeface="Times New Roman"/>
                <a:ea typeface="Times New Roman"/>
                <a:cs typeface="Times New Roman"/>
                <a:sym typeface="Times New Roman"/>
              </a:rPr>
              <a:t>Python Compiler</a:t>
            </a:r>
            <a:endParaRPr sz="1100">
              <a:solidFill>
                <a:schemeClr val="dk1"/>
              </a:solidFill>
              <a:latin typeface="Times New Roman"/>
              <a:ea typeface="Times New Roman"/>
              <a:cs typeface="Times New Roman"/>
              <a:sym typeface="Times New Roman"/>
            </a:endParaRPr>
          </a:p>
        </p:txBody>
      </p:sp>
      <p:sp>
        <p:nvSpPr>
          <p:cNvPr id="103" name="Google Shape;103;p10"/>
          <p:cNvSpPr txBox="1"/>
          <p:nvPr/>
        </p:nvSpPr>
        <p:spPr>
          <a:xfrm>
            <a:off x="2678407" y="3880495"/>
            <a:ext cx="87934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Python.pyc</a:t>
            </a:r>
            <a:endParaRPr sz="1200">
              <a:solidFill>
                <a:schemeClr val="dk1"/>
              </a:solidFill>
              <a:latin typeface="Calibri"/>
              <a:ea typeface="Calibri"/>
              <a:cs typeface="Calibri"/>
              <a:sym typeface="Calibri"/>
            </a:endParaRPr>
          </a:p>
        </p:txBody>
      </p:sp>
      <p:sp>
        <p:nvSpPr>
          <p:cNvPr id="104" name="Google Shape;104;p10"/>
          <p:cNvSpPr/>
          <p:nvPr/>
        </p:nvSpPr>
        <p:spPr>
          <a:xfrm>
            <a:off x="5867400" y="3028950"/>
            <a:ext cx="1447800" cy="838200"/>
          </a:xfrm>
          <a:prstGeom prst="rect">
            <a:avLst/>
          </a:prstGeom>
          <a:solidFill>
            <a:schemeClr val="lt1"/>
          </a:solidFill>
          <a:ln cap="flat" cmpd="sng" w="25400">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Binary Code / Machine Code</a:t>
            </a:r>
            <a:endParaRPr sz="1400">
              <a:solidFill>
                <a:schemeClr val="dk1"/>
              </a:solidFill>
              <a:latin typeface="Times New Roman"/>
              <a:ea typeface="Times New Roman"/>
              <a:cs typeface="Times New Roman"/>
              <a:sym typeface="Times New Roman"/>
            </a:endParaRPr>
          </a:p>
        </p:txBody>
      </p:sp>
      <p:cxnSp>
        <p:nvCxnSpPr>
          <p:cNvPr id="105" name="Google Shape;105;p10"/>
          <p:cNvCxnSpPr>
            <a:stCxn id="100" idx="3"/>
            <a:endCxn id="106" idx="1"/>
          </p:cNvCxnSpPr>
          <p:nvPr/>
        </p:nvCxnSpPr>
        <p:spPr>
          <a:xfrm flipH="1" rot="10800000">
            <a:off x="3833634" y="3448195"/>
            <a:ext cx="509700" cy="132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
        <p:nvSpPr>
          <p:cNvPr id="107" name="Google Shape;107;p10"/>
          <p:cNvSpPr/>
          <p:nvPr/>
        </p:nvSpPr>
        <p:spPr>
          <a:xfrm>
            <a:off x="7972883" y="3198842"/>
            <a:ext cx="1094917" cy="495300"/>
          </a:xfrm>
          <a:prstGeom prst="roundRect">
            <a:avLst>
              <a:gd fmla="val 16667" name="adj"/>
            </a:avLst>
          </a:prstGeom>
          <a:gradFill>
            <a:gsLst>
              <a:gs pos="0">
                <a:srgbClr val="FFA09D"/>
              </a:gs>
              <a:gs pos="35000">
                <a:srgbClr val="FFBCBC"/>
              </a:gs>
              <a:gs pos="100000">
                <a:srgbClr val="FFE2E2"/>
              </a:gs>
            </a:gsLst>
            <a:lin ang="16200000" scaled="0"/>
          </a:gradFill>
          <a:ln cap="flat" cmpd="sng" w="9525">
            <a:solidFill>
              <a:srgbClr val="BD4B48"/>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400">
                <a:solidFill>
                  <a:schemeClr val="dk1"/>
                </a:solidFill>
                <a:latin typeface="Times New Roman"/>
                <a:ea typeface="Times New Roman"/>
                <a:cs typeface="Times New Roman"/>
                <a:sym typeface="Times New Roman"/>
              </a:rPr>
              <a:t>Computer</a:t>
            </a:r>
            <a:endParaRPr sz="1400">
              <a:solidFill>
                <a:schemeClr val="dk1"/>
              </a:solidFill>
              <a:latin typeface="Times New Roman"/>
              <a:ea typeface="Times New Roman"/>
              <a:cs typeface="Times New Roman"/>
              <a:sym typeface="Times New Roman"/>
            </a:endParaRPr>
          </a:p>
        </p:txBody>
      </p:sp>
      <p:cxnSp>
        <p:nvCxnSpPr>
          <p:cNvPr id="108" name="Google Shape;108;p10"/>
          <p:cNvCxnSpPr>
            <a:stCxn id="104" idx="3"/>
            <a:endCxn id="107" idx="1"/>
          </p:cNvCxnSpPr>
          <p:nvPr/>
        </p:nvCxnSpPr>
        <p:spPr>
          <a:xfrm flipH="1" rot="10800000">
            <a:off x="7315200" y="3446550"/>
            <a:ext cx="657600" cy="15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sp>
        <p:nvSpPr>
          <p:cNvPr id="109" name="Google Shape;109;p10"/>
          <p:cNvSpPr txBox="1"/>
          <p:nvPr/>
        </p:nvSpPr>
        <p:spPr>
          <a:xfrm>
            <a:off x="8229600" y="3693035"/>
            <a:ext cx="630301"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Output</a:t>
            </a:r>
            <a:endParaRPr sz="1200">
              <a:solidFill>
                <a:schemeClr val="dk1"/>
              </a:solidFill>
              <a:latin typeface="Calibri"/>
              <a:ea typeface="Calibri"/>
              <a:cs typeface="Calibri"/>
              <a:sym typeface="Calibri"/>
            </a:endParaRPr>
          </a:p>
        </p:txBody>
      </p:sp>
      <p:sp>
        <p:nvSpPr>
          <p:cNvPr id="106" name="Google Shape;106;p10"/>
          <p:cNvSpPr/>
          <p:nvPr/>
        </p:nvSpPr>
        <p:spPr>
          <a:xfrm>
            <a:off x="4343400" y="2876550"/>
            <a:ext cx="1066800" cy="1143000"/>
          </a:xfrm>
          <a:prstGeom prst="rect">
            <a:avLst/>
          </a:prstGeom>
          <a:gradFill>
            <a:gsLst>
              <a:gs pos="0">
                <a:srgbClr val="FFBB82"/>
              </a:gs>
              <a:gs pos="35000">
                <a:srgbClr val="FFCFA8"/>
              </a:gs>
              <a:gs pos="100000">
                <a:srgbClr val="FFEBD9"/>
              </a:gs>
            </a:gsLst>
            <a:lin ang="16200000" scaled="0"/>
          </a:gradFill>
          <a:ln cap="flat" cmpd="sng" w="9525">
            <a:solidFill>
              <a:srgbClr val="F5913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0"/>
          <p:cNvSpPr/>
          <p:nvPr/>
        </p:nvSpPr>
        <p:spPr>
          <a:xfrm>
            <a:off x="4419600" y="2966095"/>
            <a:ext cx="923973" cy="367655"/>
          </a:xfrm>
          <a:prstGeom prst="rect">
            <a:avLst/>
          </a:prstGeom>
          <a:gradFill>
            <a:gsLst>
              <a:gs pos="0">
                <a:srgbClr val="C86C1F"/>
              </a:gs>
              <a:gs pos="80000">
                <a:srgbClr val="FF8E29"/>
              </a:gs>
              <a:gs pos="100000">
                <a:srgbClr val="FF8D25"/>
              </a:gs>
            </a:gsLst>
            <a:lin ang="16200000" scaled="0"/>
          </a:gradFill>
          <a:ln cap="flat" cmpd="sng" w="9525">
            <a:solidFill>
              <a:srgbClr val="F5913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200">
                <a:solidFill>
                  <a:schemeClr val="dk1"/>
                </a:solidFill>
                <a:latin typeface="Times New Roman"/>
                <a:ea typeface="Times New Roman"/>
                <a:cs typeface="Times New Roman"/>
                <a:sym typeface="Times New Roman"/>
              </a:rPr>
              <a:t>Interpreter</a:t>
            </a:r>
            <a:endParaRPr sz="1200">
              <a:solidFill>
                <a:schemeClr val="dk1"/>
              </a:solidFill>
              <a:latin typeface="Times New Roman"/>
              <a:ea typeface="Times New Roman"/>
              <a:cs typeface="Times New Roman"/>
              <a:sym typeface="Times New Roman"/>
            </a:endParaRPr>
          </a:p>
        </p:txBody>
      </p:sp>
      <p:cxnSp>
        <p:nvCxnSpPr>
          <p:cNvPr id="111" name="Google Shape;111;p10"/>
          <p:cNvCxnSpPr>
            <a:stCxn id="106" idx="3"/>
            <a:endCxn id="104" idx="1"/>
          </p:cNvCxnSpPr>
          <p:nvPr/>
        </p:nvCxnSpPr>
        <p:spPr>
          <a:xfrm>
            <a:off x="5410200" y="3448050"/>
            <a:ext cx="457200" cy="0"/>
          </a:xfrm>
          <a:prstGeom prst="straightConnector1">
            <a:avLst/>
          </a:prstGeom>
          <a:noFill/>
          <a:ln cap="flat" cmpd="sng" w="25400">
            <a:solidFill>
              <a:schemeClr val="accent6"/>
            </a:solidFill>
            <a:prstDash val="solid"/>
            <a:round/>
            <a:headEnd len="sm" w="sm" type="none"/>
            <a:tailEnd len="med" w="med" type="stealth"/>
          </a:ln>
          <a:effectLst>
            <a:outerShdw blurRad="40000" rotWithShape="0" dir="5400000" dist="20000">
              <a:srgbClr val="000000">
                <a:alpha val="37647"/>
              </a:srgbClr>
            </a:outerShdw>
          </a:effectLst>
        </p:spPr>
      </p:cxnSp>
      <p:sp>
        <p:nvSpPr>
          <p:cNvPr id="112" name="Google Shape;112;p10"/>
          <p:cNvSpPr txBox="1"/>
          <p:nvPr/>
        </p:nvSpPr>
        <p:spPr>
          <a:xfrm>
            <a:off x="4613727" y="3971151"/>
            <a:ext cx="491673"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chemeClr val="dk1"/>
                </a:solidFill>
                <a:latin typeface="Calibri"/>
                <a:ea typeface="Calibri"/>
                <a:cs typeface="Calibri"/>
                <a:sym typeface="Calibri"/>
              </a:rPr>
              <a:t>PVM</a:t>
            </a:r>
            <a:endParaRPr b="1" sz="1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animEffect filter="fade" transition="in">
                                      <p:cBhvr>
                                        <p:cTn dur="500"/>
                                        <p:tgtEl>
                                          <p:spTgt spid="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animEffect filter="fade" transition="in">
                                      <p:cBhvr>
                                        <p:cTn dur="500"/>
                                        <p:tgtEl>
                                          <p:spTgt spid="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animEffect filter="fade" transition="in">
                                      <p:cBhvr>
                                        <p:cTn dur="500"/>
                                        <p:tgtEl>
                                          <p:spTgt spid="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500"/>
                                        <p:tgtEl>
                                          <p:spTgt spid="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500"/>
                                        <p:tgtEl>
                                          <p:spTgt spid="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500"/>
                                        <p:tgtEl>
                                          <p:spTgt spid="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500"/>
                                        <p:tgtEl>
                                          <p:spTgt spid="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animEffect filter="fade" transition="in">
                                      <p:cBhvr>
                                        <p:cTn dur="500"/>
                                        <p:tgtEl>
                                          <p:spTgt spid="1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500"/>
                                        <p:tgtEl>
                                          <p:spTgt spid="106"/>
                                        </p:tgtEl>
                                      </p:cBhvr>
                                    </p:animEffect>
                                  </p:childTnLst>
                                </p:cTn>
                              </p:par>
                              <p:par>
                                <p:cTn fill="hold" nodeType="with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500"/>
                                        <p:tgtEl>
                                          <p:spTgt spid="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500"/>
                                        <p:tgtEl>
                                          <p:spTgt spid="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
                                        </p:tgtEl>
                                        <p:attrNameLst>
                                          <p:attrName>style.visibility</p:attrName>
                                        </p:attrNameLst>
                                      </p:cBhvr>
                                      <p:to>
                                        <p:strVal val="visible"/>
                                      </p:to>
                                    </p:set>
                                    <p:animEffect filter="fade" transition="in">
                                      <p:cBhvr>
                                        <p:cTn dur="500"/>
                                        <p:tgtEl>
                                          <p:spTgt spid="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500"/>
                                        <p:tgtEl>
                                          <p:spTgt spid="1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500"/>
                                        <p:tgtEl>
                                          <p:spTgt spid="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gtEl>
                                        <p:attrNameLst>
                                          <p:attrName>style.visibility</p:attrName>
                                        </p:attrNameLst>
                                      </p:cBhvr>
                                      <p:to>
                                        <p:strVal val="visible"/>
                                      </p:to>
                                    </p:set>
                                    <p:animEffect filter="fade" transition="in">
                                      <p:cBhvr>
                                        <p:cTn dur="500"/>
                                        <p:tgtEl>
                                          <p:spTgt spid="107"/>
                                        </p:tgtEl>
                                      </p:cBhvr>
                                    </p:animEffect>
                                  </p:childTnLst>
                                </p:cTn>
                              </p:par>
                              <p:par>
                                <p:cTn fill="hold" nodeType="withEffect" presetClass="entr" presetID="10" presetSubtype="0">
                                  <p:stCondLst>
                                    <p:cond delay="0"/>
                                  </p:stCondLst>
                                  <p:childTnLst>
                                    <p:set>
                                      <p:cBhvr>
                                        <p:cTn dur="1" fill="hold">
                                          <p:stCondLst>
                                            <p:cond delay="0"/>
                                          </p:stCondLst>
                                        </p:cTn>
                                        <p:tgtEl>
                                          <p:spTgt spid="109"/>
                                        </p:tgtEl>
                                        <p:attrNameLst>
                                          <p:attrName>style.visibility</p:attrName>
                                        </p:attrNameLst>
                                      </p:cBhvr>
                                      <p:to>
                                        <p:strVal val="visible"/>
                                      </p:to>
                                    </p:set>
                                    <p:animEffect filter="fade" transition="in">
                                      <p:cBhvr>
                                        <p:cTn dur="500"/>
                                        <p:tgtEl>
                                          <p:spTgt spid="1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Executing Python Program</a:t>
            </a:r>
            <a:endParaRPr b="1" sz="3600" u="sng">
              <a:latin typeface="Times New Roman"/>
              <a:ea typeface="Times New Roman"/>
              <a:cs typeface="Times New Roman"/>
              <a:sym typeface="Times New Roman"/>
            </a:endParaRPr>
          </a:p>
        </p:txBody>
      </p:sp>
      <p:sp>
        <p:nvSpPr>
          <p:cNvPr id="118" name="Google Shape;118;p11"/>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000"/>
              <a:buChar char="•"/>
            </a:pPr>
            <a:r>
              <a:rPr lang="en-US" sz="2000">
                <a:latin typeface="Times New Roman"/>
                <a:ea typeface="Times New Roman"/>
                <a:cs typeface="Times New Roman"/>
                <a:sym typeface="Times New Roman"/>
              </a:rPr>
              <a:t>Command Line Window</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IDLE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Notepad or Notepad++</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PyCharm</a:t>
            </a:r>
            <a:endParaRPr sz="2000">
              <a:latin typeface="Times New Roman"/>
              <a:ea typeface="Times New Roman"/>
              <a:cs typeface="Times New Roman"/>
              <a:sym typeface="Times New Roman"/>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Visual Studio Code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animEffect filter="fade" transition="in">
                                      <p:cBhvr>
                                        <p:cTn dur="500"/>
                                        <p:tgtEl>
                                          <p:spTgt spid="1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animEffect filter="fade" transition="in">
                                      <p:cBhvr>
                                        <p:cTn dur="500"/>
                                        <p:tgtEl>
                                          <p:spTgt spid="1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animEffect filter="fade" transition="in">
                                      <p:cBhvr>
                                        <p:cTn dur="500"/>
                                        <p:tgtEl>
                                          <p:spTgt spid="1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animEffect filter="fade" transition="in">
                                      <p:cBhvr>
                                        <p:cTn dur="500"/>
                                        <p:tgtEl>
                                          <p:spTgt spid="1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animEffect filter="fade" transition="in">
                                      <p:cBhvr>
                                        <p:cTn dur="500"/>
                                        <p:tgtEl>
                                          <p:spTgt spid="118">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2"/>
          <p:cNvSpPr txBox="1"/>
          <p:nvPr>
            <p:ph type="title"/>
          </p:nvPr>
        </p:nvSpPr>
        <p:spPr>
          <a:xfrm>
            <a:off x="457200" y="-19050"/>
            <a:ext cx="8229600" cy="70127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Identifier</a:t>
            </a:r>
            <a:endParaRPr/>
          </a:p>
        </p:txBody>
      </p:sp>
      <p:sp>
        <p:nvSpPr>
          <p:cNvPr id="124" name="Google Shape;124;p12"/>
          <p:cNvSpPr txBox="1"/>
          <p:nvPr/>
        </p:nvSpPr>
        <p:spPr>
          <a:xfrm>
            <a:off x="609600" y="819150"/>
            <a:ext cx="7772400" cy="31700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An identifier is a name having a few letters, numbers and special characters _ (underscore).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It should always start with a non-numeric character.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It is used to identify a variable, function, symbolic constant, class etc.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Ex : - </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X2</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PI</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Sigma</a:t>
            </a:r>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matadd</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	full_name</a:t>
            </a:r>
            <a:endParaRPr sz="20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animEffect filter="fade" transition="in">
                                      <p:cBhvr>
                                        <p:cTn dur="500"/>
                                        <p:tgtEl>
                                          <p:spTgt spid="1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animEffect filter="fade" transition="in">
                                      <p:cBhvr>
                                        <p:cTn dur="500"/>
                                        <p:tgtEl>
                                          <p:spTgt spid="1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animEffect filter="fade" transition="in">
                                      <p:cBhvr>
                                        <p:cTn dur="500"/>
                                        <p:tgtEl>
                                          <p:spTgt spid="1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animEffect filter="fade" transition="in">
                                      <p:cBhvr>
                                        <p:cTn dur="500"/>
                                        <p:tgtEl>
                                          <p:spTgt spid="1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animEffect filter="fade" transition="in">
                                      <p:cBhvr>
                                        <p:cTn dur="500"/>
                                        <p:tgtEl>
                                          <p:spTgt spid="1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animEffect filter="fade" transition="in">
                                      <p:cBhvr>
                                        <p:cTn dur="500"/>
                                        <p:tgtEl>
                                          <p:spTgt spid="1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animEffect filter="fade" transition="in">
                                      <p:cBhvr>
                                        <p:cTn dur="500"/>
                                        <p:tgtEl>
                                          <p:spTgt spid="1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animEffect filter="fade" transition="in">
                                      <p:cBhvr>
                                        <p:cTn dur="500"/>
                                        <p:tgtEl>
                                          <p:spTgt spid="12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animEffect filter="fade" transition="in">
                                      <p:cBhvr>
                                        <p:cTn dur="500"/>
                                        <p:tgtEl>
                                          <p:spTgt spid="12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3"/>
          <p:cNvSpPr txBox="1"/>
          <p:nvPr>
            <p:ph idx="1" type="body"/>
          </p:nvPr>
        </p:nvSpPr>
        <p:spPr>
          <a:xfrm>
            <a:off x="457200" y="4381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Python is case sensitive programming language.</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d is not equal to D</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t is not equal to T</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rahul is not equal to Rahul</a:t>
            </a:r>
            <a:endParaRPr/>
          </a:p>
          <a:p>
            <a:pPr indent="0" lvl="0" marL="0" rtl="0" algn="l">
              <a:spcBef>
                <a:spcPts val="480"/>
              </a:spcBef>
              <a:spcAft>
                <a:spcPts val="0"/>
              </a:spcAft>
              <a:buClr>
                <a:schemeClr val="dk1"/>
              </a:buClr>
              <a:buSzPts val="2400"/>
              <a:buNone/>
            </a:pPr>
            <a:r>
              <a:rPr lang="en-US" sz="2400">
                <a:latin typeface="Times New Roman"/>
                <a:ea typeface="Times New Roman"/>
                <a:cs typeface="Times New Roman"/>
                <a:sym typeface="Times New Roman"/>
              </a:rPr>
              <a:t>	rahul is not eqaul to RAHUL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animEffect filter="fade" transition="in">
                                      <p:cBhvr>
                                        <p:cTn dur="500"/>
                                        <p:tgtEl>
                                          <p:spTgt spid="1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animEffect filter="fade" transition="in">
                                      <p:cBhvr>
                                        <p:cTn dur="500"/>
                                        <p:tgtEl>
                                          <p:spTgt spid="1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animEffect filter="fade" transition="in">
                                      <p:cBhvr>
                                        <p:cTn dur="500"/>
                                        <p:tgtEl>
                                          <p:spTgt spid="1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animEffect filter="fade" transition="in">
                                      <p:cBhvr>
                                        <p:cTn dur="500"/>
                                        <p:tgtEl>
                                          <p:spTgt spid="1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animEffect filter="fade" transition="in">
                                      <p:cBhvr>
                                        <p:cTn dur="500"/>
                                        <p:tgtEl>
                                          <p:spTgt spid="12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Keywords or Reserved Words</a:t>
            </a:r>
            <a:endParaRPr/>
          </a:p>
        </p:txBody>
      </p:sp>
      <p:sp>
        <p:nvSpPr>
          <p:cNvPr id="135" name="Google Shape;135;p14"/>
          <p:cNvSpPr txBox="1"/>
          <p:nvPr>
            <p:ph idx="1" type="body"/>
          </p:nvPr>
        </p:nvSpPr>
        <p:spPr>
          <a:xfrm>
            <a:off x="457200" y="819150"/>
            <a:ext cx="8229600" cy="7620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Python language uses the following keywords which are not available to users to use them as identifiers.</a:t>
            </a:r>
            <a:endParaRPr sz="2000">
              <a:latin typeface="Times New Roman"/>
              <a:ea typeface="Times New Roman"/>
              <a:cs typeface="Times New Roman"/>
              <a:sym typeface="Times New Roman"/>
            </a:endParaRPr>
          </a:p>
        </p:txBody>
      </p:sp>
      <p:graphicFrame>
        <p:nvGraphicFramePr>
          <p:cNvPr id="136" name="Google Shape;136;p14"/>
          <p:cNvGraphicFramePr/>
          <p:nvPr/>
        </p:nvGraphicFramePr>
        <p:xfrm>
          <a:off x="1524000" y="1733550"/>
          <a:ext cx="3000000" cy="3000000"/>
        </p:xfrm>
        <a:graphic>
          <a:graphicData uri="http://schemas.openxmlformats.org/drawingml/2006/table">
            <a:tbl>
              <a:tblPr bandRow="1" firstRow="1">
                <a:noFill/>
                <a:tableStyleId>{2CAA705B-74BD-4309-A868-7F1B09B252B4}</a:tableStyleId>
              </a:tblPr>
              <a:tblGrid>
                <a:gridCol w="1219200"/>
                <a:gridCol w="1219200"/>
                <a:gridCol w="1219200"/>
                <a:gridCol w="1219200"/>
                <a:gridCol w="1219200"/>
              </a:tblGrid>
              <a:tr h="370850">
                <a:tc>
                  <a:txBody>
                    <a:bodyPr/>
                    <a:lstStyle/>
                    <a:p>
                      <a:pPr indent="0" lvl="0" marL="0" marR="0" rtl="0" algn="l">
                        <a:spcBef>
                          <a:spcPts val="0"/>
                        </a:spcBef>
                        <a:spcAft>
                          <a:spcPts val="0"/>
                        </a:spcAft>
                        <a:buNone/>
                      </a:pPr>
                      <a:r>
                        <a:rPr lang="en-US" sz="1600" u="none" cap="none" strike="noStrike"/>
                        <a:t>False</a:t>
                      </a:r>
                      <a:endParaRPr sz="1600"/>
                    </a:p>
                  </a:txBody>
                  <a:tcPr marT="45725" marB="45725" marR="91450" marL="91450"/>
                </a:tc>
                <a:tc>
                  <a:txBody>
                    <a:bodyPr/>
                    <a:lstStyle/>
                    <a:p>
                      <a:pPr indent="0" lvl="0" marL="0" marR="0" rtl="0" algn="l">
                        <a:spcBef>
                          <a:spcPts val="0"/>
                        </a:spcBef>
                        <a:spcAft>
                          <a:spcPts val="0"/>
                        </a:spcAft>
                        <a:buNone/>
                      </a:pPr>
                      <a:r>
                        <a:rPr lang="en-US" sz="1600"/>
                        <a:t>await</a:t>
                      </a:r>
                      <a:endParaRPr sz="1600"/>
                    </a:p>
                  </a:txBody>
                  <a:tcPr marT="45725" marB="45725" marR="91450" marL="91450"/>
                </a:tc>
                <a:tc>
                  <a:txBody>
                    <a:bodyPr/>
                    <a:lstStyle/>
                    <a:p>
                      <a:pPr indent="0" lvl="0" marL="0" marR="0" rtl="0" algn="l">
                        <a:spcBef>
                          <a:spcPts val="0"/>
                        </a:spcBef>
                        <a:spcAft>
                          <a:spcPts val="0"/>
                        </a:spcAft>
                        <a:buNone/>
                      </a:pPr>
                      <a:r>
                        <a:rPr lang="en-US" sz="1600"/>
                        <a:t>else</a:t>
                      </a:r>
                      <a:endParaRPr sz="1600"/>
                    </a:p>
                  </a:txBody>
                  <a:tcPr marT="45725" marB="45725" marR="91450" marL="91450"/>
                </a:tc>
                <a:tc>
                  <a:txBody>
                    <a:bodyPr/>
                    <a:lstStyle/>
                    <a:p>
                      <a:pPr indent="0" lvl="0" marL="0" marR="0" rtl="0" algn="l">
                        <a:spcBef>
                          <a:spcPts val="0"/>
                        </a:spcBef>
                        <a:spcAft>
                          <a:spcPts val="0"/>
                        </a:spcAft>
                        <a:buNone/>
                      </a:pPr>
                      <a:r>
                        <a:rPr lang="en-US" sz="1600"/>
                        <a:t>import</a:t>
                      </a:r>
                      <a:endParaRPr sz="1600"/>
                    </a:p>
                  </a:txBody>
                  <a:tcPr marT="45725" marB="45725" marR="91450" marL="91450"/>
                </a:tc>
                <a:tc>
                  <a:txBody>
                    <a:bodyPr/>
                    <a:lstStyle/>
                    <a:p>
                      <a:pPr indent="0" lvl="0" marL="0" marR="0" rtl="0" algn="l">
                        <a:spcBef>
                          <a:spcPts val="0"/>
                        </a:spcBef>
                        <a:spcAft>
                          <a:spcPts val="0"/>
                        </a:spcAft>
                        <a:buNone/>
                      </a:pPr>
                      <a:r>
                        <a:rPr lang="en-US" sz="1600"/>
                        <a:t>pass</a:t>
                      </a:r>
                      <a:endParaRPr sz="1600"/>
                    </a:p>
                  </a:txBody>
                  <a:tcPr marT="45725" marB="45725" marR="91450" marL="91450"/>
                </a:tc>
              </a:tr>
              <a:tr h="370850">
                <a:tc>
                  <a:txBody>
                    <a:bodyPr/>
                    <a:lstStyle/>
                    <a:p>
                      <a:pPr indent="0" lvl="0" marL="0" marR="0" rtl="0" algn="l">
                        <a:spcBef>
                          <a:spcPts val="0"/>
                        </a:spcBef>
                        <a:spcAft>
                          <a:spcPts val="0"/>
                        </a:spcAft>
                        <a:buNone/>
                      </a:pPr>
                      <a:r>
                        <a:rPr lang="en-US" sz="1600"/>
                        <a:t>None</a:t>
                      </a:r>
                      <a:endParaRPr sz="1600"/>
                    </a:p>
                  </a:txBody>
                  <a:tcPr marT="45725" marB="45725" marR="91450" marL="91450"/>
                </a:tc>
                <a:tc>
                  <a:txBody>
                    <a:bodyPr/>
                    <a:lstStyle/>
                    <a:p>
                      <a:pPr indent="0" lvl="0" marL="0" marR="0" rtl="0" algn="l">
                        <a:spcBef>
                          <a:spcPts val="0"/>
                        </a:spcBef>
                        <a:spcAft>
                          <a:spcPts val="0"/>
                        </a:spcAft>
                        <a:buNone/>
                      </a:pPr>
                      <a:r>
                        <a:rPr lang="en-US" sz="1600"/>
                        <a:t>break</a:t>
                      </a:r>
                      <a:endParaRPr sz="1600"/>
                    </a:p>
                  </a:txBody>
                  <a:tcPr marT="45725" marB="45725" marR="91450" marL="91450"/>
                </a:tc>
                <a:tc>
                  <a:txBody>
                    <a:bodyPr/>
                    <a:lstStyle/>
                    <a:p>
                      <a:pPr indent="0" lvl="0" marL="0" marR="0" rtl="0" algn="l">
                        <a:spcBef>
                          <a:spcPts val="0"/>
                        </a:spcBef>
                        <a:spcAft>
                          <a:spcPts val="0"/>
                        </a:spcAft>
                        <a:buNone/>
                      </a:pPr>
                      <a:r>
                        <a:rPr lang="en-US" sz="1600"/>
                        <a:t>except</a:t>
                      </a:r>
                      <a:endParaRPr sz="1600"/>
                    </a:p>
                  </a:txBody>
                  <a:tcPr marT="45725" marB="45725" marR="91450" marL="91450"/>
                </a:tc>
                <a:tc>
                  <a:txBody>
                    <a:bodyPr/>
                    <a:lstStyle/>
                    <a:p>
                      <a:pPr indent="0" lvl="0" marL="0" marR="0" rtl="0" algn="l">
                        <a:spcBef>
                          <a:spcPts val="0"/>
                        </a:spcBef>
                        <a:spcAft>
                          <a:spcPts val="0"/>
                        </a:spcAft>
                        <a:buNone/>
                      </a:pPr>
                      <a:r>
                        <a:rPr lang="en-US" sz="1600"/>
                        <a:t>in</a:t>
                      </a:r>
                      <a:endParaRPr sz="1600"/>
                    </a:p>
                  </a:txBody>
                  <a:tcPr marT="45725" marB="45725" marR="91450" marL="91450"/>
                </a:tc>
                <a:tc>
                  <a:txBody>
                    <a:bodyPr/>
                    <a:lstStyle/>
                    <a:p>
                      <a:pPr indent="0" lvl="0" marL="0" marR="0" rtl="0" algn="l">
                        <a:spcBef>
                          <a:spcPts val="0"/>
                        </a:spcBef>
                        <a:spcAft>
                          <a:spcPts val="0"/>
                        </a:spcAft>
                        <a:buNone/>
                      </a:pPr>
                      <a:r>
                        <a:rPr lang="en-US" sz="1600"/>
                        <a:t>raise</a:t>
                      </a:r>
                      <a:endParaRPr sz="1600"/>
                    </a:p>
                  </a:txBody>
                  <a:tcPr marT="45725" marB="45725" marR="91450" marL="91450"/>
                </a:tc>
              </a:tr>
              <a:tr h="370850">
                <a:tc>
                  <a:txBody>
                    <a:bodyPr/>
                    <a:lstStyle/>
                    <a:p>
                      <a:pPr indent="0" lvl="0" marL="0" marR="0" rtl="0" algn="l">
                        <a:spcBef>
                          <a:spcPts val="0"/>
                        </a:spcBef>
                        <a:spcAft>
                          <a:spcPts val="0"/>
                        </a:spcAft>
                        <a:buNone/>
                      </a:pPr>
                      <a:r>
                        <a:rPr lang="en-US" sz="1600"/>
                        <a:t>True</a:t>
                      </a:r>
                      <a:endParaRPr sz="1600"/>
                    </a:p>
                  </a:txBody>
                  <a:tcPr marT="45725" marB="45725" marR="91450" marL="91450"/>
                </a:tc>
                <a:tc>
                  <a:txBody>
                    <a:bodyPr/>
                    <a:lstStyle/>
                    <a:p>
                      <a:pPr indent="0" lvl="0" marL="0" marR="0" rtl="0" algn="l">
                        <a:spcBef>
                          <a:spcPts val="0"/>
                        </a:spcBef>
                        <a:spcAft>
                          <a:spcPts val="0"/>
                        </a:spcAft>
                        <a:buNone/>
                      </a:pPr>
                      <a:r>
                        <a:rPr lang="en-US" sz="1600"/>
                        <a:t>class</a:t>
                      </a:r>
                      <a:endParaRPr sz="1600"/>
                    </a:p>
                  </a:txBody>
                  <a:tcPr marT="45725" marB="45725" marR="91450" marL="91450"/>
                </a:tc>
                <a:tc>
                  <a:txBody>
                    <a:bodyPr/>
                    <a:lstStyle/>
                    <a:p>
                      <a:pPr indent="0" lvl="0" marL="0" marR="0" rtl="0" algn="l">
                        <a:spcBef>
                          <a:spcPts val="0"/>
                        </a:spcBef>
                        <a:spcAft>
                          <a:spcPts val="0"/>
                        </a:spcAft>
                        <a:buNone/>
                      </a:pPr>
                      <a:r>
                        <a:rPr lang="en-US" sz="1600"/>
                        <a:t>finally</a:t>
                      </a:r>
                      <a:endParaRPr sz="1600"/>
                    </a:p>
                  </a:txBody>
                  <a:tcPr marT="45725" marB="45725" marR="91450" marL="91450"/>
                </a:tc>
                <a:tc>
                  <a:txBody>
                    <a:bodyPr/>
                    <a:lstStyle/>
                    <a:p>
                      <a:pPr indent="0" lvl="0" marL="0" marR="0" rtl="0" algn="l">
                        <a:spcBef>
                          <a:spcPts val="0"/>
                        </a:spcBef>
                        <a:spcAft>
                          <a:spcPts val="0"/>
                        </a:spcAft>
                        <a:buNone/>
                      </a:pPr>
                      <a:r>
                        <a:rPr lang="en-US" sz="1600"/>
                        <a:t>is</a:t>
                      </a:r>
                      <a:endParaRPr sz="1600"/>
                    </a:p>
                  </a:txBody>
                  <a:tcPr marT="45725" marB="45725" marR="91450" marL="91450"/>
                </a:tc>
                <a:tc>
                  <a:txBody>
                    <a:bodyPr/>
                    <a:lstStyle/>
                    <a:p>
                      <a:pPr indent="0" lvl="0" marL="0" marR="0" rtl="0" algn="l">
                        <a:spcBef>
                          <a:spcPts val="0"/>
                        </a:spcBef>
                        <a:spcAft>
                          <a:spcPts val="0"/>
                        </a:spcAft>
                        <a:buNone/>
                      </a:pPr>
                      <a:r>
                        <a:rPr lang="en-US" sz="1600"/>
                        <a:t>return</a:t>
                      </a:r>
                      <a:endParaRPr sz="1600"/>
                    </a:p>
                  </a:txBody>
                  <a:tcPr marT="45725" marB="45725" marR="91450" marL="91450"/>
                </a:tc>
              </a:tr>
              <a:tr h="370850">
                <a:tc>
                  <a:txBody>
                    <a:bodyPr/>
                    <a:lstStyle/>
                    <a:p>
                      <a:pPr indent="0" lvl="0" marL="0" marR="0" rtl="0" algn="l">
                        <a:spcBef>
                          <a:spcPts val="0"/>
                        </a:spcBef>
                        <a:spcAft>
                          <a:spcPts val="0"/>
                        </a:spcAft>
                        <a:buNone/>
                      </a:pPr>
                      <a:r>
                        <a:rPr lang="en-US" sz="1600"/>
                        <a:t>and</a:t>
                      </a:r>
                      <a:endParaRPr sz="1600"/>
                    </a:p>
                  </a:txBody>
                  <a:tcPr marT="45725" marB="45725" marR="91450" marL="91450"/>
                </a:tc>
                <a:tc>
                  <a:txBody>
                    <a:bodyPr/>
                    <a:lstStyle/>
                    <a:p>
                      <a:pPr indent="0" lvl="0" marL="0" marR="0" rtl="0" algn="l">
                        <a:spcBef>
                          <a:spcPts val="0"/>
                        </a:spcBef>
                        <a:spcAft>
                          <a:spcPts val="0"/>
                        </a:spcAft>
                        <a:buNone/>
                      </a:pPr>
                      <a:r>
                        <a:rPr lang="en-US" sz="1600"/>
                        <a:t>continue</a:t>
                      </a:r>
                      <a:endParaRPr sz="1600"/>
                    </a:p>
                  </a:txBody>
                  <a:tcPr marT="45725" marB="45725" marR="91450" marL="91450"/>
                </a:tc>
                <a:tc>
                  <a:txBody>
                    <a:bodyPr/>
                    <a:lstStyle/>
                    <a:p>
                      <a:pPr indent="0" lvl="0" marL="0" marR="0" rtl="0" algn="l">
                        <a:spcBef>
                          <a:spcPts val="0"/>
                        </a:spcBef>
                        <a:spcAft>
                          <a:spcPts val="0"/>
                        </a:spcAft>
                        <a:buNone/>
                      </a:pPr>
                      <a:r>
                        <a:rPr lang="en-US" sz="1600"/>
                        <a:t>for</a:t>
                      </a:r>
                      <a:endParaRPr sz="1600"/>
                    </a:p>
                  </a:txBody>
                  <a:tcPr marT="45725" marB="45725" marR="91450" marL="91450"/>
                </a:tc>
                <a:tc>
                  <a:txBody>
                    <a:bodyPr/>
                    <a:lstStyle/>
                    <a:p>
                      <a:pPr indent="0" lvl="0" marL="0" marR="0" rtl="0" algn="l">
                        <a:spcBef>
                          <a:spcPts val="0"/>
                        </a:spcBef>
                        <a:spcAft>
                          <a:spcPts val="0"/>
                        </a:spcAft>
                        <a:buNone/>
                      </a:pPr>
                      <a:r>
                        <a:rPr lang="en-US" sz="1600"/>
                        <a:t>lambda</a:t>
                      </a:r>
                      <a:endParaRPr sz="1600"/>
                    </a:p>
                  </a:txBody>
                  <a:tcPr marT="45725" marB="45725" marR="91450" marL="91450"/>
                </a:tc>
                <a:tc>
                  <a:txBody>
                    <a:bodyPr/>
                    <a:lstStyle/>
                    <a:p>
                      <a:pPr indent="0" lvl="0" marL="0" marR="0" rtl="0" algn="l">
                        <a:spcBef>
                          <a:spcPts val="0"/>
                        </a:spcBef>
                        <a:spcAft>
                          <a:spcPts val="0"/>
                        </a:spcAft>
                        <a:buNone/>
                      </a:pPr>
                      <a:r>
                        <a:rPr lang="en-US" sz="1600"/>
                        <a:t>try</a:t>
                      </a:r>
                      <a:endParaRPr sz="1600"/>
                    </a:p>
                  </a:txBody>
                  <a:tcPr marT="45725" marB="45725" marR="91450" marL="91450"/>
                </a:tc>
              </a:tr>
              <a:tr h="370850">
                <a:tc>
                  <a:txBody>
                    <a:bodyPr/>
                    <a:lstStyle/>
                    <a:p>
                      <a:pPr indent="0" lvl="0" marL="0" marR="0" rtl="0" algn="l">
                        <a:spcBef>
                          <a:spcPts val="0"/>
                        </a:spcBef>
                        <a:spcAft>
                          <a:spcPts val="0"/>
                        </a:spcAft>
                        <a:buNone/>
                      </a:pPr>
                      <a:r>
                        <a:rPr lang="en-US" sz="1600"/>
                        <a:t>as</a:t>
                      </a:r>
                      <a:endParaRPr sz="1600"/>
                    </a:p>
                  </a:txBody>
                  <a:tcPr marT="45725" marB="45725" marR="91450" marL="91450"/>
                </a:tc>
                <a:tc>
                  <a:txBody>
                    <a:bodyPr/>
                    <a:lstStyle/>
                    <a:p>
                      <a:pPr indent="0" lvl="0" marL="0" marR="0" rtl="0" algn="l">
                        <a:spcBef>
                          <a:spcPts val="0"/>
                        </a:spcBef>
                        <a:spcAft>
                          <a:spcPts val="0"/>
                        </a:spcAft>
                        <a:buNone/>
                      </a:pPr>
                      <a:r>
                        <a:rPr lang="en-US" sz="1600"/>
                        <a:t>def</a:t>
                      </a:r>
                      <a:endParaRPr sz="1600"/>
                    </a:p>
                  </a:txBody>
                  <a:tcPr marT="45725" marB="45725" marR="91450" marL="91450"/>
                </a:tc>
                <a:tc>
                  <a:txBody>
                    <a:bodyPr/>
                    <a:lstStyle/>
                    <a:p>
                      <a:pPr indent="0" lvl="0" marL="0" marR="0" rtl="0" algn="l">
                        <a:spcBef>
                          <a:spcPts val="0"/>
                        </a:spcBef>
                        <a:spcAft>
                          <a:spcPts val="0"/>
                        </a:spcAft>
                        <a:buNone/>
                      </a:pPr>
                      <a:r>
                        <a:rPr lang="en-US" sz="1600"/>
                        <a:t>from</a:t>
                      </a:r>
                      <a:endParaRPr sz="1600"/>
                    </a:p>
                  </a:txBody>
                  <a:tcPr marT="45725" marB="45725" marR="91450" marL="91450"/>
                </a:tc>
                <a:tc>
                  <a:txBody>
                    <a:bodyPr/>
                    <a:lstStyle/>
                    <a:p>
                      <a:pPr indent="0" lvl="0" marL="0" marR="0" rtl="0" algn="l">
                        <a:spcBef>
                          <a:spcPts val="0"/>
                        </a:spcBef>
                        <a:spcAft>
                          <a:spcPts val="0"/>
                        </a:spcAft>
                        <a:buNone/>
                      </a:pPr>
                      <a:r>
                        <a:rPr lang="en-US" sz="1600"/>
                        <a:t>nonlocal</a:t>
                      </a:r>
                      <a:endParaRPr sz="1600"/>
                    </a:p>
                  </a:txBody>
                  <a:tcPr marT="45725" marB="45725" marR="91450" marL="91450"/>
                </a:tc>
                <a:tc>
                  <a:txBody>
                    <a:bodyPr/>
                    <a:lstStyle/>
                    <a:p>
                      <a:pPr indent="0" lvl="0" marL="0" marR="0" rtl="0" algn="l">
                        <a:spcBef>
                          <a:spcPts val="0"/>
                        </a:spcBef>
                        <a:spcAft>
                          <a:spcPts val="0"/>
                        </a:spcAft>
                        <a:buNone/>
                      </a:pPr>
                      <a:r>
                        <a:rPr lang="en-US" sz="1600"/>
                        <a:t>while</a:t>
                      </a:r>
                      <a:endParaRPr sz="1600"/>
                    </a:p>
                  </a:txBody>
                  <a:tcPr marT="45725" marB="45725" marR="91450" marL="91450"/>
                </a:tc>
              </a:tr>
              <a:tr h="370850">
                <a:tc>
                  <a:txBody>
                    <a:bodyPr/>
                    <a:lstStyle/>
                    <a:p>
                      <a:pPr indent="0" lvl="0" marL="0" marR="0" rtl="0" algn="l">
                        <a:spcBef>
                          <a:spcPts val="0"/>
                        </a:spcBef>
                        <a:spcAft>
                          <a:spcPts val="0"/>
                        </a:spcAft>
                        <a:buNone/>
                      </a:pPr>
                      <a:r>
                        <a:rPr lang="en-US" sz="1600"/>
                        <a:t>assert</a:t>
                      </a:r>
                      <a:endParaRPr sz="1600"/>
                    </a:p>
                  </a:txBody>
                  <a:tcPr marT="45725" marB="45725" marR="91450" marL="91450"/>
                </a:tc>
                <a:tc>
                  <a:txBody>
                    <a:bodyPr/>
                    <a:lstStyle/>
                    <a:p>
                      <a:pPr indent="0" lvl="0" marL="0" marR="0" rtl="0" algn="l">
                        <a:spcBef>
                          <a:spcPts val="0"/>
                        </a:spcBef>
                        <a:spcAft>
                          <a:spcPts val="0"/>
                        </a:spcAft>
                        <a:buNone/>
                      </a:pPr>
                      <a:r>
                        <a:rPr lang="en-US" sz="1600"/>
                        <a:t>del</a:t>
                      </a:r>
                      <a:endParaRPr sz="1600"/>
                    </a:p>
                  </a:txBody>
                  <a:tcPr marT="45725" marB="45725" marR="91450" marL="91450"/>
                </a:tc>
                <a:tc>
                  <a:txBody>
                    <a:bodyPr/>
                    <a:lstStyle/>
                    <a:p>
                      <a:pPr indent="0" lvl="0" marL="0" marR="0" rtl="0" algn="l">
                        <a:spcBef>
                          <a:spcPts val="0"/>
                        </a:spcBef>
                        <a:spcAft>
                          <a:spcPts val="0"/>
                        </a:spcAft>
                        <a:buNone/>
                      </a:pPr>
                      <a:r>
                        <a:rPr lang="en-US" sz="1600"/>
                        <a:t>global</a:t>
                      </a:r>
                      <a:endParaRPr sz="1600"/>
                    </a:p>
                  </a:txBody>
                  <a:tcPr marT="45725" marB="45725" marR="91450" marL="91450"/>
                </a:tc>
                <a:tc>
                  <a:txBody>
                    <a:bodyPr/>
                    <a:lstStyle/>
                    <a:p>
                      <a:pPr indent="0" lvl="0" marL="0" marR="0" rtl="0" algn="l">
                        <a:spcBef>
                          <a:spcPts val="0"/>
                        </a:spcBef>
                        <a:spcAft>
                          <a:spcPts val="0"/>
                        </a:spcAft>
                        <a:buNone/>
                      </a:pPr>
                      <a:r>
                        <a:rPr lang="en-US" sz="1600"/>
                        <a:t>not</a:t>
                      </a:r>
                      <a:endParaRPr sz="1600"/>
                    </a:p>
                  </a:txBody>
                  <a:tcPr marT="45725" marB="45725" marR="91450" marL="91450"/>
                </a:tc>
                <a:tc>
                  <a:txBody>
                    <a:bodyPr/>
                    <a:lstStyle/>
                    <a:p>
                      <a:pPr indent="0" lvl="0" marL="0" marR="0" rtl="0" algn="l">
                        <a:spcBef>
                          <a:spcPts val="0"/>
                        </a:spcBef>
                        <a:spcAft>
                          <a:spcPts val="0"/>
                        </a:spcAft>
                        <a:buNone/>
                      </a:pPr>
                      <a:r>
                        <a:rPr lang="en-US" sz="1600"/>
                        <a:t>with</a:t>
                      </a:r>
                      <a:endParaRPr sz="1600"/>
                    </a:p>
                  </a:txBody>
                  <a:tcPr marT="45725" marB="45725" marR="91450" marL="91450"/>
                </a:tc>
              </a:tr>
              <a:tr h="370850">
                <a:tc>
                  <a:txBody>
                    <a:bodyPr/>
                    <a:lstStyle/>
                    <a:p>
                      <a:pPr indent="0" lvl="0" marL="0" marR="0" rtl="0" algn="l">
                        <a:spcBef>
                          <a:spcPts val="0"/>
                        </a:spcBef>
                        <a:spcAft>
                          <a:spcPts val="0"/>
                        </a:spcAft>
                        <a:buNone/>
                      </a:pPr>
                      <a:r>
                        <a:rPr lang="en-US" sz="1600"/>
                        <a:t>async</a:t>
                      </a:r>
                      <a:endParaRPr sz="1600"/>
                    </a:p>
                  </a:txBody>
                  <a:tcPr marT="45725" marB="45725" marR="91450" marL="91450"/>
                </a:tc>
                <a:tc>
                  <a:txBody>
                    <a:bodyPr/>
                    <a:lstStyle/>
                    <a:p>
                      <a:pPr indent="0" lvl="0" marL="0" marR="0" rtl="0" algn="l">
                        <a:spcBef>
                          <a:spcPts val="0"/>
                        </a:spcBef>
                        <a:spcAft>
                          <a:spcPts val="0"/>
                        </a:spcAft>
                        <a:buNone/>
                      </a:pPr>
                      <a:r>
                        <a:rPr lang="en-US" sz="1600"/>
                        <a:t>elif</a:t>
                      </a:r>
                      <a:endParaRPr sz="1600"/>
                    </a:p>
                  </a:txBody>
                  <a:tcPr marT="45725" marB="45725" marR="91450" marL="91450"/>
                </a:tc>
                <a:tc>
                  <a:txBody>
                    <a:bodyPr/>
                    <a:lstStyle/>
                    <a:p>
                      <a:pPr indent="0" lvl="0" marL="0" marR="0" rtl="0" algn="l">
                        <a:spcBef>
                          <a:spcPts val="0"/>
                        </a:spcBef>
                        <a:spcAft>
                          <a:spcPts val="0"/>
                        </a:spcAft>
                        <a:buNone/>
                      </a:pPr>
                      <a:r>
                        <a:rPr lang="en-US" sz="1600"/>
                        <a:t>if</a:t>
                      </a:r>
                      <a:endParaRPr sz="1600"/>
                    </a:p>
                  </a:txBody>
                  <a:tcPr marT="45725" marB="45725" marR="91450" marL="91450"/>
                </a:tc>
                <a:tc>
                  <a:txBody>
                    <a:bodyPr/>
                    <a:lstStyle/>
                    <a:p>
                      <a:pPr indent="0" lvl="0" marL="0" marR="0" rtl="0" algn="l">
                        <a:spcBef>
                          <a:spcPts val="0"/>
                        </a:spcBef>
                        <a:spcAft>
                          <a:spcPts val="0"/>
                        </a:spcAft>
                        <a:buNone/>
                      </a:pPr>
                      <a:r>
                        <a:rPr lang="en-US" sz="1600"/>
                        <a:t>or</a:t>
                      </a:r>
                      <a:endParaRPr sz="1600"/>
                    </a:p>
                  </a:txBody>
                  <a:tcPr marT="45725" marB="45725" marR="91450" marL="91450"/>
                </a:tc>
                <a:tc>
                  <a:txBody>
                    <a:bodyPr/>
                    <a:lstStyle/>
                    <a:p>
                      <a:pPr indent="0" lvl="0" marL="0" marR="0" rtl="0" algn="l">
                        <a:spcBef>
                          <a:spcPts val="0"/>
                        </a:spcBef>
                        <a:spcAft>
                          <a:spcPts val="0"/>
                        </a:spcAft>
                        <a:buNone/>
                      </a:pPr>
                      <a:r>
                        <a:rPr lang="en-US" sz="1600"/>
                        <a:t>yield</a:t>
                      </a:r>
                      <a:endParaRPr sz="1600"/>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Constants</a:t>
            </a:r>
            <a:endParaRPr/>
          </a:p>
        </p:txBody>
      </p:sp>
      <p:sp>
        <p:nvSpPr>
          <p:cNvPr id="142" name="Google Shape;142;p15"/>
          <p:cNvSpPr txBox="1"/>
          <p:nvPr>
            <p:ph idx="1" type="body"/>
          </p:nvPr>
        </p:nvSpPr>
        <p:spPr>
          <a:xfrm>
            <a:off x="457200" y="895350"/>
            <a:ext cx="8229600" cy="3733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A constant is an identifier whose value cannot be changed throughout the execution of a program whereas the variable value keeps on changing.</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There are no constants in Python, the way they exist in C and Java.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In Python, It is not possible to define constant whose value can not be changed.</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In Python, Constants are usually defined on a module level and written in all capital letters with underscores separating words but remember its value can be changed.</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PI</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TOTAL</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	MIN_VALUE</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2000"/>
                                        <p:tgtEl>
                                          <p:spTgt spid="1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5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5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5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5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5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5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500"/>
                                        <p:tgtEl>
                                          <p:spTgt spid="1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animEffect filter="fade" transition="in">
                                      <p:cBhvr>
                                        <p:cTn dur="500"/>
                                        <p:tgtEl>
                                          <p:spTgt spid="14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Variable</a:t>
            </a:r>
            <a:endParaRPr/>
          </a:p>
        </p:txBody>
      </p:sp>
      <p:sp>
        <p:nvSpPr>
          <p:cNvPr id="148" name="Google Shape;148;p16"/>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In C, Java or some other programming languages, a variable is an identifier or a name, connected to memory location.</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p>
        </p:txBody>
      </p:sp>
      <p:sp>
        <p:nvSpPr>
          <p:cNvPr id="149" name="Google Shape;149;p16"/>
          <p:cNvSpPr txBox="1"/>
          <p:nvPr/>
        </p:nvSpPr>
        <p:spPr>
          <a:xfrm>
            <a:off x="17676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150" name="Google Shape;150;p16"/>
          <p:cNvSpPr txBox="1"/>
          <p:nvPr/>
        </p:nvSpPr>
        <p:spPr>
          <a:xfrm>
            <a:off x="1829392" y="1809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51" name="Google Shape;151;p16"/>
          <p:cNvSpPr txBox="1"/>
          <p:nvPr/>
        </p:nvSpPr>
        <p:spPr>
          <a:xfrm>
            <a:off x="16002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12114</a:t>
            </a:r>
            <a:endParaRPr sz="1800">
              <a:solidFill>
                <a:schemeClr val="dk1"/>
              </a:solidFill>
              <a:latin typeface="Calibri"/>
              <a:ea typeface="Calibri"/>
              <a:cs typeface="Calibri"/>
              <a:sym typeface="Calibri"/>
            </a:endParaRPr>
          </a:p>
        </p:txBody>
      </p:sp>
      <p:sp>
        <p:nvSpPr>
          <p:cNvPr id="152" name="Google Shape;152;p16"/>
          <p:cNvSpPr txBox="1"/>
          <p:nvPr/>
        </p:nvSpPr>
        <p:spPr>
          <a:xfrm>
            <a:off x="1607963" y="1504950"/>
            <a:ext cx="7505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10</a:t>
            </a:r>
            <a:endParaRPr sz="1800">
              <a:solidFill>
                <a:schemeClr val="dk1"/>
              </a:solidFill>
              <a:latin typeface="Calibri"/>
              <a:ea typeface="Calibri"/>
              <a:cs typeface="Calibri"/>
              <a:sym typeface="Calibri"/>
            </a:endParaRPr>
          </a:p>
        </p:txBody>
      </p:sp>
      <p:sp>
        <p:nvSpPr>
          <p:cNvPr id="153" name="Google Shape;153;p16"/>
          <p:cNvSpPr txBox="1"/>
          <p:nvPr/>
        </p:nvSpPr>
        <p:spPr>
          <a:xfrm>
            <a:off x="3653555" y="1504950"/>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 10</a:t>
            </a:r>
            <a:endParaRPr sz="1800">
              <a:solidFill>
                <a:schemeClr val="dk1"/>
              </a:solidFill>
              <a:latin typeface="Calibri"/>
              <a:ea typeface="Calibri"/>
              <a:cs typeface="Calibri"/>
              <a:sym typeface="Calibri"/>
            </a:endParaRPr>
          </a:p>
        </p:txBody>
      </p:sp>
      <p:sp>
        <p:nvSpPr>
          <p:cNvPr id="154" name="Google Shape;154;p16"/>
          <p:cNvSpPr txBox="1"/>
          <p:nvPr/>
        </p:nvSpPr>
        <p:spPr>
          <a:xfrm>
            <a:off x="38250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155" name="Google Shape;155;p16"/>
          <p:cNvSpPr txBox="1"/>
          <p:nvPr/>
        </p:nvSpPr>
        <p:spPr>
          <a:xfrm>
            <a:off x="3886792" y="180975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156" name="Google Shape;156;p16"/>
          <p:cNvSpPr txBox="1"/>
          <p:nvPr/>
        </p:nvSpPr>
        <p:spPr>
          <a:xfrm>
            <a:off x="36576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12115</a:t>
            </a:r>
            <a:endParaRPr sz="1800">
              <a:solidFill>
                <a:schemeClr val="dk1"/>
              </a:solidFill>
              <a:latin typeface="Calibri"/>
              <a:ea typeface="Calibri"/>
              <a:cs typeface="Calibri"/>
              <a:sym typeface="Calibri"/>
            </a:endParaRPr>
          </a:p>
        </p:txBody>
      </p:sp>
      <p:sp>
        <p:nvSpPr>
          <p:cNvPr id="157" name="Google Shape;157;p16"/>
          <p:cNvSpPr txBox="1"/>
          <p:nvPr/>
        </p:nvSpPr>
        <p:spPr>
          <a:xfrm>
            <a:off x="5558555" y="1504950"/>
            <a:ext cx="73770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 = 20</a:t>
            </a:r>
            <a:endParaRPr sz="1800">
              <a:solidFill>
                <a:schemeClr val="dk1"/>
              </a:solidFill>
              <a:latin typeface="Calibri"/>
              <a:ea typeface="Calibri"/>
              <a:cs typeface="Calibri"/>
              <a:sym typeface="Calibri"/>
            </a:endParaRPr>
          </a:p>
        </p:txBody>
      </p:sp>
      <p:sp>
        <p:nvSpPr>
          <p:cNvPr id="158" name="Google Shape;158;p16"/>
          <p:cNvSpPr txBox="1"/>
          <p:nvPr/>
        </p:nvSpPr>
        <p:spPr>
          <a:xfrm>
            <a:off x="57300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sz="1800">
              <a:solidFill>
                <a:schemeClr val="dk1"/>
              </a:solidFill>
              <a:latin typeface="Calibri"/>
              <a:ea typeface="Calibri"/>
              <a:cs typeface="Calibri"/>
              <a:sym typeface="Calibri"/>
            </a:endParaRPr>
          </a:p>
        </p:txBody>
      </p:sp>
      <p:sp>
        <p:nvSpPr>
          <p:cNvPr id="159" name="Google Shape;159;p16"/>
          <p:cNvSpPr txBox="1"/>
          <p:nvPr/>
        </p:nvSpPr>
        <p:spPr>
          <a:xfrm>
            <a:off x="5791792" y="1809750"/>
            <a:ext cx="28245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
            </a:r>
            <a:endParaRPr sz="1800">
              <a:solidFill>
                <a:schemeClr val="dk1"/>
              </a:solidFill>
              <a:latin typeface="Calibri"/>
              <a:ea typeface="Calibri"/>
              <a:cs typeface="Calibri"/>
              <a:sym typeface="Calibri"/>
            </a:endParaRPr>
          </a:p>
        </p:txBody>
      </p:sp>
      <p:sp>
        <p:nvSpPr>
          <p:cNvPr id="160" name="Google Shape;160;p16"/>
          <p:cNvSpPr txBox="1"/>
          <p:nvPr/>
        </p:nvSpPr>
        <p:spPr>
          <a:xfrm>
            <a:off x="55626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12117</a:t>
            </a:r>
            <a:endParaRPr sz="1800">
              <a:solidFill>
                <a:schemeClr val="dk1"/>
              </a:solidFill>
              <a:latin typeface="Calibri"/>
              <a:ea typeface="Calibri"/>
              <a:cs typeface="Calibri"/>
              <a:sym typeface="Calibri"/>
            </a:endParaRPr>
          </a:p>
        </p:txBody>
      </p:sp>
      <p:sp>
        <p:nvSpPr>
          <p:cNvPr id="161" name="Google Shape;161;p16"/>
          <p:cNvSpPr txBox="1"/>
          <p:nvPr/>
        </p:nvSpPr>
        <p:spPr>
          <a:xfrm>
            <a:off x="1600200" y="1504950"/>
            <a:ext cx="7505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30</a:t>
            </a:r>
            <a:endParaRPr sz="1800">
              <a:solidFill>
                <a:schemeClr val="dk1"/>
              </a:solidFill>
              <a:latin typeface="Calibri"/>
              <a:ea typeface="Calibri"/>
              <a:cs typeface="Calibri"/>
              <a:sym typeface="Calibri"/>
            </a:endParaRPr>
          </a:p>
        </p:txBody>
      </p:sp>
      <p:sp>
        <p:nvSpPr>
          <p:cNvPr id="162" name="Google Shape;162;p16"/>
          <p:cNvSpPr txBox="1"/>
          <p:nvPr/>
        </p:nvSpPr>
        <p:spPr>
          <a:xfrm>
            <a:off x="1752600" y="2190750"/>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sz="1800">
              <a:solidFill>
                <a:schemeClr val="dk1"/>
              </a:solidFill>
              <a:latin typeface="Calibri"/>
              <a:ea typeface="Calibri"/>
              <a:cs typeface="Calibri"/>
              <a:sym typeface="Calibri"/>
            </a:endParaRPr>
          </a:p>
        </p:txBody>
      </p:sp>
      <p:sp>
        <p:nvSpPr>
          <p:cNvPr id="163" name="Google Shape;163;p16"/>
          <p:cNvSpPr txBox="1"/>
          <p:nvPr/>
        </p:nvSpPr>
        <p:spPr>
          <a:xfrm>
            <a:off x="1588392" y="3028950"/>
            <a:ext cx="6206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 = a</a:t>
            </a:r>
            <a:endParaRPr sz="1800">
              <a:solidFill>
                <a:schemeClr val="dk1"/>
              </a:solidFill>
              <a:latin typeface="Calibri"/>
              <a:ea typeface="Calibri"/>
              <a:cs typeface="Calibri"/>
              <a:sym typeface="Calibri"/>
            </a:endParaRPr>
          </a:p>
        </p:txBody>
      </p:sp>
      <p:sp>
        <p:nvSpPr>
          <p:cNvPr id="164" name="Google Shape;164;p16"/>
          <p:cNvSpPr txBox="1"/>
          <p:nvPr/>
        </p:nvSpPr>
        <p:spPr>
          <a:xfrm>
            <a:off x="1759914" y="3703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30</a:t>
            </a:r>
            <a:endParaRPr sz="1800">
              <a:solidFill>
                <a:schemeClr val="dk1"/>
              </a:solidFill>
              <a:latin typeface="Calibri"/>
              <a:ea typeface="Calibri"/>
              <a:cs typeface="Calibri"/>
              <a:sym typeface="Calibri"/>
            </a:endParaRPr>
          </a:p>
        </p:txBody>
      </p:sp>
      <p:sp>
        <p:nvSpPr>
          <p:cNvPr id="165" name="Google Shape;165;p16"/>
          <p:cNvSpPr txBox="1"/>
          <p:nvPr/>
        </p:nvSpPr>
        <p:spPr>
          <a:xfrm>
            <a:off x="1821629" y="3333750"/>
            <a:ext cx="2888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166" name="Google Shape;166;p16"/>
          <p:cNvSpPr txBox="1"/>
          <p:nvPr/>
        </p:nvSpPr>
        <p:spPr>
          <a:xfrm>
            <a:off x="1592437" y="4072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12678</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0" st="0"/>
                                            </p:txEl>
                                          </p:spTgt>
                                        </p:tgtEl>
                                        <p:attrNameLst>
                                          <p:attrName>style.visibility</p:attrName>
                                        </p:attrNameLst>
                                      </p:cBhvr>
                                      <p:to>
                                        <p:strVal val="visible"/>
                                      </p:to>
                                    </p:set>
                                    <p:animEffect filter="fade" transition="in">
                                      <p:cBhvr>
                                        <p:cTn dur="500"/>
                                        <p:tgtEl>
                                          <p:spTgt spid="1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1" st="1"/>
                                            </p:txEl>
                                          </p:spTgt>
                                        </p:tgtEl>
                                        <p:attrNameLst>
                                          <p:attrName>style.visibility</p:attrName>
                                        </p:attrNameLst>
                                      </p:cBhvr>
                                      <p:to>
                                        <p:strVal val="visible"/>
                                      </p:to>
                                    </p:set>
                                    <p:animEffect filter="fade" transition="in">
                                      <p:cBhvr>
                                        <p:cTn dur="500"/>
                                        <p:tgtEl>
                                          <p:spTgt spid="1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xEl>
                                              <p:pRg end="2" st="2"/>
                                            </p:txEl>
                                          </p:spTgt>
                                        </p:tgtEl>
                                        <p:attrNameLst>
                                          <p:attrName>style.visibility</p:attrName>
                                        </p:attrNameLst>
                                      </p:cBhvr>
                                      <p:to>
                                        <p:strVal val="visible"/>
                                      </p:to>
                                    </p:set>
                                    <p:animEffect filter="fade" transition="in">
                                      <p:cBhvr>
                                        <p:cTn dur="500"/>
                                        <p:tgtEl>
                                          <p:spTgt spid="1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
                                        </p:tgtEl>
                                        <p:attrNameLst>
                                          <p:attrName>style.visibility</p:attrName>
                                        </p:attrNameLst>
                                      </p:cBhvr>
                                      <p:to>
                                        <p:strVal val="visible"/>
                                      </p:to>
                                    </p:set>
                                    <p:animEffect filter="fade" transition="in">
                                      <p:cBhvr>
                                        <p:cTn dur="500"/>
                                        <p:tgtEl>
                                          <p:spTgt spid="1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3"/>
                                        </p:tgtEl>
                                        <p:attrNameLst>
                                          <p:attrName>style.visibility</p:attrName>
                                        </p:attrNameLst>
                                      </p:cBhvr>
                                      <p:to>
                                        <p:strVal val="visible"/>
                                      </p:to>
                                    </p:set>
                                    <p:animEffect filter="fade" transition="in">
                                      <p:cBhvr>
                                        <p:cTn dur="500"/>
                                        <p:tgtEl>
                                          <p:spTgt spid="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5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500"/>
                                        <p:tgtEl>
                                          <p:spTgt spid="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5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500"/>
                                        <p:tgtEl>
                                          <p:spTgt spid="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5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500"/>
                                        <p:tgtEl>
                                          <p:spTgt spid="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2"/>
                                        </p:tgtEl>
                                      </p:cBhvr>
                                    </p:animEffect>
                                    <p:set>
                                      <p:cBhvr>
                                        <p:cTn dur="1" fill="hold">
                                          <p:stCondLst>
                                            <p:cond delay="500"/>
                                          </p:stCondLst>
                                        </p:cTn>
                                        <p:tgtEl>
                                          <p:spTgt spid="15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500"/>
                                        <p:tgtEl>
                                          <p:spTgt spid="1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9"/>
                                        </p:tgtEl>
                                      </p:cBhvr>
                                    </p:animEffect>
                                    <p:set>
                                      <p:cBhvr>
                                        <p:cTn dur="1" fill="hold">
                                          <p:stCondLst>
                                            <p:cond delay="500"/>
                                          </p:stCondLst>
                                        </p:cTn>
                                        <p:tgtEl>
                                          <p:spTgt spid="14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5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5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5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Variable</a:t>
            </a:r>
            <a:endParaRPr/>
          </a:p>
        </p:txBody>
      </p:sp>
      <p:sp>
        <p:nvSpPr>
          <p:cNvPr id="172" name="Google Shape;172;p17"/>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In Python, a variable is considered as tag that is tied to some value. Python considers value as objects. </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p>
        </p:txBody>
      </p:sp>
      <p:sp>
        <p:nvSpPr>
          <p:cNvPr id="173" name="Google Shape;173;p17"/>
          <p:cNvSpPr txBox="1"/>
          <p:nvPr/>
        </p:nvSpPr>
        <p:spPr>
          <a:xfrm>
            <a:off x="17676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174" name="Google Shape;174;p17"/>
          <p:cNvSpPr txBox="1"/>
          <p:nvPr/>
        </p:nvSpPr>
        <p:spPr>
          <a:xfrm>
            <a:off x="1829392" y="1809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75" name="Google Shape;175;p17"/>
          <p:cNvSpPr txBox="1"/>
          <p:nvPr/>
        </p:nvSpPr>
        <p:spPr>
          <a:xfrm>
            <a:off x="16002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12114</a:t>
            </a:r>
            <a:endParaRPr sz="1800">
              <a:solidFill>
                <a:schemeClr val="dk1"/>
              </a:solidFill>
              <a:latin typeface="Calibri"/>
              <a:ea typeface="Calibri"/>
              <a:cs typeface="Calibri"/>
              <a:sym typeface="Calibri"/>
            </a:endParaRPr>
          </a:p>
        </p:txBody>
      </p:sp>
      <p:sp>
        <p:nvSpPr>
          <p:cNvPr id="176" name="Google Shape;176;p17"/>
          <p:cNvSpPr txBox="1"/>
          <p:nvPr/>
        </p:nvSpPr>
        <p:spPr>
          <a:xfrm>
            <a:off x="1607963" y="1504950"/>
            <a:ext cx="7505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10</a:t>
            </a:r>
            <a:endParaRPr sz="1800">
              <a:solidFill>
                <a:schemeClr val="dk1"/>
              </a:solidFill>
              <a:latin typeface="Calibri"/>
              <a:ea typeface="Calibri"/>
              <a:cs typeface="Calibri"/>
              <a:sym typeface="Calibri"/>
            </a:endParaRPr>
          </a:p>
        </p:txBody>
      </p:sp>
      <p:sp>
        <p:nvSpPr>
          <p:cNvPr id="177" name="Google Shape;177;p17"/>
          <p:cNvSpPr txBox="1"/>
          <p:nvPr/>
        </p:nvSpPr>
        <p:spPr>
          <a:xfrm>
            <a:off x="3653555" y="1504950"/>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 = 10</a:t>
            </a:r>
            <a:endParaRPr sz="1800">
              <a:solidFill>
                <a:schemeClr val="dk1"/>
              </a:solidFill>
              <a:latin typeface="Calibri"/>
              <a:ea typeface="Calibri"/>
              <a:cs typeface="Calibri"/>
              <a:sym typeface="Calibri"/>
            </a:endParaRPr>
          </a:p>
        </p:txBody>
      </p:sp>
      <p:sp>
        <p:nvSpPr>
          <p:cNvPr id="178" name="Google Shape;178;p17"/>
          <p:cNvSpPr txBox="1"/>
          <p:nvPr/>
        </p:nvSpPr>
        <p:spPr>
          <a:xfrm>
            <a:off x="38250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179" name="Google Shape;179;p17"/>
          <p:cNvSpPr txBox="1"/>
          <p:nvPr/>
        </p:nvSpPr>
        <p:spPr>
          <a:xfrm>
            <a:off x="3886792" y="180975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t>
            </a:r>
            <a:endParaRPr sz="1800">
              <a:solidFill>
                <a:schemeClr val="dk1"/>
              </a:solidFill>
              <a:latin typeface="Calibri"/>
              <a:ea typeface="Calibri"/>
              <a:cs typeface="Calibri"/>
              <a:sym typeface="Calibri"/>
            </a:endParaRPr>
          </a:p>
        </p:txBody>
      </p:sp>
      <p:sp>
        <p:nvSpPr>
          <p:cNvPr id="180" name="Google Shape;180;p17"/>
          <p:cNvSpPr txBox="1"/>
          <p:nvPr/>
        </p:nvSpPr>
        <p:spPr>
          <a:xfrm>
            <a:off x="36576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12115</a:t>
            </a:r>
            <a:endParaRPr sz="1800">
              <a:solidFill>
                <a:schemeClr val="dk1"/>
              </a:solidFill>
              <a:latin typeface="Calibri"/>
              <a:ea typeface="Calibri"/>
              <a:cs typeface="Calibri"/>
              <a:sym typeface="Calibri"/>
            </a:endParaRPr>
          </a:p>
        </p:txBody>
      </p:sp>
      <p:sp>
        <p:nvSpPr>
          <p:cNvPr id="181" name="Google Shape;181;p17"/>
          <p:cNvSpPr txBox="1"/>
          <p:nvPr/>
        </p:nvSpPr>
        <p:spPr>
          <a:xfrm>
            <a:off x="5558555" y="1504950"/>
            <a:ext cx="7505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20</a:t>
            </a:r>
            <a:endParaRPr sz="1800">
              <a:solidFill>
                <a:schemeClr val="dk1"/>
              </a:solidFill>
              <a:latin typeface="Calibri"/>
              <a:ea typeface="Calibri"/>
              <a:cs typeface="Calibri"/>
              <a:sym typeface="Calibri"/>
            </a:endParaRPr>
          </a:p>
        </p:txBody>
      </p:sp>
      <p:sp>
        <p:nvSpPr>
          <p:cNvPr id="182" name="Google Shape;182;p17"/>
          <p:cNvSpPr txBox="1"/>
          <p:nvPr/>
        </p:nvSpPr>
        <p:spPr>
          <a:xfrm>
            <a:off x="57300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sz="1800">
              <a:solidFill>
                <a:schemeClr val="dk1"/>
              </a:solidFill>
              <a:latin typeface="Calibri"/>
              <a:ea typeface="Calibri"/>
              <a:cs typeface="Calibri"/>
              <a:sym typeface="Calibri"/>
            </a:endParaRPr>
          </a:p>
        </p:txBody>
      </p:sp>
      <p:sp>
        <p:nvSpPr>
          <p:cNvPr id="183" name="Google Shape;183;p17"/>
          <p:cNvSpPr txBox="1"/>
          <p:nvPr/>
        </p:nvSpPr>
        <p:spPr>
          <a:xfrm>
            <a:off x="5791792" y="1809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84" name="Google Shape;184;p17"/>
          <p:cNvSpPr txBox="1"/>
          <p:nvPr/>
        </p:nvSpPr>
        <p:spPr>
          <a:xfrm>
            <a:off x="55626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12117</a:t>
            </a:r>
            <a:endParaRPr sz="1800">
              <a:solidFill>
                <a:schemeClr val="dk1"/>
              </a:solidFill>
              <a:latin typeface="Calibri"/>
              <a:ea typeface="Calibri"/>
              <a:cs typeface="Calibri"/>
              <a:sym typeface="Calibri"/>
            </a:endParaRPr>
          </a:p>
        </p:txBody>
      </p:sp>
      <p:sp>
        <p:nvSpPr>
          <p:cNvPr id="185" name="Google Shape;185;p17"/>
          <p:cNvSpPr txBox="1"/>
          <p:nvPr/>
        </p:nvSpPr>
        <p:spPr>
          <a:xfrm>
            <a:off x="1588392" y="3028950"/>
            <a:ext cx="6206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 = a</a:t>
            </a:r>
            <a:endParaRPr sz="1800">
              <a:solidFill>
                <a:schemeClr val="dk1"/>
              </a:solidFill>
              <a:latin typeface="Calibri"/>
              <a:ea typeface="Calibri"/>
              <a:cs typeface="Calibri"/>
              <a:sym typeface="Calibri"/>
            </a:endParaRPr>
          </a:p>
        </p:txBody>
      </p:sp>
      <p:sp>
        <p:nvSpPr>
          <p:cNvPr id="186" name="Google Shape;186;p17"/>
          <p:cNvSpPr txBox="1"/>
          <p:nvPr/>
        </p:nvSpPr>
        <p:spPr>
          <a:xfrm>
            <a:off x="1759914" y="3703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sz="1800">
              <a:solidFill>
                <a:schemeClr val="dk1"/>
              </a:solidFill>
              <a:latin typeface="Calibri"/>
              <a:ea typeface="Calibri"/>
              <a:cs typeface="Calibri"/>
              <a:sym typeface="Calibri"/>
            </a:endParaRPr>
          </a:p>
        </p:txBody>
      </p:sp>
      <p:sp>
        <p:nvSpPr>
          <p:cNvPr id="187" name="Google Shape;187;p17"/>
          <p:cNvSpPr txBox="1"/>
          <p:nvPr/>
        </p:nvSpPr>
        <p:spPr>
          <a:xfrm>
            <a:off x="1821629" y="3333750"/>
            <a:ext cx="28886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a:t>
            </a:r>
            <a:endParaRPr sz="1800">
              <a:solidFill>
                <a:schemeClr val="dk1"/>
              </a:solidFill>
              <a:latin typeface="Calibri"/>
              <a:ea typeface="Calibri"/>
              <a:cs typeface="Calibri"/>
              <a:sym typeface="Calibri"/>
            </a:endParaRPr>
          </a:p>
        </p:txBody>
      </p:sp>
      <p:sp>
        <p:nvSpPr>
          <p:cNvPr id="188" name="Google Shape;188;p17"/>
          <p:cNvSpPr txBox="1"/>
          <p:nvPr/>
        </p:nvSpPr>
        <p:spPr>
          <a:xfrm>
            <a:off x="1592437" y="4072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12678</a:t>
            </a:r>
            <a:endParaRPr sz="1800">
              <a:solidFill>
                <a:schemeClr val="dk1"/>
              </a:solidFill>
              <a:latin typeface="Calibri"/>
              <a:ea typeface="Calibri"/>
              <a:cs typeface="Calibri"/>
              <a:sym typeface="Calibri"/>
            </a:endParaRPr>
          </a:p>
        </p:txBody>
      </p:sp>
      <p:cxnSp>
        <p:nvCxnSpPr>
          <p:cNvPr id="189" name="Google Shape;189;p17"/>
          <p:cNvCxnSpPr>
            <a:stCxn id="179" idx="1"/>
          </p:cNvCxnSpPr>
          <p:nvPr/>
        </p:nvCxnSpPr>
        <p:spPr>
          <a:xfrm flipH="1">
            <a:off x="2285992" y="1994416"/>
            <a:ext cx="1600800" cy="272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190" name="Google Shape;190;p17"/>
          <p:cNvCxnSpPr>
            <a:stCxn id="187" idx="3"/>
          </p:cNvCxnSpPr>
          <p:nvPr/>
        </p:nvCxnSpPr>
        <p:spPr>
          <a:xfrm flipH="1" rot="10800000">
            <a:off x="2110491" y="2495416"/>
            <a:ext cx="3528300" cy="10230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500"/>
                                        <p:tgtEl>
                                          <p:spTgt spid="1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500"/>
                                        <p:tgtEl>
                                          <p:spTgt spid="1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
                                        </p:tgtEl>
                                        <p:attrNameLst>
                                          <p:attrName>style.visibility</p:attrName>
                                        </p:attrNameLst>
                                      </p:cBhvr>
                                      <p:to>
                                        <p:strVal val="visible"/>
                                      </p:to>
                                    </p:set>
                                    <p:animEffect filter="fade" transition="in">
                                      <p:cBhvr>
                                        <p:cTn dur="500"/>
                                        <p:tgtEl>
                                          <p:spTgt spid="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gtEl>
                                        <p:attrNameLst>
                                          <p:attrName>style.visibility</p:attrName>
                                        </p:attrNameLst>
                                      </p:cBhvr>
                                      <p:to>
                                        <p:strVal val="visible"/>
                                      </p:to>
                                    </p:set>
                                    <p:animEffect filter="fade" transition="in">
                                      <p:cBhvr>
                                        <p:cTn dur="500"/>
                                        <p:tgtEl>
                                          <p:spTgt spid="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9"/>
                                        </p:tgtEl>
                                        <p:attrNameLst>
                                          <p:attrName>style.visibility</p:attrName>
                                        </p:attrNameLst>
                                      </p:cBhvr>
                                      <p:to>
                                        <p:strVal val="visible"/>
                                      </p:to>
                                    </p:set>
                                    <p:animEffect filter="fade" transition="in">
                                      <p:cBhvr>
                                        <p:cTn dur="500"/>
                                        <p:tgtEl>
                                          <p:spTgt spid="1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8"/>
                                        </p:tgtEl>
                                      </p:cBhvr>
                                    </p:animEffect>
                                    <p:set>
                                      <p:cBhvr>
                                        <p:cTn dur="1" fill="hold">
                                          <p:stCondLst>
                                            <p:cond delay="500"/>
                                          </p:stCondLst>
                                        </p:cTn>
                                        <p:tgtEl>
                                          <p:spTgt spid="178"/>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80"/>
                                        </p:tgtEl>
                                      </p:cBhvr>
                                    </p:animEffect>
                                    <p:set>
                                      <p:cBhvr>
                                        <p:cTn dur="1" fill="hold">
                                          <p:stCondLst>
                                            <p:cond delay="500"/>
                                          </p:stCondLst>
                                        </p:cTn>
                                        <p:tgtEl>
                                          <p:spTgt spid="18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4"/>
                                        </p:tgtEl>
                                      </p:cBhvr>
                                    </p:animEffect>
                                    <p:set>
                                      <p:cBhvr>
                                        <p:cTn dur="1" fill="hold">
                                          <p:stCondLst>
                                            <p:cond delay="500"/>
                                          </p:stCondLst>
                                        </p:cTn>
                                        <p:tgtEl>
                                          <p:spTgt spid="1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6"/>
                                        </p:tgtEl>
                                      </p:cBhvr>
                                    </p:animEffect>
                                    <p:set>
                                      <p:cBhvr>
                                        <p:cTn dur="1" fill="hold">
                                          <p:stCondLst>
                                            <p:cond delay="500"/>
                                          </p:stCondLst>
                                        </p:cTn>
                                        <p:tgtEl>
                                          <p:spTgt spid="18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88"/>
                                        </p:tgtEl>
                                      </p:cBhvr>
                                    </p:animEffect>
                                    <p:set>
                                      <p:cBhvr>
                                        <p:cTn dur="1" fill="hold">
                                          <p:stCondLst>
                                            <p:cond delay="500"/>
                                          </p:stCondLst>
                                        </p:cTn>
                                        <p:tgtEl>
                                          <p:spTgt spid="18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8"/>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Variable</a:t>
            </a:r>
            <a:endParaRPr/>
          </a:p>
        </p:txBody>
      </p:sp>
      <p:sp>
        <p:nvSpPr>
          <p:cNvPr id="196" name="Google Shape;196;p18"/>
          <p:cNvSpPr txBox="1"/>
          <p:nvPr>
            <p:ph idx="1" type="body"/>
          </p:nvPr>
        </p:nvSpPr>
        <p:spPr>
          <a:xfrm>
            <a:off x="457200" y="8191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In Python, a variable is considered as tag that is tied to some value. Python considers value as objects. </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t/>
            </a:r>
            <a:endParaRPr sz="2000"/>
          </a:p>
        </p:txBody>
      </p:sp>
      <p:sp>
        <p:nvSpPr>
          <p:cNvPr id="197" name="Google Shape;197;p18"/>
          <p:cNvSpPr txBox="1"/>
          <p:nvPr/>
        </p:nvSpPr>
        <p:spPr>
          <a:xfrm>
            <a:off x="17676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10</a:t>
            </a:r>
            <a:endParaRPr sz="1800">
              <a:solidFill>
                <a:schemeClr val="dk1"/>
              </a:solidFill>
              <a:latin typeface="Calibri"/>
              <a:ea typeface="Calibri"/>
              <a:cs typeface="Calibri"/>
              <a:sym typeface="Calibri"/>
            </a:endParaRPr>
          </a:p>
        </p:txBody>
      </p:sp>
      <p:sp>
        <p:nvSpPr>
          <p:cNvPr id="198" name="Google Shape;198;p18"/>
          <p:cNvSpPr txBox="1"/>
          <p:nvPr/>
        </p:nvSpPr>
        <p:spPr>
          <a:xfrm>
            <a:off x="1829392" y="1809750"/>
            <a:ext cx="2952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199" name="Google Shape;199;p18"/>
          <p:cNvSpPr txBox="1"/>
          <p:nvPr/>
        </p:nvSpPr>
        <p:spPr>
          <a:xfrm>
            <a:off x="16002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12114</a:t>
            </a:r>
            <a:endParaRPr sz="1800">
              <a:solidFill>
                <a:schemeClr val="dk1"/>
              </a:solidFill>
              <a:latin typeface="Calibri"/>
              <a:ea typeface="Calibri"/>
              <a:cs typeface="Calibri"/>
              <a:sym typeface="Calibri"/>
            </a:endParaRPr>
          </a:p>
        </p:txBody>
      </p:sp>
      <p:sp>
        <p:nvSpPr>
          <p:cNvPr id="200" name="Google Shape;200;p18"/>
          <p:cNvSpPr txBox="1"/>
          <p:nvPr/>
        </p:nvSpPr>
        <p:spPr>
          <a:xfrm>
            <a:off x="1607963" y="1504950"/>
            <a:ext cx="75052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10</a:t>
            </a:r>
            <a:endParaRPr sz="1800">
              <a:solidFill>
                <a:schemeClr val="dk1"/>
              </a:solidFill>
              <a:latin typeface="Calibri"/>
              <a:ea typeface="Calibri"/>
              <a:cs typeface="Calibri"/>
              <a:sym typeface="Calibri"/>
            </a:endParaRPr>
          </a:p>
        </p:txBody>
      </p:sp>
      <p:sp>
        <p:nvSpPr>
          <p:cNvPr id="201" name="Google Shape;201;p18"/>
          <p:cNvSpPr txBox="1"/>
          <p:nvPr/>
        </p:nvSpPr>
        <p:spPr>
          <a:xfrm>
            <a:off x="3653555" y="1504950"/>
            <a:ext cx="76174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20</a:t>
            </a:r>
            <a:endParaRPr sz="1800">
              <a:solidFill>
                <a:schemeClr val="dk1"/>
              </a:solidFill>
              <a:latin typeface="Calibri"/>
              <a:ea typeface="Calibri"/>
              <a:cs typeface="Calibri"/>
              <a:sym typeface="Calibri"/>
            </a:endParaRPr>
          </a:p>
        </p:txBody>
      </p:sp>
      <p:sp>
        <p:nvSpPr>
          <p:cNvPr id="202" name="Google Shape;202;p18"/>
          <p:cNvSpPr txBox="1"/>
          <p:nvPr/>
        </p:nvSpPr>
        <p:spPr>
          <a:xfrm>
            <a:off x="3825077" y="2179082"/>
            <a:ext cx="418704" cy="369332"/>
          </a:xfrm>
          <a:prstGeom prst="rect">
            <a:avLst/>
          </a:prstGeom>
          <a:solidFill>
            <a:schemeClr val="lt1"/>
          </a:solidFill>
          <a:ln cap="flat" cmpd="sng" w="25400">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20</a:t>
            </a:r>
            <a:endParaRPr sz="1800">
              <a:solidFill>
                <a:schemeClr val="dk1"/>
              </a:solidFill>
              <a:latin typeface="Calibri"/>
              <a:ea typeface="Calibri"/>
              <a:cs typeface="Calibri"/>
              <a:sym typeface="Calibri"/>
            </a:endParaRPr>
          </a:p>
        </p:txBody>
      </p:sp>
      <p:sp>
        <p:nvSpPr>
          <p:cNvPr id="203" name="Google Shape;203;p18"/>
          <p:cNvSpPr txBox="1"/>
          <p:nvPr/>
        </p:nvSpPr>
        <p:spPr>
          <a:xfrm>
            <a:off x="3886792" y="1809750"/>
            <a:ext cx="306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a:t>
            </a:r>
            <a:endParaRPr sz="1800">
              <a:solidFill>
                <a:schemeClr val="dk1"/>
              </a:solidFill>
              <a:latin typeface="Calibri"/>
              <a:ea typeface="Calibri"/>
              <a:cs typeface="Calibri"/>
              <a:sym typeface="Calibri"/>
            </a:endParaRPr>
          </a:p>
        </p:txBody>
      </p:sp>
      <p:sp>
        <p:nvSpPr>
          <p:cNvPr id="204" name="Google Shape;204;p18"/>
          <p:cNvSpPr txBox="1"/>
          <p:nvPr/>
        </p:nvSpPr>
        <p:spPr>
          <a:xfrm>
            <a:off x="3657600" y="2548414"/>
            <a:ext cx="76976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12115</a:t>
            </a:r>
            <a:endParaRPr sz="1800">
              <a:solidFill>
                <a:schemeClr val="dk1"/>
              </a:solidFill>
              <a:latin typeface="Calibri"/>
              <a:ea typeface="Calibri"/>
              <a:cs typeface="Calibri"/>
              <a:sym typeface="Calibri"/>
            </a:endParaRPr>
          </a:p>
        </p:txBody>
      </p:sp>
      <p:sp>
        <p:nvSpPr>
          <p:cNvPr id="205" name="Google Shape;205;p18"/>
          <p:cNvSpPr txBox="1"/>
          <p:nvPr/>
        </p:nvSpPr>
        <p:spPr>
          <a:xfrm>
            <a:off x="648726" y="3560861"/>
            <a:ext cx="3474028" cy="52322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Since value 10 becomes unreferenced object, </a:t>
            </a:r>
            <a:endParaRPr/>
          </a:p>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it is removed by garbage collector.</a:t>
            </a:r>
            <a:endParaRPr sz="1400">
              <a:solidFill>
                <a:schemeClr val="dk1"/>
              </a:solidFill>
              <a:latin typeface="Times New Roman"/>
              <a:ea typeface="Times New Roman"/>
              <a:cs typeface="Times New Roman"/>
              <a:sym typeface="Times New Roman"/>
            </a:endParaRPr>
          </a:p>
        </p:txBody>
      </p:sp>
      <p:cxnSp>
        <p:nvCxnSpPr>
          <p:cNvPr id="206" name="Google Shape;206;p18"/>
          <p:cNvCxnSpPr>
            <a:endCxn id="199" idx="1"/>
          </p:cNvCxnSpPr>
          <p:nvPr/>
        </p:nvCxnSpPr>
        <p:spPr>
          <a:xfrm flipH="1" rot="10800000">
            <a:off x="990600" y="2733080"/>
            <a:ext cx="609600" cy="8277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500"/>
                                        <p:tgtEl>
                                          <p:spTgt spid="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8"/>
                                        </p:tgtEl>
                                      </p:cBhvr>
                                    </p:animEffect>
                                    <p:set>
                                      <p:cBhvr>
                                        <p:cTn dur="1" fill="hold">
                                          <p:stCondLst>
                                            <p:cond delay="500"/>
                                          </p:stCondLst>
                                        </p:cTn>
                                        <p:tgtEl>
                                          <p:spTgt spid="19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500"/>
                                        <p:tgtEl>
                                          <p:spTgt spid="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5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9"/>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Rules </a:t>
            </a:r>
            <a:endParaRPr/>
          </a:p>
        </p:txBody>
      </p:sp>
      <p:sp>
        <p:nvSpPr>
          <p:cNvPr id="212" name="Google Shape;212;p19"/>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fontScale="62500" lnSpcReduction="20000"/>
          </a:bodyPr>
          <a:lstStyle/>
          <a:p>
            <a:pPr indent="-285750" lvl="0" marL="285750" rtl="0" algn="l">
              <a:spcBef>
                <a:spcPts val="0"/>
              </a:spcBef>
              <a:spcAft>
                <a:spcPts val="0"/>
              </a:spcAft>
              <a:buClr>
                <a:schemeClr val="dk1"/>
              </a:buClr>
              <a:buSzPct val="100000"/>
              <a:buChar char="•"/>
            </a:pPr>
            <a:r>
              <a:rPr lang="en-US">
                <a:latin typeface="Times New Roman"/>
                <a:ea typeface="Times New Roman"/>
                <a:cs typeface="Times New Roman"/>
                <a:sym typeface="Times New Roman"/>
              </a:rPr>
              <a:t>Every variable name should start with alphabets or underscore (_).</a:t>
            </a:r>
            <a:endParaRPr/>
          </a:p>
          <a:p>
            <a:pPr indent="-215900" lvl="0" marL="342900" rtl="0" algn="l">
              <a:spcBef>
                <a:spcPts val="400"/>
              </a:spcBef>
              <a:spcAft>
                <a:spcPts val="0"/>
              </a:spcAft>
              <a:buClr>
                <a:schemeClr val="dk1"/>
              </a:buClr>
              <a:buSzPct val="100000"/>
              <a:buNone/>
            </a:pPr>
            <a:r>
              <a:t/>
            </a:r>
            <a:endParaRPr>
              <a:latin typeface="Times New Roman"/>
              <a:ea typeface="Times New Roman"/>
              <a:cs typeface="Times New Roman"/>
              <a:sym typeface="Times New Roman"/>
            </a:endParaRPr>
          </a:p>
          <a:p>
            <a:pPr indent="-285750" lvl="0" marL="285750" rtl="0" algn="l">
              <a:spcBef>
                <a:spcPts val="400"/>
              </a:spcBef>
              <a:spcAft>
                <a:spcPts val="0"/>
              </a:spcAft>
              <a:buClr>
                <a:schemeClr val="dk1"/>
              </a:buClr>
              <a:buSzPct val="100000"/>
              <a:buChar char="•"/>
            </a:pPr>
            <a:r>
              <a:rPr lang="en-US">
                <a:latin typeface="Times New Roman"/>
                <a:ea typeface="Times New Roman"/>
                <a:cs typeface="Times New Roman"/>
                <a:sym typeface="Times New Roman"/>
              </a:rPr>
              <a:t>No spaces are allowed in variable declaration.</a:t>
            </a:r>
            <a:endParaRPr/>
          </a:p>
          <a:p>
            <a:pPr indent="-215900" lvl="0" marL="342900" rtl="0" algn="l">
              <a:spcBef>
                <a:spcPts val="400"/>
              </a:spcBef>
              <a:spcAft>
                <a:spcPts val="0"/>
              </a:spcAft>
              <a:buClr>
                <a:schemeClr val="dk1"/>
              </a:buClr>
              <a:buSzPct val="100000"/>
              <a:buNone/>
            </a:pPr>
            <a:r>
              <a:t/>
            </a:r>
            <a:endParaRPr>
              <a:latin typeface="Times New Roman"/>
              <a:ea typeface="Times New Roman"/>
              <a:cs typeface="Times New Roman"/>
              <a:sym typeface="Times New Roman"/>
            </a:endParaRPr>
          </a:p>
          <a:p>
            <a:pPr indent="-285750" lvl="0" marL="285750" rtl="0" algn="l">
              <a:spcBef>
                <a:spcPts val="400"/>
              </a:spcBef>
              <a:spcAft>
                <a:spcPts val="0"/>
              </a:spcAft>
              <a:buClr>
                <a:schemeClr val="dk1"/>
              </a:buClr>
              <a:buSzPct val="100000"/>
              <a:buChar char="•"/>
            </a:pPr>
            <a:r>
              <a:rPr lang="en-US">
                <a:latin typeface="Times New Roman"/>
                <a:ea typeface="Times New Roman"/>
                <a:cs typeface="Times New Roman"/>
                <a:sym typeface="Times New Roman"/>
              </a:rPr>
              <a:t>Except underscore ( _ ) no other special symbol are allowed in the middle of the variable declaration</a:t>
            </a:r>
            <a:endParaRPr/>
          </a:p>
          <a:p>
            <a:pPr indent="-215900" lvl="0" marL="342900" rtl="0" algn="l">
              <a:spcBef>
                <a:spcPts val="400"/>
              </a:spcBef>
              <a:spcAft>
                <a:spcPts val="0"/>
              </a:spcAft>
              <a:buClr>
                <a:schemeClr val="dk1"/>
              </a:buClr>
              <a:buSzPct val="100000"/>
              <a:buNone/>
            </a:pPr>
            <a:r>
              <a:t/>
            </a:r>
            <a:endParaRPr>
              <a:latin typeface="Times New Roman"/>
              <a:ea typeface="Times New Roman"/>
              <a:cs typeface="Times New Roman"/>
              <a:sym typeface="Times New Roman"/>
            </a:endParaRPr>
          </a:p>
          <a:p>
            <a:pPr indent="-285750" lvl="0" marL="285750" rtl="0" algn="l">
              <a:spcBef>
                <a:spcPts val="400"/>
              </a:spcBef>
              <a:spcAft>
                <a:spcPts val="0"/>
              </a:spcAft>
              <a:buClr>
                <a:schemeClr val="dk1"/>
              </a:buClr>
              <a:buSzPct val="100000"/>
              <a:buChar char="•"/>
            </a:pPr>
            <a:r>
              <a:rPr lang="en-US">
                <a:latin typeface="Times New Roman"/>
                <a:ea typeface="Times New Roman"/>
                <a:cs typeface="Times New Roman"/>
                <a:sym typeface="Times New Roman"/>
              </a:rPr>
              <a:t>A variable is written with a combination of letters, numbers and special characters _ (underscore)</a:t>
            </a:r>
            <a:endParaRPr/>
          </a:p>
          <a:p>
            <a:pPr indent="-215900" lvl="0" marL="342900" rtl="0" algn="l">
              <a:spcBef>
                <a:spcPts val="400"/>
              </a:spcBef>
              <a:spcAft>
                <a:spcPts val="0"/>
              </a:spcAft>
              <a:buClr>
                <a:schemeClr val="dk1"/>
              </a:buClr>
              <a:buSzPct val="100000"/>
              <a:buNone/>
            </a:pPr>
            <a:r>
              <a:t/>
            </a:r>
            <a:endParaRPr>
              <a:latin typeface="Times New Roman"/>
              <a:ea typeface="Times New Roman"/>
              <a:cs typeface="Times New Roman"/>
              <a:sym typeface="Times New Roman"/>
            </a:endParaRPr>
          </a:p>
          <a:p>
            <a:pPr indent="-285750" lvl="0" marL="285750" rtl="0" algn="l">
              <a:spcBef>
                <a:spcPts val="400"/>
              </a:spcBef>
              <a:spcAft>
                <a:spcPts val="0"/>
              </a:spcAft>
              <a:buClr>
                <a:schemeClr val="dk1"/>
              </a:buClr>
              <a:buSzPct val="100000"/>
              <a:buChar char="•"/>
            </a:pPr>
            <a:r>
              <a:rPr lang="en-US">
                <a:latin typeface="Times New Roman"/>
                <a:ea typeface="Times New Roman"/>
                <a:cs typeface="Times New Roman"/>
                <a:sym typeface="Times New Roman"/>
              </a:rPr>
              <a:t>No Reserved keyword</a:t>
            </a:r>
            <a:endParaRPr/>
          </a:p>
          <a:p>
            <a:pPr indent="-215900" lvl="0" marL="342900" rtl="0" algn="l">
              <a:spcBef>
                <a:spcPts val="400"/>
              </a:spcBef>
              <a:spcAft>
                <a:spcPts val="0"/>
              </a:spcAft>
              <a:buClr>
                <a:schemeClr val="dk1"/>
              </a:buClr>
              <a:buSzPct val="10000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0" st="0"/>
                                            </p:txEl>
                                          </p:spTgt>
                                        </p:tgtEl>
                                        <p:attrNameLst>
                                          <p:attrName>style.visibility</p:attrName>
                                        </p:attrNameLst>
                                      </p:cBhvr>
                                      <p:to>
                                        <p:strVal val="visible"/>
                                      </p:to>
                                    </p:set>
                                    <p:animEffect filter="fade" transition="in">
                                      <p:cBhvr>
                                        <p:cTn dur="500"/>
                                        <p:tgtEl>
                                          <p:spTgt spid="21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1" st="1"/>
                                            </p:txEl>
                                          </p:spTgt>
                                        </p:tgtEl>
                                        <p:attrNameLst>
                                          <p:attrName>style.visibility</p:attrName>
                                        </p:attrNameLst>
                                      </p:cBhvr>
                                      <p:to>
                                        <p:strVal val="visible"/>
                                      </p:to>
                                    </p:set>
                                    <p:animEffect filter="fade" transition="in">
                                      <p:cBhvr>
                                        <p:cTn dur="500"/>
                                        <p:tgtEl>
                                          <p:spTgt spid="21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2" st="2"/>
                                            </p:txEl>
                                          </p:spTgt>
                                        </p:tgtEl>
                                        <p:attrNameLst>
                                          <p:attrName>style.visibility</p:attrName>
                                        </p:attrNameLst>
                                      </p:cBhvr>
                                      <p:to>
                                        <p:strVal val="visible"/>
                                      </p:to>
                                    </p:set>
                                    <p:animEffect filter="fade" transition="in">
                                      <p:cBhvr>
                                        <p:cTn dur="500"/>
                                        <p:tgtEl>
                                          <p:spTgt spid="21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3" st="3"/>
                                            </p:txEl>
                                          </p:spTgt>
                                        </p:tgtEl>
                                        <p:attrNameLst>
                                          <p:attrName>style.visibility</p:attrName>
                                        </p:attrNameLst>
                                      </p:cBhvr>
                                      <p:to>
                                        <p:strVal val="visible"/>
                                      </p:to>
                                    </p:set>
                                    <p:animEffect filter="fade" transition="in">
                                      <p:cBhvr>
                                        <p:cTn dur="500"/>
                                        <p:tgtEl>
                                          <p:spTgt spid="21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4" st="4"/>
                                            </p:txEl>
                                          </p:spTgt>
                                        </p:tgtEl>
                                        <p:attrNameLst>
                                          <p:attrName>style.visibility</p:attrName>
                                        </p:attrNameLst>
                                      </p:cBhvr>
                                      <p:to>
                                        <p:strVal val="visible"/>
                                      </p:to>
                                    </p:set>
                                    <p:animEffect filter="fade" transition="in">
                                      <p:cBhvr>
                                        <p:cTn dur="500"/>
                                        <p:tgtEl>
                                          <p:spTgt spid="21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5" st="5"/>
                                            </p:txEl>
                                          </p:spTgt>
                                        </p:tgtEl>
                                        <p:attrNameLst>
                                          <p:attrName>style.visibility</p:attrName>
                                        </p:attrNameLst>
                                      </p:cBhvr>
                                      <p:to>
                                        <p:strVal val="visible"/>
                                      </p:to>
                                    </p:set>
                                    <p:animEffect filter="fade" transition="in">
                                      <p:cBhvr>
                                        <p:cTn dur="500"/>
                                        <p:tgtEl>
                                          <p:spTgt spid="21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6" st="6"/>
                                            </p:txEl>
                                          </p:spTgt>
                                        </p:tgtEl>
                                        <p:attrNameLst>
                                          <p:attrName>style.visibility</p:attrName>
                                        </p:attrNameLst>
                                      </p:cBhvr>
                                      <p:to>
                                        <p:strVal val="visible"/>
                                      </p:to>
                                    </p:set>
                                    <p:animEffect filter="fade" transition="in">
                                      <p:cBhvr>
                                        <p:cTn dur="500"/>
                                        <p:tgtEl>
                                          <p:spTgt spid="21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7" st="7"/>
                                            </p:txEl>
                                          </p:spTgt>
                                        </p:tgtEl>
                                        <p:attrNameLst>
                                          <p:attrName>style.visibility</p:attrName>
                                        </p:attrNameLst>
                                      </p:cBhvr>
                                      <p:to>
                                        <p:strVal val="visible"/>
                                      </p:to>
                                    </p:set>
                                    <p:animEffect filter="fade" transition="in">
                                      <p:cBhvr>
                                        <p:cTn dur="500"/>
                                        <p:tgtEl>
                                          <p:spTgt spid="21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8" st="8"/>
                                            </p:txEl>
                                          </p:spTgt>
                                        </p:tgtEl>
                                        <p:attrNameLst>
                                          <p:attrName>style.visibility</p:attrName>
                                        </p:attrNameLst>
                                      </p:cBhvr>
                                      <p:to>
                                        <p:strVal val="visible"/>
                                      </p:to>
                                    </p:set>
                                    <p:animEffect filter="fade" transition="in">
                                      <p:cBhvr>
                                        <p:cTn dur="500"/>
                                        <p:tgtEl>
                                          <p:spTgt spid="21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xEl>
                                              <p:pRg end="9" st="9"/>
                                            </p:txEl>
                                          </p:spTgt>
                                        </p:tgtEl>
                                        <p:attrNameLst>
                                          <p:attrName>style.visibility</p:attrName>
                                        </p:attrNameLst>
                                      </p:cBhvr>
                                      <p:to>
                                        <p:strVal val="visible"/>
                                      </p:to>
                                    </p:set>
                                    <p:animEffect filter="fade" transition="in">
                                      <p:cBhvr>
                                        <p:cTn dur="500"/>
                                        <p:tgtEl>
                                          <p:spTgt spid="21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Times New Roman"/>
              <a:buNone/>
            </a:pPr>
            <a:r>
              <a:rPr b="1" lang="en-US" sz="3600" u="sng">
                <a:latin typeface="Times New Roman"/>
                <a:ea typeface="Times New Roman"/>
                <a:cs typeface="Times New Roman"/>
                <a:sym typeface="Times New Roman"/>
              </a:rPr>
              <a:t>Examples</a:t>
            </a:r>
            <a:endParaRPr b="1" sz="3600" u="sng">
              <a:latin typeface="Times New Roman"/>
              <a:ea typeface="Times New Roman"/>
              <a:cs typeface="Times New Roman"/>
              <a:sym typeface="Times New Roman"/>
            </a:endParaRPr>
          </a:p>
        </p:txBody>
      </p:sp>
      <p:sp>
        <p:nvSpPr>
          <p:cNvPr id="218" name="Google Shape;218;p20"/>
          <p:cNvSpPr txBox="1"/>
          <p:nvPr>
            <p:ph idx="1" type="body"/>
          </p:nvPr>
        </p:nvSpPr>
        <p:spPr>
          <a:xfrm>
            <a:off x="1295400" y="1158478"/>
            <a:ext cx="2667000" cy="3394472"/>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2400"/>
              <a:buNone/>
            </a:pPr>
            <a:r>
              <a:rPr b="1" lang="en-US" sz="2400" u="sng">
                <a:latin typeface="Times New Roman"/>
                <a:ea typeface="Times New Roman"/>
                <a:cs typeface="Times New Roman"/>
                <a:sym typeface="Times New Roman"/>
              </a:rPr>
              <a:t>Do</a:t>
            </a:r>
            <a:endParaRPr b="1" sz="2000" u="sng">
              <a:latin typeface="Times New Roman"/>
              <a:ea typeface="Times New Roman"/>
              <a:cs typeface="Times New Roman"/>
              <a:sym typeface="Times New Roman"/>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A</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a</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name</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name15</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_city</a:t>
            </a:r>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Full_name</a:t>
            </a:r>
            <a:endParaRPr sz="1800">
              <a:latin typeface="Times New Roman"/>
              <a:ea typeface="Times New Roman"/>
              <a:cs typeface="Times New Roman"/>
              <a:sym typeface="Times New Roman"/>
            </a:endParaRPr>
          </a:p>
          <a:p>
            <a:pPr indent="-342900" lvl="0" marL="342900" rtl="0" algn="l">
              <a:spcBef>
                <a:spcPts val="360"/>
              </a:spcBef>
              <a:spcAft>
                <a:spcPts val="0"/>
              </a:spcAft>
              <a:buClr>
                <a:schemeClr val="dk1"/>
              </a:buClr>
              <a:buSzPts val="1800"/>
              <a:buChar char="•"/>
            </a:pPr>
            <a:r>
              <a:rPr lang="en-US" sz="1800">
                <a:latin typeface="Times New Roman"/>
                <a:ea typeface="Times New Roman"/>
                <a:cs typeface="Times New Roman"/>
                <a:sym typeface="Times New Roman"/>
              </a:rPr>
              <a:t>FullName</a:t>
            </a:r>
            <a:endParaRPr sz="1800">
              <a:latin typeface="Times New Roman"/>
              <a:ea typeface="Times New Roman"/>
              <a:cs typeface="Times New Roman"/>
              <a:sym typeface="Times New Roman"/>
            </a:endParaRPr>
          </a:p>
        </p:txBody>
      </p:sp>
      <p:sp>
        <p:nvSpPr>
          <p:cNvPr id="219" name="Google Shape;219;p20"/>
          <p:cNvSpPr txBox="1"/>
          <p:nvPr/>
        </p:nvSpPr>
        <p:spPr>
          <a:xfrm>
            <a:off x="4953000" y="1158478"/>
            <a:ext cx="2667000" cy="3394472"/>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rgbClr val="FF0000"/>
              </a:buClr>
              <a:buSzPts val="2400"/>
              <a:buFont typeface="Arial"/>
              <a:buNone/>
            </a:pPr>
            <a:r>
              <a:rPr b="1" lang="en-US" sz="2400" u="sng">
                <a:solidFill>
                  <a:srgbClr val="FF0000"/>
                </a:solidFill>
                <a:latin typeface="Times New Roman"/>
                <a:ea typeface="Times New Roman"/>
                <a:cs typeface="Times New Roman"/>
                <a:sym typeface="Times New Roman"/>
              </a:rPr>
              <a:t>Don’t</a:t>
            </a:r>
            <a:endParaRPr/>
          </a:p>
          <a:p>
            <a:pPr indent="-342900" lvl="0" marL="342900" marR="0" rtl="0" algn="l">
              <a:spcBef>
                <a:spcPts val="36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and</a:t>
            </a:r>
            <a:endParaRPr/>
          </a:p>
          <a:p>
            <a:pPr indent="-342900" lvl="0" marL="342900" marR="0" rtl="0" algn="l">
              <a:spcBef>
                <a:spcPts val="36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15name</a:t>
            </a:r>
            <a:endParaRPr/>
          </a:p>
          <a:p>
            <a:pPr indent="-342900" lvl="0" marL="342900" marR="0" rtl="0" algn="l">
              <a:spcBef>
                <a:spcPts val="36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$city</a:t>
            </a:r>
            <a:endParaRPr/>
          </a:p>
          <a:p>
            <a:pPr indent="-342900" lvl="0" marL="342900" marR="0" rtl="0" algn="l">
              <a:spcBef>
                <a:spcPts val="36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Full$Name</a:t>
            </a:r>
            <a:endParaRPr sz="1800">
              <a:solidFill>
                <a:srgbClr val="FF0000"/>
              </a:solidFill>
              <a:latin typeface="Times New Roman"/>
              <a:ea typeface="Times New Roman"/>
              <a:cs typeface="Times New Roman"/>
              <a:sym typeface="Times New Roman"/>
            </a:endParaRPr>
          </a:p>
          <a:p>
            <a:pPr indent="-342900" lvl="0" marL="342900" marR="0" rtl="0" algn="l">
              <a:spcBef>
                <a:spcPts val="360"/>
              </a:spcBef>
              <a:spcAft>
                <a:spcPts val="0"/>
              </a:spcAft>
              <a:buClr>
                <a:srgbClr val="FF0000"/>
              </a:buClr>
              <a:buSzPts val="1800"/>
              <a:buFont typeface="Arial"/>
              <a:buChar char="•"/>
            </a:pPr>
            <a:r>
              <a:rPr lang="en-US" sz="1800">
                <a:solidFill>
                  <a:srgbClr val="FF0000"/>
                </a:solidFill>
                <a:latin typeface="Times New Roman"/>
                <a:ea typeface="Times New Roman"/>
                <a:cs typeface="Times New Roman"/>
                <a:sym typeface="Times New Roman"/>
              </a:rPr>
              <a:t>Full Name</a:t>
            </a:r>
            <a:endParaRPr/>
          </a:p>
          <a:p>
            <a:pPr indent="-228600" lvl="0" marL="342900" marR="0" rtl="0" algn="l">
              <a:spcBef>
                <a:spcPts val="360"/>
              </a:spcBef>
              <a:spcAft>
                <a:spcPts val="0"/>
              </a:spcAft>
              <a:buClr>
                <a:schemeClr val="dk1"/>
              </a:buClr>
              <a:buSzPts val="1800"/>
              <a:buFont typeface="Arial"/>
              <a:buNone/>
            </a:pPr>
            <a:r>
              <a:t/>
            </a:r>
            <a:endParaRPr sz="1800">
              <a:solidFill>
                <a:srgbClr val="FF0000"/>
              </a:solidFill>
              <a:latin typeface="Times New Roman"/>
              <a:ea typeface="Times New Roman"/>
              <a:cs typeface="Times New Roman"/>
              <a:sym typeface="Times New Roman"/>
            </a:endParaRPr>
          </a:p>
          <a:p>
            <a:pPr indent="-228600" lvl="0" marL="342900" marR="0" rtl="0" algn="l">
              <a:spcBef>
                <a:spcPts val="360"/>
              </a:spcBef>
              <a:spcAft>
                <a:spcPts val="0"/>
              </a:spcAft>
              <a:buClr>
                <a:schemeClr val="dk1"/>
              </a:buClr>
              <a:buSzPts val="1800"/>
              <a:buFont typeface="Arial"/>
              <a:buNone/>
            </a:pPr>
            <a:r>
              <a:t/>
            </a:r>
            <a:endParaRPr sz="18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5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500"/>
                                        <p:tgtEl>
                                          <p:spTgt spid="2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animEffect filter="fade" transition="in">
                                      <p:cBhvr>
                                        <p:cTn dur="500"/>
                                        <p:tgtEl>
                                          <p:spTgt spid="2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5" st="5"/>
                                            </p:txEl>
                                          </p:spTgt>
                                        </p:tgtEl>
                                        <p:attrNameLst>
                                          <p:attrName>style.visibility</p:attrName>
                                        </p:attrNameLst>
                                      </p:cBhvr>
                                      <p:to>
                                        <p:strVal val="visible"/>
                                      </p:to>
                                    </p:set>
                                    <p:animEffect filter="fade" transition="in">
                                      <p:cBhvr>
                                        <p:cTn dur="500"/>
                                        <p:tgtEl>
                                          <p:spTgt spid="2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6" st="6"/>
                                            </p:txEl>
                                          </p:spTgt>
                                        </p:tgtEl>
                                        <p:attrNameLst>
                                          <p:attrName>style.visibility</p:attrName>
                                        </p:attrNameLst>
                                      </p:cBhvr>
                                      <p:to>
                                        <p:strVal val="visible"/>
                                      </p:to>
                                    </p:set>
                                    <p:animEffect filter="fade" transition="in">
                                      <p:cBhvr>
                                        <p:cTn dur="500"/>
                                        <p:tgtEl>
                                          <p:spTgt spid="21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7" st="7"/>
                                            </p:txEl>
                                          </p:spTgt>
                                        </p:tgtEl>
                                        <p:attrNameLst>
                                          <p:attrName>style.visibility</p:attrName>
                                        </p:attrNameLst>
                                      </p:cBhvr>
                                      <p:to>
                                        <p:strVal val="visible"/>
                                      </p:to>
                                    </p:set>
                                    <p:animEffect filter="fade" transition="in">
                                      <p:cBhvr>
                                        <p:cTn dur="500"/>
                                        <p:tgtEl>
                                          <p:spTgt spid="21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0" st="0"/>
                                            </p:txEl>
                                          </p:spTgt>
                                        </p:tgtEl>
                                        <p:attrNameLst>
                                          <p:attrName>style.visibility</p:attrName>
                                        </p:attrNameLst>
                                      </p:cBhvr>
                                      <p:to>
                                        <p:strVal val="visible"/>
                                      </p:to>
                                    </p:set>
                                    <p:animEffect filter="fade" transition="in">
                                      <p:cBhvr>
                                        <p:cTn dur="500"/>
                                        <p:tgtEl>
                                          <p:spTgt spid="2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1" st="1"/>
                                            </p:txEl>
                                          </p:spTgt>
                                        </p:tgtEl>
                                        <p:attrNameLst>
                                          <p:attrName>style.visibility</p:attrName>
                                        </p:attrNameLst>
                                      </p:cBhvr>
                                      <p:to>
                                        <p:strVal val="visible"/>
                                      </p:to>
                                    </p:set>
                                    <p:animEffect filter="fade" transition="in">
                                      <p:cBhvr>
                                        <p:cTn dur="500"/>
                                        <p:tgtEl>
                                          <p:spTgt spid="2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2" st="2"/>
                                            </p:txEl>
                                          </p:spTgt>
                                        </p:tgtEl>
                                        <p:attrNameLst>
                                          <p:attrName>style.visibility</p:attrName>
                                        </p:attrNameLst>
                                      </p:cBhvr>
                                      <p:to>
                                        <p:strVal val="visible"/>
                                      </p:to>
                                    </p:set>
                                    <p:animEffect filter="fade" transition="in">
                                      <p:cBhvr>
                                        <p:cTn dur="500"/>
                                        <p:tgtEl>
                                          <p:spTgt spid="2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3" st="3"/>
                                            </p:txEl>
                                          </p:spTgt>
                                        </p:tgtEl>
                                        <p:attrNameLst>
                                          <p:attrName>style.visibility</p:attrName>
                                        </p:attrNameLst>
                                      </p:cBhvr>
                                      <p:to>
                                        <p:strVal val="visible"/>
                                      </p:to>
                                    </p:set>
                                    <p:animEffect filter="fade" transition="in">
                                      <p:cBhvr>
                                        <p:cTn dur="500"/>
                                        <p:tgtEl>
                                          <p:spTgt spid="2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4" st="4"/>
                                            </p:txEl>
                                          </p:spTgt>
                                        </p:tgtEl>
                                        <p:attrNameLst>
                                          <p:attrName>style.visibility</p:attrName>
                                        </p:attrNameLst>
                                      </p:cBhvr>
                                      <p:to>
                                        <p:strVal val="visible"/>
                                      </p:to>
                                    </p:set>
                                    <p:animEffect filter="fade" transition="in">
                                      <p:cBhvr>
                                        <p:cTn dur="500"/>
                                        <p:tgtEl>
                                          <p:spTgt spid="2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5" st="5"/>
                                            </p:txEl>
                                          </p:spTgt>
                                        </p:tgtEl>
                                        <p:attrNameLst>
                                          <p:attrName>style.visibility</p:attrName>
                                        </p:attrNameLst>
                                      </p:cBhvr>
                                      <p:to>
                                        <p:strVal val="visible"/>
                                      </p:to>
                                    </p:set>
                                    <p:animEffect filter="fade" transition="in">
                                      <p:cBhvr>
                                        <p:cTn dur="500"/>
                                        <p:tgtEl>
                                          <p:spTgt spid="2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6" st="6"/>
                                            </p:txEl>
                                          </p:spTgt>
                                        </p:tgtEl>
                                        <p:attrNameLst>
                                          <p:attrName>style.visibility</p:attrName>
                                        </p:attrNameLst>
                                      </p:cBhvr>
                                      <p:to>
                                        <p:strVal val="visible"/>
                                      </p:to>
                                    </p:set>
                                    <p:animEffect filter="fade" transition="in">
                                      <p:cBhvr>
                                        <p:cTn dur="500"/>
                                        <p:tgtEl>
                                          <p:spTgt spid="2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xEl>
                                              <p:pRg end="7" st="7"/>
                                            </p:txEl>
                                          </p:spTgt>
                                        </p:tgtEl>
                                        <p:attrNameLst>
                                          <p:attrName>style.visibility</p:attrName>
                                        </p:attrNameLst>
                                      </p:cBhvr>
                                      <p:to>
                                        <p:strVal val="visible"/>
                                      </p:to>
                                    </p:set>
                                    <p:animEffect filter="fade" transition="in">
                                      <p:cBhvr>
                                        <p:cTn dur="500"/>
                                        <p:tgtEl>
                                          <p:spTgt spid="21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DataType</a:t>
            </a:r>
            <a:endParaRPr b="1" sz="4000" u="sng">
              <a:latin typeface="Times New Roman"/>
              <a:ea typeface="Times New Roman"/>
              <a:cs typeface="Times New Roman"/>
              <a:sym typeface="Times New Roman"/>
            </a:endParaRPr>
          </a:p>
        </p:txBody>
      </p:sp>
      <p:sp>
        <p:nvSpPr>
          <p:cNvPr id="225" name="Google Shape;225;p21"/>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Datatype represents the type of data stored into a variable or memory.</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Type of Data type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Built-in Data type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User Defined Data type</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0" st="0"/>
                                            </p:txEl>
                                          </p:spTgt>
                                        </p:tgtEl>
                                        <p:attrNameLst>
                                          <p:attrName>style.visibility</p:attrName>
                                        </p:attrNameLst>
                                      </p:cBhvr>
                                      <p:to>
                                        <p:strVal val="visible"/>
                                      </p:to>
                                    </p:set>
                                    <p:animEffect filter="fade" transition="in">
                                      <p:cBhvr>
                                        <p:cTn dur="500"/>
                                        <p:tgtEl>
                                          <p:spTgt spid="22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1" st="1"/>
                                            </p:txEl>
                                          </p:spTgt>
                                        </p:tgtEl>
                                        <p:attrNameLst>
                                          <p:attrName>style.visibility</p:attrName>
                                        </p:attrNameLst>
                                      </p:cBhvr>
                                      <p:to>
                                        <p:strVal val="visible"/>
                                      </p:to>
                                    </p:set>
                                    <p:animEffect filter="fade" transition="in">
                                      <p:cBhvr>
                                        <p:cTn dur="500"/>
                                        <p:tgtEl>
                                          <p:spTgt spid="22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2" st="2"/>
                                            </p:txEl>
                                          </p:spTgt>
                                        </p:tgtEl>
                                        <p:attrNameLst>
                                          <p:attrName>style.visibility</p:attrName>
                                        </p:attrNameLst>
                                      </p:cBhvr>
                                      <p:to>
                                        <p:strVal val="visible"/>
                                      </p:to>
                                    </p:set>
                                    <p:animEffect filter="fade" transition="in">
                                      <p:cBhvr>
                                        <p:cTn dur="500"/>
                                        <p:tgtEl>
                                          <p:spTgt spid="22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xEl>
                                              <p:pRg end="3" st="3"/>
                                            </p:txEl>
                                          </p:spTgt>
                                        </p:tgtEl>
                                        <p:attrNameLst>
                                          <p:attrName>style.visibility</p:attrName>
                                        </p:attrNameLst>
                                      </p:cBhvr>
                                      <p:to>
                                        <p:strVal val="visible"/>
                                      </p:to>
                                    </p:set>
                                    <p:animEffect filter="fade" transition="in">
                                      <p:cBhvr>
                                        <p:cTn dur="500"/>
                                        <p:tgtEl>
                                          <p:spTgt spid="225">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Built-in Datatype</a:t>
            </a:r>
            <a:endParaRPr b="1" sz="4000" u="sng">
              <a:latin typeface="Times New Roman"/>
              <a:ea typeface="Times New Roman"/>
              <a:cs typeface="Times New Roman"/>
              <a:sym typeface="Times New Roman"/>
            </a:endParaRPr>
          </a:p>
        </p:txBody>
      </p:sp>
      <p:sp>
        <p:nvSpPr>
          <p:cNvPr id="231" name="Google Shape;231;p22"/>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These datatypes are provided by Python Language.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Following are the built-in data type:-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None Type</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Numeric Types </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Sequences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Sets</a:t>
            </a:r>
            <a:endParaRPr/>
          </a:p>
          <a:p>
            <a:pPr indent="-342900" lvl="0" marL="342900" rtl="0" algn="l">
              <a:spcBef>
                <a:spcPts val="400"/>
              </a:spcBef>
              <a:spcAft>
                <a:spcPts val="0"/>
              </a:spcAft>
              <a:buClr>
                <a:schemeClr val="dk1"/>
              </a:buClr>
              <a:buSzPts val="2000"/>
              <a:buChar char="•"/>
            </a:pPr>
            <a:r>
              <a:rPr lang="en-US" sz="2000">
                <a:latin typeface="Times New Roman"/>
                <a:ea typeface="Times New Roman"/>
                <a:cs typeface="Times New Roman"/>
                <a:sym typeface="Times New Roman"/>
              </a:rPr>
              <a:t>Mappings</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animEffect filter="fade" transition="in">
                                      <p:cBhvr>
                                        <p:cTn dur="500"/>
                                        <p:tgtEl>
                                          <p:spTgt spid="2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animEffect filter="fade" transition="in">
                                      <p:cBhvr>
                                        <p:cTn dur="500"/>
                                        <p:tgtEl>
                                          <p:spTgt spid="23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animEffect filter="fade" transition="in">
                                      <p:cBhvr>
                                        <p:cTn dur="500"/>
                                        <p:tgtEl>
                                          <p:spTgt spid="23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animEffect filter="fade" transition="in">
                                      <p:cBhvr>
                                        <p:cTn dur="500"/>
                                        <p:tgtEl>
                                          <p:spTgt spid="23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4" st="4"/>
                                            </p:txEl>
                                          </p:spTgt>
                                        </p:tgtEl>
                                        <p:attrNameLst>
                                          <p:attrName>style.visibility</p:attrName>
                                        </p:attrNameLst>
                                      </p:cBhvr>
                                      <p:to>
                                        <p:strVal val="visible"/>
                                      </p:to>
                                    </p:set>
                                    <p:animEffect filter="fade" transition="in">
                                      <p:cBhvr>
                                        <p:cTn dur="500"/>
                                        <p:tgtEl>
                                          <p:spTgt spid="23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5" st="5"/>
                                            </p:txEl>
                                          </p:spTgt>
                                        </p:tgtEl>
                                        <p:attrNameLst>
                                          <p:attrName>style.visibility</p:attrName>
                                        </p:attrNameLst>
                                      </p:cBhvr>
                                      <p:to>
                                        <p:strVal val="visible"/>
                                      </p:to>
                                    </p:set>
                                    <p:animEffect filter="fade" transition="in">
                                      <p:cBhvr>
                                        <p:cTn dur="500"/>
                                        <p:tgtEl>
                                          <p:spTgt spid="23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6" st="6"/>
                                            </p:txEl>
                                          </p:spTgt>
                                        </p:tgtEl>
                                        <p:attrNameLst>
                                          <p:attrName>style.visibility</p:attrName>
                                        </p:attrNameLst>
                                      </p:cBhvr>
                                      <p:to>
                                        <p:strVal val="visible"/>
                                      </p:to>
                                    </p:set>
                                    <p:animEffect filter="fade" transition="in">
                                      <p:cBhvr>
                                        <p:cTn dur="500"/>
                                        <p:tgtEl>
                                          <p:spTgt spid="23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xEl>
                                              <p:pRg end="7" st="7"/>
                                            </p:txEl>
                                          </p:spTgt>
                                        </p:tgtEl>
                                        <p:attrNameLst>
                                          <p:attrName>style.visibility</p:attrName>
                                        </p:attrNameLst>
                                      </p:cBhvr>
                                      <p:to>
                                        <p:strVal val="visible"/>
                                      </p:to>
                                    </p:set>
                                    <p:animEffect filter="fade" transition="in">
                                      <p:cBhvr>
                                        <p:cTn dur="500"/>
                                        <p:tgtEl>
                                          <p:spTgt spid="231">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User Defined Data type</a:t>
            </a:r>
            <a:endParaRPr b="1" sz="4000" u="sng">
              <a:latin typeface="Times New Roman"/>
              <a:ea typeface="Times New Roman"/>
              <a:cs typeface="Times New Roman"/>
              <a:sym typeface="Times New Roman"/>
            </a:endParaRPr>
          </a:p>
        </p:txBody>
      </p:sp>
      <p:sp>
        <p:nvSpPr>
          <p:cNvPr id="237" name="Google Shape;237;p23"/>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latin typeface="Times New Roman"/>
                <a:ea typeface="Times New Roman"/>
                <a:cs typeface="Times New Roman"/>
                <a:sym typeface="Times New Roman"/>
              </a:rPr>
              <a:t>Array</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Class</a:t>
            </a:r>
            <a:endParaRPr/>
          </a:p>
          <a:p>
            <a:pPr indent="-342900" lvl="0" marL="342900" rtl="0" algn="l">
              <a:spcBef>
                <a:spcPts val="480"/>
              </a:spcBef>
              <a:spcAft>
                <a:spcPts val="0"/>
              </a:spcAft>
              <a:buClr>
                <a:schemeClr val="dk1"/>
              </a:buClr>
              <a:buSzPts val="2400"/>
              <a:buChar char="•"/>
            </a:pPr>
            <a:r>
              <a:rPr lang="en-US" sz="2400">
                <a:latin typeface="Times New Roman"/>
                <a:ea typeface="Times New Roman"/>
                <a:cs typeface="Times New Roman"/>
                <a:sym typeface="Times New Roman"/>
              </a:rPr>
              <a:t>Module</a:t>
            </a:r>
            <a:endParaRPr sz="24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None Type</a:t>
            </a:r>
            <a:endParaRPr b="1" sz="4000" u="sng">
              <a:latin typeface="Times New Roman"/>
              <a:ea typeface="Times New Roman"/>
              <a:cs typeface="Times New Roman"/>
              <a:sym typeface="Times New Roman"/>
            </a:endParaRPr>
          </a:p>
        </p:txBody>
      </p:sp>
      <p:sp>
        <p:nvSpPr>
          <p:cNvPr id="243" name="Google Shape;243;p24"/>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None datatype represents an object that doesn’t contain any value.</a:t>
            </a:r>
            <a:endParaRPr/>
          </a:p>
          <a:p>
            <a:pPr indent="0" lvl="0" marL="0" rtl="0" algn="l">
              <a:spcBef>
                <a:spcPts val="4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1" st="1"/>
                                            </p:txEl>
                                          </p:spTgt>
                                        </p:tgtEl>
                                        <p:attrNameLst>
                                          <p:attrName>style.visibility</p:attrName>
                                        </p:attrNameLst>
                                      </p:cBhvr>
                                      <p:to>
                                        <p:strVal val="visible"/>
                                      </p:to>
                                    </p:set>
                                    <p:animEffect filter="fade" transition="in">
                                      <p:cBhvr>
                                        <p:cTn dur="500"/>
                                        <p:tgtEl>
                                          <p:spTgt spid="24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5"/>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Numeric Type / Number</a:t>
            </a:r>
            <a:endParaRPr b="1" sz="4000" u="sng">
              <a:latin typeface="Times New Roman"/>
              <a:ea typeface="Times New Roman"/>
              <a:cs typeface="Times New Roman"/>
              <a:sym typeface="Times New Roman"/>
            </a:endParaRPr>
          </a:p>
        </p:txBody>
      </p:sp>
      <p:sp>
        <p:nvSpPr>
          <p:cNvPr id="249" name="Google Shape;249;p25"/>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Following are the Numeric Data type:-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Int</a:t>
            </a:r>
            <a:endParaRPr sz="2000">
              <a:latin typeface="Times New Roman"/>
              <a:ea typeface="Times New Roman"/>
              <a:cs typeface="Times New Roman"/>
              <a:sym typeface="Times New Roman"/>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Float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Complex  </a:t>
            </a:r>
            <a:endParaRPr/>
          </a:p>
        </p:txBody>
      </p:sp>
      <p:sp>
        <p:nvSpPr>
          <p:cNvPr id="250" name="Google Shape;250;p25"/>
          <p:cNvSpPr txBox="1"/>
          <p:nvPr/>
        </p:nvSpPr>
        <p:spPr>
          <a:xfrm>
            <a:off x="381000" y="2573144"/>
            <a:ext cx="45720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 10        # int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b = 3.14      # float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 = 2 + 3j    # complex</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print(a + b)       # 13.14</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print(a * 2)       # 20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print(c.real)      # 2.0</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print(c.imag)      # 3.0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0" st="0"/>
                                            </p:txEl>
                                          </p:spTgt>
                                        </p:tgtEl>
                                        <p:attrNameLst>
                                          <p:attrName>style.visibility</p:attrName>
                                        </p:attrNameLst>
                                      </p:cBhvr>
                                      <p:to>
                                        <p:strVal val="visible"/>
                                      </p:to>
                                    </p:set>
                                    <p:animEffect filter="fade" transition="in">
                                      <p:cBhvr>
                                        <p:cTn dur="500"/>
                                        <p:tgtEl>
                                          <p:spTgt spid="2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1" st="1"/>
                                            </p:txEl>
                                          </p:spTgt>
                                        </p:tgtEl>
                                        <p:attrNameLst>
                                          <p:attrName>style.visibility</p:attrName>
                                        </p:attrNameLst>
                                      </p:cBhvr>
                                      <p:to>
                                        <p:strVal val="visible"/>
                                      </p:to>
                                    </p:set>
                                    <p:animEffect filter="fade" transition="in">
                                      <p:cBhvr>
                                        <p:cTn dur="500"/>
                                        <p:tgtEl>
                                          <p:spTgt spid="2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2" st="2"/>
                                            </p:txEl>
                                          </p:spTgt>
                                        </p:tgtEl>
                                        <p:attrNameLst>
                                          <p:attrName>style.visibility</p:attrName>
                                        </p:attrNameLst>
                                      </p:cBhvr>
                                      <p:to>
                                        <p:strVal val="visible"/>
                                      </p:to>
                                    </p:set>
                                    <p:animEffect filter="fade" transition="in">
                                      <p:cBhvr>
                                        <p:cTn dur="500"/>
                                        <p:tgtEl>
                                          <p:spTgt spid="2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xEl>
                                              <p:pRg end="3" st="3"/>
                                            </p:txEl>
                                          </p:spTgt>
                                        </p:tgtEl>
                                        <p:attrNameLst>
                                          <p:attrName>style.visibility</p:attrName>
                                        </p:attrNameLst>
                                      </p:cBhvr>
                                      <p:to>
                                        <p:strVal val="visible"/>
                                      </p:to>
                                    </p:set>
                                    <p:animEffect filter="fade" transition="in">
                                      <p:cBhvr>
                                        <p:cTn dur="500"/>
                                        <p:tgtEl>
                                          <p:spTgt spid="24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6"/>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Numeric Type / Number</a:t>
            </a:r>
            <a:endParaRPr sz="4000"/>
          </a:p>
        </p:txBody>
      </p:sp>
      <p:sp>
        <p:nvSpPr>
          <p:cNvPr id="256" name="Google Shape;256;p26"/>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Int – The int datatype represents an integer number. An integer number without any decimal point or fraction part. In Python, It is possible to store very large integer number as there is no limit for the size of an int datatype.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20, 10, -50, -1002</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y = 10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pin_code = 564512</a:t>
            </a:r>
            <a:endParaRPr/>
          </a:p>
          <a:p>
            <a:pPr indent="0" lvl="0" marL="0" rtl="0" algn="l">
              <a:spcBef>
                <a:spcPts val="360"/>
              </a:spcBef>
              <a:spcAft>
                <a:spcPts val="0"/>
              </a:spcAft>
              <a:buClr>
                <a:schemeClr val="dk1"/>
              </a:buClr>
              <a:buSzPts val="1800"/>
              <a:buNone/>
            </a:pPr>
            <a:r>
              <a:t/>
            </a:r>
            <a:endParaRPr sz="1800"/>
          </a:p>
        </p:txBody>
      </p:sp>
      <p:sp>
        <p:nvSpPr>
          <p:cNvPr id="257" name="Google Shape;257;p26"/>
          <p:cNvSpPr/>
          <p:nvPr/>
        </p:nvSpPr>
        <p:spPr>
          <a:xfrm>
            <a:off x="3962400" y="2756416"/>
            <a:ext cx="196880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pin_code = 564512</a:t>
            </a:r>
            <a:endParaRPr/>
          </a:p>
        </p:txBody>
      </p:sp>
      <p:sp>
        <p:nvSpPr>
          <p:cNvPr id="258" name="Google Shape;258;p26"/>
          <p:cNvSpPr txBox="1"/>
          <p:nvPr/>
        </p:nvSpPr>
        <p:spPr>
          <a:xfrm>
            <a:off x="3810000" y="1962150"/>
            <a:ext cx="1708416"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 type variable</a:t>
            </a:r>
            <a:endParaRPr sz="1800">
              <a:solidFill>
                <a:schemeClr val="dk1"/>
              </a:solidFill>
              <a:latin typeface="Calibri"/>
              <a:ea typeface="Calibri"/>
              <a:cs typeface="Calibri"/>
              <a:sym typeface="Calibri"/>
            </a:endParaRPr>
          </a:p>
        </p:txBody>
      </p:sp>
      <p:cxnSp>
        <p:nvCxnSpPr>
          <p:cNvPr id="259" name="Google Shape;259;p26"/>
          <p:cNvCxnSpPr/>
          <p:nvPr/>
        </p:nvCxnSpPr>
        <p:spPr>
          <a:xfrm flipH="1">
            <a:off x="4495800" y="2331482"/>
            <a:ext cx="168408" cy="468868"/>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260" name="Google Shape;260;p26"/>
          <p:cNvSpPr txBox="1"/>
          <p:nvPr/>
        </p:nvSpPr>
        <p:spPr>
          <a:xfrm>
            <a:off x="5518416" y="3486150"/>
            <a:ext cx="988669"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int value</a:t>
            </a:r>
            <a:endParaRPr sz="1800">
              <a:solidFill>
                <a:schemeClr val="dk1"/>
              </a:solidFill>
              <a:latin typeface="Calibri"/>
              <a:ea typeface="Calibri"/>
              <a:cs typeface="Calibri"/>
              <a:sym typeface="Calibri"/>
            </a:endParaRPr>
          </a:p>
        </p:txBody>
      </p:sp>
      <p:cxnSp>
        <p:nvCxnSpPr>
          <p:cNvPr id="261" name="Google Shape;261;p26"/>
          <p:cNvCxnSpPr>
            <a:stCxn id="260" idx="0"/>
          </p:cNvCxnSpPr>
          <p:nvPr/>
        </p:nvCxnSpPr>
        <p:spPr>
          <a:xfrm rot="10800000">
            <a:off x="5714851" y="3125850"/>
            <a:ext cx="297900" cy="3603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5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5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5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5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5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5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7"/>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Numeric Type / Number</a:t>
            </a:r>
            <a:endParaRPr sz="4000"/>
          </a:p>
        </p:txBody>
      </p:sp>
      <p:sp>
        <p:nvSpPr>
          <p:cNvPr id="267" name="Google Shape;267;p27"/>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Float – The float data type represents floating point numbers. A floating point number is a number that contains a decimal point.</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25.56, 10.5, -45.69, -0.8</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price = 25.56</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run_rate = -0.8</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value = 5.1e5</a:t>
            </a:r>
            <a:endParaRPr/>
          </a:p>
          <a:p>
            <a:pPr indent="0" lvl="0" marL="0" rtl="0" algn="l">
              <a:spcBef>
                <a:spcPts val="360"/>
              </a:spcBef>
              <a:spcAft>
                <a:spcPts val="0"/>
              </a:spcAft>
              <a:buClr>
                <a:schemeClr val="dk1"/>
              </a:buClr>
              <a:buSzPts val="1800"/>
              <a:buNone/>
            </a:pPr>
            <a:r>
              <a:t/>
            </a:r>
            <a:endParaRPr sz="1800"/>
          </a:p>
        </p:txBody>
      </p:sp>
      <p:sp>
        <p:nvSpPr>
          <p:cNvPr id="268" name="Google Shape;268;p27"/>
          <p:cNvSpPr/>
          <p:nvPr/>
        </p:nvSpPr>
        <p:spPr>
          <a:xfrm>
            <a:off x="3276600" y="2604016"/>
            <a:ext cx="15648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run_rate = -0.8</a:t>
            </a:r>
            <a:endParaRPr/>
          </a:p>
        </p:txBody>
      </p:sp>
      <p:sp>
        <p:nvSpPr>
          <p:cNvPr id="269" name="Google Shape;269;p27"/>
          <p:cNvSpPr txBox="1"/>
          <p:nvPr/>
        </p:nvSpPr>
        <p:spPr>
          <a:xfrm>
            <a:off x="3124200" y="1809750"/>
            <a:ext cx="1884747"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float type variable</a:t>
            </a:r>
            <a:endParaRPr sz="1800">
              <a:solidFill>
                <a:schemeClr val="dk1"/>
              </a:solidFill>
              <a:latin typeface="Calibri"/>
              <a:ea typeface="Calibri"/>
              <a:cs typeface="Calibri"/>
              <a:sym typeface="Calibri"/>
            </a:endParaRPr>
          </a:p>
        </p:txBody>
      </p:sp>
      <p:cxnSp>
        <p:nvCxnSpPr>
          <p:cNvPr id="270" name="Google Shape;270;p27"/>
          <p:cNvCxnSpPr/>
          <p:nvPr/>
        </p:nvCxnSpPr>
        <p:spPr>
          <a:xfrm flipH="1">
            <a:off x="3810000" y="2179082"/>
            <a:ext cx="168408" cy="468868"/>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271" name="Google Shape;271;p27"/>
          <p:cNvSpPr txBox="1"/>
          <p:nvPr/>
        </p:nvSpPr>
        <p:spPr>
          <a:xfrm>
            <a:off x="4392793" y="3333750"/>
            <a:ext cx="1169807"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float value</a:t>
            </a:r>
            <a:endParaRPr sz="1800">
              <a:solidFill>
                <a:schemeClr val="dk1"/>
              </a:solidFill>
              <a:latin typeface="Calibri"/>
              <a:ea typeface="Calibri"/>
              <a:cs typeface="Calibri"/>
              <a:sym typeface="Calibri"/>
            </a:endParaRPr>
          </a:p>
        </p:txBody>
      </p:sp>
      <p:cxnSp>
        <p:nvCxnSpPr>
          <p:cNvPr id="272" name="Google Shape;272;p27"/>
          <p:cNvCxnSpPr>
            <a:stCxn id="271" idx="0"/>
          </p:cNvCxnSpPr>
          <p:nvPr/>
        </p:nvCxnSpPr>
        <p:spPr>
          <a:xfrm rot="10800000">
            <a:off x="4589497" y="2973450"/>
            <a:ext cx="388200" cy="3603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
        <p:nvSpPr>
          <p:cNvPr id="273" name="Google Shape;273;p27"/>
          <p:cNvSpPr/>
          <p:nvPr/>
        </p:nvSpPr>
        <p:spPr>
          <a:xfrm>
            <a:off x="1447800" y="3471338"/>
            <a:ext cx="1026884" cy="330796"/>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cxnSp>
        <p:nvCxnSpPr>
          <p:cNvPr id="274" name="Google Shape;274;p27"/>
          <p:cNvCxnSpPr/>
          <p:nvPr/>
        </p:nvCxnSpPr>
        <p:spPr>
          <a:xfrm rot="10800000">
            <a:off x="1524000" y="3125748"/>
            <a:ext cx="228600" cy="34559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275" name="Google Shape;275;p27"/>
          <p:cNvCxnSpPr/>
          <p:nvPr/>
        </p:nvCxnSpPr>
        <p:spPr>
          <a:xfrm>
            <a:off x="5867400" y="1581150"/>
            <a:ext cx="0" cy="1752600"/>
          </a:xfrm>
          <a:prstGeom prst="straightConnector1">
            <a:avLst/>
          </a:prstGeom>
          <a:noFill/>
          <a:ln cap="flat" cmpd="sng" w="9525">
            <a:solidFill>
              <a:srgbClr val="4A7DBA"/>
            </a:solidFill>
            <a:prstDash val="solid"/>
            <a:round/>
            <a:headEnd len="sm" w="sm" type="none"/>
            <a:tailEnd len="sm" w="sm" type="none"/>
          </a:ln>
        </p:spPr>
      </p:cxnSp>
      <p:sp>
        <p:nvSpPr>
          <p:cNvPr id="276" name="Google Shape;276;p27"/>
          <p:cNvSpPr/>
          <p:nvPr/>
        </p:nvSpPr>
        <p:spPr>
          <a:xfrm>
            <a:off x="6019800" y="1627822"/>
            <a:ext cx="2667000"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5.1e5</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It’s scientific notation where e or E represents exponentiation which represents the power of 10</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animEffect filter="fade" transition="in">
                                      <p:cBhvr>
                                        <p:cTn dur="500"/>
                                        <p:tgtEl>
                                          <p:spTgt spid="2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animEffect filter="fade" transition="in">
                                      <p:cBhvr>
                                        <p:cTn dur="500"/>
                                        <p:tgtEl>
                                          <p:spTgt spid="2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animEffect filter="fade" transition="in">
                                      <p:cBhvr>
                                        <p:cTn dur="500"/>
                                        <p:tgtEl>
                                          <p:spTgt spid="2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animEffect filter="fade" transition="in">
                                      <p:cBhvr>
                                        <p:cTn dur="500"/>
                                        <p:tgtEl>
                                          <p:spTgt spid="2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animEffect filter="fade" transition="in">
                                      <p:cBhvr>
                                        <p:cTn dur="500"/>
                                        <p:tgtEl>
                                          <p:spTgt spid="2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animEffect filter="fade" transition="in">
                                      <p:cBhvr>
                                        <p:cTn dur="500"/>
                                        <p:tgtEl>
                                          <p:spTgt spid="2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animEffect filter="fade" transition="in">
                                      <p:cBhvr>
                                        <p:cTn dur="500"/>
                                        <p:tgtEl>
                                          <p:spTgt spid="26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8"/>
                                        </p:tgtEl>
                                        <p:attrNameLst>
                                          <p:attrName>style.visibility</p:attrName>
                                        </p:attrNameLst>
                                      </p:cBhvr>
                                      <p:to>
                                        <p:strVal val="visible"/>
                                      </p:to>
                                    </p:set>
                                    <p:animEffect filter="fade" transition="in">
                                      <p:cBhvr>
                                        <p:cTn dur="500"/>
                                        <p:tgtEl>
                                          <p:spTgt spid="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500"/>
                                        <p:tgtEl>
                                          <p:spTgt spid="272"/>
                                        </p:tgtEl>
                                      </p:cBhvr>
                                    </p:animEffect>
                                  </p:childTnLst>
                                </p:cTn>
                              </p:par>
                              <p:par>
                                <p:cTn fill="hold" nodeType="with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5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500"/>
                                        <p:tgtEl>
                                          <p:spTgt spid="269"/>
                                        </p:tgtEl>
                                      </p:cBhvr>
                                    </p:animEffect>
                                  </p:childTnLst>
                                </p:cTn>
                              </p:par>
                              <p:par>
                                <p:cTn fill="hold" nodeType="with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5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par>
                                <p:cTn fill="hold" nodeType="with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50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8"/>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Numeric Type / Number</a:t>
            </a:r>
            <a:endParaRPr sz="4000"/>
          </a:p>
        </p:txBody>
      </p:sp>
      <p:sp>
        <p:nvSpPr>
          <p:cNvPr id="282" name="Google Shape;282;p28"/>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Complex – A complex number is a number that is written in the form of a + bj or a + bJ. Where,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 Real Part of the number</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b = Imaginary part of the number</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j or J = Square root value of -1</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a and b may contain integer or float number.</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Ex:- 5+7j, 0.8+2j</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com = 5+7j</a:t>
            </a:r>
            <a:endParaRPr/>
          </a:p>
          <a:p>
            <a:pPr indent="0" lvl="0" marL="0" rtl="0" algn="l">
              <a:spcBef>
                <a:spcPts val="360"/>
              </a:spcBef>
              <a:spcAft>
                <a:spcPts val="0"/>
              </a:spcAft>
              <a:buClr>
                <a:schemeClr val="dk1"/>
              </a:buClr>
              <a:buSzPts val="1800"/>
              <a:buNone/>
            </a:pPr>
            <a:r>
              <a:t/>
            </a:r>
            <a:endParaRPr sz="1800"/>
          </a:p>
        </p:txBody>
      </p:sp>
      <p:sp>
        <p:nvSpPr>
          <p:cNvPr id="283" name="Google Shape;283;p28"/>
          <p:cNvSpPr/>
          <p:nvPr/>
        </p:nvSpPr>
        <p:spPr>
          <a:xfrm>
            <a:off x="5334000" y="2375416"/>
            <a:ext cx="125226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com = 5+7j</a:t>
            </a:r>
            <a:endParaRPr/>
          </a:p>
        </p:txBody>
      </p:sp>
      <p:sp>
        <p:nvSpPr>
          <p:cNvPr id="284" name="Google Shape;284;p28"/>
          <p:cNvSpPr txBox="1"/>
          <p:nvPr/>
        </p:nvSpPr>
        <p:spPr>
          <a:xfrm>
            <a:off x="5181600" y="1581150"/>
            <a:ext cx="2242152"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complex type variable</a:t>
            </a:r>
            <a:endParaRPr sz="1800">
              <a:solidFill>
                <a:schemeClr val="dk1"/>
              </a:solidFill>
              <a:latin typeface="Calibri"/>
              <a:ea typeface="Calibri"/>
              <a:cs typeface="Calibri"/>
              <a:sym typeface="Calibri"/>
            </a:endParaRPr>
          </a:p>
        </p:txBody>
      </p:sp>
      <p:cxnSp>
        <p:nvCxnSpPr>
          <p:cNvPr id="285" name="Google Shape;285;p28"/>
          <p:cNvCxnSpPr/>
          <p:nvPr/>
        </p:nvCxnSpPr>
        <p:spPr>
          <a:xfrm flipH="1">
            <a:off x="5867400" y="1950482"/>
            <a:ext cx="168408" cy="468868"/>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286" name="Google Shape;286;p28"/>
          <p:cNvSpPr txBox="1"/>
          <p:nvPr/>
        </p:nvSpPr>
        <p:spPr>
          <a:xfrm>
            <a:off x="5867400" y="3193018"/>
            <a:ext cx="1771062"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complex number</a:t>
            </a:r>
            <a:endParaRPr sz="1800">
              <a:solidFill>
                <a:schemeClr val="dk1"/>
              </a:solidFill>
              <a:latin typeface="Calibri"/>
              <a:ea typeface="Calibri"/>
              <a:cs typeface="Calibri"/>
              <a:sym typeface="Calibri"/>
            </a:endParaRPr>
          </a:p>
        </p:txBody>
      </p:sp>
      <p:cxnSp>
        <p:nvCxnSpPr>
          <p:cNvPr id="287" name="Google Shape;287;p28"/>
          <p:cNvCxnSpPr>
            <a:stCxn id="286" idx="0"/>
          </p:cNvCxnSpPr>
          <p:nvPr/>
        </p:nvCxnSpPr>
        <p:spPr>
          <a:xfrm rot="10800000">
            <a:off x="6302631" y="2724118"/>
            <a:ext cx="450300" cy="4689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0" st="0"/>
                                            </p:txEl>
                                          </p:spTgt>
                                        </p:tgtEl>
                                        <p:attrNameLst>
                                          <p:attrName>style.visibility</p:attrName>
                                        </p:attrNameLst>
                                      </p:cBhvr>
                                      <p:to>
                                        <p:strVal val="visible"/>
                                      </p:to>
                                    </p:set>
                                    <p:animEffect filter="fade" transition="in">
                                      <p:cBhvr>
                                        <p:cTn dur="500"/>
                                        <p:tgtEl>
                                          <p:spTgt spid="2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1" st="1"/>
                                            </p:txEl>
                                          </p:spTgt>
                                        </p:tgtEl>
                                        <p:attrNameLst>
                                          <p:attrName>style.visibility</p:attrName>
                                        </p:attrNameLst>
                                      </p:cBhvr>
                                      <p:to>
                                        <p:strVal val="visible"/>
                                      </p:to>
                                    </p:set>
                                    <p:animEffect filter="fade" transition="in">
                                      <p:cBhvr>
                                        <p:cTn dur="500"/>
                                        <p:tgtEl>
                                          <p:spTgt spid="2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2" st="2"/>
                                            </p:txEl>
                                          </p:spTgt>
                                        </p:tgtEl>
                                        <p:attrNameLst>
                                          <p:attrName>style.visibility</p:attrName>
                                        </p:attrNameLst>
                                      </p:cBhvr>
                                      <p:to>
                                        <p:strVal val="visible"/>
                                      </p:to>
                                    </p:set>
                                    <p:animEffect filter="fade" transition="in">
                                      <p:cBhvr>
                                        <p:cTn dur="500"/>
                                        <p:tgtEl>
                                          <p:spTgt spid="2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3" st="3"/>
                                            </p:txEl>
                                          </p:spTgt>
                                        </p:tgtEl>
                                        <p:attrNameLst>
                                          <p:attrName>style.visibility</p:attrName>
                                        </p:attrNameLst>
                                      </p:cBhvr>
                                      <p:to>
                                        <p:strVal val="visible"/>
                                      </p:to>
                                    </p:set>
                                    <p:animEffect filter="fade" transition="in">
                                      <p:cBhvr>
                                        <p:cTn dur="500"/>
                                        <p:tgtEl>
                                          <p:spTgt spid="2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4" st="4"/>
                                            </p:txEl>
                                          </p:spTgt>
                                        </p:tgtEl>
                                        <p:attrNameLst>
                                          <p:attrName>style.visibility</p:attrName>
                                        </p:attrNameLst>
                                      </p:cBhvr>
                                      <p:to>
                                        <p:strVal val="visible"/>
                                      </p:to>
                                    </p:set>
                                    <p:animEffect filter="fade" transition="in">
                                      <p:cBhvr>
                                        <p:cTn dur="500"/>
                                        <p:tgtEl>
                                          <p:spTgt spid="2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5" st="5"/>
                                            </p:txEl>
                                          </p:spTgt>
                                        </p:tgtEl>
                                        <p:attrNameLst>
                                          <p:attrName>style.visibility</p:attrName>
                                        </p:attrNameLst>
                                      </p:cBhvr>
                                      <p:to>
                                        <p:strVal val="visible"/>
                                      </p:to>
                                    </p:set>
                                    <p:animEffect filter="fade" transition="in">
                                      <p:cBhvr>
                                        <p:cTn dur="500"/>
                                        <p:tgtEl>
                                          <p:spTgt spid="2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6" st="6"/>
                                            </p:txEl>
                                          </p:spTgt>
                                        </p:tgtEl>
                                        <p:attrNameLst>
                                          <p:attrName>style.visibility</p:attrName>
                                        </p:attrNameLst>
                                      </p:cBhvr>
                                      <p:to>
                                        <p:strVal val="visible"/>
                                      </p:to>
                                    </p:set>
                                    <p:animEffect filter="fade" transition="in">
                                      <p:cBhvr>
                                        <p:cTn dur="500"/>
                                        <p:tgtEl>
                                          <p:spTgt spid="2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xEl>
                                              <p:pRg end="7" st="7"/>
                                            </p:txEl>
                                          </p:spTgt>
                                        </p:tgtEl>
                                        <p:attrNameLst>
                                          <p:attrName>style.visibility</p:attrName>
                                        </p:attrNameLst>
                                      </p:cBhvr>
                                      <p:to>
                                        <p:strVal val="visible"/>
                                      </p:to>
                                    </p:set>
                                    <p:animEffect filter="fade" transition="in">
                                      <p:cBhvr>
                                        <p:cTn dur="500"/>
                                        <p:tgtEl>
                                          <p:spTgt spid="2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5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Numeric Type / Number</a:t>
            </a:r>
            <a:endParaRPr sz="4000"/>
          </a:p>
        </p:txBody>
      </p:sp>
      <p:sp>
        <p:nvSpPr>
          <p:cNvPr id="293" name="Google Shape;293;p29"/>
          <p:cNvSpPr txBox="1"/>
          <p:nvPr/>
        </p:nvSpPr>
        <p:spPr>
          <a:xfrm>
            <a:off x="429322" y="1042897"/>
            <a:ext cx="1444050"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complex type</a:t>
            </a:r>
            <a:endParaRPr sz="1800">
              <a:solidFill>
                <a:schemeClr val="dk1"/>
              </a:solidFill>
              <a:latin typeface="Calibri"/>
              <a:ea typeface="Calibri"/>
              <a:cs typeface="Calibri"/>
              <a:sym typeface="Calibri"/>
            </a:endParaRPr>
          </a:p>
        </p:txBody>
      </p:sp>
      <p:sp>
        <p:nvSpPr>
          <p:cNvPr id="294" name="Google Shape;294;p29"/>
          <p:cNvSpPr txBox="1"/>
          <p:nvPr/>
        </p:nvSpPr>
        <p:spPr>
          <a:xfrm>
            <a:off x="429322" y="1581614"/>
            <a:ext cx="6781800" cy="31393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z = 4 + 5j</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w = 2 - 3j </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Real and Imaginary parts</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print(z.real)       # 4.0</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print(z.imag)       # 5.0</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Conjugate</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print(z.conjugate())   # (4-5j)</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Addition</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print(z + w)           # (6+2j)</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Multiplication</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print(z * w)           # (23+2j)</a:t>
            </a:r>
            <a:endParaRPr/>
          </a:p>
          <a:p>
            <a:pPr indent="0" lvl="0" marL="0" marR="0" rtl="0" algn="l">
              <a:spcBef>
                <a:spcPts val="0"/>
              </a:spcBef>
              <a:spcAft>
                <a:spcPts val="0"/>
              </a:spcAft>
              <a:buNone/>
            </a:pPr>
            <a:r>
              <a:t/>
            </a:r>
            <a:endParaRPr sz="1100">
              <a:solidFill>
                <a:schemeClr val="dk1"/>
              </a:solidFill>
              <a:latin typeface="Calibri"/>
              <a:ea typeface="Calibri"/>
              <a:cs typeface="Calibri"/>
              <a:sym typeface="Calibri"/>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 Absolute value (modulus)</a:t>
            </a:r>
            <a:endParaRPr/>
          </a:p>
          <a:p>
            <a:pPr indent="0" lvl="0" marL="0" marR="0" rtl="0" algn="l">
              <a:spcBef>
                <a:spcPts val="0"/>
              </a:spcBef>
              <a:spcAft>
                <a:spcPts val="0"/>
              </a:spcAft>
              <a:buNone/>
            </a:pPr>
            <a:r>
              <a:rPr lang="en-US" sz="1100">
                <a:solidFill>
                  <a:schemeClr val="dk1"/>
                </a:solidFill>
                <a:latin typeface="Calibri"/>
                <a:ea typeface="Calibri"/>
                <a:cs typeface="Calibri"/>
                <a:sym typeface="Calibri"/>
              </a:rPr>
              <a:t>print(abs(z))          # √(4² + 5²) = 6.4031...</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Bool type</a:t>
            </a:r>
            <a:endParaRPr b="1" sz="4000" u="sng">
              <a:latin typeface="Times New Roman"/>
              <a:ea typeface="Times New Roman"/>
              <a:cs typeface="Times New Roman"/>
              <a:sym typeface="Times New Roman"/>
            </a:endParaRPr>
          </a:p>
        </p:txBody>
      </p:sp>
      <p:sp>
        <p:nvSpPr>
          <p:cNvPr id="300" name="Google Shape;300;p30"/>
          <p:cNvSpPr txBox="1"/>
          <p:nvPr>
            <p:ph idx="1" type="body"/>
          </p:nvPr>
        </p:nvSpPr>
        <p:spPr>
          <a:xfrm>
            <a:off x="457200" y="895350"/>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The bool datatype represents boolean value True or False. Python internally represents True as 1 and False as 0.</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True, False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True + True = 2</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True – False = 1</a:t>
            </a:r>
            <a:endParaRPr sz="1800">
              <a:latin typeface="Times New Roman"/>
              <a:ea typeface="Times New Roman"/>
              <a:cs typeface="Times New Roman"/>
              <a:sym typeface="Times New Roman"/>
            </a:endParaRPr>
          </a:p>
        </p:txBody>
      </p:sp>
      <p:sp>
        <p:nvSpPr>
          <p:cNvPr id="301" name="Google Shape;301;p30"/>
          <p:cNvSpPr txBox="1"/>
          <p:nvPr/>
        </p:nvSpPr>
        <p:spPr>
          <a:xfrm>
            <a:off x="457200" y="3105150"/>
            <a:ext cx="457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x = 5 &gt; 2</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print(x)          # True</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print(type(x))    # &lt;class 'bool'&gt;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animEffect filter="fade" transition="in">
                                      <p:cBhvr>
                                        <p:cTn dur="500"/>
                                        <p:tgtEl>
                                          <p:spTgt spid="30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animEffect filter="fade" transition="in">
                                      <p:cBhvr>
                                        <p:cTn dur="500"/>
                                        <p:tgtEl>
                                          <p:spTgt spid="30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animEffect filter="fade" transition="in">
                                      <p:cBhvr>
                                        <p:cTn dur="500"/>
                                        <p:tgtEl>
                                          <p:spTgt spid="30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animEffect filter="fade" transition="in">
                                      <p:cBhvr>
                                        <p:cTn dur="500"/>
                                        <p:tgtEl>
                                          <p:spTgt spid="30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07" name="Google Shape;307;p31"/>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Following are sequence type:-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String</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List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Tuple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Range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xEl>
                                              <p:pRg end="0" st="0"/>
                                            </p:txEl>
                                          </p:spTgt>
                                        </p:tgtEl>
                                        <p:attrNameLst>
                                          <p:attrName>style.visibility</p:attrName>
                                        </p:attrNameLst>
                                      </p:cBhvr>
                                      <p:to>
                                        <p:strVal val="visible"/>
                                      </p:to>
                                    </p:set>
                                    <p:animEffect filter="fade" transition="in">
                                      <p:cBhvr>
                                        <p:cTn dur="500"/>
                                        <p:tgtEl>
                                          <p:spTgt spid="3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xEl>
                                              <p:pRg end="1" st="1"/>
                                            </p:txEl>
                                          </p:spTgt>
                                        </p:tgtEl>
                                        <p:attrNameLst>
                                          <p:attrName>style.visibility</p:attrName>
                                        </p:attrNameLst>
                                      </p:cBhvr>
                                      <p:to>
                                        <p:strVal val="visible"/>
                                      </p:to>
                                    </p:set>
                                    <p:animEffect filter="fade" transition="in">
                                      <p:cBhvr>
                                        <p:cTn dur="500"/>
                                        <p:tgtEl>
                                          <p:spTgt spid="3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xEl>
                                              <p:pRg end="2" st="2"/>
                                            </p:txEl>
                                          </p:spTgt>
                                        </p:tgtEl>
                                        <p:attrNameLst>
                                          <p:attrName>style.visibility</p:attrName>
                                        </p:attrNameLst>
                                      </p:cBhvr>
                                      <p:to>
                                        <p:strVal val="visible"/>
                                      </p:to>
                                    </p:set>
                                    <p:animEffect filter="fade" transition="in">
                                      <p:cBhvr>
                                        <p:cTn dur="500"/>
                                        <p:tgtEl>
                                          <p:spTgt spid="3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xEl>
                                              <p:pRg end="3" st="3"/>
                                            </p:txEl>
                                          </p:spTgt>
                                        </p:tgtEl>
                                        <p:attrNameLst>
                                          <p:attrName>style.visibility</p:attrName>
                                        </p:attrNameLst>
                                      </p:cBhvr>
                                      <p:to>
                                        <p:strVal val="visible"/>
                                      </p:to>
                                    </p:set>
                                    <p:animEffect filter="fade" transition="in">
                                      <p:cBhvr>
                                        <p:cTn dur="500"/>
                                        <p:tgtEl>
                                          <p:spTgt spid="3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7">
                                            <p:txEl>
                                              <p:pRg end="4" st="4"/>
                                            </p:txEl>
                                          </p:spTgt>
                                        </p:tgtEl>
                                        <p:attrNameLst>
                                          <p:attrName>style.visibility</p:attrName>
                                        </p:attrNameLst>
                                      </p:cBhvr>
                                      <p:to>
                                        <p:strVal val="visible"/>
                                      </p:to>
                                    </p:set>
                                    <p:animEffect filter="fade" transition="in">
                                      <p:cBhvr>
                                        <p:cTn dur="500"/>
                                        <p:tgtEl>
                                          <p:spTgt spid="30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13" name="Google Shape;313;p32"/>
          <p:cNvSpPr txBox="1"/>
          <p:nvPr>
            <p:ph idx="1" type="body"/>
          </p:nvPr>
        </p:nvSpPr>
        <p:spPr>
          <a:xfrm>
            <a:off x="457200" y="929878"/>
            <a:ext cx="8229600" cy="33944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lang="en-US" sz="2000">
                <a:latin typeface="Times New Roman"/>
                <a:ea typeface="Times New Roman"/>
                <a:cs typeface="Times New Roman"/>
                <a:sym typeface="Times New Roman"/>
              </a:rPr>
              <a:t>Following are sequence type:- </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String</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List</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Tuple</a:t>
            </a:r>
            <a:endParaRPr/>
          </a:p>
          <a:p>
            <a:pPr indent="0" lvl="0" marL="0" rtl="0" algn="l">
              <a:spcBef>
                <a:spcPts val="400"/>
              </a:spcBef>
              <a:spcAft>
                <a:spcPts val="0"/>
              </a:spcAft>
              <a:buClr>
                <a:schemeClr val="dk1"/>
              </a:buClr>
              <a:buSzPts val="2000"/>
              <a:buNone/>
            </a:pPr>
            <a:r>
              <a:rPr lang="en-US" sz="2000">
                <a:latin typeface="Times New Roman"/>
                <a:ea typeface="Times New Roman"/>
                <a:cs typeface="Times New Roman"/>
                <a:sym typeface="Times New Roman"/>
              </a:rPr>
              <a:t>Range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animEffect filter="fade" transition="in">
                                      <p:cBhvr>
                                        <p:cTn dur="500"/>
                                        <p:tgtEl>
                                          <p:spTgt spid="3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animEffect filter="fade" transition="in">
                                      <p:cBhvr>
                                        <p:cTn dur="500"/>
                                        <p:tgtEl>
                                          <p:spTgt spid="3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animEffect filter="fade" transition="in">
                                      <p:cBhvr>
                                        <p:cTn dur="500"/>
                                        <p:tgtEl>
                                          <p:spTgt spid="3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animEffect filter="fade" transition="in">
                                      <p:cBhvr>
                                        <p:cTn dur="500"/>
                                        <p:tgtEl>
                                          <p:spTgt spid="3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animEffect filter="fade" transition="in">
                                      <p:cBhvr>
                                        <p:cTn dur="500"/>
                                        <p:tgtEl>
                                          <p:spTgt spid="31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3"/>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19" name="Google Shape;319;p33"/>
          <p:cNvSpPr txBox="1"/>
          <p:nvPr>
            <p:ph idx="1" type="body"/>
          </p:nvPr>
        </p:nvSpPr>
        <p:spPr>
          <a:xfrm>
            <a:off x="457200" y="929878"/>
            <a:ext cx="8229600" cy="205513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String – String represents group of characters. Strings are enclosed in double quotes or single quotes.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“Hello”, “Python”, ‘Rahul’</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str1 = “Python”</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str1 = ‘Python’</a:t>
            </a:r>
            <a:endParaRPr/>
          </a:p>
        </p:txBody>
      </p:sp>
      <p:sp>
        <p:nvSpPr>
          <p:cNvPr id="320" name="Google Shape;320;p33"/>
          <p:cNvSpPr/>
          <p:nvPr/>
        </p:nvSpPr>
        <p:spPr>
          <a:xfrm>
            <a:off x="5334000" y="2615684"/>
            <a:ext cx="16353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str1 = “Python”</a:t>
            </a:r>
            <a:endParaRPr/>
          </a:p>
        </p:txBody>
      </p:sp>
      <p:sp>
        <p:nvSpPr>
          <p:cNvPr id="321" name="Google Shape;321;p33"/>
          <p:cNvSpPr txBox="1"/>
          <p:nvPr/>
        </p:nvSpPr>
        <p:spPr>
          <a:xfrm>
            <a:off x="5181600" y="1821418"/>
            <a:ext cx="2000676" cy="369332"/>
          </a:xfrm>
          <a:prstGeom prst="rect">
            <a:avLst/>
          </a:prstGeom>
          <a:solidFill>
            <a:schemeClr val="lt1"/>
          </a:solidFill>
          <a:ln cap="flat" cmpd="sng" w="25400">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String type variable</a:t>
            </a:r>
            <a:endParaRPr sz="1800">
              <a:solidFill>
                <a:schemeClr val="dk1"/>
              </a:solidFill>
              <a:latin typeface="Calibri"/>
              <a:ea typeface="Calibri"/>
              <a:cs typeface="Calibri"/>
              <a:sym typeface="Calibri"/>
            </a:endParaRPr>
          </a:p>
        </p:txBody>
      </p:sp>
      <p:cxnSp>
        <p:nvCxnSpPr>
          <p:cNvPr id="322" name="Google Shape;322;p33"/>
          <p:cNvCxnSpPr/>
          <p:nvPr/>
        </p:nvCxnSpPr>
        <p:spPr>
          <a:xfrm flipH="1">
            <a:off x="5638800" y="2190750"/>
            <a:ext cx="397008" cy="468868"/>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sp>
        <p:nvSpPr>
          <p:cNvPr id="323" name="Google Shape;323;p33"/>
          <p:cNvSpPr txBox="1"/>
          <p:nvPr/>
        </p:nvSpPr>
        <p:spPr>
          <a:xfrm>
            <a:off x="6450193" y="3345418"/>
            <a:ext cx="731290" cy="369332"/>
          </a:xfrm>
          <a:prstGeom prst="rect">
            <a:avLst/>
          </a:prstGeom>
          <a:solidFill>
            <a:schemeClr val="lt1"/>
          </a:solidFill>
          <a:ln cap="flat" cmpd="sng" w="25400">
            <a:solidFill>
              <a:schemeClr val="accent4"/>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String</a:t>
            </a:r>
            <a:endParaRPr sz="1800">
              <a:solidFill>
                <a:schemeClr val="dk1"/>
              </a:solidFill>
              <a:latin typeface="Calibri"/>
              <a:ea typeface="Calibri"/>
              <a:cs typeface="Calibri"/>
              <a:sym typeface="Calibri"/>
            </a:endParaRPr>
          </a:p>
        </p:txBody>
      </p:sp>
      <p:cxnSp>
        <p:nvCxnSpPr>
          <p:cNvPr id="324" name="Google Shape;324;p33"/>
          <p:cNvCxnSpPr>
            <a:stCxn id="323" idx="0"/>
          </p:cNvCxnSpPr>
          <p:nvPr/>
        </p:nvCxnSpPr>
        <p:spPr>
          <a:xfrm rot="10800000">
            <a:off x="6646638" y="2985118"/>
            <a:ext cx="169200" cy="3603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sp>
        <p:nvSpPr>
          <p:cNvPr id="325" name="Google Shape;325;p33"/>
          <p:cNvSpPr txBox="1"/>
          <p:nvPr/>
        </p:nvSpPr>
        <p:spPr>
          <a:xfrm>
            <a:off x="400256" y="3019544"/>
            <a:ext cx="4572000"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 = "Hello, Python"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print(s.upper())          # HELLO, PYTHON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print(s.lower())          # hello, python</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print(s[0:5])             # Hello</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print(len(s))             # 13</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print("Python" in s)      # True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Effect filter="fade" transition="in">
                                      <p:cBhvr>
                                        <p:cTn dur="500"/>
                                        <p:tgtEl>
                                          <p:spTgt spid="3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Effect filter="fade" transition="in">
                                      <p:cBhvr>
                                        <p:cTn dur="500"/>
                                        <p:tgtEl>
                                          <p:spTgt spid="3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2" st="2"/>
                                            </p:txEl>
                                          </p:spTgt>
                                        </p:tgtEl>
                                        <p:attrNameLst>
                                          <p:attrName>style.visibility</p:attrName>
                                        </p:attrNameLst>
                                      </p:cBhvr>
                                      <p:to>
                                        <p:strVal val="visible"/>
                                      </p:to>
                                    </p:set>
                                    <p:animEffect filter="fade" transition="in">
                                      <p:cBhvr>
                                        <p:cTn dur="500"/>
                                        <p:tgtEl>
                                          <p:spTgt spid="3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xEl>
                                              <p:pRg end="3" st="3"/>
                                            </p:txEl>
                                          </p:spTgt>
                                        </p:tgtEl>
                                        <p:attrNameLst>
                                          <p:attrName>style.visibility</p:attrName>
                                        </p:attrNameLst>
                                      </p:cBhvr>
                                      <p:to>
                                        <p:strVal val="visible"/>
                                      </p:to>
                                    </p:set>
                                    <p:animEffect filter="fade" transition="in">
                                      <p:cBhvr>
                                        <p:cTn dur="500"/>
                                        <p:tgtEl>
                                          <p:spTgt spid="3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500"/>
                                        <p:tgtEl>
                                          <p:spTgt spid="324"/>
                                        </p:tgtEl>
                                      </p:cBhvr>
                                    </p:animEffect>
                                  </p:childTnLst>
                                </p:cTn>
                              </p:par>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par>
                                <p:cTn fill="hold" nodeType="with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4"/>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31" name="Google Shape;331;p34"/>
          <p:cNvSpPr txBox="1"/>
          <p:nvPr>
            <p:ph idx="1" type="body"/>
          </p:nvPr>
        </p:nvSpPr>
        <p:spPr>
          <a:xfrm>
            <a:off x="457200" y="929878"/>
            <a:ext cx="8229600" cy="205513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String-</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graphicFrame>
        <p:nvGraphicFramePr>
          <p:cNvPr id="332" name="Google Shape;332;p34"/>
          <p:cNvGraphicFramePr/>
          <p:nvPr/>
        </p:nvGraphicFramePr>
        <p:xfrm>
          <a:off x="457200" y="1307509"/>
          <a:ext cx="3000000" cy="3000000"/>
        </p:xfrm>
        <a:graphic>
          <a:graphicData uri="http://schemas.openxmlformats.org/drawingml/2006/table">
            <a:tbl>
              <a:tblPr>
                <a:noFill/>
                <a:tableStyleId>{F3B81AAF-B9A5-4101-99E6-C2B7CB4CFF26}</a:tableStyleId>
              </a:tblPr>
              <a:tblGrid>
                <a:gridCol w="1958125"/>
                <a:gridCol w="2097400"/>
                <a:gridCol w="1818850"/>
              </a:tblGrid>
              <a:tr h="261075">
                <a:tc>
                  <a:txBody>
                    <a:bodyPr/>
                    <a:lstStyle/>
                    <a:p>
                      <a:pPr indent="0" lvl="0" marL="0" marR="0" rtl="0" algn="l">
                        <a:spcBef>
                          <a:spcPts val="0"/>
                        </a:spcBef>
                        <a:spcAft>
                          <a:spcPts val="0"/>
                        </a:spcAft>
                        <a:buNone/>
                      </a:pPr>
                      <a:r>
                        <a:rPr lang="en-US" sz="1300"/>
                        <a:t>Method</a:t>
                      </a:r>
                      <a:endParaRPr/>
                    </a:p>
                  </a:txBody>
                  <a:tcPr marT="32625" marB="32625" marR="65275" marL="65275" anchor="ctr"/>
                </a:tc>
                <a:tc>
                  <a:txBody>
                    <a:bodyPr/>
                    <a:lstStyle/>
                    <a:p>
                      <a:pPr indent="0" lvl="0" marL="0" marR="0" rtl="0" algn="l">
                        <a:spcBef>
                          <a:spcPts val="0"/>
                        </a:spcBef>
                        <a:spcAft>
                          <a:spcPts val="0"/>
                        </a:spcAft>
                        <a:buNone/>
                      </a:pPr>
                      <a:r>
                        <a:rPr lang="en-US" sz="1300"/>
                        <a:t>Description</a:t>
                      </a:r>
                      <a:endParaRPr/>
                    </a:p>
                  </a:txBody>
                  <a:tcPr marT="32625" marB="32625" marR="65275" marL="65275" anchor="ctr"/>
                </a:tc>
                <a:tc>
                  <a:txBody>
                    <a:bodyPr/>
                    <a:lstStyle/>
                    <a:p>
                      <a:pPr indent="0" lvl="0" marL="0" marR="0" rtl="0" algn="l">
                        <a:spcBef>
                          <a:spcPts val="0"/>
                        </a:spcBef>
                        <a:spcAft>
                          <a:spcPts val="0"/>
                        </a:spcAft>
                        <a:buNone/>
                      </a:pPr>
                      <a:r>
                        <a:rPr lang="en-US" sz="1300"/>
                        <a:t>Example</a:t>
                      </a:r>
                      <a:endParaRPr/>
                    </a:p>
                  </a:txBody>
                  <a:tcPr marT="32625" marB="32625" marR="65275" marL="65275" anchor="ctr"/>
                </a:tc>
              </a:tr>
              <a:tr h="261075">
                <a:tc>
                  <a:txBody>
                    <a:bodyPr/>
                    <a:lstStyle/>
                    <a:p>
                      <a:pPr indent="0" lvl="0" marL="0" marR="0" rtl="0" algn="l">
                        <a:spcBef>
                          <a:spcPts val="0"/>
                        </a:spcBef>
                        <a:spcAft>
                          <a:spcPts val="0"/>
                        </a:spcAft>
                        <a:buNone/>
                      </a:pPr>
                      <a:r>
                        <a:rPr lang="en-US" sz="1300"/>
                        <a:t>lower()</a:t>
                      </a:r>
                      <a:endParaRPr/>
                    </a:p>
                  </a:txBody>
                  <a:tcPr marT="32625" marB="32625" marR="65275" marL="65275" anchor="ctr"/>
                </a:tc>
                <a:tc>
                  <a:txBody>
                    <a:bodyPr/>
                    <a:lstStyle/>
                    <a:p>
                      <a:pPr indent="0" lvl="0" marL="0" marR="0" rtl="0" algn="l">
                        <a:spcBef>
                          <a:spcPts val="0"/>
                        </a:spcBef>
                        <a:spcAft>
                          <a:spcPts val="0"/>
                        </a:spcAft>
                        <a:buNone/>
                      </a:pPr>
                      <a:r>
                        <a:rPr lang="en-US" sz="1300"/>
                        <a:t>Lowercase</a:t>
                      </a:r>
                      <a:endParaRPr/>
                    </a:p>
                  </a:txBody>
                  <a:tcPr marT="32625" marB="32625" marR="65275" marL="65275" anchor="ctr"/>
                </a:tc>
                <a:tc>
                  <a:txBody>
                    <a:bodyPr/>
                    <a:lstStyle/>
                    <a:p>
                      <a:pPr indent="0" lvl="0" marL="0" marR="0" rtl="0" algn="l">
                        <a:spcBef>
                          <a:spcPts val="0"/>
                        </a:spcBef>
                        <a:spcAft>
                          <a:spcPts val="0"/>
                        </a:spcAft>
                        <a:buNone/>
                      </a:pPr>
                      <a:r>
                        <a:rPr lang="en-US" sz="1300"/>
                        <a:t>"ABC".lower() → "abc"</a:t>
                      </a:r>
                      <a:endParaRPr/>
                    </a:p>
                  </a:txBody>
                  <a:tcPr marT="32625" marB="32625" marR="65275" marL="65275" anchor="ctr"/>
                </a:tc>
              </a:tr>
              <a:tr h="261075">
                <a:tc>
                  <a:txBody>
                    <a:bodyPr/>
                    <a:lstStyle/>
                    <a:p>
                      <a:pPr indent="0" lvl="0" marL="0" marR="0" rtl="0" algn="l">
                        <a:spcBef>
                          <a:spcPts val="0"/>
                        </a:spcBef>
                        <a:spcAft>
                          <a:spcPts val="0"/>
                        </a:spcAft>
                        <a:buNone/>
                      </a:pPr>
                      <a:r>
                        <a:rPr lang="en-US" sz="1300"/>
                        <a:t>upper()</a:t>
                      </a:r>
                      <a:endParaRPr/>
                    </a:p>
                  </a:txBody>
                  <a:tcPr marT="32625" marB="32625" marR="65275" marL="65275" anchor="ctr"/>
                </a:tc>
                <a:tc>
                  <a:txBody>
                    <a:bodyPr/>
                    <a:lstStyle/>
                    <a:p>
                      <a:pPr indent="0" lvl="0" marL="0" marR="0" rtl="0" algn="l">
                        <a:spcBef>
                          <a:spcPts val="0"/>
                        </a:spcBef>
                        <a:spcAft>
                          <a:spcPts val="0"/>
                        </a:spcAft>
                        <a:buNone/>
                      </a:pPr>
                      <a:r>
                        <a:rPr lang="en-US" sz="1300"/>
                        <a:t>Uppercase</a:t>
                      </a:r>
                      <a:endParaRPr/>
                    </a:p>
                  </a:txBody>
                  <a:tcPr marT="32625" marB="32625" marR="65275" marL="65275" anchor="ctr"/>
                </a:tc>
                <a:tc>
                  <a:txBody>
                    <a:bodyPr/>
                    <a:lstStyle/>
                    <a:p>
                      <a:pPr indent="0" lvl="0" marL="0" marR="0" rtl="0" algn="l">
                        <a:spcBef>
                          <a:spcPts val="0"/>
                        </a:spcBef>
                        <a:spcAft>
                          <a:spcPts val="0"/>
                        </a:spcAft>
                        <a:buNone/>
                      </a:pPr>
                      <a:r>
                        <a:rPr lang="en-US" sz="1300"/>
                        <a:t>"abc".upper() → "ABC"</a:t>
                      </a:r>
                      <a:endParaRPr/>
                    </a:p>
                  </a:txBody>
                  <a:tcPr marT="32625" marB="32625" marR="65275" marL="65275" anchor="ctr"/>
                </a:tc>
              </a:tr>
              <a:tr h="261075">
                <a:tc>
                  <a:txBody>
                    <a:bodyPr/>
                    <a:lstStyle/>
                    <a:p>
                      <a:pPr indent="0" lvl="0" marL="0" marR="0" rtl="0" algn="l">
                        <a:spcBef>
                          <a:spcPts val="0"/>
                        </a:spcBef>
                        <a:spcAft>
                          <a:spcPts val="0"/>
                        </a:spcAft>
                        <a:buNone/>
                      </a:pPr>
                      <a:r>
                        <a:rPr lang="en-US" sz="1300"/>
                        <a:t>title()</a:t>
                      </a:r>
                      <a:endParaRPr/>
                    </a:p>
                  </a:txBody>
                  <a:tcPr marT="32625" marB="32625" marR="65275" marL="65275" anchor="ctr"/>
                </a:tc>
                <a:tc>
                  <a:txBody>
                    <a:bodyPr/>
                    <a:lstStyle/>
                    <a:p>
                      <a:pPr indent="0" lvl="0" marL="0" marR="0" rtl="0" algn="l">
                        <a:spcBef>
                          <a:spcPts val="0"/>
                        </a:spcBef>
                        <a:spcAft>
                          <a:spcPts val="0"/>
                        </a:spcAft>
                        <a:buNone/>
                      </a:pPr>
                      <a:r>
                        <a:rPr lang="en-US" sz="1300"/>
                        <a:t>Title Case</a:t>
                      </a:r>
                      <a:endParaRPr/>
                    </a:p>
                  </a:txBody>
                  <a:tcPr marT="32625" marB="32625" marR="65275" marL="65275" anchor="ctr"/>
                </a:tc>
                <a:tc>
                  <a:txBody>
                    <a:bodyPr/>
                    <a:lstStyle/>
                    <a:p>
                      <a:pPr indent="0" lvl="0" marL="0" marR="0" rtl="0" algn="l">
                        <a:spcBef>
                          <a:spcPts val="0"/>
                        </a:spcBef>
                        <a:spcAft>
                          <a:spcPts val="0"/>
                        </a:spcAft>
                        <a:buNone/>
                      </a:pPr>
                      <a:r>
                        <a:rPr lang="en-US" sz="1300"/>
                        <a:t>"hello world".title()</a:t>
                      </a:r>
                      <a:endParaRPr/>
                    </a:p>
                  </a:txBody>
                  <a:tcPr marT="32625" marB="32625" marR="65275" marL="65275" anchor="ctr"/>
                </a:tc>
              </a:tr>
              <a:tr h="261075">
                <a:tc>
                  <a:txBody>
                    <a:bodyPr/>
                    <a:lstStyle/>
                    <a:p>
                      <a:pPr indent="0" lvl="0" marL="0" marR="0" rtl="0" algn="l">
                        <a:spcBef>
                          <a:spcPts val="0"/>
                        </a:spcBef>
                        <a:spcAft>
                          <a:spcPts val="0"/>
                        </a:spcAft>
                        <a:buNone/>
                      </a:pPr>
                      <a:r>
                        <a:rPr lang="en-US" sz="1300"/>
                        <a:t>capitalize()</a:t>
                      </a:r>
                      <a:endParaRPr/>
                    </a:p>
                  </a:txBody>
                  <a:tcPr marT="32625" marB="32625" marR="65275" marL="65275" anchor="ctr"/>
                </a:tc>
                <a:tc>
                  <a:txBody>
                    <a:bodyPr/>
                    <a:lstStyle/>
                    <a:p>
                      <a:pPr indent="0" lvl="0" marL="0" marR="0" rtl="0" algn="l">
                        <a:spcBef>
                          <a:spcPts val="0"/>
                        </a:spcBef>
                        <a:spcAft>
                          <a:spcPts val="0"/>
                        </a:spcAft>
                        <a:buNone/>
                      </a:pPr>
                      <a:r>
                        <a:rPr lang="en-US" sz="1300"/>
                        <a:t>First letter capital</a:t>
                      </a:r>
                      <a:endParaRPr/>
                    </a:p>
                  </a:txBody>
                  <a:tcPr marT="32625" marB="32625" marR="65275" marL="65275" anchor="ctr"/>
                </a:tc>
                <a:tc>
                  <a:txBody>
                    <a:bodyPr/>
                    <a:lstStyle/>
                    <a:p>
                      <a:pPr indent="0" lvl="0" marL="0" marR="0" rtl="0" algn="l">
                        <a:spcBef>
                          <a:spcPts val="0"/>
                        </a:spcBef>
                        <a:spcAft>
                          <a:spcPts val="0"/>
                        </a:spcAft>
                        <a:buNone/>
                      </a:pPr>
                      <a:r>
                        <a:rPr lang="en-US" sz="1300"/>
                        <a:t>"hello".capitalize()</a:t>
                      </a:r>
                      <a:endParaRPr/>
                    </a:p>
                  </a:txBody>
                  <a:tcPr marT="32625" marB="32625" marR="65275" marL="65275" anchor="ctr"/>
                </a:tc>
              </a:tr>
              <a:tr h="261075">
                <a:tc>
                  <a:txBody>
                    <a:bodyPr/>
                    <a:lstStyle/>
                    <a:p>
                      <a:pPr indent="0" lvl="0" marL="0" marR="0" rtl="0" algn="l">
                        <a:spcBef>
                          <a:spcPts val="0"/>
                        </a:spcBef>
                        <a:spcAft>
                          <a:spcPts val="0"/>
                        </a:spcAft>
                        <a:buNone/>
                      </a:pPr>
                      <a:r>
                        <a:rPr lang="en-US" sz="1300"/>
                        <a:t>strip()</a:t>
                      </a:r>
                      <a:endParaRPr/>
                    </a:p>
                  </a:txBody>
                  <a:tcPr marT="32625" marB="32625" marR="65275" marL="65275" anchor="ctr"/>
                </a:tc>
                <a:tc>
                  <a:txBody>
                    <a:bodyPr/>
                    <a:lstStyle/>
                    <a:p>
                      <a:pPr indent="0" lvl="0" marL="0" marR="0" rtl="0" algn="l">
                        <a:spcBef>
                          <a:spcPts val="0"/>
                        </a:spcBef>
                        <a:spcAft>
                          <a:spcPts val="0"/>
                        </a:spcAft>
                        <a:buNone/>
                      </a:pPr>
                      <a:r>
                        <a:rPr lang="en-US" sz="1300"/>
                        <a:t>Trim spaces</a:t>
                      </a:r>
                      <a:endParaRPr/>
                    </a:p>
                  </a:txBody>
                  <a:tcPr marT="32625" marB="32625" marR="65275" marL="65275" anchor="ctr"/>
                </a:tc>
                <a:tc>
                  <a:txBody>
                    <a:bodyPr/>
                    <a:lstStyle/>
                    <a:p>
                      <a:pPr indent="0" lvl="0" marL="0" marR="0" rtl="0" algn="l">
                        <a:spcBef>
                          <a:spcPts val="0"/>
                        </a:spcBef>
                        <a:spcAft>
                          <a:spcPts val="0"/>
                        </a:spcAft>
                        <a:buNone/>
                      </a:pPr>
                      <a:r>
                        <a:rPr lang="en-US" sz="1300"/>
                        <a:t>" hi ".strip()</a:t>
                      </a:r>
                      <a:endParaRPr/>
                    </a:p>
                  </a:txBody>
                  <a:tcPr marT="32625" marB="32625" marR="65275" marL="65275" anchor="ctr"/>
                </a:tc>
              </a:tr>
              <a:tr h="261075">
                <a:tc>
                  <a:txBody>
                    <a:bodyPr/>
                    <a:lstStyle/>
                    <a:p>
                      <a:pPr indent="0" lvl="0" marL="0" marR="0" rtl="0" algn="l">
                        <a:spcBef>
                          <a:spcPts val="0"/>
                        </a:spcBef>
                        <a:spcAft>
                          <a:spcPts val="0"/>
                        </a:spcAft>
                        <a:buNone/>
                      </a:pPr>
                      <a:r>
                        <a:rPr lang="en-US" sz="1300"/>
                        <a:t>lstrip() / rstrip()</a:t>
                      </a:r>
                      <a:endParaRPr/>
                    </a:p>
                  </a:txBody>
                  <a:tcPr marT="32625" marB="32625" marR="65275" marL="65275" anchor="ctr"/>
                </a:tc>
                <a:tc>
                  <a:txBody>
                    <a:bodyPr/>
                    <a:lstStyle/>
                    <a:p>
                      <a:pPr indent="0" lvl="0" marL="0" marR="0" rtl="0" algn="l">
                        <a:spcBef>
                          <a:spcPts val="0"/>
                        </a:spcBef>
                        <a:spcAft>
                          <a:spcPts val="0"/>
                        </a:spcAft>
                        <a:buNone/>
                      </a:pPr>
                      <a:r>
                        <a:rPr lang="en-US" sz="1300"/>
                        <a:t>Trim left/right</a:t>
                      </a:r>
                      <a:endParaRPr/>
                    </a:p>
                  </a:txBody>
                  <a:tcPr marT="32625" marB="32625" marR="65275" marL="65275" anchor="ctr"/>
                </a:tc>
                <a:tc>
                  <a:txBody>
                    <a:bodyPr/>
                    <a:lstStyle/>
                    <a:p>
                      <a:pPr indent="0" lvl="0" marL="0" marR="0" rtl="0" algn="l">
                        <a:spcBef>
                          <a:spcPts val="0"/>
                        </a:spcBef>
                        <a:spcAft>
                          <a:spcPts val="0"/>
                        </a:spcAft>
                        <a:buNone/>
                      </a:pPr>
                      <a:r>
                        <a:t/>
                      </a:r>
                      <a:endParaRPr sz="1300"/>
                    </a:p>
                  </a:txBody>
                  <a:tcPr marT="32625" marB="32625" marR="65275" marL="65275" anchor="ctr"/>
                </a:tc>
              </a:tr>
              <a:tr h="261075">
                <a:tc>
                  <a:txBody>
                    <a:bodyPr/>
                    <a:lstStyle/>
                    <a:p>
                      <a:pPr indent="0" lvl="0" marL="0" marR="0" rtl="0" algn="l">
                        <a:spcBef>
                          <a:spcPts val="0"/>
                        </a:spcBef>
                        <a:spcAft>
                          <a:spcPts val="0"/>
                        </a:spcAft>
                        <a:buNone/>
                      </a:pPr>
                      <a:r>
                        <a:rPr lang="en-US" sz="1300"/>
                        <a:t>replace(old, new)</a:t>
                      </a:r>
                      <a:endParaRPr/>
                    </a:p>
                  </a:txBody>
                  <a:tcPr marT="32625" marB="32625" marR="65275" marL="65275" anchor="ctr"/>
                </a:tc>
                <a:tc>
                  <a:txBody>
                    <a:bodyPr/>
                    <a:lstStyle/>
                    <a:p>
                      <a:pPr indent="0" lvl="0" marL="0" marR="0" rtl="0" algn="l">
                        <a:spcBef>
                          <a:spcPts val="0"/>
                        </a:spcBef>
                        <a:spcAft>
                          <a:spcPts val="0"/>
                        </a:spcAft>
                        <a:buNone/>
                      </a:pPr>
                      <a:r>
                        <a:rPr lang="en-US" sz="1300"/>
                        <a:t>Replace text</a:t>
                      </a:r>
                      <a:endParaRPr/>
                    </a:p>
                  </a:txBody>
                  <a:tcPr marT="32625" marB="32625" marR="65275" marL="65275" anchor="ctr"/>
                </a:tc>
                <a:tc>
                  <a:txBody>
                    <a:bodyPr/>
                    <a:lstStyle/>
                    <a:p>
                      <a:pPr indent="0" lvl="0" marL="0" marR="0" rtl="0" algn="l">
                        <a:spcBef>
                          <a:spcPts val="0"/>
                        </a:spcBef>
                        <a:spcAft>
                          <a:spcPts val="0"/>
                        </a:spcAft>
                        <a:buNone/>
                      </a:pPr>
                      <a:r>
                        <a:rPr lang="en-US" sz="1300"/>
                        <a:t>"hi".replace("h", "H")</a:t>
                      </a:r>
                      <a:endParaRPr/>
                    </a:p>
                  </a:txBody>
                  <a:tcPr marT="32625" marB="32625" marR="65275" marL="65275" anchor="ctr"/>
                </a:tc>
              </a:tr>
              <a:tr h="261075">
                <a:tc>
                  <a:txBody>
                    <a:bodyPr/>
                    <a:lstStyle/>
                    <a:p>
                      <a:pPr indent="0" lvl="0" marL="0" marR="0" rtl="0" algn="l">
                        <a:spcBef>
                          <a:spcPts val="0"/>
                        </a:spcBef>
                        <a:spcAft>
                          <a:spcPts val="0"/>
                        </a:spcAft>
                        <a:buNone/>
                      </a:pPr>
                      <a:r>
                        <a:rPr lang="en-US" sz="1300"/>
                        <a:t>split()</a:t>
                      </a:r>
                      <a:endParaRPr/>
                    </a:p>
                  </a:txBody>
                  <a:tcPr marT="32625" marB="32625" marR="65275" marL="65275" anchor="ctr"/>
                </a:tc>
                <a:tc>
                  <a:txBody>
                    <a:bodyPr/>
                    <a:lstStyle/>
                    <a:p>
                      <a:pPr indent="0" lvl="0" marL="0" marR="0" rtl="0" algn="l">
                        <a:spcBef>
                          <a:spcPts val="0"/>
                        </a:spcBef>
                        <a:spcAft>
                          <a:spcPts val="0"/>
                        </a:spcAft>
                        <a:buNone/>
                      </a:pPr>
                      <a:r>
                        <a:rPr lang="en-US" sz="1300"/>
                        <a:t>Split by space/comma</a:t>
                      </a:r>
                      <a:endParaRPr/>
                    </a:p>
                  </a:txBody>
                  <a:tcPr marT="32625" marB="32625" marR="65275" marL="65275" anchor="ctr"/>
                </a:tc>
                <a:tc>
                  <a:txBody>
                    <a:bodyPr/>
                    <a:lstStyle/>
                    <a:p>
                      <a:pPr indent="0" lvl="0" marL="0" marR="0" rtl="0" algn="l">
                        <a:spcBef>
                          <a:spcPts val="0"/>
                        </a:spcBef>
                        <a:spcAft>
                          <a:spcPts val="0"/>
                        </a:spcAft>
                        <a:buNone/>
                      </a:pPr>
                      <a:r>
                        <a:rPr lang="en-US" sz="1300"/>
                        <a:t>"a,b".split(",")</a:t>
                      </a:r>
                      <a:endParaRPr/>
                    </a:p>
                  </a:txBody>
                  <a:tcPr marT="32625" marB="32625" marR="65275" marL="65275" anchor="ctr"/>
                </a:tc>
              </a:tr>
              <a:tr h="261075">
                <a:tc>
                  <a:txBody>
                    <a:bodyPr/>
                    <a:lstStyle/>
                    <a:p>
                      <a:pPr indent="0" lvl="0" marL="0" marR="0" rtl="0" algn="l">
                        <a:spcBef>
                          <a:spcPts val="0"/>
                        </a:spcBef>
                        <a:spcAft>
                          <a:spcPts val="0"/>
                        </a:spcAft>
                        <a:buNone/>
                      </a:pPr>
                      <a:r>
                        <a:rPr lang="en-US" sz="1300"/>
                        <a:t>join()</a:t>
                      </a:r>
                      <a:endParaRPr/>
                    </a:p>
                  </a:txBody>
                  <a:tcPr marT="32625" marB="32625" marR="65275" marL="65275" anchor="ctr"/>
                </a:tc>
                <a:tc>
                  <a:txBody>
                    <a:bodyPr/>
                    <a:lstStyle/>
                    <a:p>
                      <a:pPr indent="0" lvl="0" marL="0" marR="0" rtl="0" algn="l">
                        <a:spcBef>
                          <a:spcPts val="0"/>
                        </a:spcBef>
                        <a:spcAft>
                          <a:spcPts val="0"/>
                        </a:spcAft>
                        <a:buNone/>
                      </a:pPr>
                      <a:r>
                        <a:rPr lang="en-US" sz="1300"/>
                        <a:t>Join iterable</a:t>
                      </a:r>
                      <a:endParaRPr sz="1300"/>
                    </a:p>
                  </a:txBody>
                  <a:tcPr marT="32625" marB="32625" marR="65275" marL="65275" anchor="ctr"/>
                </a:tc>
                <a:tc>
                  <a:txBody>
                    <a:bodyPr/>
                    <a:lstStyle/>
                    <a:p>
                      <a:pPr indent="0" lvl="0" marL="0" marR="0" rtl="0" algn="l">
                        <a:spcBef>
                          <a:spcPts val="0"/>
                        </a:spcBef>
                        <a:spcAft>
                          <a:spcPts val="0"/>
                        </a:spcAft>
                        <a:buNone/>
                      </a:pPr>
                      <a:r>
                        <a:rPr lang="en-US" sz="1300"/>
                        <a:t>"-".join(['a','b']) → "a-b"</a:t>
                      </a:r>
                      <a:endParaRPr/>
                    </a:p>
                  </a:txBody>
                  <a:tcPr marT="32625" marB="32625" marR="65275" marL="65275" anchor="ctr"/>
                </a:tc>
              </a:tr>
              <a:tr h="261075">
                <a:tc>
                  <a:txBody>
                    <a:bodyPr/>
                    <a:lstStyle/>
                    <a:p>
                      <a:pPr indent="0" lvl="0" marL="0" marR="0" rtl="0" algn="l">
                        <a:spcBef>
                          <a:spcPts val="0"/>
                        </a:spcBef>
                        <a:spcAft>
                          <a:spcPts val="0"/>
                        </a:spcAft>
                        <a:buNone/>
                      </a:pPr>
                      <a:r>
                        <a:rPr lang="en-US" sz="1300"/>
                        <a:t>find(sub)</a:t>
                      </a:r>
                      <a:endParaRPr/>
                    </a:p>
                  </a:txBody>
                  <a:tcPr marT="32625" marB="32625" marR="65275" marL="65275" anchor="ctr"/>
                </a:tc>
                <a:tc>
                  <a:txBody>
                    <a:bodyPr/>
                    <a:lstStyle/>
                    <a:p>
                      <a:pPr indent="0" lvl="0" marL="0" marR="0" rtl="0" algn="l">
                        <a:spcBef>
                          <a:spcPts val="0"/>
                        </a:spcBef>
                        <a:spcAft>
                          <a:spcPts val="0"/>
                        </a:spcAft>
                        <a:buNone/>
                      </a:pPr>
                      <a:r>
                        <a:rPr lang="en-US" sz="1300"/>
                        <a:t>First index</a:t>
                      </a:r>
                      <a:endParaRPr/>
                    </a:p>
                  </a:txBody>
                  <a:tcPr marT="32625" marB="32625" marR="65275" marL="65275" anchor="ctr"/>
                </a:tc>
                <a:tc>
                  <a:txBody>
                    <a:bodyPr/>
                    <a:lstStyle/>
                    <a:p>
                      <a:pPr indent="0" lvl="0" marL="0" marR="0" rtl="0" algn="l">
                        <a:spcBef>
                          <a:spcPts val="0"/>
                        </a:spcBef>
                        <a:spcAft>
                          <a:spcPts val="0"/>
                        </a:spcAft>
                        <a:buNone/>
                      </a:pPr>
                      <a:r>
                        <a:rPr lang="en-US" sz="1300"/>
                        <a:t>"hello".find("e") → 1</a:t>
                      </a:r>
                      <a:endParaRPr/>
                    </a:p>
                  </a:txBody>
                  <a:tcPr marT="32625" marB="32625" marR="65275" marL="65275" anchor="ctr"/>
                </a:tc>
              </a:tr>
              <a:tr h="261075">
                <a:tc>
                  <a:txBody>
                    <a:bodyPr/>
                    <a:lstStyle/>
                    <a:p>
                      <a:pPr indent="0" lvl="0" marL="0" marR="0" rtl="0" algn="l">
                        <a:spcBef>
                          <a:spcPts val="0"/>
                        </a:spcBef>
                        <a:spcAft>
                          <a:spcPts val="0"/>
                        </a:spcAft>
                        <a:buNone/>
                      </a:pPr>
                      <a:r>
                        <a:rPr lang="en-US" sz="1300"/>
                        <a:t>count(sub)</a:t>
                      </a:r>
                      <a:endParaRPr/>
                    </a:p>
                  </a:txBody>
                  <a:tcPr marT="32625" marB="32625" marR="65275" marL="65275" anchor="ctr"/>
                </a:tc>
                <a:tc>
                  <a:txBody>
                    <a:bodyPr/>
                    <a:lstStyle/>
                    <a:p>
                      <a:pPr indent="0" lvl="0" marL="0" marR="0" rtl="0" algn="l">
                        <a:spcBef>
                          <a:spcPts val="0"/>
                        </a:spcBef>
                        <a:spcAft>
                          <a:spcPts val="0"/>
                        </a:spcAft>
                        <a:buNone/>
                      </a:pPr>
                      <a:r>
                        <a:rPr lang="en-US" sz="1300"/>
                        <a:t>Count occurrences</a:t>
                      </a:r>
                      <a:endParaRPr/>
                    </a:p>
                  </a:txBody>
                  <a:tcPr marT="32625" marB="32625" marR="65275" marL="65275" anchor="ctr"/>
                </a:tc>
                <a:tc>
                  <a:txBody>
                    <a:bodyPr/>
                    <a:lstStyle/>
                    <a:p>
                      <a:pPr indent="0" lvl="0" marL="0" marR="0" rtl="0" algn="l">
                        <a:spcBef>
                          <a:spcPts val="0"/>
                        </a:spcBef>
                        <a:spcAft>
                          <a:spcPts val="0"/>
                        </a:spcAft>
                        <a:buNone/>
                      </a:pPr>
                      <a:r>
                        <a:rPr lang="en-US" sz="1300"/>
                        <a:t>"hello".count("l") → 2</a:t>
                      </a:r>
                      <a:endParaRPr/>
                    </a:p>
                  </a:txBody>
                  <a:tcPr marT="32625" marB="32625" marR="65275" marL="65275" anchor="ctr"/>
                </a:tc>
              </a:tr>
              <a:tr h="261075">
                <a:tc>
                  <a:txBody>
                    <a:bodyPr/>
                    <a:lstStyle/>
                    <a:p>
                      <a:pPr indent="0" lvl="0" marL="0" marR="0" rtl="0" algn="l">
                        <a:spcBef>
                          <a:spcPts val="0"/>
                        </a:spcBef>
                        <a:spcAft>
                          <a:spcPts val="0"/>
                        </a:spcAft>
                        <a:buNone/>
                      </a:pPr>
                      <a:r>
                        <a:rPr lang="en-US" sz="1300"/>
                        <a:t>startswith() / endswith()</a:t>
                      </a:r>
                      <a:endParaRPr/>
                    </a:p>
                  </a:txBody>
                  <a:tcPr marT="32625" marB="32625" marR="65275" marL="65275" anchor="ctr"/>
                </a:tc>
                <a:tc>
                  <a:txBody>
                    <a:bodyPr/>
                    <a:lstStyle/>
                    <a:p>
                      <a:pPr indent="0" lvl="0" marL="0" marR="0" rtl="0" algn="l">
                        <a:spcBef>
                          <a:spcPts val="0"/>
                        </a:spcBef>
                        <a:spcAft>
                          <a:spcPts val="0"/>
                        </a:spcAft>
                        <a:buNone/>
                      </a:pPr>
                      <a:r>
                        <a:rPr lang="en-US" sz="1300"/>
                        <a:t>Check prefix/suffix</a:t>
                      </a:r>
                      <a:endParaRPr/>
                    </a:p>
                  </a:txBody>
                  <a:tcPr marT="32625" marB="32625" marR="65275" marL="65275" anchor="ctr"/>
                </a:tc>
                <a:tc>
                  <a:txBody>
                    <a:bodyPr/>
                    <a:lstStyle/>
                    <a:p>
                      <a:pPr indent="0" lvl="0" marL="0" marR="0" rtl="0" algn="l">
                        <a:spcBef>
                          <a:spcPts val="0"/>
                        </a:spcBef>
                        <a:spcAft>
                          <a:spcPts val="0"/>
                        </a:spcAft>
                        <a:buNone/>
                      </a:pPr>
                      <a:r>
                        <a:rPr lang="en-US" sz="1300"/>
                        <a:t>"hi".startswith("h")</a:t>
                      </a:r>
                      <a:endParaRPr/>
                    </a:p>
                  </a:txBody>
                  <a:tcPr marT="32625" marB="32625" marR="65275" marL="65275"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0" st="0"/>
                                            </p:txEl>
                                          </p:spTgt>
                                        </p:tgtEl>
                                        <p:attrNameLst>
                                          <p:attrName>style.visibility</p:attrName>
                                        </p:attrNameLst>
                                      </p:cBhvr>
                                      <p:to>
                                        <p:strVal val="visible"/>
                                      </p:to>
                                    </p:set>
                                    <p:animEffect filter="fade" transition="in">
                                      <p:cBhvr>
                                        <p:cTn dur="500"/>
                                        <p:tgtEl>
                                          <p:spTgt spid="33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1">
                                            <p:txEl>
                                              <p:pRg end="1" st="1"/>
                                            </p:txEl>
                                          </p:spTgt>
                                        </p:tgtEl>
                                        <p:attrNameLst>
                                          <p:attrName>style.visibility</p:attrName>
                                        </p:attrNameLst>
                                      </p:cBhvr>
                                      <p:to>
                                        <p:strVal val="visible"/>
                                      </p:to>
                                    </p:set>
                                    <p:animEffect filter="fade" transition="in">
                                      <p:cBhvr>
                                        <p:cTn dur="500"/>
                                        <p:tgtEl>
                                          <p:spTgt spid="33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5"/>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38" name="Google Shape;338;p35"/>
          <p:cNvSpPr txBox="1"/>
          <p:nvPr>
            <p:ph idx="1" type="body"/>
          </p:nvPr>
        </p:nvSpPr>
        <p:spPr>
          <a:xfrm>
            <a:off x="457200" y="7429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List – A list represents a group of elements. A list can store different types of elements which can be modified. Lists are dynamic which means size is not fixed. Lists are represented using square bracket [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data = [10, 20, -50, 21.3, ‘Python’]</a:t>
            </a:r>
            <a:endParaRPr/>
          </a:p>
        </p:txBody>
      </p:sp>
      <p:graphicFrame>
        <p:nvGraphicFramePr>
          <p:cNvPr id="339" name="Google Shape;339;p35"/>
          <p:cNvGraphicFramePr/>
          <p:nvPr/>
        </p:nvGraphicFramePr>
        <p:xfrm>
          <a:off x="1371600" y="2365117"/>
          <a:ext cx="3000000" cy="3000000"/>
        </p:xfrm>
        <a:graphic>
          <a:graphicData uri="http://schemas.openxmlformats.org/drawingml/2006/table">
            <a:tbl>
              <a:tblPr bandRow="1" firstRow="1">
                <a:noFill/>
                <a:tableStyleId>{2CAA705B-74BD-4309-A868-7F1B09B252B4}</a:tableStyleId>
              </a:tblPr>
              <a:tblGrid>
                <a:gridCol w="609600"/>
                <a:gridCol w="1447800"/>
              </a:tblGrid>
              <a:tr h="365750">
                <a:tc>
                  <a:txBody>
                    <a:bodyPr/>
                    <a:lstStyle/>
                    <a:p>
                      <a:pPr indent="0" lvl="0" marL="0" marR="0" rtl="0" algn="ctr">
                        <a:spcBef>
                          <a:spcPts val="0"/>
                        </a:spcBef>
                        <a:spcAft>
                          <a:spcPts val="0"/>
                        </a:spcAft>
                        <a:buNone/>
                      </a:pPr>
                      <a:r>
                        <a:rPr lang="en-US" sz="1800"/>
                        <a:t>[0]</a:t>
                      </a:r>
                      <a:endParaRPr sz="1800"/>
                    </a:p>
                  </a:txBody>
                  <a:tcPr marT="45725" marB="45725" marR="91450" marL="91450"/>
                </a:tc>
                <a:tc>
                  <a:txBody>
                    <a:bodyPr/>
                    <a:lstStyle/>
                    <a:p>
                      <a:pPr indent="0" lvl="0" marL="0" marR="0" rtl="0" algn="ctr">
                        <a:spcBef>
                          <a:spcPts val="0"/>
                        </a:spcBef>
                        <a:spcAft>
                          <a:spcPts val="0"/>
                        </a:spcAft>
                        <a:buNone/>
                      </a:pPr>
                      <a:r>
                        <a:rPr lang="en-US" sz="1800"/>
                        <a:t>10</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20</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-50</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21.3</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Python</a:t>
                      </a:r>
                      <a:endParaRPr sz="1800"/>
                    </a:p>
                  </a:txBody>
                  <a:tcPr marT="45725" marB="45725" marR="91450" marL="91450"/>
                </a:tc>
              </a:tr>
            </a:tbl>
          </a:graphicData>
        </a:graphic>
      </p:graphicFrame>
      <p:sp>
        <p:nvSpPr>
          <p:cNvPr id="340" name="Google Shape;340;p35"/>
          <p:cNvSpPr txBox="1"/>
          <p:nvPr/>
        </p:nvSpPr>
        <p:spPr>
          <a:xfrm>
            <a:off x="533400" y="3028950"/>
            <a:ext cx="5693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data</a:t>
            </a:r>
            <a:endParaRPr sz="1800">
              <a:solidFill>
                <a:schemeClr val="dk1"/>
              </a:solidFill>
              <a:latin typeface="Times New Roman"/>
              <a:ea typeface="Times New Roman"/>
              <a:cs typeface="Times New Roman"/>
              <a:sym typeface="Times New Roman"/>
            </a:endParaRPr>
          </a:p>
        </p:txBody>
      </p:sp>
      <p:cxnSp>
        <p:nvCxnSpPr>
          <p:cNvPr id="341" name="Google Shape;341;p35"/>
          <p:cNvCxnSpPr/>
          <p:nvPr/>
        </p:nvCxnSpPr>
        <p:spPr>
          <a:xfrm flipH="1" rot="10800000">
            <a:off x="914400" y="2593717"/>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42" name="Google Shape;342;p35"/>
          <p:cNvCxnSpPr/>
          <p:nvPr/>
        </p:nvCxnSpPr>
        <p:spPr>
          <a:xfrm flipH="1" rot="10800000">
            <a:off x="990600" y="2898517"/>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43" name="Google Shape;343;p35"/>
          <p:cNvCxnSpPr/>
          <p:nvPr/>
        </p:nvCxnSpPr>
        <p:spPr>
          <a:xfrm>
            <a:off x="1102787" y="3235583"/>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44" name="Google Shape;344;p35"/>
          <p:cNvCxnSpPr/>
          <p:nvPr/>
        </p:nvCxnSpPr>
        <p:spPr>
          <a:xfrm>
            <a:off x="1066800" y="3355717"/>
            <a:ext cx="304800" cy="2286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45" name="Google Shape;345;p35"/>
          <p:cNvCxnSpPr/>
          <p:nvPr/>
        </p:nvCxnSpPr>
        <p:spPr>
          <a:xfrm>
            <a:off x="818094" y="3420249"/>
            <a:ext cx="553506" cy="621268"/>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0" st="0"/>
                                            </p:txEl>
                                          </p:spTgt>
                                        </p:tgtEl>
                                        <p:attrNameLst>
                                          <p:attrName>style.visibility</p:attrName>
                                        </p:attrNameLst>
                                      </p:cBhvr>
                                      <p:to>
                                        <p:strVal val="visible"/>
                                      </p:to>
                                    </p:set>
                                    <p:animEffect filter="fade" transition="in">
                                      <p:cBhvr>
                                        <p:cTn dur="500"/>
                                        <p:tgtEl>
                                          <p:spTgt spid="3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xEl>
                                              <p:pRg end="1" st="1"/>
                                            </p:txEl>
                                          </p:spTgt>
                                        </p:tgtEl>
                                        <p:attrNameLst>
                                          <p:attrName>style.visibility</p:attrName>
                                        </p:attrNameLst>
                                      </p:cBhvr>
                                      <p:to>
                                        <p:strVal val="visible"/>
                                      </p:to>
                                    </p:set>
                                    <p:animEffect filter="fade" transition="in">
                                      <p:cBhvr>
                                        <p:cTn dur="500"/>
                                        <p:tgtEl>
                                          <p:spTgt spid="3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gtEl>
                                        <p:attrNameLst>
                                          <p:attrName>style.visibility</p:attrName>
                                        </p:attrNameLst>
                                      </p:cBhvr>
                                      <p:to>
                                        <p:strVal val="visible"/>
                                      </p:to>
                                    </p:set>
                                    <p:animEffect filter="fade" transition="in">
                                      <p:cBhvr>
                                        <p:cTn dur="500"/>
                                        <p:tgtEl>
                                          <p:spTgt spid="3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gtEl>
                                        <p:attrNameLst>
                                          <p:attrName>style.visibility</p:attrName>
                                        </p:attrNameLst>
                                      </p:cBhvr>
                                      <p:to>
                                        <p:strVal val="visible"/>
                                      </p:to>
                                    </p:set>
                                    <p:animEffect filter="fade" transition="in">
                                      <p:cBhvr>
                                        <p:cTn dur="500"/>
                                        <p:tgtEl>
                                          <p:spTgt spid="3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5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500"/>
                                        <p:tgtEl>
                                          <p:spTgt spid="3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6"/>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51" name="Google Shape;351;p36"/>
          <p:cNvSpPr txBox="1"/>
          <p:nvPr>
            <p:ph idx="1" type="body"/>
          </p:nvPr>
        </p:nvSpPr>
        <p:spPr>
          <a:xfrm>
            <a:off x="457200" y="7429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List – </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graphicFrame>
        <p:nvGraphicFramePr>
          <p:cNvPr id="352" name="Google Shape;352;p36"/>
          <p:cNvGraphicFramePr/>
          <p:nvPr/>
        </p:nvGraphicFramePr>
        <p:xfrm>
          <a:off x="483220" y="1200150"/>
          <a:ext cx="3000000" cy="3000000"/>
        </p:xfrm>
        <a:graphic>
          <a:graphicData uri="http://schemas.openxmlformats.org/drawingml/2006/table">
            <a:tbl>
              <a:tblPr>
                <a:noFill/>
                <a:tableStyleId>{F3B81AAF-B9A5-4101-99E6-C2B7CB4CFF26}</a:tableStyleId>
              </a:tblPr>
              <a:tblGrid>
                <a:gridCol w="1616225"/>
                <a:gridCol w="1616225"/>
                <a:gridCol w="1616225"/>
              </a:tblGrid>
              <a:tr h="215500">
                <a:tc>
                  <a:txBody>
                    <a:bodyPr/>
                    <a:lstStyle/>
                    <a:p>
                      <a:pPr indent="0" lvl="0" marL="0" marR="0" rtl="0" algn="l">
                        <a:spcBef>
                          <a:spcPts val="0"/>
                        </a:spcBef>
                        <a:spcAft>
                          <a:spcPts val="0"/>
                        </a:spcAft>
                        <a:buNone/>
                      </a:pPr>
                      <a:r>
                        <a:rPr lang="en-US" sz="1100"/>
                        <a:t>Method</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Description</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Example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append(x)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Adds item x to the end</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l.append(5)</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7125">
                <a:tc>
                  <a:txBody>
                    <a:bodyPr/>
                    <a:lstStyle/>
                    <a:p>
                      <a:pPr indent="0" lvl="0" marL="0" marR="0" rtl="0" algn="l">
                        <a:spcBef>
                          <a:spcPts val="0"/>
                        </a:spcBef>
                        <a:spcAft>
                          <a:spcPts val="0"/>
                        </a:spcAft>
                        <a:buNone/>
                      </a:pPr>
                      <a:r>
                        <a:rPr lang="en-US" sz="1100"/>
                        <a:t>extend(iterable)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Adds all items from another iterable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l.extend([6,7])</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insert(i, 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Inserts x at index i</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l.insert(1, 10)</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7125">
                <a:tc>
                  <a:txBody>
                    <a:bodyPr/>
                    <a:lstStyle/>
                    <a:p>
                      <a:pPr indent="0" lvl="0" marL="0" marR="0" rtl="0" algn="l">
                        <a:spcBef>
                          <a:spcPts val="0"/>
                        </a:spcBef>
                        <a:spcAft>
                          <a:spcPts val="0"/>
                        </a:spcAft>
                        <a:buNone/>
                      </a:pPr>
                      <a:r>
                        <a:rPr lang="en-US" sz="1100"/>
                        <a:t>remove(x)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Removes the first occurrence of 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l.remove(3)</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7125">
                <a:tc>
                  <a:txBody>
                    <a:bodyPr/>
                    <a:lstStyle/>
                    <a:p>
                      <a:pPr indent="0" lvl="0" marL="0" marR="0" rtl="0" algn="l">
                        <a:spcBef>
                          <a:spcPts val="0"/>
                        </a:spcBef>
                        <a:spcAft>
                          <a:spcPts val="0"/>
                        </a:spcAft>
                        <a:buNone/>
                      </a:pPr>
                      <a:r>
                        <a:rPr lang="en-US" sz="1100"/>
                        <a:t>pop([i])</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Removes and returns item at index i (last by default)</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l.pop() or l.pop(0)</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clear()</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Removes all items</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l.clear()</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index(x)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Returns the first index of 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l.index(4) or i[1]</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7125">
                <a:tc>
                  <a:txBody>
                    <a:bodyPr/>
                    <a:lstStyle/>
                    <a:p>
                      <a:pPr indent="0" lvl="0" marL="0" marR="0" rtl="0" algn="l">
                        <a:spcBef>
                          <a:spcPts val="0"/>
                        </a:spcBef>
                        <a:spcAft>
                          <a:spcPts val="0"/>
                        </a:spcAft>
                        <a:buNone/>
                      </a:pPr>
                      <a:r>
                        <a:rPr lang="en-US" sz="1100"/>
                        <a:t>count(x)</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Counts how many times x appears</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l.count(2)</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77125">
                <a:tc>
                  <a:txBody>
                    <a:bodyPr/>
                    <a:lstStyle/>
                    <a:p>
                      <a:pPr indent="0" lvl="0" marL="0" marR="0" rtl="0" algn="l">
                        <a:spcBef>
                          <a:spcPts val="0"/>
                        </a:spcBef>
                        <a:spcAft>
                          <a:spcPts val="0"/>
                        </a:spcAft>
                        <a:buNone/>
                      </a:pPr>
                      <a:r>
                        <a:rPr lang="en-US" sz="1100"/>
                        <a:t>sort()</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Sorts the list in-place (ascending by default)</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l.sort()</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reverse()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Reverses the list in-place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l.reverse()</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15500">
                <a:tc>
                  <a:txBody>
                    <a:bodyPr/>
                    <a:lstStyle/>
                    <a:p>
                      <a:pPr indent="0" lvl="0" marL="0" marR="0" rtl="0" algn="l">
                        <a:spcBef>
                          <a:spcPts val="0"/>
                        </a:spcBef>
                        <a:spcAft>
                          <a:spcPts val="0"/>
                        </a:spcAft>
                        <a:buNone/>
                      </a:pPr>
                      <a:r>
                        <a:rPr lang="en-US" sz="1100"/>
                        <a:t>copy()</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Returns a shallow copy</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100"/>
                        <a:t>new_list = l.copy()  reference copy b = a</a:t>
                      </a:r>
                      <a:endParaRPr/>
                    </a:p>
                  </a:txBody>
                  <a:tcPr marT="26925" marB="26925" marR="53875" marL="53875"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0" st="0"/>
                                            </p:txEl>
                                          </p:spTgt>
                                        </p:tgtEl>
                                        <p:attrNameLst>
                                          <p:attrName>style.visibility</p:attrName>
                                        </p:attrNameLst>
                                      </p:cBhvr>
                                      <p:to>
                                        <p:strVal val="visible"/>
                                      </p:to>
                                    </p:set>
                                    <p:animEffect filter="fade" transition="in">
                                      <p:cBhvr>
                                        <p:cTn dur="500"/>
                                        <p:tgtEl>
                                          <p:spTgt spid="3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1">
                                            <p:txEl>
                                              <p:pRg end="1" st="1"/>
                                            </p:txEl>
                                          </p:spTgt>
                                        </p:tgtEl>
                                        <p:attrNameLst>
                                          <p:attrName>style.visibility</p:attrName>
                                        </p:attrNameLst>
                                      </p:cBhvr>
                                      <p:to>
                                        <p:strVal val="visible"/>
                                      </p:to>
                                    </p:set>
                                    <p:animEffect filter="fade" transition="in">
                                      <p:cBhvr>
                                        <p:cTn dur="500"/>
                                        <p:tgtEl>
                                          <p:spTgt spid="351">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58" name="Google Shape;358;p37"/>
          <p:cNvSpPr txBox="1"/>
          <p:nvPr>
            <p:ph idx="1" type="body"/>
          </p:nvPr>
        </p:nvSpPr>
        <p:spPr>
          <a:xfrm>
            <a:off x="457200" y="8953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Tuple – A tuple contains a group of elements which can be different types. It is similar to List but Tuples are read-only which means we can not modify it’s element. Tuples are represented using parentheses (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data = (10, 20, -50, 21.3, ‘Python’)</a:t>
            </a:r>
            <a:endParaRPr/>
          </a:p>
        </p:txBody>
      </p:sp>
      <p:graphicFrame>
        <p:nvGraphicFramePr>
          <p:cNvPr id="359" name="Google Shape;359;p37"/>
          <p:cNvGraphicFramePr/>
          <p:nvPr/>
        </p:nvGraphicFramePr>
        <p:xfrm>
          <a:off x="1371600" y="2419350"/>
          <a:ext cx="3000000" cy="3000000"/>
        </p:xfrm>
        <a:graphic>
          <a:graphicData uri="http://schemas.openxmlformats.org/drawingml/2006/table">
            <a:tbl>
              <a:tblPr bandRow="1" firstRow="1">
                <a:noFill/>
                <a:tableStyleId>{2CAA705B-74BD-4309-A868-7F1B09B252B4}</a:tableStyleId>
              </a:tblPr>
              <a:tblGrid>
                <a:gridCol w="609600"/>
                <a:gridCol w="1447800"/>
              </a:tblGrid>
              <a:tr h="365750">
                <a:tc>
                  <a:txBody>
                    <a:bodyPr/>
                    <a:lstStyle/>
                    <a:p>
                      <a:pPr indent="0" lvl="0" marL="0" marR="0" rtl="0" algn="ctr">
                        <a:spcBef>
                          <a:spcPts val="0"/>
                        </a:spcBef>
                        <a:spcAft>
                          <a:spcPts val="0"/>
                        </a:spcAft>
                        <a:buNone/>
                      </a:pPr>
                      <a:r>
                        <a:rPr lang="en-US" sz="1800"/>
                        <a:t>[0]</a:t>
                      </a:r>
                      <a:endParaRPr sz="1800"/>
                    </a:p>
                  </a:txBody>
                  <a:tcPr marT="45725" marB="45725" marR="91450" marL="91450"/>
                </a:tc>
                <a:tc>
                  <a:txBody>
                    <a:bodyPr/>
                    <a:lstStyle/>
                    <a:p>
                      <a:pPr indent="0" lvl="0" marL="0" marR="0" rtl="0" algn="ctr">
                        <a:spcBef>
                          <a:spcPts val="0"/>
                        </a:spcBef>
                        <a:spcAft>
                          <a:spcPts val="0"/>
                        </a:spcAft>
                        <a:buNone/>
                      </a:pPr>
                      <a:r>
                        <a:rPr lang="en-US" sz="1800"/>
                        <a:t>10</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20</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-50</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21.3</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Python</a:t>
                      </a:r>
                      <a:endParaRPr sz="1800"/>
                    </a:p>
                  </a:txBody>
                  <a:tcPr marT="45725" marB="45725" marR="91450" marL="91450"/>
                </a:tc>
              </a:tr>
            </a:tbl>
          </a:graphicData>
        </a:graphic>
      </p:graphicFrame>
      <p:sp>
        <p:nvSpPr>
          <p:cNvPr id="360" name="Google Shape;360;p37"/>
          <p:cNvSpPr txBox="1"/>
          <p:nvPr/>
        </p:nvSpPr>
        <p:spPr>
          <a:xfrm>
            <a:off x="533400" y="3083183"/>
            <a:ext cx="5693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data</a:t>
            </a:r>
            <a:endParaRPr sz="1800">
              <a:solidFill>
                <a:schemeClr val="dk1"/>
              </a:solidFill>
              <a:latin typeface="Times New Roman"/>
              <a:ea typeface="Times New Roman"/>
              <a:cs typeface="Times New Roman"/>
              <a:sym typeface="Times New Roman"/>
            </a:endParaRPr>
          </a:p>
        </p:txBody>
      </p:sp>
      <p:cxnSp>
        <p:nvCxnSpPr>
          <p:cNvPr id="361" name="Google Shape;361;p37"/>
          <p:cNvCxnSpPr/>
          <p:nvPr/>
        </p:nvCxnSpPr>
        <p:spPr>
          <a:xfrm flipH="1" rot="10800000">
            <a:off x="914400" y="2647950"/>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62" name="Google Shape;362;p37"/>
          <p:cNvCxnSpPr/>
          <p:nvPr/>
        </p:nvCxnSpPr>
        <p:spPr>
          <a:xfrm flipH="1" rot="10800000">
            <a:off x="990600" y="2952750"/>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63" name="Google Shape;363;p37"/>
          <p:cNvCxnSpPr/>
          <p:nvPr/>
        </p:nvCxnSpPr>
        <p:spPr>
          <a:xfrm>
            <a:off x="1102787" y="3289816"/>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64" name="Google Shape;364;p37"/>
          <p:cNvCxnSpPr/>
          <p:nvPr/>
        </p:nvCxnSpPr>
        <p:spPr>
          <a:xfrm>
            <a:off x="1066800" y="3409950"/>
            <a:ext cx="304800" cy="2286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65" name="Google Shape;365;p37"/>
          <p:cNvCxnSpPr/>
          <p:nvPr/>
        </p:nvCxnSpPr>
        <p:spPr>
          <a:xfrm>
            <a:off x="818094" y="3474482"/>
            <a:ext cx="553506" cy="621268"/>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graphicFrame>
        <p:nvGraphicFramePr>
          <p:cNvPr id="366" name="Google Shape;366;p37"/>
          <p:cNvGraphicFramePr/>
          <p:nvPr/>
        </p:nvGraphicFramePr>
        <p:xfrm>
          <a:off x="4419600" y="2397383"/>
          <a:ext cx="3000000" cy="3000000"/>
        </p:xfrm>
        <a:graphic>
          <a:graphicData uri="http://schemas.openxmlformats.org/drawingml/2006/table">
            <a:tbl>
              <a:tblPr bandRow="1" firstRow="1">
                <a:noFill/>
                <a:tableStyleId>{2CAA705B-74BD-4309-A868-7F1B09B252B4}</a:tableStyleId>
              </a:tblPr>
              <a:tblGrid>
                <a:gridCol w="609600"/>
                <a:gridCol w="1447800"/>
              </a:tblGrid>
              <a:tr h="365750">
                <a:tc>
                  <a:txBody>
                    <a:bodyPr/>
                    <a:lstStyle/>
                    <a:p>
                      <a:pPr indent="0" lvl="0" marL="0" marR="0" rtl="0" algn="ctr">
                        <a:spcBef>
                          <a:spcPts val="0"/>
                        </a:spcBef>
                        <a:spcAft>
                          <a:spcPts val="0"/>
                        </a:spcAft>
                        <a:buNone/>
                      </a:pPr>
                      <a:r>
                        <a:rPr lang="en-US" sz="1800"/>
                        <a:t>[-5]</a:t>
                      </a:r>
                      <a:endParaRPr sz="1800"/>
                    </a:p>
                  </a:txBody>
                  <a:tcPr marT="45725" marB="45725" marR="91450" marL="91450"/>
                </a:tc>
                <a:tc>
                  <a:txBody>
                    <a:bodyPr/>
                    <a:lstStyle/>
                    <a:p>
                      <a:pPr indent="0" lvl="0" marL="0" marR="0" rtl="0" algn="ctr">
                        <a:spcBef>
                          <a:spcPts val="0"/>
                        </a:spcBef>
                        <a:spcAft>
                          <a:spcPts val="0"/>
                        </a:spcAft>
                        <a:buNone/>
                      </a:pPr>
                      <a:r>
                        <a:rPr lang="en-US" sz="1800"/>
                        <a:t>10</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20</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-50</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21.3</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Python</a:t>
                      </a:r>
                      <a:endParaRPr sz="1800"/>
                    </a:p>
                  </a:txBody>
                  <a:tcPr marT="45725" marB="45725" marR="91450" marL="91450"/>
                </a:tc>
              </a:tr>
            </a:tbl>
          </a:graphicData>
        </a:graphic>
      </p:graphicFrame>
      <p:sp>
        <p:nvSpPr>
          <p:cNvPr id="367" name="Google Shape;367;p37"/>
          <p:cNvSpPr txBox="1"/>
          <p:nvPr/>
        </p:nvSpPr>
        <p:spPr>
          <a:xfrm>
            <a:off x="3581400" y="3083183"/>
            <a:ext cx="56938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data</a:t>
            </a:r>
            <a:endParaRPr sz="1800">
              <a:solidFill>
                <a:schemeClr val="dk1"/>
              </a:solidFill>
              <a:latin typeface="Times New Roman"/>
              <a:ea typeface="Times New Roman"/>
              <a:cs typeface="Times New Roman"/>
              <a:sym typeface="Times New Roman"/>
            </a:endParaRPr>
          </a:p>
        </p:txBody>
      </p:sp>
      <p:cxnSp>
        <p:nvCxnSpPr>
          <p:cNvPr id="368" name="Google Shape;368;p37"/>
          <p:cNvCxnSpPr/>
          <p:nvPr/>
        </p:nvCxnSpPr>
        <p:spPr>
          <a:xfrm flipH="1" rot="10800000">
            <a:off x="3962400" y="2625983"/>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69" name="Google Shape;369;p37"/>
          <p:cNvCxnSpPr/>
          <p:nvPr/>
        </p:nvCxnSpPr>
        <p:spPr>
          <a:xfrm flipH="1" rot="10800000">
            <a:off x="4038600" y="2930783"/>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70" name="Google Shape;370;p37"/>
          <p:cNvCxnSpPr>
            <a:stCxn id="367" idx="3"/>
          </p:cNvCxnSpPr>
          <p:nvPr/>
        </p:nvCxnSpPr>
        <p:spPr>
          <a:xfrm>
            <a:off x="4150787" y="3267849"/>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71" name="Google Shape;371;p37"/>
          <p:cNvCxnSpPr/>
          <p:nvPr/>
        </p:nvCxnSpPr>
        <p:spPr>
          <a:xfrm>
            <a:off x="4114800" y="3387983"/>
            <a:ext cx="304800" cy="228600"/>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72" name="Google Shape;372;p37"/>
          <p:cNvCxnSpPr>
            <a:stCxn id="367" idx="2"/>
          </p:cNvCxnSpPr>
          <p:nvPr/>
        </p:nvCxnSpPr>
        <p:spPr>
          <a:xfrm>
            <a:off x="3866094" y="3452515"/>
            <a:ext cx="553500" cy="6213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sp>
        <p:nvSpPr>
          <p:cNvPr id="373" name="Google Shape;373;p37"/>
          <p:cNvSpPr txBox="1"/>
          <p:nvPr/>
        </p:nvSpPr>
        <p:spPr>
          <a:xfrm>
            <a:off x="6934200" y="2354818"/>
            <a:ext cx="131305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data[1] = 40</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0" st="0"/>
                                            </p:txEl>
                                          </p:spTgt>
                                        </p:tgtEl>
                                        <p:attrNameLst>
                                          <p:attrName>style.visibility</p:attrName>
                                        </p:attrNameLst>
                                      </p:cBhvr>
                                      <p:to>
                                        <p:strVal val="visible"/>
                                      </p:to>
                                    </p:set>
                                    <p:animEffect filter="fade" transition="in">
                                      <p:cBhvr>
                                        <p:cTn dur="500"/>
                                        <p:tgtEl>
                                          <p:spTgt spid="35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8">
                                            <p:txEl>
                                              <p:pRg end="1" st="1"/>
                                            </p:txEl>
                                          </p:spTgt>
                                        </p:tgtEl>
                                        <p:attrNameLst>
                                          <p:attrName>style.visibility</p:attrName>
                                        </p:attrNameLst>
                                      </p:cBhvr>
                                      <p:to>
                                        <p:strVal val="visible"/>
                                      </p:to>
                                    </p:set>
                                    <p:animEffect filter="fade" transition="in">
                                      <p:cBhvr>
                                        <p:cTn dur="500"/>
                                        <p:tgtEl>
                                          <p:spTgt spid="35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1"/>
                                        </p:tgtEl>
                                        <p:attrNameLst>
                                          <p:attrName>style.visibility</p:attrName>
                                        </p:attrNameLst>
                                      </p:cBhvr>
                                      <p:to>
                                        <p:strVal val="visible"/>
                                      </p:to>
                                    </p:set>
                                    <p:animEffect filter="fade" transition="in">
                                      <p:cBhvr>
                                        <p:cTn dur="500"/>
                                        <p:tgtEl>
                                          <p:spTgt spid="3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2"/>
                                        </p:tgtEl>
                                        <p:attrNameLst>
                                          <p:attrName>style.visibility</p:attrName>
                                        </p:attrNameLst>
                                      </p:cBhvr>
                                      <p:to>
                                        <p:strVal val="visible"/>
                                      </p:to>
                                    </p:set>
                                    <p:animEffect filter="fade" transition="in">
                                      <p:cBhvr>
                                        <p:cTn dur="500"/>
                                        <p:tgtEl>
                                          <p:spTgt spid="3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3"/>
                                        </p:tgtEl>
                                        <p:attrNameLst>
                                          <p:attrName>style.visibility</p:attrName>
                                        </p:attrNameLst>
                                      </p:cBhvr>
                                      <p:to>
                                        <p:strVal val="visible"/>
                                      </p:to>
                                    </p:set>
                                    <p:animEffect filter="fade" transition="in">
                                      <p:cBhvr>
                                        <p:cTn dur="500"/>
                                        <p:tgtEl>
                                          <p:spTgt spid="363"/>
                                        </p:tgtEl>
                                      </p:cBhvr>
                                    </p:animEffect>
                                  </p:childTnLst>
                                </p:cTn>
                              </p:par>
                              <p:par>
                                <p:cTn fill="hold" nodeType="withEffect" presetClass="entr" presetID="10" presetSubtype="0">
                                  <p:stCondLst>
                                    <p:cond delay="0"/>
                                  </p:stCondLst>
                                  <p:childTnLst>
                                    <p:set>
                                      <p:cBhvr>
                                        <p:cTn dur="1" fill="hold">
                                          <p:stCondLst>
                                            <p:cond delay="0"/>
                                          </p:stCondLst>
                                        </p:cTn>
                                        <p:tgtEl>
                                          <p:spTgt spid="364"/>
                                        </p:tgtEl>
                                        <p:attrNameLst>
                                          <p:attrName>style.visibility</p:attrName>
                                        </p:attrNameLst>
                                      </p:cBhvr>
                                      <p:to>
                                        <p:strVal val="visible"/>
                                      </p:to>
                                    </p:set>
                                    <p:animEffect filter="fade" transition="in">
                                      <p:cBhvr>
                                        <p:cTn dur="500"/>
                                        <p:tgtEl>
                                          <p:spTgt spid="364"/>
                                        </p:tgtEl>
                                      </p:cBhvr>
                                    </p:animEffect>
                                  </p:childTnLst>
                                </p:cTn>
                              </p:par>
                              <p:par>
                                <p:cTn fill="hold" nodeType="with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500"/>
                                        <p:tgtEl>
                                          <p:spTgt spid="366"/>
                                        </p:tgtEl>
                                      </p:cBhvr>
                                    </p:animEffect>
                                  </p:childTnLst>
                                </p:cTn>
                              </p:par>
                              <p:par>
                                <p:cTn fill="hold" nodeType="with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5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2"/>
                                        </p:tgtEl>
                                        <p:attrNameLst>
                                          <p:attrName>style.visibility</p:attrName>
                                        </p:attrNameLst>
                                      </p:cBhvr>
                                      <p:to>
                                        <p:strVal val="visible"/>
                                      </p:to>
                                    </p:set>
                                    <p:animEffect filter="fade" transition="in">
                                      <p:cBhvr>
                                        <p:cTn dur="500"/>
                                        <p:tgtEl>
                                          <p:spTgt spid="3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0"/>
                                        </p:tgtEl>
                                        <p:attrNameLst>
                                          <p:attrName>style.visibility</p:attrName>
                                        </p:attrNameLst>
                                      </p:cBhvr>
                                      <p:to>
                                        <p:strVal val="visible"/>
                                      </p:to>
                                    </p:set>
                                    <p:animEffect filter="fade" transition="in">
                                      <p:cBhvr>
                                        <p:cTn dur="500"/>
                                        <p:tgtEl>
                                          <p:spTgt spid="370"/>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5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373"/>
                                        </p:tgtEl>
                                        <p:attrNameLst>
                                          <p:attrName>ppt_y</p:attrName>
                                        </p:attrNameLst>
                                      </p:cBhvr>
                                      <p:tavLst>
                                        <p:tav fmla="" tm="0">
                                          <p:val>
                                            <p:strVal val="#ppt_y"/>
                                          </p:val>
                                        </p:tav>
                                        <p:tav fmla="" tm="100000">
                                          <p:val>
                                            <p:strVal val="#ppt_y+1"/>
                                          </p:val>
                                        </p:tav>
                                      </p:tavLst>
                                    </p:anim>
                                    <p:set>
                                      <p:cBhvr>
                                        <p:cTn dur="1" fill="hold">
                                          <p:stCondLst>
                                            <p:cond delay="500"/>
                                          </p:stCondLst>
                                        </p:cTn>
                                        <p:tgtEl>
                                          <p:spTgt spid="373"/>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8"/>
          <p:cNvSpPr txBox="1"/>
          <p:nvPr>
            <p:ph type="title"/>
          </p:nvPr>
        </p:nvSpPr>
        <p:spPr>
          <a:xfrm>
            <a:off x="457200" y="-1905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79" name="Google Shape;379;p38"/>
          <p:cNvSpPr txBox="1"/>
          <p:nvPr>
            <p:ph idx="1" type="body"/>
          </p:nvPr>
        </p:nvSpPr>
        <p:spPr>
          <a:xfrm>
            <a:off x="457200" y="895350"/>
            <a:ext cx="8229600" cy="137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Tuple – </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graphicFrame>
        <p:nvGraphicFramePr>
          <p:cNvPr id="380" name="Google Shape;380;p38"/>
          <p:cNvGraphicFramePr/>
          <p:nvPr/>
        </p:nvGraphicFramePr>
        <p:xfrm>
          <a:off x="457200" y="2074227"/>
          <a:ext cx="3000000" cy="3000000"/>
        </p:xfrm>
        <a:graphic>
          <a:graphicData uri="http://schemas.openxmlformats.org/drawingml/2006/table">
            <a:tbl>
              <a:tblPr>
                <a:noFill/>
                <a:tableStyleId>{F3B81AAF-B9A5-4101-99E6-C2B7CB4CFF26}</a:tableStyleId>
              </a:tblPr>
              <a:tblGrid>
                <a:gridCol w="2743200"/>
                <a:gridCol w="2743200"/>
                <a:gridCol w="2743200"/>
              </a:tblGrid>
              <a:tr h="228600">
                <a:tc>
                  <a:txBody>
                    <a:bodyPr/>
                    <a:lstStyle/>
                    <a:p>
                      <a:pPr indent="0" lvl="0" marL="0" marR="0" rtl="0" algn="l">
                        <a:spcBef>
                          <a:spcPts val="0"/>
                        </a:spcBef>
                        <a:spcAft>
                          <a:spcPts val="0"/>
                        </a:spcAft>
                        <a:buNone/>
                      </a:pPr>
                      <a:r>
                        <a:rPr lang="en-US" sz="1800"/>
                        <a:t>Method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Description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Example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count(x)</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Returns the number of times x appears</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t.count(2)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index(x)</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Returns the index of the first occurrence of x</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t.index(5)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0" st="0"/>
                                            </p:txEl>
                                          </p:spTgt>
                                        </p:tgtEl>
                                        <p:attrNameLst>
                                          <p:attrName>style.visibility</p:attrName>
                                        </p:attrNameLst>
                                      </p:cBhvr>
                                      <p:to>
                                        <p:strVal val="visible"/>
                                      </p:to>
                                    </p:set>
                                    <p:animEffect filter="fade" transition="in">
                                      <p:cBhvr>
                                        <p:cTn dur="500"/>
                                        <p:tgtEl>
                                          <p:spTgt spid="3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xEl>
                                              <p:pRg end="1" st="1"/>
                                            </p:txEl>
                                          </p:spTgt>
                                        </p:tgtEl>
                                        <p:attrNameLst>
                                          <p:attrName>style.visibility</p:attrName>
                                        </p:attrNameLst>
                                      </p:cBhvr>
                                      <p:to>
                                        <p:strVal val="visible"/>
                                      </p:to>
                                    </p:set>
                                    <p:animEffect filter="fade" transition="in">
                                      <p:cBhvr>
                                        <p:cTn dur="500"/>
                                        <p:tgtEl>
                                          <p:spTgt spid="37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9"/>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386" name="Google Shape;386;p39"/>
          <p:cNvSpPr txBox="1"/>
          <p:nvPr>
            <p:ph idx="1" type="body"/>
          </p:nvPr>
        </p:nvSpPr>
        <p:spPr>
          <a:xfrm>
            <a:off x="457200" y="929878"/>
            <a:ext cx="8229600" cy="14132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Range – Range represents a sequence of numbers. The numbers in the range are not modifiable.</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Ex:- rg = range(5) 		0 1 2 3 4 </a:t>
            </a:r>
            <a:endParaRPr/>
          </a:p>
          <a:p>
            <a:pPr indent="0" lvl="0" marL="0" rtl="0" algn="l">
              <a:spcBef>
                <a:spcPts val="360"/>
              </a:spcBef>
              <a:spcAft>
                <a:spcPts val="0"/>
              </a:spcAft>
              <a:buClr>
                <a:schemeClr val="dk1"/>
              </a:buClr>
              <a:buSzPts val="1800"/>
              <a:buNone/>
            </a:pPr>
            <a:r>
              <a:rPr lang="en-US" sz="1800">
                <a:latin typeface="Times New Roman"/>
                <a:ea typeface="Times New Roman"/>
                <a:cs typeface="Times New Roman"/>
                <a:sym typeface="Times New Roman"/>
              </a:rPr>
              <a:t>rg = range(10, 20, 2)	10 12 14 16 18</a:t>
            </a:r>
            <a:endParaRPr sz="1800">
              <a:latin typeface="Times New Roman"/>
              <a:ea typeface="Times New Roman"/>
              <a:cs typeface="Times New Roman"/>
              <a:sym typeface="Times New Roman"/>
            </a:endParaRPr>
          </a:p>
        </p:txBody>
      </p:sp>
      <p:graphicFrame>
        <p:nvGraphicFramePr>
          <p:cNvPr id="387" name="Google Shape;387;p39"/>
          <p:cNvGraphicFramePr/>
          <p:nvPr/>
        </p:nvGraphicFramePr>
        <p:xfrm>
          <a:off x="990600" y="2397383"/>
          <a:ext cx="3000000" cy="3000000"/>
        </p:xfrm>
        <a:graphic>
          <a:graphicData uri="http://schemas.openxmlformats.org/drawingml/2006/table">
            <a:tbl>
              <a:tblPr bandRow="1" firstRow="1">
                <a:noFill/>
                <a:tableStyleId>{2CAA705B-74BD-4309-A868-7F1B09B252B4}</a:tableStyleId>
              </a:tblPr>
              <a:tblGrid>
                <a:gridCol w="609600"/>
                <a:gridCol w="838200"/>
              </a:tblGrid>
              <a:tr h="365750">
                <a:tc>
                  <a:txBody>
                    <a:bodyPr/>
                    <a:lstStyle/>
                    <a:p>
                      <a:pPr indent="0" lvl="0" marL="0" marR="0" rtl="0" algn="ctr">
                        <a:spcBef>
                          <a:spcPts val="0"/>
                        </a:spcBef>
                        <a:spcAft>
                          <a:spcPts val="0"/>
                        </a:spcAft>
                        <a:buNone/>
                      </a:pPr>
                      <a:r>
                        <a:rPr lang="en-US" sz="1800"/>
                        <a:t>[0]</a:t>
                      </a:r>
                      <a:endParaRPr sz="1800"/>
                    </a:p>
                  </a:txBody>
                  <a:tcPr marT="45725" marB="45725" marR="91450" marL="91450"/>
                </a:tc>
                <a:tc>
                  <a:txBody>
                    <a:bodyPr/>
                    <a:lstStyle/>
                    <a:p>
                      <a:pPr indent="0" lvl="0" marL="0" marR="0" rtl="0" algn="ctr">
                        <a:spcBef>
                          <a:spcPts val="0"/>
                        </a:spcBef>
                        <a:spcAft>
                          <a:spcPts val="0"/>
                        </a:spcAft>
                        <a:buNone/>
                      </a:pPr>
                      <a:r>
                        <a:rPr lang="en-US" sz="1800"/>
                        <a:t>0</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1</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2</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3</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4</a:t>
                      </a:r>
                      <a:endParaRPr sz="1800"/>
                    </a:p>
                  </a:txBody>
                  <a:tcPr marT="45725" marB="45725" marR="91450" marL="91450"/>
                </a:tc>
              </a:tr>
            </a:tbl>
          </a:graphicData>
        </a:graphic>
      </p:graphicFrame>
      <p:sp>
        <p:nvSpPr>
          <p:cNvPr id="388" name="Google Shape;388;p39"/>
          <p:cNvSpPr txBox="1"/>
          <p:nvPr/>
        </p:nvSpPr>
        <p:spPr>
          <a:xfrm>
            <a:off x="312941" y="3061216"/>
            <a:ext cx="3728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rg</a:t>
            </a:r>
            <a:endParaRPr sz="1800">
              <a:solidFill>
                <a:schemeClr val="dk1"/>
              </a:solidFill>
              <a:latin typeface="Times New Roman"/>
              <a:ea typeface="Times New Roman"/>
              <a:cs typeface="Times New Roman"/>
              <a:sym typeface="Times New Roman"/>
            </a:endParaRPr>
          </a:p>
        </p:txBody>
      </p:sp>
      <p:cxnSp>
        <p:nvCxnSpPr>
          <p:cNvPr id="389" name="Google Shape;389;p39"/>
          <p:cNvCxnSpPr/>
          <p:nvPr/>
        </p:nvCxnSpPr>
        <p:spPr>
          <a:xfrm flipH="1" rot="10800000">
            <a:off x="533400" y="2625983"/>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0" name="Google Shape;390;p39"/>
          <p:cNvCxnSpPr/>
          <p:nvPr/>
        </p:nvCxnSpPr>
        <p:spPr>
          <a:xfrm flipH="1" rot="10800000">
            <a:off x="609600" y="2930783"/>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1" name="Google Shape;391;p39"/>
          <p:cNvCxnSpPr/>
          <p:nvPr/>
        </p:nvCxnSpPr>
        <p:spPr>
          <a:xfrm>
            <a:off x="721787" y="3267849"/>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2" name="Google Shape;392;p39"/>
          <p:cNvCxnSpPr/>
          <p:nvPr/>
        </p:nvCxnSpPr>
        <p:spPr>
          <a:xfrm>
            <a:off x="609600" y="3333750"/>
            <a:ext cx="381000" cy="282833"/>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3" name="Google Shape;393;p39"/>
          <p:cNvCxnSpPr>
            <a:stCxn id="388" idx="2"/>
          </p:cNvCxnSpPr>
          <p:nvPr/>
        </p:nvCxnSpPr>
        <p:spPr>
          <a:xfrm>
            <a:off x="499371" y="3430548"/>
            <a:ext cx="491100" cy="6432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graphicFrame>
        <p:nvGraphicFramePr>
          <p:cNvPr id="394" name="Google Shape;394;p39"/>
          <p:cNvGraphicFramePr/>
          <p:nvPr/>
        </p:nvGraphicFramePr>
        <p:xfrm>
          <a:off x="5943600" y="2419350"/>
          <a:ext cx="3000000" cy="3000000"/>
        </p:xfrm>
        <a:graphic>
          <a:graphicData uri="http://schemas.openxmlformats.org/drawingml/2006/table">
            <a:tbl>
              <a:tblPr bandRow="1" firstRow="1">
                <a:noFill/>
                <a:tableStyleId>{2CAA705B-74BD-4309-A868-7F1B09B252B4}</a:tableStyleId>
              </a:tblPr>
              <a:tblGrid>
                <a:gridCol w="609600"/>
                <a:gridCol w="838200"/>
              </a:tblGrid>
              <a:tr h="365750">
                <a:tc>
                  <a:txBody>
                    <a:bodyPr/>
                    <a:lstStyle/>
                    <a:p>
                      <a:pPr indent="0" lvl="0" marL="0" marR="0" rtl="0" algn="ctr">
                        <a:spcBef>
                          <a:spcPts val="0"/>
                        </a:spcBef>
                        <a:spcAft>
                          <a:spcPts val="0"/>
                        </a:spcAft>
                        <a:buNone/>
                      </a:pPr>
                      <a:r>
                        <a:rPr lang="en-US" sz="1800"/>
                        <a:t>[0]</a:t>
                      </a:r>
                      <a:endParaRPr sz="1800"/>
                    </a:p>
                  </a:txBody>
                  <a:tcPr marT="45725" marB="45725" marR="91450" marL="91450"/>
                </a:tc>
                <a:tc>
                  <a:txBody>
                    <a:bodyPr/>
                    <a:lstStyle/>
                    <a:p>
                      <a:pPr indent="0" lvl="0" marL="0" marR="0" rtl="0" algn="ctr">
                        <a:spcBef>
                          <a:spcPts val="0"/>
                        </a:spcBef>
                        <a:spcAft>
                          <a:spcPts val="0"/>
                        </a:spcAft>
                        <a:buNone/>
                      </a:pPr>
                      <a:r>
                        <a:rPr lang="en-US" sz="1800"/>
                        <a:t>10</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12</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14</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16</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18</a:t>
                      </a:r>
                      <a:endParaRPr sz="1800"/>
                    </a:p>
                  </a:txBody>
                  <a:tcPr marT="45725" marB="45725" marR="91450" marL="91450"/>
                </a:tc>
              </a:tr>
            </a:tbl>
          </a:graphicData>
        </a:graphic>
      </p:graphicFrame>
      <p:sp>
        <p:nvSpPr>
          <p:cNvPr id="395" name="Google Shape;395;p39"/>
          <p:cNvSpPr txBox="1"/>
          <p:nvPr/>
        </p:nvSpPr>
        <p:spPr>
          <a:xfrm>
            <a:off x="5265941" y="3083183"/>
            <a:ext cx="3728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rg</a:t>
            </a:r>
            <a:endParaRPr sz="1800">
              <a:solidFill>
                <a:schemeClr val="dk1"/>
              </a:solidFill>
              <a:latin typeface="Times New Roman"/>
              <a:ea typeface="Times New Roman"/>
              <a:cs typeface="Times New Roman"/>
              <a:sym typeface="Times New Roman"/>
            </a:endParaRPr>
          </a:p>
        </p:txBody>
      </p:sp>
      <p:cxnSp>
        <p:nvCxnSpPr>
          <p:cNvPr id="396" name="Google Shape;396;p39"/>
          <p:cNvCxnSpPr/>
          <p:nvPr/>
        </p:nvCxnSpPr>
        <p:spPr>
          <a:xfrm flipH="1" rot="10800000">
            <a:off x="5486400" y="2647950"/>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7" name="Google Shape;397;p39"/>
          <p:cNvCxnSpPr/>
          <p:nvPr/>
        </p:nvCxnSpPr>
        <p:spPr>
          <a:xfrm flipH="1" rot="10800000">
            <a:off x="5562600" y="2952750"/>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8" name="Google Shape;398;p39"/>
          <p:cNvCxnSpPr/>
          <p:nvPr/>
        </p:nvCxnSpPr>
        <p:spPr>
          <a:xfrm>
            <a:off x="5674787" y="3289816"/>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399" name="Google Shape;399;p39"/>
          <p:cNvCxnSpPr/>
          <p:nvPr/>
        </p:nvCxnSpPr>
        <p:spPr>
          <a:xfrm>
            <a:off x="5562600" y="3355717"/>
            <a:ext cx="381000" cy="282833"/>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0" name="Google Shape;400;p39"/>
          <p:cNvCxnSpPr>
            <a:stCxn id="395" idx="2"/>
          </p:cNvCxnSpPr>
          <p:nvPr/>
        </p:nvCxnSpPr>
        <p:spPr>
          <a:xfrm>
            <a:off x="5452371" y="3452515"/>
            <a:ext cx="491100" cy="6432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graphicFrame>
        <p:nvGraphicFramePr>
          <p:cNvPr id="401" name="Google Shape;401;p39"/>
          <p:cNvGraphicFramePr/>
          <p:nvPr/>
        </p:nvGraphicFramePr>
        <p:xfrm>
          <a:off x="3429000" y="2419350"/>
          <a:ext cx="3000000" cy="3000000"/>
        </p:xfrm>
        <a:graphic>
          <a:graphicData uri="http://schemas.openxmlformats.org/drawingml/2006/table">
            <a:tbl>
              <a:tblPr bandRow="1" firstRow="1">
                <a:noFill/>
                <a:tableStyleId>{2CAA705B-74BD-4309-A868-7F1B09B252B4}</a:tableStyleId>
              </a:tblPr>
              <a:tblGrid>
                <a:gridCol w="609600"/>
                <a:gridCol w="838200"/>
              </a:tblGrid>
              <a:tr h="365750">
                <a:tc>
                  <a:txBody>
                    <a:bodyPr/>
                    <a:lstStyle/>
                    <a:p>
                      <a:pPr indent="0" lvl="0" marL="0" marR="0" rtl="0" algn="ctr">
                        <a:spcBef>
                          <a:spcPts val="0"/>
                        </a:spcBef>
                        <a:spcAft>
                          <a:spcPts val="0"/>
                        </a:spcAft>
                        <a:buNone/>
                      </a:pPr>
                      <a:r>
                        <a:rPr lang="en-US" sz="1800"/>
                        <a:t>[-5]</a:t>
                      </a:r>
                      <a:endParaRPr sz="1800"/>
                    </a:p>
                  </a:txBody>
                  <a:tcPr marT="45725" marB="45725" marR="91450" marL="91450"/>
                </a:tc>
                <a:tc>
                  <a:txBody>
                    <a:bodyPr/>
                    <a:lstStyle/>
                    <a:p>
                      <a:pPr indent="0" lvl="0" marL="0" marR="0" rtl="0" algn="ctr">
                        <a:spcBef>
                          <a:spcPts val="0"/>
                        </a:spcBef>
                        <a:spcAft>
                          <a:spcPts val="0"/>
                        </a:spcAft>
                        <a:buNone/>
                      </a:pPr>
                      <a:r>
                        <a:rPr lang="en-US" sz="1800"/>
                        <a:t>0</a:t>
                      </a:r>
                      <a:endParaRPr sz="1800"/>
                    </a:p>
                  </a:txBody>
                  <a:tcPr marT="45725" marB="45725" marR="91450" marL="91450"/>
                </a:tc>
              </a:tr>
              <a:tr h="365750">
                <a:tc>
                  <a:txBody>
                    <a:bodyPr/>
                    <a:lstStyle/>
                    <a:p>
                      <a:pPr indent="0" lvl="0" marL="0" marR="0" rtl="0" algn="ctr">
                        <a:spcBef>
                          <a:spcPts val="0"/>
                        </a:spcBef>
                        <a:spcAft>
                          <a:spcPts val="0"/>
                        </a:spcAft>
                        <a:buNone/>
                      </a:pPr>
                      <a:r>
                        <a:rPr lang="en-US" sz="1800"/>
                        <a:t>[-4]</a:t>
                      </a:r>
                      <a:endParaRPr sz="1800"/>
                    </a:p>
                  </a:txBody>
                  <a:tcPr marT="45725" marB="45725" marR="91450" marL="91450"/>
                </a:tc>
                <a:tc>
                  <a:txBody>
                    <a:bodyPr/>
                    <a:lstStyle/>
                    <a:p>
                      <a:pPr indent="0" lvl="0" marL="0" marR="0" rtl="0" algn="ctr">
                        <a:spcBef>
                          <a:spcPts val="0"/>
                        </a:spcBef>
                        <a:spcAft>
                          <a:spcPts val="0"/>
                        </a:spcAft>
                        <a:buNone/>
                      </a:pPr>
                      <a:r>
                        <a:rPr lang="en-US" sz="1800"/>
                        <a:t>1</a:t>
                      </a:r>
                      <a:endParaRPr sz="1800"/>
                    </a:p>
                  </a:txBody>
                  <a:tcPr marT="45725" marB="45725" marR="91450" marL="91450"/>
                </a:tc>
              </a:tr>
              <a:tr h="365750">
                <a:tc>
                  <a:txBody>
                    <a:bodyPr/>
                    <a:lstStyle/>
                    <a:p>
                      <a:pPr indent="0" lvl="0" marL="0" marR="0" rtl="0" algn="ctr">
                        <a:spcBef>
                          <a:spcPts val="0"/>
                        </a:spcBef>
                        <a:spcAft>
                          <a:spcPts val="0"/>
                        </a:spcAft>
                        <a:buNone/>
                      </a:pPr>
                      <a:r>
                        <a:rPr lang="en-US" sz="1800"/>
                        <a:t>[-3]</a:t>
                      </a:r>
                      <a:endParaRPr sz="1800"/>
                    </a:p>
                  </a:txBody>
                  <a:tcPr marT="45725" marB="45725" marR="91450" marL="91450"/>
                </a:tc>
                <a:tc>
                  <a:txBody>
                    <a:bodyPr/>
                    <a:lstStyle/>
                    <a:p>
                      <a:pPr indent="0" lvl="0" marL="0" marR="0" rtl="0" algn="ctr">
                        <a:spcBef>
                          <a:spcPts val="0"/>
                        </a:spcBef>
                        <a:spcAft>
                          <a:spcPts val="0"/>
                        </a:spcAft>
                        <a:buNone/>
                      </a:pPr>
                      <a:r>
                        <a:rPr lang="en-US" sz="1800"/>
                        <a:t>2</a:t>
                      </a:r>
                      <a:endParaRPr sz="1800"/>
                    </a:p>
                  </a:txBody>
                  <a:tcPr marT="45725" marB="45725" marR="91450" marL="91450"/>
                </a:tc>
              </a:tr>
              <a:tr h="365750">
                <a:tc>
                  <a:txBody>
                    <a:bodyPr/>
                    <a:lstStyle/>
                    <a:p>
                      <a:pPr indent="0" lvl="0" marL="0" marR="0" rtl="0" algn="ctr">
                        <a:spcBef>
                          <a:spcPts val="0"/>
                        </a:spcBef>
                        <a:spcAft>
                          <a:spcPts val="0"/>
                        </a:spcAft>
                        <a:buNone/>
                      </a:pPr>
                      <a:r>
                        <a:rPr lang="en-US" sz="1800"/>
                        <a:t>[-2]</a:t>
                      </a:r>
                      <a:endParaRPr sz="1800"/>
                    </a:p>
                  </a:txBody>
                  <a:tcPr marT="45725" marB="45725" marR="91450" marL="91450"/>
                </a:tc>
                <a:tc>
                  <a:txBody>
                    <a:bodyPr/>
                    <a:lstStyle/>
                    <a:p>
                      <a:pPr indent="0" lvl="0" marL="0" marR="0" rtl="0" algn="ctr">
                        <a:spcBef>
                          <a:spcPts val="0"/>
                        </a:spcBef>
                        <a:spcAft>
                          <a:spcPts val="0"/>
                        </a:spcAft>
                        <a:buNone/>
                      </a:pPr>
                      <a:r>
                        <a:rPr lang="en-US" sz="1800"/>
                        <a:t>3</a:t>
                      </a:r>
                      <a:endParaRPr sz="1800"/>
                    </a:p>
                  </a:txBody>
                  <a:tcPr marT="45725" marB="45725" marR="91450" marL="91450"/>
                </a:tc>
              </a:tr>
              <a:tr h="365750">
                <a:tc>
                  <a:txBody>
                    <a:bodyPr/>
                    <a:lstStyle/>
                    <a:p>
                      <a:pPr indent="0" lvl="0" marL="0" marR="0" rtl="0" algn="ctr">
                        <a:spcBef>
                          <a:spcPts val="0"/>
                        </a:spcBef>
                        <a:spcAft>
                          <a:spcPts val="0"/>
                        </a:spcAft>
                        <a:buNone/>
                      </a:pPr>
                      <a:r>
                        <a:rPr lang="en-US" sz="1800"/>
                        <a:t>[-1]</a:t>
                      </a:r>
                      <a:endParaRPr sz="1800"/>
                    </a:p>
                  </a:txBody>
                  <a:tcPr marT="45725" marB="45725" marR="91450" marL="91450"/>
                </a:tc>
                <a:tc>
                  <a:txBody>
                    <a:bodyPr/>
                    <a:lstStyle/>
                    <a:p>
                      <a:pPr indent="0" lvl="0" marL="0" marR="0" rtl="0" algn="ctr">
                        <a:spcBef>
                          <a:spcPts val="0"/>
                        </a:spcBef>
                        <a:spcAft>
                          <a:spcPts val="0"/>
                        </a:spcAft>
                        <a:buNone/>
                      </a:pPr>
                      <a:r>
                        <a:rPr lang="en-US" sz="1800"/>
                        <a:t>4</a:t>
                      </a:r>
                      <a:endParaRPr sz="1800"/>
                    </a:p>
                  </a:txBody>
                  <a:tcPr marT="45725" marB="45725" marR="91450" marL="91450"/>
                </a:tc>
              </a:tr>
            </a:tbl>
          </a:graphicData>
        </a:graphic>
      </p:graphicFrame>
      <p:sp>
        <p:nvSpPr>
          <p:cNvPr id="402" name="Google Shape;402;p39"/>
          <p:cNvSpPr txBox="1"/>
          <p:nvPr/>
        </p:nvSpPr>
        <p:spPr>
          <a:xfrm>
            <a:off x="2751341" y="3083183"/>
            <a:ext cx="3728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rg</a:t>
            </a:r>
            <a:endParaRPr sz="1800">
              <a:solidFill>
                <a:schemeClr val="dk1"/>
              </a:solidFill>
              <a:latin typeface="Times New Roman"/>
              <a:ea typeface="Times New Roman"/>
              <a:cs typeface="Times New Roman"/>
              <a:sym typeface="Times New Roman"/>
            </a:endParaRPr>
          </a:p>
        </p:txBody>
      </p:sp>
      <p:cxnSp>
        <p:nvCxnSpPr>
          <p:cNvPr id="403" name="Google Shape;403;p39"/>
          <p:cNvCxnSpPr/>
          <p:nvPr/>
        </p:nvCxnSpPr>
        <p:spPr>
          <a:xfrm flipH="1" rot="10800000">
            <a:off x="2971800" y="2647950"/>
            <a:ext cx="457200" cy="533400"/>
          </a:xfrm>
          <a:prstGeom prst="straightConnector1">
            <a:avLst/>
          </a:prstGeom>
          <a:noFill/>
          <a:ln cap="flat" cmpd="sng" w="25400">
            <a:solidFill>
              <a:schemeClr val="accent1"/>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4" name="Google Shape;404;p39"/>
          <p:cNvCxnSpPr/>
          <p:nvPr/>
        </p:nvCxnSpPr>
        <p:spPr>
          <a:xfrm flipH="1" rot="10800000">
            <a:off x="3048000" y="2952750"/>
            <a:ext cx="381000" cy="304800"/>
          </a:xfrm>
          <a:prstGeom prst="straightConnector1">
            <a:avLst/>
          </a:prstGeom>
          <a:noFill/>
          <a:ln cap="flat" cmpd="sng" w="25400">
            <a:solidFill>
              <a:schemeClr val="accent2"/>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5" name="Google Shape;405;p39"/>
          <p:cNvCxnSpPr/>
          <p:nvPr/>
        </p:nvCxnSpPr>
        <p:spPr>
          <a:xfrm>
            <a:off x="3160187" y="3289816"/>
            <a:ext cx="268800" cy="43800"/>
          </a:xfrm>
          <a:prstGeom prst="straightConnector1">
            <a:avLst/>
          </a:prstGeom>
          <a:noFill/>
          <a:ln cap="flat" cmpd="sng" w="25400">
            <a:solidFill>
              <a:schemeClr val="accent3"/>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6" name="Google Shape;406;p39"/>
          <p:cNvCxnSpPr/>
          <p:nvPr/>
        </p:nvCxnSpPr>
        <p:spPr>
          <a:xfrm>
            <a:off x="3048000" y="3355717"/>
            <a:ext cx="381000" cy="282833"/>
          </a:xfrm>
          <a:prstGeom prst="straightConnector1">
            <a:avLst/>
          </a:prstGeom>
          <a:noFill/>
          <a:ln cap="flat" cmpd="sng" w="25400">
            <a:solidFill>
              <a:schemeClr val="accent4"/>
            </a:solidFill>
            <a:prstDash val="solid"/>
            <a:round/>
            <a:headEnd len="sm" w="sm" type="none"/>
            <a:tailEnd len="med" w="med" type="stealth"/>
          </a:ln>
          <a:effectLst>
            <a:outerShdw blurRad="40000" rotWithShape="0" dir="5400000" dist="20000">
              <a:srgbClr val="000000">
                <a:alpha val="37647"/>
              </a:srgbClr>
            </a:outerShdw>
          </a:effectLst>
        </p:spPr>
      </p:cxnSp>
      <p:cxnSp>
        <p:nvCxnSpPr>
          <p:cNvPr id="407" name="Google Shape;407;p39"/>
          <p:cNvCxnSpPr>
            <a:stCxn id="402" idx="2"/>
          </p:cNvCxnSpPr>
          <p:nvPr/>
        </p:nvCxnSpPr>
        <p:spPr>
          <a:xfrm>
            <a:off x="2937771" y="3452515"/>
            <a:ext cx="491100" cy="643200"/>
          </a:xfrm>
          <a:prstGeom prst="straightConnector1">
            <a:avLst/>
          </a:prstGeom>
          <a:noFill/>
          <a:ln cap="flat" cmpd="sng" w="25400">
            <a:solidFill>
              <a:schemeClr val="accent5"/>
            </a:solidFill>
            <a:prstDash val="solid"/>
            <a:round/>
            <a:headEnd len="sm" w="sm" type="none"/>
            <a:tailEnd len="med" w="med" type="stealth"/>
          </a:ln>
          <a:effectLst>
            <a:outerShdw blurRad="40000" rotWithShape="0" dir="5400000" dist="20000">
              <a:srgbClr val="000000">
                <a:alpha val="37647"/>
              </a:srgbClr>
            </a:outerShdw>
          </a:effectLst>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0" st="0"/>
                                            </p:txEl>
                                          </p:spTgt>
                                        </p:tgtEl>
                                        <p:attrNameLst>
                                          <p:attrName>style.visibility</p:attrName>
                                        </p:attrNameLst>
                                      </p:cBhvr>
                                      <p:to>
                                        <p:strVal val="visible"/>
                                      </p:to>
                                    </p:set>
                                    <p:animEffect filter="fade" transition="in">
                                      <p:cBhvr>
                                        <p:cTn dur="500"/>
                                        <p:tgtEl>
                                          <p:spTgt spid="3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1" st="1"/>
                                            </p:txEl>
                                          </p:spTgt>
                                        </p:tgtEl>
                                        <p:attrNameLst>
                                          <p:attrName>style.visibility</p:attrName>
                                        </p:attrNameLst>
                                      </p:cBhvr>
                                      <p:to>
                                        <p:strVal val="visible"/>
                                      </p:to>
                                    </p:set>
                                    <p:animEffect filter="fade" transition="in">
                                      <p:cBhvr>
                                        <p:cTn dur="500"/>
                                        <p:tgtEl>
                                          <p:spTgt spid="3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xEl>
                                              <p:pRg end="2" st="2"/>
                                            </p:txEl>
                                          </p:spTgt>
                                        </p:tgtEl>
                                        <p:attrNameLst>
                                          <p:attrName>style.visibility</p:attrName>
                                        </p:attrNameLst>
                                      </p:cBhvr>
                                      <p:to>
                                        <p:strVal val="visible"/>
                                      </p:to>
                                    </p:set>
                                    <p:animEffect filter="fade" transition="in">
                                      <p:cBhvr>
                                        <p:cTn dur="500"/>
                                        <p:tgtEl>
                                          <p:spTgt spid="3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500"/>
                                        <p:tgtEl>
                                          <p:spTgt spid="387"/>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500"/>
                                        <p:tgtEl>
                                          <p:spTgt spid="3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500"/>
                                        <p:tgtEl>
                                          <p:spTgt spid="391"/>
                                        </p:tgtEl>
                                      </p:cBhvr>
                                    </p:animEffect>
                                  </p:childTnLst>
                                </p:cTn>
                              </p:par>
                              <p:par>
                                <p:cTn fill="hold" nodeType="with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5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500"/>
                                        <p:tgtEl>
                                          <p:spTgt spid="3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2"/>
                                        </p:tgtEl>
                                        <p:attrNameLst>
                                          <p:attrName>style.visibility</p:attrName>
                                        </p:attrNameLst>
                                      </p:cBhvr>
                                      <p:to>
                                        <p:strVal val="visible"/>
                                      </p:to>
                                    </p:set>
                                    <p:animEffect filter="fade" transition="in">
                                      <p:cBhvr>
                                        <p:cTn dur="500"/>
                                        <p:tgtEl>
                                          <p:spTgt spid="4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500"/>
                                        <p:tgtEl>
                                          <p:spTgt spid="4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5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500"/>
                                        <p:tgtEl>
                                          <p:spTgt spid="404"/>
                                        </p:tgtEl>
                                      </p:cBhvr>
                                    </p:animEffect>
                                  </p:childTnLst>
                                </p:cTn>
                              </p:par>
                              <p:par>
                                <p:cTn fill="hold" nodeType="withEffect" presetClass="entr" presetID="10" presetSubtype="0">
                                  <p:stCondLst>
                                    <p:cond delay="0"/>
                                  </p:stCondLst>
                                  <p:childTnLst>
                                    <p:set>
                                      <p:cBhvr>
                                        <p:cTn dur="1" fill="hold">
                                          <p:stCondLst>
                                            <p:cond delay="0"/>
                                          </p:stCondLst>
                                        </p:cTn>
                                        <p:tgtEl>
                                          <p:spTgt spid="403"/>
                                        </p:tgtEl>
                                        <p:attrNameLst>
                                          <p:attrName>style.visibility</p:attrName>
                                        </p:attrNameLst>
                                      </p:cBhvr>
                                      <p:to>
                                        <p:strVal val="visible"/>
                                      </p:to>
                                    </p:set>
                                    <p:animEffect filter="fade" transition="in">
                                      <p:cBhvr>
                                        <p:cTn dur="500"/>
                                        <p:tgtEl>
                                          <p:spTgt spid="4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500"/>
                                        <p:tgtEl>
                                          <p:spTgt spid="394"/>
                                        </p:tgtEl>
                                      </p:cBhvr>
                                    </p:animEffect>
                                  </p:childTnLst>
                                </p:cTn>
                              </p:par>
                              <p:par>
                                <p:cTn fill="hold" nodeType="with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500"/>
                                        <p:tgtEl>
                                          <p:spTgt spid="396"/>
                                        </p:tgtEl>
                                      </p:cBhvr>
                                    </p:animEffect>
                                  </p:childTnLst>
                                </p:cTn>
                              </p:par>
                              <p:par>
                                <p:cTn fill="hold" nodeType="with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500"/>
                                        <p:tgtEl>
                                          <p:spTgt spid="397"/>
                                        </p:tgtEl>
                                      </p:cBhvr>
                                    </p:animEffect>
                                  </p:childTnLst>
                                </p:cTn>
                              </p:par>
                              <p:par>
                                <p:cTn fill="hold" nodeType="with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500"/>
                                        <p:tgtEl>
                                          <p:spTgt spid="398"/>
                                        </p:tgtEl>
                                      </p:cBhvr>
                                    </p:animEffect>
                                  </p:childTnLst>
                                </p:cTn>
                              </p:par>
                              <p:par>
                                <p:cTn fill="hold" nodeType="with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500"/>
                                        <p:tgtEl>
                                          <p:spTgt spid="399"/>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500"/>
                                        <p:tgtEl>
                                          <p:spTgt spid="400"/>
                                        </p:tgtEl>
                                      </p:cBhvr>
                                    </p:animEffect>
                                  </p:childTnLst>
                                </p:cTn>
                              </p:par>
                              <p:par>
                                <p:cTn fill="hold" nodeType="with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500"/>
                                        <p:tgtEl>
                                          <p:spTgt spid="3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0"/>
          <p:cNvSpPr txBox="1"/>
          <p:nvPr>
            <p:ph type="title"/>
          </p:nvPr>
        </p:nvSpPr>
        <p:spPr>
          <a:xfrm>
            <a:off x="457200" y="38100"/>
            <a:ext cx="8229600" cy="85725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Times New Roman"/>
              <a:buNone/>
            </a:pPr>
            <a:r>
              <a:rPr b="1" lang="en-US" sz="4000" u="sng">
                <a:latin typeface="Times New Roman"/>
                <a:ea typeface="Times New Roman"/>
                <a:cs typeface="Times New Roman"/>
                <a:sym typeface="Times New Roman"/>
              </a:rPr>
              <a:t>Sequence Type</a:t>
            </a:r>
            <a:endParaRPr b="1" sz="4000" u="sng">
              <a:latin typeface="Times New Roman"/>
              <a:ea typeface="Times New Roman"/>
              <a:cs typeface="Times New Roman"/>
              <a:sym typeface="Times New Roman"/>
            </a:endParaRPr>
          </a:p>
        </p:txBody>
      </p:sp>
      <p:sp>
        <p:nvSpPr>
          <p:cNvPr id="413" name="Google Shape;413;p40"/>
          <p:cNvSpPr txBox="1"/>
          <p:nvPr>
            <p:ph idx="1" type="body"/>
          </p:nvPr>
        </p:nvSpPr>
        <p:spPr>
          <a:xfrm>
            <a:off x="609600" y="819150"/>
            <a:ext cx="8229600" cy="141327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latin typeface="Times New Roman"/>
                <a:ea typeface="Times New Roman"/>
                <a:cs typeface="Times New Roman"/>
                <a:sym typeface="Times New Roman"/>
              </a:rPr>
              <a:t>Range – </a:t>
            </a:r>
            <a:endParaRPr/>
          </a:p>
          <a:p>
            <a:pPr indent="0" lvl="0" marL="0" rtl="0" algn="l">
              <a:spcBef>
                <a:spcPts val="360"/>
              </a:spcBef>
              <a:spcAft>
                <a:spcPts val="0"/>
              </a:spcAft>
              <a:buClr>
                <a:schemeClr val="dk1"/>
              </a:buClr>
              <a:buSzPts val="1800"/>
              <a:buNone/>
            </a:pPr>
            <a:r>
              <a:t/>
            </a:r>
            <a:endParaRPr sz="1800">
              <a:latin typeface="Times New Roman"/>
              <a:ea typeface="Times New Roman"/>
              <a:cs typeface="Times New Roman"/>
              <a:sym typeface="Times New Roman"/>
            </a:endParaRPr>
          </a:p>
        </p:txBody>
      </p:sp>
      <p:graphicFrame>
        <p:nvGraphicFramePr>
          <p:cNvPr id="414" name="Google Shape;414;p40"/>
          <p:cNvGraphicFramePr/>
          <p:nvPr/>
        </p:nvGraphicFramePr>
        <p:xfrm>
          <a:off x="457200" y="1434147"/>
          <a:ext cx="3000000" cy="3000000"/>
        </p:xfrm>
        <a:graphic>
          <a:graphicData uri="http://schemas.openxmlformats.org/drawingml/2006/table">
            <a:tbl>
              <a:tblPr>
                <a:noFill/>
                <a:tableStyleId>{F3B81AAF-B9A5-4101-99E6-C2B7CB4CFF26}</a:tableStyleId>
              </a:tblPr>
              <a:tblGrid>
                <a:gridCol w="2743200"/>
                <a:gridCol w="2743200"/>
                <a:gridCol w="2743200"/>
              </a:tblGrid>
              <a:tr h="228600">
                <a:tc>
                  <a:txBody>
                    <a:bodyPr/>
                    <a:lstStyle/>
                    <a:p>
                      <a:pPr indent="0" lvl="0" marL="0" marR="0" rtl="0" algn="l">
                        <a:spcBef>
                          <a:spcPts val="0"/>
                        </a:spcBef>
                        <a:spcAft>
                          <a:spcPts val="0"/>
                        </a:spcAft>
                        <a:buNone/>
                      </a:pPr>
                      <a:r>
                        <a:rPr lang="en-US" sz="1800"/>
                        <a:t>Operation / Method</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Description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Example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len()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Get length of range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len(range(2, 10, 2)) → 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in</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Membership test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5 in range(10) → True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list()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Convert to list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list(range(3)) → [0, 1,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for loop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Iterate over range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for i in range(5): print(i)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range_obj.start</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Starting value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 = range(2, 10); r.start → 2</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range_obj.stop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Ending value (exclusive)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r.stop → 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28600">
                <a:tc>
                  <a:txBody>
                    <a:bodyPr/>
                    <a:lstStyle/>
                    <a:p>
                      <a:pPr indent="0" lvl="0" marL="0" marR="0" rtl="0" algn="l">
                        <a:spcBef>
                          <a:spcPts val="0"/>
                        </a:spcBef>
                        <a:spcAft>
                          <a:spcPts val="0"/>
                        </a:spcAft>
                        <a:buNone/>
                      </a:pPr>
                      <a:r>
                        <a:rPr lang="en-US" sz="1800"/>
                        <a:t>range_obj.step</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Step value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lang="en-US" sz="1800"/>
                        <a:t>r.step → 1</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animEffect filter="fade" transition="in">
                                      <p:cBhvr>
                                        <p:cTn dur="500"/>
                                        <p:tgtEl>
                                          <p:spTgt spid="4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animEffect filter="fade" transition="in">
                                      <p:cBhvr>
                                        <p:cTn dur="500"/>
                                        <p:tgtEl>
                                          <p:spTgt spid="41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RK</dc:creator>
</cp:coreProperties>
</file>