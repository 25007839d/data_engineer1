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Roboto Mono"/>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8" roundtripDataSignature="AMtx7mjkw/Yr11vnLCpGJd6b0IElgAU9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Mono-bold.fntdata"/><Relationship Id="rId12" Type="http://schemas.openxmlformats.org/officeDocument/2006/relationships/slide" Target="slides/slide7.xml"/><Relationship Id="rId34" Type="http://schemas.openxmlformats.org/officeDocument/2006/relationships/font" Target="fonts/RobotoMono-regular.fntdata"/><Relationship Id="rId15" Type="http://schemas.openxmlformats.org/officeDocument/2006/relationships/slide" Target="slides/slide10.xml"/><Relationship Id="rId37" Type="http://schemas.openxmlformats.org/officeDocument/2006/relationships/font" Target="fonts/RobotoMono-boldItalic.fntdata"/><Relationship Id="rId14" Type="http://schemas.openxmlformats.org/officeDocument/2006/relationships/slide" Target="slides/slide9.xml"/><Relationship Id="rId36" Type="http://schemas.openxmlformats.org/officeDocument/2006/relationships/font" Target="fonts/RobotoMono-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75442e448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75442e448e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75442e448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75442e448e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75442e448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g375442e448e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75442e448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75442e448e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75442e448e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75442e448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75442e448e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75442e448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75442e448e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75442e448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75442e448e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75442e448e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75442e448e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75442e448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6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66"/>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 name="Google Shape;14;p6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6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6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 name="Shape 17"/>
        <p:cNvGrpSpPr/>
        <p:nvPr/>
      </p:nvGrpSpPr>
      <p:grpSpPr>
        <a:xfrm>
          <a:off x="0" y="0"/>
          <a:ext cx="0" cy="0"/>
          <a:chOff x="0" y="0"/>
          <a:chExt cx="0" cy="0"/>
        </a:xfrm>
      </p:grpSpPr>
      <p:sp>
        <p:nvSpPr>
          <p:cNvPr id="18" name="Google Shape;18;p6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67"/>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0" name="Google Shape;20;p67"/>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21" name="Google Shape;21;p6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6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6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6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6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 name="Shape 27"/>
        <p:cNvGrpSpPr/>
        <p:nvPr/>
      </p:nvGrpSpPr>
      <p:grpSpPr>
        <a:xfrm>
          <a:off x="0" y="0"/>
          <a:ext cx="0" cy="0"/>
          <a:chOff x="0" y="0"/>
          <a:chExt cx="0" cy="0"/>
        </a:xfrm>
      </p:grpSpPr>
      <p:sp>
        <p:nvSpPr>
          <p:cNvPr id="28" name="Google Shape;28;p1"/>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900"/>
              <a:buFont typeface="Times New Roman"/>
              <a:buNone/>
            </a:pPr>
            <a:r>
              <a:rPr b="1" lang="en-US" sz="2900" u="sng">
                <a:latin typeface="Times New Roman"/>
                <a:ea typeface="Times New Roman"/>
                <a:cs typeface="Times New Roman"/>
                <a:sym typeface="Times New Roman"/>
              </a:rPr>
              <a:t>Loop Control Statements</a:t>
            </a:r>
            <a:endParaRPr/>
          </a:p>
        </p:txBody>
      </p:sp>
      <p:sp>
        <p:nvSpPr>
          <p:cNvPr id="29" name="Google Shape;29;p1"/>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Loop control statements are used when a section of code may either be executed a fixed number of times, or while some condition is true.</a:t>
            </a:r>
            <a:endParaRPr/>
          </a:p>
          <a:p>
            <a:pPr indent="-342900" lvl="0" marL="342900" rtl="0" algn="l">
              <a:spcBef>
                <a:spcPts val="340"/>
              </a:spcBef>
              <a:spcAft>
                <a:spcPts val="0"/>
              </a:spcAft>
              <a:buClr>
                <a:schemeClr val="dk1"/>
              </a:buClr>
              <a:buSzPts val="1700"/>
              <a:buChar char="•"/>
            </a:pPr>
            <a:r>
              <a:rPr lang="en-US" sz="1700">
                <a:latin typeface="Times New Roman"/>
                <a:ea typeface="Times New Roman"/>
                <a:cs typeface="Times New Roman"/>
                <a:sym typeface="Times New Roman"/>
              </a:rPr>
              <a:t>While</a:t>
            </a:r>
            <a:endParaRPr/>
          </a:p>
          <a:p>
            <a:pPr indent="-342900" lvl="0" marL="342900" rtl="0" algn="l">
              <a:spcBef>
                <a:spcPts val="340"/>
              </a:spcBef>
              <a:spcAft>
                <a:spcPts val="0"/>
              </a:spcAft>
              <a:buClr>
                <a:schemeClr val="dk1"/>
              </a:buClr>
              <a:buSzPts val="1700"/>
              <a:buChar char="•"/>
            </a:pPr>
            <a:r>
              <a:rPr lang="en-US" sz="1700">
                <a:latin typeface="Times New Roman"/>
                <a:ea typeface="Times New Roman"/>
                <a:cs typeface="Times New Roman"/>
                <a:sym typeface="Times New Roman"/>
              </a:rPr>
              <a:t>For</a:t>
            </a:r>
            <a:endParaRPr/>
          </a:p>
          <a:p>
            <a:pPr indent="0" lvl="0" marL="0" rtl="0" algn="l">
              <a:spcBef>
                <a:spcPts val="340"/>
              </a:spcBef>
              <a:spcAft>
                <a:spcPts val="0"/>
              </a:spcAft>
              <a:buClr>
                <a:schemeClr val="dk1"/>
              </a:buClr>
              <a:buSzPts val="1700"/>
              <a:buNone/>
            </a:pPr>
            <a:r>
              <a:t/>
            </a:r>
            <a:endParaRPr sz="17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
                                            <p:txEl>
                                              <p:pRg end="0" st="0"/>
                                            </p:txEl>
                                          </p:spTgt>
                                        </p:tgtEl>
                                        <p:attrNameLst>
                                          <p:attrName>style.visibility</p:attrName>
                                        </p:attrNameLst>
                                      </p:cBhvr>
                                      <p:to>
                                        <p:strVal val="visible"/>
                                      </p:to>
                                    </p:set>
                                    <p:animEffect filter="fade" transition="in">
                                      <p:cBhvr>
                                        <p:cTn dur="500"/>
                                        <p:tgtEl>
                                          <p:spTgt spid="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
                                            <p:txEl>
                                              <p:pRg end="1" st="1"/>
                                            </p:txEl>
                                          </p:spTgt>
                                        </p:tgtEl>
                                        <p:attrNameLst>
                                          <p:attrName>style.visibility</p:attrName>
                                        </p:attrNameLst>
                                      </p:cBhvr>
                                      <p:to>
                                        <p:strVal val="visible"/>
                                      </p:to>
                                    </p:set>
                                    <p:animEffect filter="fade" transition="in">
                                      <p:cBhvr>
                                        <p:cTn dur="500"/>
                                        <p:tgtEl>
                                          <p:spTgt spid="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
                                            <p:txEl>
                                              <p:pRg end="2" st="2"/>
                                            </p:txEl>
                                          </p:spTgt>
                                        </p:tgtEl>
                                        <p:attrNameLst>
                                          <p:attrName>style.visibility</p:attrName>
                                        </p:attrNameLst>
                                      </p:cBhvr>
                                      <p:to>
                                        <p:strVal val="visible"/>
                                      </p:to>
                                    </p:set>
                                    <p:animEffect filter="fade" transition="in">
                                      <p:cBhvr>
                                        <p:cTn dur="500"/>
                                        <p:tgtEl>
                                          <p:spTgt spid="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
                                            <p:txEl>
                                              <p:pRg end="3" st="3"/>
                                            </p:txEl>
                                          </p:spTgt>
                                        </p:tgtEl>
                                        <p:attrNameLst>
                                          <p:attrName>style.visibility</p:attrName>
                                        </p:attrNameLst>
                                      </p:cBhvr>
                                      <p:to>
                                        <p:strVal val="visible"/>
                                      </p:to>
                                    </p:set>
                                    <p:animEffect filter="fade" transition="in">
                                      <p:cBhvr>
                                        <p:cTn dur="500"/>
                                        <p:tgtEl>
                                          <p:spTgt spid="2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 name="Shape 33"/>
        <p:cNvGrpSpPr/>
        <p:nvPr/>
      </p:nvGrpSpPr>
      <p:grpSpPr>
        <a:xfrm>
          <a:off x="0" y="0"/>
          <a:ext cx="0" cy="0"/>
          <a:chOff x="0" y="0"/>
          <a:chExt cx="0" cy="0"/>
        </a:xfrm>
      </p:grpSpPr>
      <p:sp>
        <p:nvSpPr>
          <p:cNvPr id="34" name="Google Shape;34;p2"/>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while Loop</a:t>
            </a:r>
            <a:endParaRPr/>
          </a:p>
        </p:txBody>
      </p:sp>
      <p:sp>
        <p:nvSpPr>
          <p:cNvPr id="35" name="Google Shape;35;p2"/>
          <p:cNvSpPr txBox="1"/>
          <p:nvPr>
            <p:ph idx="1" type="body"/>
          </p:nvPr>
        </p:nvSpPr>
        <p:spPr>
          <a:xfrm>
            <a:off x="457200" y="895350"/>
            <a:ext cx="8229600" cy="39278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600"/>
              <a:buNone/>
            </a:pPr>
            <a:r>
              <a:rPr lang="en-US" sz="1600">
                <a:latin typeface="Times New Roman"/>
                <a:ea typeface="Times New Roman"/>
                <a:cs typeface="Times New Roman"/>
                <a:sym typeface="Times New Roman"/>
              </a:rPr>
              <a:t>The while loop keeps repeating an action until an associated condition returns false.</a:t>
            </a:r>
            <a:endParaRPr/>
          </a:p>
          <a:p>
            <a:pPr indent="0" lvl="0" marL="0" rtl="0" algn="l">
              <a:spcBef>
                <a:spcPts val="320"/>
              </a:spcBef>
              <a:spcAft>
                <a:spcPts val="0"/>
              </a:spcAft>
              <a:buClr>
                <a:schemeClr val="dk1"/>
              </a:buClr>
              <a:buSzPts val="1600"/>
              <a:buNone/>
            </a:pPr>
            <a:r>
              <a:t/>
            </a:r>
            <a:endParaRPr sz="16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Syntax:</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while (condition)</a:t>
            </a:r>
            <a:r>
              <a:rPr b="1" lang="en-US" sz="1600">
                <a:latin typeface="Times New Roman"/>
                <a:ea typeface="Times New Roman"/>
                <a:cs typeface="Times New Roman"/>
                <a:sym typeface="Times New Roman"/>
              </a:rPr>
              <a:t>:</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Statement</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Rest of the Code</a:t>
            </a:r>
            <a:endParaRPr/>
          </a:p>
          <a:p>
            <a:pPr indent="0" lvl="0" marL="0" rtl="0" algn="l">
              <a:spcBef>
                <a:spcPts val="320"/>
              </a:spcBef>
              <a:spcAft>
                <a:spcPts val="0"/>
              </a:spcAft>
              <a:buClr>
                <a:schemeClr val="dk1"/>
              </a:buClr>
              <a:buSzPts val="1600"/>
              <a:buNone/>
            </a:pPr>
            <a:r>
              <a:t/>
            </a:r>
            <a:endParaRPr sz="1600">
              <a:latin typeface="Times New Roman"/>
              <a:ea typeface="Times New Roman"/>
              <a:cs typeface="Times New Roman"/>
              <a:sym typeface="Times New Roman"/>
            </a:endParaRPr>
          </a:p>
        </p:txBody>
      </p:sp>
      <p:sp>
        <p:nvSpPr>
          <p:cNvPr id="36" name="Google Shape;36;p2"/>
          <p:cNvSpPr txBox="1"/>
          <p:nvPr/>
        </p:nvSpPr>
        <p:spPr>
          <a:xfrm>
            <a:off x="3352800" y="1529775"/>
            <a:ext cx="3276600" cy="584775"/>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u="none" cap="none" strike="noStrike">
                <a:solidFill>
                  <a:schemeClr val="dk1"/>
                </a:solidFill>
                <a:latin typeface="Times New Roman"/>
                <a:ea typeface="Times New Roman"/>
                <a:cs typeface="Times New Roman"/>
                <a:sym typeface="Times New Roman"/>
              </a:rPr>
              <a:t>Python Interpreter checks condition, If condition is True, then</a:t>
            </a:r>
            <a:endParaRPr sz="1600">
              <a:solidFill>
                <a:schemeClr val="dk1"/>
              </a:solidFill>
              <a:latin typeface="Times New Roman"/>
              <a:ea typeface="Times New Roman"/>
              <a:cs typeface="Times New Roman"/>
              <a:sym typeface="Times New Roman"/>
            </a:endParaRPr>
          </a:p>
        </p:txBody>
      </p:sp>
      <p:cxnSp>
        <p:nvCxnSpPr>
          <p:cNvPr id="37" name="Google Shape;37;p2"/>
          <p:cNvCxnSpPr/>
          <p:nvPr/>
        </p:nvCxnSpPr>
        <p:spPr>
          <a:xfrm flipH="1">
            <a:off x="2743200" y="1822162"/>
            <a:ext cx="609600" cy="292388"/>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sp>
        <p:nvSpPr>
          <p:cNvPr id="38" name="Google Shape;38;p2"/>
          <p:cNvSpPr txBox="1"/>
          <p:nvPr/>
        </p:nvSpPr>
        <p:spPr>
          <a:xfrm>
            <a:off x="3505200" y="2215575"/>
            <a:ext cx="3124200" cy="584775"/>
          </a:xfrm>
          <a:prstGeom prst="rect">
            <a:avLst/>
          </a:prstGeom>
          <a:solidFill>
            <a:schemeClr val="lt1"/>
          </a:solidFill>
          <a:ln cap="flat" cmpd="sng" w="25400">
            <a:solidFill>
              <a:schemeClr val="accent2"/>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Execute statements written after colon (</a:t>
            </a:r>
            <a:r>
              <a:rPr b="1" lang="en-US" sz="1600">
                <a:solidFill>
                  <a:schemeClr val="dk1"/>
                </a:solidFill>
                <a:latin typeface="Times New Roman"/>
                <a:ea typeface="Times New Roman"/>
                <a:cs typeface="Times New Roman"/>
                <a:sym typeface="Times New Roman"/>
              </a:rPr>
              <a:t>:</a:t>
            </a:r>
            <a:r>
              <a:rPr lang="en-US"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p:txBody>
      </p:sp>
      <p:cxnSp>
        <p:nvCxnSpPr>
          <p:cNvPr id="39" name="Google Shape;39;p2"/>
          <p:cNvCxnSpPr/>
          <p:nvPr/>
        </p:nvCxnSpPr>
        <p:spPr>
          <a:xfrm flipH="1">
            <a:off x="2895600" y="2507962"/>
            <a:ext cx="609600" cy="63788"/>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cxnSp>
        <p:nvCxnSpPr>
          <p:cNvPr id="40" name="Google Shape;40;p2"/>
          <p:cNvCxnSpPr>
            <a:stCxn id="38" idx="3"/>
            <a:endCxn id="36" idx="3"/>
          </p:cNvCxnSpPr>
          <p:nvPr/>
        </p:nvCxnSpPr>
        <p:spPr>
          <a:xfrm flipH="1" rot="10800000">
            <a:off x="6629400" y="1822163"/>
            <a:ext cx="600" cy="685800"/>
          </a:xfrm>
          <a:prstGeom prst="bentConnector3">
            <a:avLst>
              <a:gd fmla="val 90651669" name="adj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
                                            <p:txEl>
                                              <p:pRg end="0" st="0"/>
                                            </p:txEl>
                                          </p:spTgt>
                                        </p:tgtEl>
                                        <p:attrNameLst>
                                          <p:attrName>style.visibility</p:attrName>
                                        </p:attrNameLst>
                                      </p:cBhvr>
                                      <p:to>
                                        <p:strVal val="visible"/>
                                      </p:to>
                                    </p:set>
                                    <p:animEffect filter="fade" transition="in">
                                      <p:cBhvr>
                                        <p:cTn dur="500"/>
                                        <p:tgtEl>
                                          <p:spTgt spid="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
                                            <p:txEl>
                                              <p:pRg end="1" st="1"/>
                                            </p:txEl>
                                          </p:spTgt>
                                        </p:tgtEl>
                                        <p:attrNameLst>
                                          <p:attrName>style.visibility</p:attrName>
                                        </p:attrNameLst>
                                      </p:cBhvr>
                                      <p:to>
                                        <p:strVal val="visible"/>
                                      </p:to>
                                    </p:set>
                                    <p:animEffect filter="fade" transition="in">
                                      <p:cBhvr>
                                        <p:cTn dur="500"/>
                                        <p:tgtEl>
                                          <p:spTgt spid="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
                                            <p:txEl>
                                              <p:pRg end="2" st="2"/>
                                            </p:txEl>
                                          </p:spTgt>
                                        </p:tgtEl>
                                        <p:attrNameLst>
                                          <p:attrName>style.visibility</p:attrName>
                                        </p:attrNameLst>
                                      </p:cBhvr>
                                      <p:to>
                                        <p:strVal val="visible"/>
                                      </p:to>
                                    </p:set>
                                    <p:animEffect filter="fade" transition="in">
                                      <p:cBhvr>
                                        <p:cTn dur="500"/>
                                        <p:tgtEl>
                                          <p:spTgt spid="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
                                            <p:txEl>
                                              <p:pRg end="3" st="3"/>
                                            </p:txEl>
                                          </p:spTgt>
                                        </p:tgtEl>
                                        <p:attrNameLst>
                                          <p:attrName>style.visibility</p:attrName>
                                        </p:attrNameLst>
                                      </p:cBhvr>
                                      <p:to>
                                        <p:strVal val="visible"/>
                                      </p:to>
                                    </p:set>
                                    <p:animEffect filter="fade" transition="in">
                                      <p:cBhvr>
                                        <p:cTn dur="500"/>
                                        <p:tgtEl>
                                          <p:spTgt spid="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
                                            <p:txEl>
                                              <p:pRg end="4" st="4"/>
                                            </p:txEl>
                                          </p:spTgt>
                                        </p:tgtEl>
                                        <p:attrNameLst>
                                          <p:attrName>style.visibility</p:attrName>
                                        </p:attrNameLst>
                                      </p:cBhvr>
                                      <p:to>
                                        <p:strVal val="visible"/>
                                      </p:to>
                                    </p:set>
                                    <p:animEffect filter="fade" transition="in">
                                      <p:cBhvr>
                                        <p:cTn dur="500"/>
                                        <p:tgtEl>
                                          <p:spTgt spid="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
                                            <p:txEl>
                                              <p:pRg end="5" st="5"/>
                                            </p:txEl>
                                          </p:spTgt>
                                        </p:tgtEl>
                                        <p:attrNameLst>
                                          <p:attrName>style.visibility</p:attrName>
                                        </p:attrNameLst>
                                      </p:cBhvr>
                                      <p:to>
                                        <p:strVal val="visible"/>
                                      </p:to>
                                    </p:set>
                                    <p:animEffect filter="fade" transition="in">
                                      <p:cBhvr>
                                        <p:cTn dur="500"/>
                                        <p:tgtEl>
                                          <p:spTgt spid="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
                                            <p:txEl>
                                              <p:pRg end="6" st="6"/>
                                            </p:txEl>
                                          </p:spTgt>
                                        </p:tgtEl>
                                        <p:attrNameLst>
                                          <p:attrName>style.visibility</p:attrName>
                                        </p:attrNameLst>
                                      </p:cBhvr>
                                      <p:to>
                                        <p:strVal val="visible"/>
                                      </p:to>
                                    </p:set>
                                    <p:animEffect filter="fade" transition="in">
                                      <p:cBhvr>
                                        <p:cTn dur="500"/>
                                        <p:tgtEl>
                                          <p:spTgt spid="3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
                                            <p:txEl>
                                              <p:pRg end="7" st="7"/>
                                            </p:txEl>
                                          </p:spTgt>
                                        </p:tgtEl>
                                        <p:attrNameLst>
                                          <p:attrName>style.visibility</p:attrName>
                                        </p:attrNameLst>
                                      </p:cBhvr>
                                      <p:to>
                                        <p:strVal val="visible"/>
                                      </p:to>
                                    </p:set>
                                    <p:animEffect filter="fade" transition="in">
                                      <p:cBhvr>
                                        <p:cTn dur="500"/>
                                        <p:tgtEl>
                                          <p:spTgt spid="3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
                                        </p:tgtEl>
                                        <p:attrNameLst>
                                          <p:attrName>style.visibility</p:attrName>
                                        </p:attrNameLst>
                                      </p:cBhvr>
                                      <p:to>
                                        <p:strVal val="visible"/>
                                      </p:to>
                                    </p:set>
                                    <p:animEffect filter="fade" transition="in">
                                      <p:cBhvr>
                                        <p:cTn dur="500"/>
                                        <p:tgtEl>
                                          <p:spTgt spid="37"/>
                                        </p:tgtEl>
                                      </p:cBhvr>
                                    </p:animEffect>
                                  </p:childTnLst>
                                </p:cTn>
                              </p:par>
                              <p:par>
                                <p:cTn fill="hold" nodeType="with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500"/>
                                        <p:tgtEl>
                                          <p:spTgt spid="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
                                        </p:tgtEl>
                                        <p:attrNameLst>
                                          <p:attrName>style.visibility</p:attrName>
                                        </p:attrNameLst>
                                      </p:cBhvr>
                                      <p:to>
                                        <p:strVal val="visible"/>
                                      </p:to>
                                    </p:set>
                                    <p:animEffect filter="fade" transition="in">
                                      <p:cBhvr>
                                        <p:cTn dur="500"/>
                                        <p:tgtEl>
                                          <p:spTgt spid="39"/>
                                        </p:tgtEl>
                                      </p:cBhvr>
                                    </p:animEffect>
                                  </p:childTnLst>
                                </p:cTn>
                              </p:par>
                              <p:par>
                                <p:cTn fill="hold" nodeType="withEffect" presetClass="entr" presetID="10" presetSubtype="0">
                                  <p:stCondLst>
                                    <p:cond delay="0"/>
                                  </p:stCondLst>
                                  <p:childTnLst>
                                    <p:set>
                                      <p:cBhvr>
                                        <p:cTn dur="1" fill="hold">
                                          <p:stCondLst>
                                            <p:cond delay="0"/>
                                          </p:stCondLst>
                                        </p:cTn>
                                        <p:tgtEl>
                                          <p:spTgt spid="38"/>
                                        </p:tgtEl>
                                        <p:attrNameLst>
                                          <p:attrName>style.visibility</p:attrName>
                                        </p:attrNameLst>
                                      </p:cBhvr>
                                      <p:to>
                                        <p:strVal val="visible"/>
                                      </p:to>
                                    </p:set>
                                    <p:animEffect filter="fade" transition="in">
                                      <p:cBhvr>
                                        <p:cTn dur="500"/>
                                        <p:tgtEl>
                                          <p:spTgt spid="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
                                        </p:tgtEl>
                                        <p:attrNameLst>
                                          <p:attrName>style.visibility</p:attrName>
                                        </p:attrNameLst>
                                      </p:cBhvr>
                                      <p:to>
                                        <p:strVal val="visible"/>
                                      </p:to>
                                    </p:set>
                                    <p:animEffect filter="fade" transition="in">
                                      <p:cBhvr>
                                        <p:cTn dur="500"/>
                                        <p:tgtEl>
                                          <p:spTgt spid="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cxnSp>
        <p:nvCxnSpPr>
          <p:cNvPr id="45" name="Google Shape;45;p3"/>
          <p:cNvCxnSpPr/>
          <p:nvPr/>
        </p:nvCxnSpPr>
        <p:spPr>
          <a:xfrm>
            <a:off x="3570514" y="15354"/>
            <a:ext cx="0" cy="342900"/>
          </a:xfrm>
          <a:prstGeom prst="straightConnector1">
            <a:avLst/>
          </a:prstGeom>
          <a:noFill/>
          <a:ln cap="flat" cmpd="sng" w="9525">
            <a:solidFill>
              <a:srgbClr val="4A7DBA"/>
            </a:solidFill>
            <a:prstDash val="solid"/>
            <a:round/>
            <a:headEnd len="sm" w="sm" type="none"/>
            <a:tailEnd len="med" w="med" type="stealth"/>
          </a:ln>
        </p:spPr>
      </p:cxnSp>
      <p:sp>
        <p:nvSpPr>
          <p:cNvPr id="46" name="Google Shape;46;p3"/>
          <p:cNvSpPr/>
          <p:nvPr/>
        </p:nvSpPr>
        <p:spPr>
          <a:xfrm>
            <a:off x="2122714" y="358254"/>
            <a:ext cx="2895600" cy="857250"/>
          </a:xfrm>
          <a:prstGeom prst="flowChartDecision">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Condition ?</a:t>
            </a:r>
            <a:endParaRPr/>
          </a:p>
        </p:txBody>
      </p:sp>
      <p:cxnSp>
        <p:nvCxnSpPr>
          <p:cNvPr id="47" name="Google Shape;47;p3"/>
          <p:cNvCxnSpPr>
            <a:stCxn id="46" idx="2"/>
          </p:cNvCxnSpPr>
          <p:nvPr/>
        </p:nvCxnSpPr>
        <p:spPr>
          <a:xfrm>
            <a:off x="3570514" y="1215504"/>
            <a:ext cx="0" cy="841800"/>
          </a:xfrm>
          <a:prstGeom prst="straightConnector1">
            <a:avLst/>
          </a:prstGeom>
          <a:noFill/>
          <a:ln cap="flat" cmpd="sng" w="9525">
            <a:solidFill>
              <a:srgbClr val="4A7DBA"/>
            </a:solidFill>
            <a:prstDash val="solid"/>
            <a:round/>
            <a:headEnd len="sm" w="sm" type="none"/>
            <a:tailEnd len="med" w="med" type="stealth"/>
          </a:ln>
        </p:spPr>
      </p:cxnSp>
      <p:sp>
        <p:nvSpPr>
          <p:cNvPr id="48" name="Google Shape;48;p3"/>
          <p:cNvSpPr/>
          <p:nvPr/>
        </p:nvSpPr>
        <p:spPr>
          <a:xfrm>
            <a:off x="2351314" y="2057400"/>
            <a:ext cx="2438400" cy="51435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Statement</a:t>
            </a:r>
            <a:endParaRPr/>
          </a:p>
        </p:txBody>
      </p:sp>
      <p:cxnSp>
        <p:nvCxnSpPr>
          <p:cNvPr id="49" name="Google Shape;49;p3"/>
          <p:cNvCxnSpPr>
            <a:stCxn id="46" idx="3"/>
          </p:cNvCxnSpPr>
          <p:nvPr/>
        </p:nvCxnSpPr>
        <p:spPr>
          <a:xfrm>
            <a:off x="5018314" y="786879"/>
            <a:ext cx="914400" cy="0"/>
          </a:xfrm>
          <a:prstGeom prst="straightConnector1">
            <a:avLst/>
          </a:prstGeom>
          <a:noFill/>
          <a:ln cap="flat" cmpd="sng" w="9525">
            <a:solidFill>
              <a:srgbClr val="4A7DBA"/>
            </a:solidFill>
            <a:prstDash val="solid"/>
            <a:round/>
            <a:headEnd len="sm" w="sm" type="none"/>
            <a:tailEnd len="sm" w="sm" type="none"/>
          </a:ln>
        </p:spPr>
      </p:cxnSp>
      <p:cxnSp>
        <p:nvCxnSpPr>
          <p:cNvPr id="50" name="Google Shape;50;p3"/>
          <p:cNvCxnSpPr/>
          <p:nvPr/>
        </p:nvCxnSpPr>
        <p:spPr>
          <a:xfrm>
            <a:off x="5932714" y="786879"/>
            <a:ext cx="0" cy="849573"/>
          </a:xfrm>
          <a:prstGeom prst="straightConnector1">
            <a:avLst/>
          </a:prstGeom>
          <a:noFill/>
          <a:ln cap="flat" cmpd="sng" w="9525">
            <a:solidFill>
              <a:srgbClr val="4A7DBA"/>
            </a:solidFill>
            <a:prstDash val="solid"/>
            <a:round/>
            <a:headEnd len="sm" w="sm" type="none"/>
            <a:tailEnd len="sm" w="sm" type="none"/>
          </a:ln>
        </p:spPr>
      </p:cxnSp>
      <p:cxnSp>
        <p:nvCxnSpPr>
          <p:cNvPr id="51" name="Google Shape;51;p3"/>
          <p:cNvCxnSpPr/>
          <p:nvPr/>
        </p:nvCxnSpPr>
        <p:spPr>
          <a:xfrm>
            <a:off x="5932714" y="1885950"/>
            <a:ext cx="0" cy="1257300"/>
          </a:xfrm>
          <a:prstGeom prst="straightConnector1">
            <a:avLst/>
          </a:prstGeom>
          <a:noFill/>
          <a:ln cap="flat" cmpd="sng" w="9525">
            <a:solidFill>
              <a:srgbClr val="4A7DBA"/>
            </a:solidFill>
            <a:prstDash val="solid"/>
            <a:round/>
            <a:headEnd len="sm" w="sm" type="none"/>
            <a:tailEnd len="med" w="med" type="stealth"/>
          </a:ln>
        </p:spPr>
      </p:cxnSp>
      <p:cxnSp>
        <p:nvCxnSpPr>
          <p:cNvPr id="52" name="Google Shape;52;p3"/>
          <p:cNvCxnSpPr>
            <a:endCxn id="46" idx="1"/>
          </p:cNvCxnSpPr>
          <p:nvPr/>
        </p:nvCxnSpPr>
        <p:spPr>
          <a:xfrm>
            <a:off x="1741714" y="786879"/>
            <a:ext cx="381000" cy="0"/>
          </a:xfrm>
          <a:prstGeom prst="straightConnector1">
            <a:avLst/>
          </a:prstGeom>
          <a:noFill/>
          <a:ln cap="flat" cmpd="sng" w="9525">
            <a:solidFill>
              <a:srgbClr val="4A7DBA"/>
            </a:solidFill>
            <a:prstDash val="solid"/>
            <a:round/>
            <a:headEnd len="sm" w="sm" type="none"/>
            <a:tailEnd len="med" w="med" type="stealth"/>
          </a:ln>
        </p:spPr>
      </p:cxnSp>
      <p:cxnSp>
        <p:nvCxnSpPr>
          <p:cNvPr id="53" name="Google Shape;53;p3"/>
          <p:cNvCxnSpPr/>
          <p:nvPr/>
        </p:nvCxnSpPr>
        <p:spPr>
          <a:xfrm>
            <a:off x="1741714" y="786879"/>
            <a:ext cx="0" cy="1527696"/>
          </a:xfrm>
          <a:prstGeom prst="straightConnector1">
            <a:avLst/>
          </a:prstGeom>
          <a:noFill/>
          <a:ln cap="flat" cmpd="sng" w="9525">
            <a:solidFill>
              <a:srgbClr val="4A7DBA"/>
            </a:solidFill>
            <a:prstDash val="solid"/>
            <a:round/>
            <a:headEnd len="sm" w="sm" type="none"/>
            <a:tailEnd len="sm" w="sm" type="none"/>
          </a:ln>
        </p:spPr>
      </p:cxnSp>
      <p:cxnSp>
        <p:nvCxnSpPr>
          <p:cNvPr id="54" name="Google Shape;54;p3"/>
          <p:cNvCxnSpPr>
            <a:endCxn id="48" idx="1"/>
          </p:cNvCxnSpPr>
          <p:nvPr/>
        </p:nvCxnSpPr>
        <p:spPr>
          <a:xfrm>
            <a:off x="1741714" y="2314575"/>
            <a:ext cx="609600" cy="0"/>
          </a:xfrm>
          <a:prstGeom prst="straightConnector1">
            <a:avLst/>
          </a:prstGeom>
          <a:noFill/>
          <a:ln cap="flat" cmpd="sng" w="9525">
            <a:solidFill>
              <a:srgbClr val="4A7DBA"/>
            </a:solidFill>
            <a:prstDash val="solid"/>
            <a:round/>
            <a:headEnd len="sm" w="sm" type="none"/>
            <a:tailEnd len="sm" w="sm" type="none"/>
          </a:ln>
        </p:spPr>
      </p:cxnSp>
      <p:sp>
        <p:nvSpPr>
          <p:cNvPr id="55" name="Google Shape;55;p3"/>
          <p:cNvSpPr txBox="1"/>
          <p:nvPr/>
        </p:nvSpPr>
        <p:spPr>
          <a:xfrm>
            <a:off x="5715000" y="1648187"/>
            <a:ext cx="621509" cy="344098"/>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False</a:t>
            </a:r>
            <a:endParaRPr/>
          </a:p>
        </p:txBody>
      </p:sp>
      <p:sp>
        <p:nvSpPr>
          <p:cNvPr id="56" name="Google Shape;56;p3"/>
          <p:cNvSpPr txBox="1"/>
          <p:nvPr/>
        </p:nvSpPr>
        <p:spPr>
          <a:xfrm>
            <a:off x="5997885" y="2647950"/>
            <a:ext cx="518917" cy="344098"/>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Exit</a:t>
            </a:r>
            <a:endParaRPr/>
          </a:p>
        </p:txBody>
      </p:sp>
      <p:sp>
        <p:nvSpPr>
          <p:cNvPr id="57" name="Google Shape;57;p3"/>
          <p:cNvSpPr txBox="1"/>
          <p:nvPr/>
        </p:nvSpPr>
        <p:spPr>
          <a:xfrm>
            <a:off x="3592286" y="1543050"/>
            <a:ext cx="562070" cy="344098"/>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True</a:t>
            </a:r>
            <a:endParaRPr/>
          </a:p>
        </p:txBody>
      </p:sp>
      <p:sp>
        <p:nvSpPr>
          <p:cNvPr id="58" name="Google Shape;58;p3"/>
          <p:cNvSpPr/>
          <p:nvPr/>
        </p:nvSpPr>
        <p:spPr>
          <a:xfrm>
            <a:off x="4713514" y="3143250"/>
            <a:ext cx="2438400" cy="51435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
                                        </p:tgtEl>
                                        <p:attrNameLst>
                                          <p:attrName>style.visibility</p:attrName>
                                        </p:attrNameLst>
                                      </p:cBhvr>
                                      <p:to>
                                        <p:strVal val="visible"/>
                                      </p:to>
                                    </p:set>
                                    <p:animEffect filter="fade" transition="in">
                                      <p:cBhvr>
                                        <p:cTn dur="500"/>
                                        <p:tgtEl>
                                          <p:spTgt spid="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
                                        </p:tgtEl>
                                        <p:attrNameLst>
                                          <p:attrName>style.visibility</p:attrName>
                                        </p:attrNameLst>
                                      </p:cBhvr>
                                      <p:to>
                                        <p:strVal val="visible"/>
                                      </p:to>
                                    </p:set>
                                    <p:animEffect filter="fade" transition="in">
                                      <p:cBhvr>
                                        <p:cTn dur="500"/>
                                        <p:tgtEl>
                                          <p:spTgt spid="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
                                        </p:tgtEl>
                                        <p:attrNameLst>
                                          <p:attrName>style.visibility</p:attrName>
                                        </p:attrNameLst>
                                      </p:cBhvr>
                                      <p:to>
                                        <p:strVal val="visible"/>
                                      </p:to>
                                    </p:set>
                                    <p:animEffect filter="fade" transition="in">
                                      <p:cBhvr>
                                        <p:cTn dur="500"/>
                                        <p:tgtEl>
                                          <p:spTgt spid="47"/>
                                        </p:tgtEl>
                                      </p:cBhvr>
                                    </p:animEffect>
                                  </p:childTnLst>
                                </p:cTn>
                              </p:par>
                              <p:par>
                                <p:cTn fill="hold" nodeType="withEffect" presetClass="entr" presetID="10" presetSubtype="0">
                                  <p:stCondLst>
                                    <p:cond delay="0"/>
                                  </p:stCondLst>
                                  <p:childTnLst>
                                    <p:set>
                                      <p:cBhvr>
                                        <p:cTn dur="1" fill="hold">
                                          <p:stCondLst>
                                            <p:cond delay="0"/>
                                          </p:stCondLst>
                                        </p:cTn>
                                        <p:tgtEl>
                                          <p:spTgt spid="57"/>
                                        </p:tgtEl>
                                        <p:attrNameLst>
                                          <p:attrName>style.visibility</p:attrName>
                                        </p:attrNameLst>
                                      </p:cBhvr>
                                      <p:to>
                                        <p:strVal val="visible"/>
                                      </p:to>
                                    </p:set>
                                    <p:animEffect filter="fade" transition="in">
                                      <p:cBhvr>
                                        <p:cTn dur="500"/>
                                        <p:tgtEl>
                                          <p:spTgt spid="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
                                        </p:tgtEl>
                                        <p:attrNameLst>
                                          <p:attrName>style.visibility</p:attrName>
                                        </p:attrNameLst>
                                      </p:cBhvr>
                                      <p:to>
                                        <p:strVal val="visible"/>
                                      </p:to>
                                    </p:set>
                                    <p:animEffect filter="fade" transition="in">
                                      <p:cBhvr>
                                        <p:cTn dur="500"/>
                                        <p:tgtEl>
                                          <p:spTgt spid="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par>
                                <p:cTn fill="hold" nodeType="withEffect" presetClass="entr" presetID="10" presetSubtype="0">
                                  <p:stCondLst>
                                    <p:cond delay="0"/>
                                  </p:stCondLst>
                                  <p:childTnLst>
                                    <p:set>
                                      <p:cBhvr>
                                        <p:cTn dur="1" fill="hold">
                                          <p:stCondLst>
                                            <p:cond delay="0"/>
                                          </p:stCondLst>
                                        </p:cTn>
                                        <p:tgtEl>
                                          <p:spTgt spid="53"/>
                                        </p:tgtEl>
                                        <p:attrNameLst>
                                          <p:attrName>style.visibility</p:attrName>
                                        </p:attrNameLst>
                                      </p:cBhvr>
                                      <p:to>
                                        <p:strVal val="visible"/>
                                      </p:to>
                                    </p:set>
                                    <p:animEffect filter="fade" transition="in">
                                      <p:cBhvr>
                                        <p:cTn dur="500"/>
                                        <p:tgtEl>
                                          <p:spTgt spid="53"/>
                                        </p:tgtEl>
                                      </p:cBhvr>
                                    </p:animEffect>
                                  </p:childTnLst>
                                </p:cTn>
                              </p:par>
                              <p:par>
                                <p:cTn fill="hold" nodeType="withEffect" presetClass="entr" presetID="10" presetSubtype="0">
                                  <p:stCondLst>
                                    <p:cond delay="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
                                        </p:tgtEl>
                                        <p:attrNameLst>
                                          <p:attrName>style.visibility</p:attrName>
                                        </p:attrNameLst>
                                      </p:cBhvr>
                                      <p:to>
                                        <p:strVal val="visible"/>
                                      </p:to>
                                    </p:set>
                                    <p:animEffect filter="fade" transition="in">
                                      <p:cBhvr>
                                        <p:cTn dur="500"/>
                                        <p:tgtEl>
                                          <p:spTgt spid="49"/>
                                        </p:tgtEl>
                                      </p:cBhvr>
                                    </p:animEffect>
                                  </p:childTnLst>
                                </p:cTn>
                              </p:par>
                              <p:par>
                                <p:cTn fill="hold" nodeType="withEffect" presetClass="entr" presetID="10" presetSubtype="0">
                                  <p:stCondLst>
                                    <p:cond delay="0"/>
                                  </p:stCondLst>
                                  <p:childTnLst>
                                    <p:set>
                                      <p:cBhvr>
                                        <p:cTn dur="1" fill="hold">
                                          <p:stCondLst>
                                            <p:cond delay="0"/>
                                          </p:stCondLst>
                                        </p:cTn>
                                        <p:tgtEl>
                                          <p:spTgt spid="50"/>
                                        </p:tgtEl>
                                        <p:attrNameLst>
                                          <p:attrName>style.visibility</p:attrName>
                                        </p:attrNameLst>
                                      </p:cBhvr>
                                      <p:to>
                                        <p:strVal val="visible"/>
                                      </p:to>
                                    </p:set>
                                    <p:animEffect filter="fade" transition="in">
                                      <p:cBhvr>
                                        <p:cTn dur="500"/>
                                        <p:tgtEl>
                                          <p:spTgt spid="50"/>
                                        </p:tgtEl>
                                      </p:cBhvr>
                                    </p:animEffect>
                                  </p:childTnLst>
                                </p:cTn>
                              </p:par>
                              <p:par>
                                <p:cTn fill="hold" nodeType="withEffect" presetClass="entr" presetID="10" presetSubtype="0">
                                  <p:stCondLst>
                                    <p:cond delay="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par>
                                <p:cTn fill="hold" nodeType="withEffect" presetClass="entr" presetID="10" presetSubtype="0">
                                  <p:stCondLst>
                                    <p:cond delay="0"/>
                                  </p:stCondLst>
                                  <p:childTnLst>
                                    <p:set>
                                      <p:cBhvr>
                                        <p:cTn dur="1" fill="hold">
                                          <p:stCondLst>
                                            <p:cond delay="0"/>
                                          </p:stCondLst>
                                        </p:cTn>
                                        <p:tgtEl>
                                          <p:spTgt spid="51"/>
                                        </p:tgtEl>
                                        <p:attrNameLst>
                                          <p:attrName>style.visibility</p:attrName>
                                        </p:attrNameLst>
                                      </p:cBhvr>
                                      <p:to>
                                        <p:strVal val="visible"/>
                                      </p:to>
                                    </p:set>
                                    <p:animEffect filter="fade" transition="in">
                                      <p:cBhvr>
                                        <p:cTn dur="500"/>
                                        <p:tgtEl>
                                          <p:spTgt spid="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gtEl>
                                        <p:attrNameLst>
                                          <p:attrName>style.visibility</p:attrName>
                                        </p:attrNameLst>
                                      </p:cBhvr>
                                      <p:to>
                                        <p:strVal val="visible"/>
                                      </p:to>
                                    </p:set>
                                    <p:animEffect filter="fade" transition="in">
                                      <p:cBhvr>
                                        <p:cTn dur="500"/>
                                        <p:tgtEl>
                                          <p:spTgt spid="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4"/>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while Loop with else</a:t>
            </a:r>
            <a:endParaRPr/>
          </a:p>
        </p:txBody>
      </p:sp>
      <p:sp>
        <p:nvSpPr>
          <p:cNvPr id="64" name="Google Shape;64;p4"/>
          <p:cNvSpPr txBox="1"/>
          <p:nvPr>
            <p:ph idx="1" type="body"/>
          </p:nvPr>
        </p:nvSpPr>
        <p:spPr>
          <a:xfrm>
            <a:off x="457200" y="895350"/>
            <a:ext cx="8305800" cy="39278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This repeatedly tests the condition and, if it is True, executes the Statement 1; if the condition is False (which may be the first time it is tested) the Statement 2 of the else clause, is executed and the loop terminates. The else suite will be always executed irrespective of the statements in the loop are executed or not. </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Syntax:</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while (condition)</a:t>
            </a:r>
            <a:r>
              <a:rPr b="1" lang="en-US" sz="1600">
                <a:latin typeface="Times New Roman"/>
                <a:ea typeface="Times New Roman"/>
                <a:cs typeface="Times New Roman"/>
                <a:sym typeface="Times New Roman"/>
              </a:rPr>
              <a:t>:</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Statement 1</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else:</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Statement 2</a:t>
            </a:r>
            <a:endParaRPr/>
          </a:p>
          <a:p>
            <a:pPr indent="0" lvl="0" marL="0" rtl="0" algn="l">
              <a:spcBef>
                <a:spcPts val="320"/>
              </a:spcBef>
              <a:spcAft>
                <a:spcPts val="0"/>
              </a:spcAft>
              <a:buClr>
                <a:schemeClr val="dk1"/>
              </a:buClr>
              <a:buSzPts val="1600"/>
              <a:buNone/>
            </a:pPr>
            <a:r>
              <a:rPr lang="en-US" sz="1600">
                <a:latin typeface="Times New Roman"/>
                <a:ea typeface="Times New Roman"/>
                <a:cs typeface="Times New Roman"/>
                <a:sym typeface="Times New Roman"/>
              </a:rPr>
              <a:t>	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0" st="0"/>
                                            </p:txEl>
                                          </p:spTgt>
                                        </p:tgtEl>
                                        <p:attrNameLst>
                                          <p:attrName>style.visibility</p:attrName>
                                        </p:attrNameLst>
                                      </p:cBhvr>
                                      <p:to>
                                        <p:strVal val="visible"/>
                                      </p:to>
                                    </p:set>
                                    <p:animEffect filter="fade" transition="in">
                                      <p:cBhvr>
                                        <p:cTn dur="500"/>
                                        <p:tgtEl>
                                          <p:spTgt spid="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1" st="1"/>
                                            </p:txEl>
                                          </p:spTgt>
                                        </p:tgtEl>
                                        <p:attrNameLst>
                                          <p:attrName>style.visibility</p:attrName>
                                        </p:attrNameLst>
                                      </p:cBhvr>
                                      <p:to>
                                        <p:strVal val="visible"/>
                                      </p:to>
                                    </p:set>
                                    <p:animEffect filter="fade" transition="in">
                                      <p:cBhvr>
                                        <p:cTn dur="500"/>
                                        <p:tgtEl>
                                          <p:spTgt spid="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2" st="2"/>
                                            </p:txEl>
                                          </p:spTgt>
                                        </p:tgtEl>
                                        <p:attrNameLst>
                                          <p:attrName>style.visibility</p:attrName>
                                        </p:attrNameLst>
                                      </p:cBhvr>
                                      <p:to>
                                        <p:strVal val="visible"/>
                                      </p:to>
                                    </p:set>
                                    <p:animEffect filter="fade" transition="in">
                                      <p:cBhvr>
                                        <p:cTn dur="500"/>
                                        <p:tgtEl>
                                          <p:spTgt spid="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3" st="3"/>
                                            </p:txEl>
                                          </p:spTgt>
                                        </p:tgtEl>
                                        <p:attrNameLst>
                                          <p:attrName>style.visibility</p:attrName>
                                        </p:attrNameLst>
                                      </p:cBhvr>
                                      <p:to>
                                        <p:strVal val="visible"/>
                                      </p:to>
                                    </p:set>
                                    <p:animEffect filter="fade" transition="in">
                                      <p:cBhvr>
                                        <p:cTn dur="500"/>
                                        <p:tgtEl>
                                          <p:spTgt spid="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4" st="4"/>
                                            </p:txEl>
                                          </p:spTgt>
                                        </p:tgtEl>
                                        <p:attrNameLst>
                                          <p:attrName>style.visibility</p:attrName>
                                        </p:attrNameLst>
                                      </p:cBhvr>
                                      <p:to>
                                        <p:strVal val="visible"/>
                                      </p:to>
                                    </p:set>
                                    <p:animEffect filter="fade" transition="in">
                                      <p:cBhvr>
                                        <p:cTn dur="500"/>
                                        <p:tgtEl>
                                          <p:spTgt spid="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5" st="5"/>
                                            </p:txEl>
                                          </p:spTgt>
                                        </p:tgtEl>
                                        <p:attrNameLst>
                                          <p:attrName>style.visibility</p:attrName>
                                        </p:attrNameLst>
                                      </p:cBhvr>
                                      <p:to>
                                        <p:strVal val="visible"/>
                                      </p:to>
                                    </p:set>
                                    <p:animEffect filter="fade" transition="in">
                                      <p:cBhvr>
                                        <p:cTn dur="500"/>
                                        <p:tgtEl>
                                          <p:spTgt spid="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6" st="6"/>
                                            </p:txEl>
                                          </p:spTgt>
                                        </p:tgtEl>
                                        <p:attrNameLst>
                                          <p:attrName>style.visibility</p:attrName>
                                        </p:attrNameLst>
                                      </p:cBhvr>
                                      <p:to>
                                        <p:strVal val="visible"/>
                                      </p:to>
                                    </p:set>
                                    <p:animEffect filter="fade" transition="in">
                                      <p:cBhvr>
                                        <p:cTn dur="500"/>
                                        <p:tgtEl>
                                          <p:spTgt spid="6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7" st="7"/>
                                            </p:txEl>
                                          </p:spTgt>
                                        </p:tgtEl>
                                        <p:attrNameLst>
                                          <p:attrName>style.visibility</p:attrName>
                                        </p:attrNameLst>
                                      </p:cBhvr>
                                      <p:to>
                                        <p:strVal val="visible"/>
                                      </p:to>
                                    </p:set>
                                    <p:animEffect filter="fade" transition="in">
                                      <p:cBhvr>
                                        <p:cTn dur="500"/>
                                        <p:tgtEl>
                                          <p:spTgt spid="6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cxnSp>
        <p:nvCxnSpPr>
          <p:cNvPr id="69" name="Google Shape;69;p5"/>
          <p:cNvCxnSpPr/>
          <p:nvPr/>
        </p:nvCxnSpPr>
        <p:spPr>
          <a:xfrm>
            <a:off x="3570514" y="15354"/>
            <a:ext cx="0" cy="342900"/>
          </a:xfrm>
          <a:prstGeom prst="straightConnector1">
            <a:avLst/>
          </a:prstGeom>
          <a:noFill/>
          <a:ln cap="flat" cmpd="sng" w="9525">
            <a:solidFill>
              <a:srgbClr val="4A7DBA"/>
            </a:solidFill>
            <a:prstDash val="solid"/>
            <a:round/>
            <a:headEnd len="sm" w="sm" type="none"/>
            <a:tailEnd len="med" w="med" type="stealth"/>
          </a:ln>
        </p:spPr>
      </p:cxnSp>
      <p:sp>
        <p:nvSpPr>
          <p:cNvPr id="70" name="Google Shape;70;p5"/>
          <p:cNvSpPr/>
          <p:nvPr/>
        </p:nvSpPr>
        <p:spPr>
          <a:xfrm>
            <a:off x="2122714" y="358254"/>
            <a:ext cx="2895600" cy="857250"/>
          </a:xfrm>
          <a:prstGeom prst="flowChartDecision">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Condition ?</a:t>
            </a:r>
            <a:endParaRPr/>
          </a:p>
        </p:txBody>
      </p:sp>
      <p:cxnSp>
        <p:nvCxnSpPr>
          <p:cNvPr id="71" name="Google Shape;71;p5"/>
          <p:cNvCxnSpPr>
            <a:stCxn id="70" idx="2"/>
          </p:cNvCxnSpPr>
          <p:nvPr/>
        </p:nvCxnSpPr>
        <p:spPr>
          <a:xfrm>
            <a:off x="3570514" y="1215504"/>
            <a:ext cx="0" cy="841800"/>
          </a:xfrm>
          <a:prstGeom prst="straightConnector1">
            <a:avLst/>
          </a:prstGeom>
          <a:noFill/>
          <a:ln cap="flat" cmpd="sng" w="9525">
            <a:solidFill>
              <a:srgbClr val="4A7DBA"/>
            </a:solidFill>
            <a:prstDash val="solid"/>
            <a:round/>
            <a:headEnd len="sm" w="sm" type="none"/>
            <a:tailEnd len="med" w="med" type="stealth"/>
          </a:ln>
        </p:spPr>
      </p:cxnSp>
      <p:sp>
        <p:nvSpPr>
          <p:cNvPr id="72" name="Google Shape;72;p5"/>
          <p:cNvSpPr/>
          <p:nvPr/>
        </p:nvSpPr>
        <p:spPr>
          <a:xfrm>
            <a:off x="2351314" y="2057400"/>
            <a:ext cx="2438400" cy="51435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Statement 1</a:t>
            </a:r>
            <a:endParaRPr/>
          </a:p>
        </p:txBody>
      </p:sp>
      <p:cxnSp>
        <p:nvCxnSpPr>
          <p:cNvPr id="73" name="Google Shape;73;p5"/>
          <p:cNvCxnSpPr>
            <a:stCxn id="70" idx="3"/>
          </p:cNvCxnSpPr>
          <p:nvPr/>
        </p:nvCxnSpPr>
        <p:spPr>
          <a:xfrm>
            <a:off x="5018314" y="786879"/>
            <a:ext cx="914400" cy="0"/>
          </a:xfrm>
          <a:prstGeom prst="straightConnector1">
            <a:avLst/>
          </a:prstGeom>
          <a:noFill/>
          <a:ln cap="flat" cmpd="sng" w="9525">
            <a:solidFill>
              <a:srgbClr val="4A7DBA"/>
            </a:solidFill>
            <a:prstDash val="solid"/>
            <a:round/>
            <a:headEnd len="sm" w="sm" type="none"/>
            <a:tailEnd len="sm" w="sm" type="none"/>
          </a:ln>
        </p:spPr>
      </p:cxnSp>
      <p:cxnSp>
        <p:nvCxnSpPr>
          <p:cNvPr id="74" name="Google Shape;74;p5"/>
          <p:cNvCxnSpPr/>
          <p:nvPr/>
        </p:nvCxnSpPr>
        <p:spPr>
          <a:xfrm>
            <a:off x="5932714" y="786879"/>
            <a:ext cx="0" cy="849573"/>
          </a:xfrm>
          <a:prstGeom prst="straightConnector1">
            <a:avLst/>
          </a:prstGeom>
          <a:noFill/>
          <a:ln cap="flat" cmpd="sng" w="9525">
            <a:solidFill>
              <a:srgbClr val="4A7DBA"/>
            </a:solidFill>
            <a:prstDash val="solid"/>
            <a:round/>
            <a:headEnd len="sm" w="sm" type="none"/>
            <a:tailEnd len="sm" w="sm" type="none"/>
          </a:ln>
        </p:spPr>
      </p:cxnSp>
      <p:cxnSp>
        <p:nvCxnSpPr>
          <p:cNvPr id="75" name="Google Shape;75;p5"/>
          <p:cNvCxnSpPr/>
          <p:nvPr/>
        </p:nvCxnSpPr>
        <p:spPr>
          <a:xfrm>
            <a:off x="5932714" y="1885950"/>
            <a:ext cx="0" cy="1257300"/>
          </a:xfrm>
          <a:prstGeom prst="straightConnector1">
            <a:avLst/>
          </a:prstGeom>
          <a:noFill/>
          <a:ln cap="flat" cmpd="sng" w="9525">
            <a:solidFill>
              <a:srgbClr val="4A7DBA"/>
            </a:solidFill>
            <a:prstDash val="solid"/>
            <a:round/>
            <a:headEnd len="sm" w="sm" type="none"/>
            <a:tailEnd len="med" w="med" type="stealth"/>
          </a:ln>
        </p:spPr>
      </p:cxnSp>
      <p:cxnSp>
        <p:nvCxnSpPr>
          <p:cNvPr id="76" name="Google Shape;76;p5"/>
          <p:cNvCxnSpPr>
            <a:endCxn id="70" idx="1"/>
          </p:cNvCxnSpPr>
          <p:nvPr/>
        </p:nvCxnSpPr>
        <p:spPr>
          <a:xfrm>
            <a:off x="1741714" y="786879"/>
            <a:ext cx="381000" cy="0"/>
          </a:xfrm>
          <a:prstGeom prst="straightConnector1">
            <a:avLst/>
          </a:prstGeom>
          <a:noFill/>
          <a:ln cap="flat" cmpd="sng" w="9525">
            <a:solidFill>
              <a:srgbClr val="4A7DBA"/>
            </a:solidFill>
            <a:prstDash val="solid"/>
            <a:round/>
            <a:headEnd len="sm" w="sm" type="none"/>
            <a:tailEnd len="med" w="med" type="stealth"/>
          </a:ln>
        </p:spPr>
      </p:cxnSp>
      <p:cxnSp>
        <p:nvCxnSpPr>
          <p:cNvPr id="77" name="Google Shape;77;p5"/>
          <p:cNvCxnSpPr/>
          <p:nvPr/>
        </p:nvCxnSpPr>
        <p:spPr>
          <a:xfrm>
            <a:off x="1741714" y="786879"/>
            <a:ext cx="0" cy="1527696"/>
          </a:xfrm>
          <a:prstGeom prst="straightConnector1">
            <a:avLst/>
          </a:prstGeom>
          <a:noFill/>
          <a:ln cap="flat" cmpd="sng" w="9525">
            <a:solidFill>
              <a:srgbClr val="4A7DBA"/>
            </a:solidFill>
            <a:prstDash val="solid"/>
            <a:round/>
            <a:headEnd len="sm" w="sm" type="none"/>
            <a:tailEnd len="sm" w="sm" type="none"/>
          </a:ln>
        </p:spPr>
      </p:cxnSp>
      <p:cxnSp>
        <p:nvCxnSpPr>
          <p:cNvPr id="78" name="Google Shape;78;p5"/>
          <p:cNvCxnSpPr>
            <a:endCxn id="72" idx="1"/>
          </p:cNvCxnSpPr>
          <p:nvPr/>
        </p:nvCxnSpPr>
        <p:spPr>
          <a:xfrm>
            <a:off x="1741714" y="2314575"/>
            <a:ext cx="609600" cy="0"/>
          </a:xfrm>
          <a:prstGeom prst="straightConnector1">
            <a:avLst/>
          </a:prstGeom>
          <a:noFill/>
          <a:ln cap="flat" cmpd="sng" w="9525">
            <a:solidFill>
              <a:srgbClr val="4A7DBA"/>
            </a:solidFill>
            <a:prstDash val="solid"/>
            <a:round/>
            <a:headEnd len="sm" w="sm" type="none"/>
            <a:tailEnd len="sm" w="sm" type="none"/>
          </a:ln>
        </p:spPr>
      </p:cxnSp>
      <p:sp>
        <p:nvSpPr>
          <p:cNvPr id="79" name="Google Shape;79;p5"/>
          <p:cNvSpPr txBox="1"/>
          <p:nvPr/>
        </p:nvSpPr>
        <p:spPr>
          <a:xfrm>
            <a:off x="5715000" y="1648187"/>
            <a:ext cx="621509" cy="344098"/>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False</a:t>
            </a:r>
            <a:endParaRPr/>
          </a:p>
        </p:txBody>
      </p:sp>
      <p:sp>
        <p:nvSpPr>
          <p:cNvPr id="80" name="Google Shape;80;p5"/>
          <p:cNvSpPr txBox="1"/>
          <p:nvPr/>
        </p:nvSpPr>
        <p:spPr>
          <a:xfrm>
            <a:off x="5997885" y="2647950"/>
            <a:ext cx="531741" cy="344098"/>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Else</a:t>
            </a:r>
            <a:endParaRPr/>
          </a:p>
        </p:txBody>
      </p:sp>
      <p:sp>
        <p:nvSpPr>
          <p:cNvPr id="81" name="Google Shape;81;p5"/>
          <p:cNvSpPr txBox="1"/>
          <p:nvPr/>
        </p:nvSpPr>
        <p:spPr>
          <a:xfrm>
            <a:off x="3592286" y="1543050"/>
            <a:ext cx="562070" cy="344098"/>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True</a:t>
            </a:r>
            <a:endParaRPr/>
          </a:p>
        </p:txBody>
      </p:sp>
      <p:sp>
        <p:nvSpPr>
          <p:cNvPr id="82" name="Google Shape;82;p5"/>
          <p:cNvSpPr/>
          <p:nvPr/>
        </p:nvSpPr>
        <p:spPr>
          <a:xfrm>
            <a:off x="4713514" y="3143250"/>
            <a:ext cx="2438400" cy="51435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Statement 2</a:t>
            </a:r>
            <a:endParaRPr/>
          </a:p>
        </p:txBody>
      </p:sp>
      <p:cxnSp>
        <p:nvCxnSpPr>
          <p:cNvPr id="83" name="Google Shape;83;p5"/>
          <p:cNvCxnSpPr>
            <a:stCxn id="82" idx="2"/>
          </p:cNvCxnSpPr>
          <p:nvPr/>
        </p:nvCxnSpPr>
        <p:spPr>
          <a:xfrm>
            <a:off x="5932714" y="3657600"/>
            <a:ext cx="10800" cy="441900"/>
          </a:xfrm>
          <a:prstGeom prst="straightConnector1">
            <a:avLst/>
          </a:prstGeom>
          <a:noFill/>
          <a:ln cap="flat" cmpd="sng" w="9525">
            <a:solidFill>
              <a:srgbClr val="4A7DBA"/>
            </a:solidFill>
            <a:prstDash val="solid"/>
            <a:round/>
            <a:headEnd len="sm" w="sm" type="none"/>
            <a:tailEnd len="med" w="med" type="stealth"/>
          </a:ln>
        </p:spPr>
      </p:cxnSp>
      <p:sp>
        <p:nvSpPr>
          <p:cNvPr id="84" name="Google Shape;84;p5"/>
          <p:cNvSpPr/>
          <p:nvPr/>
        </p:nvSpPr>
        <p:spPr>
          <a:xfrm>
            <a:off x="4724400" y="4099446"/>
            <a:ext cx="2438400" cy="51435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Rest of Code</a:t>
            </a:r>
            <a:endParaRPr/>
          </a:p>
        </p:txBody>
      </p:sp>
      <p:sp>
        <p:nvSpPr>
          <p:cNvPr id="85" name="Google Shape;85;p5"/>
          <p:cNvSpPr txBox="1"/>
          <p:nvPr/>
        </p:nvSpPr>
        <p:spPr>
          <a:xfrm>
            <a:off x="6025754" y="3706474"/>
            <a:ext cx="518917" cy="344098"/>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Exit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500"/>
                                        <p:tgtEl>
                                          <p:spTgt spid="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
                                        </p:tgtEl>
                                        <p:attrNameLst>
                                          <p:attrName>style.visibility</p:attrName>
                                        </p:attrNameLst>
                                      </p:cBhvr>
                                      <p:to>
                                        <p:strVal val="visible"/>
                                      </p:to>
                                    </p:set>
                                    <p:animEffect filter="fade" transition="in">
                                      <p:cBhvr>
                                        <p:cTn dur="500"/>
                                        <p:tgtEl>
                                          <p:spTgt spid="71"/>
                                        </p:tgtEl>
                                      </p:cBhvr>
                                    </p:animEffect>
                                  </p:childTnLst>
                                </p:cTn>
                              </p:par>
                              <p:par>
                                <p:cTn fill="hold" nodeType="with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500"/>
                                        <p:tgtEl>
                                          <p:spTgt spid="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
                                        </p:tgtEl>
                                        <p:attrNameLst>
                                          <p:attrName>style.visibility</p:attrName>
                                        </p:attrNameLst>
                                      </p:cBhvr>
                                      <p:to>
                                        <p:strVal val="visible"/>
                                      </p:to>
                                    </p:set>
                                    <p:animEffect filter="fade" transition="in">
                                      <p:cBhvr>
                                        <p:cTn dur="500"/>
                                        <p:tgtEl>
                                          <p:spTgt spid="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500"/>
                                        <p:tgtEl>
                                          <p:spTgt spid="78"/>
                                        </p:tgtEl>
                                      </p:cBhvr>
                                    </p:animEffect>
                                  </p:childTnLst>
                                </p:cTn>
                              </p:par>
                              <p:par>
                                <p:cTn fill="hold" nodeType="with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500"/>
                                        <p:tgtEl>
                                          <p:spTgt spid="77"/>
                                        </p:tgtEl>
                                      </p:cBhvr>
                                    </p:animEffect>
                                  </p:childTnLst>
                                </p:cTn>
                              </p:par>
                              <p:par>
                                <p:cTn fill="hold" nodeType="with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500"/>
                                        <p:tgtEl>
                                          <p:spTgt spid="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gtEl>
                                        <p:attrNameLst>
                                          <p:attrName>style.visibility</p:attrName>
                                        </p:attrNameLst>
                                      </p:cBhvr>
                                      <p:to>
                                        <p:strVal val="visible"/>
                                      </p:to>
                                    </p:set>
                                    <p:animEffect filter="fade" transition="in">
                                      <p:cBhvr>
                                        <p:cTn dur="500"/>
                                        <p:tgtEl>
                                          <p:spTgt spid="73"/>
                                        </p:tgtEl>
                                      </p:cBhvr>
                                    </p:animEffect>
                                  </p:childTnLst>
                                </p:cTn>
                              </p:par>
                              <p:par>
                                <p:cTn fill="hold" nodeType="with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500"/>
                                        <p:tgtEl>
                                          <p:spTgt spid="74"/>
                                        </p:tgtEl>
                                      </p:cBhvr>
                                    </p:animEffect>
                                  </p:childTnLst>
                                </p:cTn>
                              </p:par>
                              <p:par>
                                <p:cTn fill="hold" nodeType="with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500"/>
                                        <p:tgtEl>
                                          <p:spTgt spid="79"/>
                                        </p:tgtEl>
                                      </p:cBhvr>
                                    </p:animEffect>
                                  </p:childTnLst>
                                </p:cTn>
                              </p:par>
                              <p:par>
                                <p:cTn fill="hold" nodeType="with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500"/>
                                        <p:tgtEl>
                                          <p:spTgt spid="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500"/>
                                        <p:tgtEl>
                                          <p:spTgt spid="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500"/>
                                        <p:tgtEl>
                                          <p:spTgt spid="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par>
                                <p:cTn fill="hold" nodeType="with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500"/>
                                        <p:tgtEl>
                                          <p:spTgt spid="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7"/>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Infinite while Loop</a:t>
            </a:r>
            <a:endParaRPr/>
          </a:p>
        </p:txBody>
      </p:sp>
      <p:sp>
        <p:nvSpPr>
          <p:cNvPr id="91" name="Google Shape;91;p7"/>
          <p:cNvSpPr txBox="1"/>
          <p:nvPr>
            <p:ph idx="1" type="body"/>
          </p:nvPr>
        </p:nvSpPr>
        <p:spPr>
          <a:xfrm>
            <a:off x="457200" y="929878"/>
            <a:ext cx="8229600" cy="39278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Syntax:</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while (True)</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Rest of the Code</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while (True)</a:t>
            </a:r>
            <a:r>
              <a:rPr b="1" lang="en-US" sz="1800">
                <a:latin typeface="Times New Roman"/>
                <a:ea typeface="Times New Roman"/>
                <a:cs typeface="Times New Roman"/>
                <a:sym typeface="Times New Roman"/>
              </a:rPr>
              <a: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Statement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if(condition):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break</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5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5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500"/>
                                        <p:tgtEl>
                                          <p:spTgt spid="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animEffect filter="fade" transition="in">
                                      <p:cBhvr>
                                        <p:cTn dur="500"/>
                                        <p:tgtEl>
                                          <p:spTgt spid="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animEffect filter="fade" transition="in">
                                      <p:cBhvr>
                                        <p:cTn dur="500"/>
                                        <p:tgtEl>
                                          <p:spTgt spid="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5" st="5"/>
                                            </p:txEl>
                                          </p:spTgt>
                                        </p:tgtEl>
                                        <p:attrNameLst>
                                          <p:attrName>style.visibility</p:attrName>
                                        </p:attrNameLst>
                                      </p:cBhvr>
                                      <p:to>
                                        <p:strVal val="visible"/>
                                      </p:to>
                                    </p:set>
                                    <p:animEffect filter="fade" transition="in">
                                      <p:cBhvr>
                                        <p:cTn dur="500"/>
                                        <p:tgtEl>
                                          <p:spTgt spid="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6" st="6"/>
                                            </p:txEl>
                                          </p:spTgt>
                                        </p:tgtEl>
                                        <p:attrNameLst>
                                          <p:attrName>style.visibility</p:attrName>
                                        </p:attrNameLst>
                                      </p:cBhvr>
                                      <p:to>
                                        <p:strVal val="visible"/>
                                      </p:to>
                                    </p:set>
                                    <p:animEffect filter="fade" transition="in">
                                      <p:cBhvr>
                                        <p:cTn dur="500"/>
                                        <p:tgtEl>
                                          <p:spTgt spid="9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7" st="7"/>
                                            </p:txEl>
                                          </p:spTgt>
                                        </p:tgtEl>
                                        <p:attrNameLst>
                                          <p:attrName>style.visibility</p:attrName>
                                        </p:attrNameLst>
                                      </p:cBhvr>
                                      <p:to>
                                        <p:strVal val="visible"/>
                                      </p:to>
                                    </p:set>
                                    <p:animEffect filter="fade" transition="in">
                                      <p:cBhvr>
                                        <p:cTn dur="500"/>
                                        <p:tgtEl>
                                          <p:spTgt spid="9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8" st="8"/>
                                            </p:txEl>
                                          </p:spTgt>
                                        </p:tgtEl>
                                        <p:attrNameLst>
                                          <p:attrName>style.visibility</p:attrName>
                                        </p:attrNameLst>
                                      </p:cBhvr>
                                      <p:to>
                                        <p:strVal val="visible"/>
                                      </p:to>
                                    </p:set>
                                    <p:animEffect filter="fade" transition="in">
                                      <p:cBhvr>
                                        <p:cTn dur="500"/>
                                        <p:tgtEl>
                                          <p:spTgt spid="9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9" st="9"/>
                                            </p:txEl>
                                          </p:spTgt>
                                        </p:tgtEl>
                                        <p:attrNameLst>
                                          <p:attrName>style.visibility</p:attrName>
                                        </p:attrNameLst>
                                      </p:cBhvr>
                                      <p:to>
                                        <p:strVal val="visible"/>
                                      </p:to>
                                    </p:set>
                                    <p:animEffect filter="fade" transition="in">
                                      <p:cBhvr>
                                        <p:cTn dur="500"/>
                                        <p:tgtEl>
                                          <p:spTgt spid="9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8"/>
          <p:cNvSpPr txBox="1"/>
          <p:nvPr>
            <p:ph type="title"/>
          </p:nvPr>
        </p:nvSpPr>
        <p:spPr>
          <a:xfrm>
            <a:off x="435429" y="23884"/>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900"/>
              <a:buFont typeface="Times New Roman"/>
              <a:buNone/>
            </a:pPr>
            <a:r>
              <a:rPr b="1" lang="en-US" sz="2900" u="sng">
                <a:latin typeface="Times New Roman"/>
                <a:ea typeface="Times New Roman"/>
                <a:cs typeface="Times New Roman"/>
                <a:sym typeface="Times New Roman"/>
              </a:rPr>
              <a:t>Nested While Loop</a:t>
            </a:r>
            <a:endParaRPr/>
          </a:p>
        </p:txBody>
      </p:sp>
      <p:sp>
        <p:nvSpPr>
          <p:cNvPr id="97" name="Google Shape;97;p8"/>
          <p:cNvSpPr txBox="1"/>
          <p:nvPr>
            <p:ph idx="1" type="body"/>
          </p:nvPr>
        </p:nvSpPr>
        <p:spPr>
          <a:xfrm>
            <a:off x="457200" y="742951"/>
            <a:ext cx="8229600" cy="385167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while(condition):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Statements</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while(condition):</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Statements</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Statements</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Rest of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animEffect filter="fade" transition="in">
                                      <p:cBhvr>
                                        <p:cTn dur="500"/>
                                        <p:tgtEl>
                                          <p:spTgt spid="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animEffect filter="fade" transition="in">
                                      <p:cBhvr>
                                        <p:cTn dur="500"/>
                                        <p:tgtEl>
                                          <p:spTgt spid="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animEffect filter="fade" transition="in">
                                      <p:cBhvr>
                                        <p:cTn dur="500"/>
                                        <p:tgtEl>
                                          <p:spTgt spid="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animEffect filter="fade" transition="in">
                                      <p:cBhvr>
                                        <p:cTn dur="500"/>
                                        <p:tgtEl>
                                          <p:spTgt spid="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animEffect filter="fade" transition="in">
                                      <p:cBhvr>
                                        <p:cTn dur="500"/>
                                        <p:tgtEl>
                                          <p:spTgt spid="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5" st="5"/>
                                            </p:txEl>
                                          </p:spTgt>
                                        </p:tgtEl>
                                        <p:attrNameLst>
                                          <p:attrName>style.visibility</p:attrName>
                                        </p:attrNameLst>
                                      </p:cBhvr>
                                      <p:to>
                                        <p:strVal val="visible"/>
                                      </p:to>
                                    </p:set>
                                    <p:animEffect filter="fade" transition="in">
                                      <p:cBhvr>
                                        <p:cTn dur="500"/>
                                        <p:tgtEl>
                                          <p:spTgt spid="9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9"/>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range( ) Function</a:t>
            </a:r>
            <a:endParaRPr b="1" sz="4000" u="sng">
              <a:latin typeface="Times New Roman"/>
              <a:ea typeface="Times New Roman"/>
              <a:cs typeface="Times New Roman"/>
              <a:sym typeface="Times New Roman"/>
            </a:endParaRPr>
          </a:p>
        </p:txBody>
      </p:sp>
      <p:sp>
        <p:nvSpPr>
          <p:cNvPr id="103" name="Google Shape;103;p9"/>
          <p:cNvSpPr txBox="1"/>
          <p:nvPr>
            <p:ph idx="1" type="body"/>
          </p:nvPr>
        </p:nvSpPr>
        <p:spPr>
          <a:xfrm>
            <a:off x="457200" y="8191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range() function is used to generate a sequence of integers starting from 0 by default, and increments by 1 by default, till j-1.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Syntax:-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range(start, stop, stepsize)</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Start – Starting position. If we do not mention start by default it’s 0</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*Stop – Ending position. The range of integers stops one element prior to stop. If stop is j then it will stop at exact j-1</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Stepsize – Increment by stepsize. If we do not mention start by default it’s 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Effect filter="fade" transition="in">
                                      <p:cBhvr>
                                        <p:cTn dur="500"/>
                                        <p:tgtEl>
                                          <p:spTgt spid="1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animEffect filter="fade" transition="in">
                                      <p:cBhvr>
                                        <p:cTn dur="500"/>
                                        <p:tgtEl>
                                          <p:spTgt spid="1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animEffect filter="fade" transition="in">
                                      <p:cBhvr>
                                        <p:cTn dur="500"/>
                                        <p:tgtEl>
                                          <p:spTgt spid="1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animEffect filter="fade" transition="in">
                                      <p:cBhvr>
                                        <p:cTn dur="500"/>
                                        <p:tgtEl>
                                          <p:spTgt spid="1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animEffect filter="fade" transition="in">
                                      <p:cBhvr>
                                        <p:cTn dur="500"/>
                                        <p:tgtEl>
                                          <p:spTgt spid="1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animEffect filter="fade" transition="in">
                                      <p:cBhvr>
                                        <p:cTn dur="500"/>
                                        <p:tgtEl>
                                          <p:spTgt spid="10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0"/>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range( ) Function</a:t>
            </a:r>
            <a:endParaRPr b="1" sz="4000" u="sng">
              <a:latin typeface="Times New Roman"/>
              <a:ea typeface="Times New Roman"/>
              <a:cs typeface="Times New Roman"/>
              <a:sym typeface="Times New Roman"/>
            </a:endParaRPr>
          </a:p>
        </p:txBody>
      </p:sp>
      <p:sp>
        <p:nvSpPr>
          <p:cNvPr id="109" name="Google Shape;109;p10"/>
          <p:cNvSpPr txBox="1"/>
          <p:nvPr>
            <p:ph idx="1" type="body"/>
          </p:nvPr>
        </p:nvSpPr>
        <p:spPr>
          <a:xfrm>
            <a:off x="457200" y="819150"/>
            <a:ext cx="8229600" cy="3810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Syntax:-  range( j )		0, 1, 2, 3, 4,………..., j-1</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range(10)		0, 1, 2, 3, 4, 5, 6, 7, 8, 9</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Syntax:- range(i, j)		i, i+1, i+2. i+3,….., j-1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range(1, 10)		1, 2, 3, 4, 5, 6, 7, 8, 9</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Syntax: - range(i, j, k)	i, i+k, i+2k, i+3k, i+4k,….., j-1</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range(1, 10, 2)		1, 3, 5, 7, 9</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range(-1, -10, -2)	-1  -3  -5  -7  -9</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range(10, 0, -1)	10  9  8  7  6  5  4  3  2  1</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animEffect filter="fade" transition="in">
                                      <p:cBhvr>
                                        <p:cTn dur="500"/>
                                        <p:tgtEl>
                                          <p:spTgt spid="1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animEffect filter="fade" transition="in">
                                      <p:cBhvr>
                                        <p:cTn dur="500"/>
                                        <p:tgtEl>
                                          <p:spTgt spid="1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animEffect filter="fade" transition="in">
                                      <p:cBhvr>
                                        <p:cTn dur="500"/>
                                        <p:tgtEl>
                                          <p:spTgt spid="1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animEffect filter="fade" transition="in">
                                      <p:cBhvr>
                                        <p:cTn dur="500"/>
                                        <p:tgtEl>
                                          <p:spTgt spid="1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animEffect filter="fade" transition="in">
                                      <p:cBhvr>
                                        <p:cTn dur="500"/>
                                        <p:tgtEl>
                                          <p:spTgt spid="10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5" st="5"/>
                                            </p:txEl>
                                          </p:spTgt>
                                        </p:tgtEl>
                                        <p:attrNameLst>
                                          <p:attrName>style.visibility</p:attrName>
                                        </p:attrNameLst>
                                      </p:cBhvr>
                                      <p:to>
                                        <p:strVal val="visible"/>
                                      </p:to>
                                    </p:set>
                                    <p:animEffect filter="fade" transition="in">
                                      <p:cBhvr>
                                        <p:cTn dur="500"/>
                                        <p:tgtEl>
                                          <p:spTgt spid="10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6" st="6"/>
                                            </p:txEl>
                                          </p:spTgt>
                                        </p:tgtEl>
                                        <p:attrNameLst>
                                          <p:attrName>style.visibility</p:attrName>
                                        </p:attrNameLst>
                                      </p:cBhvr>
                                      <p:to>
                                        <p:strVal val="visible"/>
                                      </p:to>
                                    </p:set>
                                    <p:animEffect filter="fade" transition="in">
                                      <p:cBhvr>
                                        <p:cTn dur="500"/>
                                        <p:tgtEl>
                                          <p:spTgt spid="10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7" st="7"/>
                                            </p:txEl>
                                          </p:spTgt>
                                        </p:tgtEl>
                                        <p:attrNameLst>
                                          <p:attrName>style.visibility</p:attrName>
                                        </p:attrNameLst>
                                      </p:cBhvr>
                                      <p:to>
                                        <p:strVal val="visible"/>
                                      </p:to>
                                    </p:set>
                                    <p:animEffect filter="fade" transition="in">
                                      <p:cBhvr>
                                        <p:cTn dur="500"/>
                                        <p:tgtEl>
                                          <p:spTgt spid="10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8" st="8"/>
                                            </p:txEl>
                                          </p:spTgt>
                                        </p:tgtEl>
                                        <p:attrNameLst>
                                          <p:attrName>style.visibility</p:attrName>
                                        </p:attrNameLst>
                                      </p:cBhvr>
                                      <p:to>
                                        <p:strVal val="visible"/>
                                      </p:to>
                                    </p:set>
                                    <p:animEffect filter="fade" transition="in">
                                      <p:cBhvr>
                                        <p:cTn dur="500"/>
                                        <p:tgtEl>
                                          <p:spTgt spid="10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9" st="9"/>
                                            </p:txEl>
                                          </p:spTgt>
                                        </p:tgtEl>
                                        <p:attrNameLst>
                                          <p:attrName>style.visibility</p:attrName>
                                        </p:attrNameLst>
                                      </p:cBhvr>
                                      <p:to>
                                        <p:strVal val="visible"/>
                                      </p:to>
                                    </p:set>
                                    <p:animEffect filter="fade" transition="in">
                                      <p:cBhvr>
                                        <p:cTn dur="500"/>
                                        <p:tgtEl>
                                          <p:spTgt spid="10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10" st="10"/>
                                            </p:txEl>
                                          </p:spTgt>
                                        </p:tgtEl>
                                        <p:attrNameLst>
                                          <p:attrName>style.visibility</p:attrName>
                                        </p:attrNameLst>
                                      </p:cBhvr>
                                      <p:to>
                                        <p:strVal val="visible"/>
                                      </p:to>
                                    </p:set>
                                    <p:animEffect filter="fade" transition="in">
                                      <p:cBhvr>
                                        <p:cTn dur="500"/>
                                        <p:tgtEl>
                                          <p:spTgt spid="10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xEl>
                                              <p:pRg end="11" st="11"/>
                                            </p:txEl>
                                          </p:spTgt>
                                        </p:tgtEl>
                                        <p:attrNameLst>
                                          <p:attrName>style.visibility</p:attrName>
                                        </p:attrNameLst>
                                      </p:cBhvr>
                                      <p:to>
                                        <p:strVal val="visible"/>
                                      </p:to>
                                    </p:set>
                                    <p:animEffect filter="fade" transition="in">
                                      <p:cBhvr>
                                        <p:cTn dur="500"/>
                                        <p:tgtEl>
                                          <p:spTgt spid="10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457200" y="-19050"/>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Rules:-</a:t>
            </a:r>
            <a:endParaRPr b="1" sz="4000" u="sng">
              <a:latin typeface="Times New Roman"/>
              <a:ea typeface="Times New Roman"/>
              <a:cs typeface="Times New Roman"/>
              <a:sym typeface="Times New Roman"/>
            </a:endParaRPr>
          </a:p>
        </p:txBody>
      </p:sp>
      <p:sp>
        <p:nvSpPr>
          <p:cNvPr id="115" name="Google Shape;115;p11"/>
          <p:cNvSpPr txBox="1"/>
          <p:nvPr>
            <p:ph idx="1" type="body"/>
          </p:nvPr>
        </p:nvSpPr>
        <p:spPr>
          <a:xfrm>
            <a:off x="457200" y="895350"/>
            <a:ext cx="8229600" cy="33945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Char char="•"/>
            </a:pPr>
            <a:r>
              <a:rPr lang="en-US" sz="2000">
                <a:latin typeface="Times New Roman"/>
                <a:ea typeface="Times New Roman"/>
                <a:cs typeface="Times New Roman"/>
                <a:sym typeface="Times New Roman"/>
              </a:rPr>
              <a:t>All argument must be integers, whether its positive or negative</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You can not pass a string or float number or any other type in a start, stop and stepsize.</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The stepsize value should not be zero.</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animEffect filter="fade" transition="in">
                                      <p:cBhvr>
                                        <p:cTn dur="500"/>
                                        <p:tgtEl>
                                          <p:spTgt spid="1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animEffect filter="fade" transition="in">
                                      <p:cBhvr>
                                        <p:cTn dur="500"/>
                                        <p:tgtEl>
                                          <p:spTgt spid="1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animEffect filter="fade" transition="in">
                                      <p:cBhvr>
                                        <p:cTn dur="500"/>
                                        <p:tgtEl>
                                          <p:spTgt spid="11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2"/>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u="sng">
                <a:latin typeface="Times New Roman"/>
                <a:ea typeface="Times New Roman"/>
                <a:cs typeface="Times New Roman"/>
                <a:sym typeface="Times New Roman"/>
              </a:rPr>
              <a:t>for Loop</a:t>
            </a:r>
            <a:endParaRPr/>
          </a:p>
        </p:txBody>
      </p:sp>
      <p:sp>
        <p:nvSpPr>
          <p:cNvPr id="121" name="Google Shape;121;p12"/>
          <p:cNvSpPr txBox="1"/>
          <p:nvPr>
            <p:ph idx="1" type="body"/>
          </p:nvPr>
        </p:nvSpPr>
        <p:spPr>
          <a:xfrm>
            <a:off x="457200" y="990601"/>
            <a:ext cx="8229600" cy="37147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The for loop is useful to iterate over the elements of sequence such as string, list, tuple etc.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Syntax:</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for var in sequence</a:t>
            </a:r>
            <a:r>
              <a:rPr b="1" lang="en-US" sz="2000">
                <a:latin typeface="Times New Roman"/>
                <a:ea typeface="Times New Roman"/>
                <a:cs typeface="Times New Roman"/>
                <a:sym typeface="Times New Roman"/>
              </a:rPr>
              <a:t>:</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Statements</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0" st="0"/>
                                            </p:txEl>
                                          </p:spTgt>
                                        </p:tgtEl>
                                        <p:attrNameLst>
                                          <p:attrName>style.visibility</p:attrName>
                                        </p:attrNameLst>
                                      </p:cBhvr>
                                      <p:to>
                                        <p:strVal val="visible"/>
                                      </p:to>
                                    </p:set>
                                    <p:animEffect filter="fade" transition="in">
                                      <p:cBhvr>
                                        <p:cTn dur="500"/>
                                        <p:tgtEl>
                                          <p:spTgt spid="1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1" st="1"/>
                                            </p:txEl>
                                          </p:spTgt>
                                        </p:tgtEl>
                                        <p:attrNameLst>
                                          <p:attrName>style.visibility</p:attrName>
                                        </p:attrNameLst>
                                      </p:cBhvr>
                                      <p:to>
                                        <p:strVal val="visible"/>
                                      </p:to>
                                    </p:set>
                                    <p:animEffect filter="fade" transition="in">
                                      <p:cBhvr>
                                        <p:cTn dur="500"/>
                                        <p:tgtEl>
                                          <p:spTgt spid="1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2" st="2"/>
                                            </p:txEl>
                                          </p:spTgt>
                                        </p:tgtEl>
                                        <p:attrNameLst>
                                          <p:attrName>style.visibility</p:attrName>
                                        </p:attrNameLst>
                                      </p:cBhvr>
                                      <p:to>
                                        <p:strVal val="visible"/>
                                      </p:to>
                                    </p:set>
                                    <p:animEffect filter="fade" transition="in">
                                      <p:cBhvr>
                                        <p:cTn dur="500"/>
                                        <p:tgtEl>
                                          <p:spTgt spid="1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3" st="3"/>
                                            </p:txEl>
                                          </p:spTgt>
                                        </p:tgtEl>
                                        <p:attrNameLst>
                                          <p:attrName>style.visibility</p:attrName>
                                        </p:attrNameLst>
                                      </p:cBhvr>
                                      <p:to>
                                        <p:strVal val="visible"/>
                                      </p:to>
                                    </p:set>
                                    <p:animEffect filter="fade" transition="in">
                                      <p:cBhvr>
                                        <p:cTn dur="500"/>
                                        <p:tgtEl>
                                          <p:spTgt spid="1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xEl>
                                              <p:pRg end="4" st="4"/>
                                            </p:txEl>
                                          </p:spTgt>
                                        </p:tgtEl>
                                        <p:attrNameLst>
                                          <p:attrName>style.visibility</p:attrName>
                                        </p:attrNameLst>
                                      </p:cBhvr>
                                      <p:to>
                                        <p:strVal val="visible"/>
                                      </p:to>
                                    </p:set>
                                    <p:animEffect filter="fade" transition="in">
                                      <p:cBhvr>
                                        <p:cTn dur="500"/>
                                        <p:tgtEl>
                                          <p:spTgt spid="12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3"/>
          <p:cNvSpPr/>
          <p:nvPr/>
        </p:nvSpPr>
        <p:spPr>
          <a:xfrm>
            <a:off x="1872343" y="433032"/>
            <a:ext cx="2895600" cy="857250"/>
          </a:xfrm>
          <a:prstGeom prst="flowChartDecision">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is Element in Sequence ?</a:t>
            </a:r>
            <a:endParaRPr/>
          </a:p>
        </p:txBody>
      </p:sp>
      <p:cxnSp>
        <p:nvCxnSpPr>
          <p:cNvPr id="127" name="Google Shape;127;p13"/>
          <p:cNvCxnSpPr>
            <a:endCxn id="126" idx="0"/>
          </p:cNvCxnSpPr>
          <p:nvPr/>
        </p:nvCxnSpPr>
        <p:spPr>
          <a:xfrm>
            <a:off x="3320143" y="-19068"/>
            <a:ext cx="0" cy="452100"/>
          </a:xfrm>
          <a:prstGeom prst="straightConnector1">
            <a:avLst/>
          </a:prstGeom>
          <a:noFill/>
          <a:ln cap="flat" cmpd="sng" w="9525">
            <a:solidFill>
              <a:srgbClr val="4A7DBA"/>
            </a:solidFill>
            <a:prstDash val="solid"/>
            <a:round/>
            <a:headEnd len="sm" w="sm" type="none"/>
            <a:tailEnd len="med" w="med" type="stealth"/>
          </a:ln>
        </p:spPr>
      </p:cxnSp>
      <p:sp>
        <p:nvSpPr>
          <p:cNvPr id="128" name="Google Shape;128;p13"/>
          <p:cNvSpPr txBox="1"/>
          <p:nvPr/>
        </p:nvSpPr>
        <p:spPr>
          <a:xfrm>
            <a:off x="3378414" y="1611381"/>
            <a:ext cx="3277429" cy="282543"/>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If YES then var = Element or Next Element</a:t>
            </a:r>
            <a:endParaRPr/>
          </a:p>
        </p:txBody>
      </p:sp>
      <p:sp>
        <p:nvSpPr>
          <p:cNvPr id="129" name="Google Shape;129;p13"/>
          <p:cNvSpPr txBox="1"/>
          <p:nvPr/>
        </p:nvSpPr>
        <p:spPr>
          <a:xfrm>
            <a:off x="6208455" y="2592085"/>
            <a:ext cx="518917" cy="344098"/>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Exit</a:t>
            </a:r>
            <a:endParaRPr/>
          </a:p>
        </p:txBody>
      </p:sp>
      <p:cxnSp>
        <p:nvCxnSpPr>
          <p:cNvPr id="130" name="Google Shape;130;p13"/>
          <p:cNvCxnSpPr>
            <a:endCxn id="126" idx="1"/>
          </p:cNvCxnSpPr>
          <p:nvPr/>
        </p:nvCxnSpPr>
        <p:spPr>
          <a:xfrm>
            <a:off x="1447843" y="861657"/>
            <a:ext cx="424500" cy="0"/>
          </a:xfrm>
          <a:prstGeom prst="straightConnector1">
            <a:avLst/>
          </a:prstGeom>
          <a:noFill/>
          <a:ln cap="flat" cmpd="sng" w="9525">
            <a:solidFill>
              <a:srgbClr val="4A7DBA"/>
            </a:solidFill>
            <a:prstDash val="solid"/>
            <a:round/>
            <a:headEnd len="sm" w="sm" type="none"/>
            <a:tailEnd len="med" w="med" type="stealth"/>
          </a:ln>
        </p:spPr>
      </p:cxnSp>
      <p:sp>
        <p:nvSpPr>
          <p:cNvPr id="131" name="Google Shape;131;p13"/>
          <p:cNvSpPr/>
          <p:nvPr/>
        </p:nvSpPr>
        <p:spPr>
          <a:xfrm>
            <a:off x="2181292" y="2571750"/>
            <a:ext cx="2438400" cy="514350"/>
          </a:xfrm>
          <a:prstGeom prst="rect">
            <a:avLst/>
          </a:prstGeom>
          <a:solidFill>
            <a:schemeClr val="lt1"/>
          </a:solidFill>
          <a:ln cap="flat" cmpd="sng" w="25400">
            <a:solidFill>
              <a:schemeClr val="accent1"/>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Statements</a:t>
            </a:r>
            <a:endParaRPr/>
          </a:p>
        </p:txBody>
      </p:sp>
      <p:cxnSp>
        <p:nvCxnSpPr>
          <p:cNvPr id="132" name="Google Shape;132;p13"/>
          <p:cNvCxnSpPr/>
          <p:nvPr/>
        </p:nvCxnSpPr>
        <p:spPr>
          <a:xfrm>
            <a:off x="1447800" y="861657"/>
            <a:ext cx="0" cy="1967268"/>
          </a:xfrm>
          <a:prstGeom prst="straightConnector1">
            <a:avLst/>
          </a:prstGeom>
          <a:noFill/>
          <a:ln cap="flat" cmpd="sng" w="9525">
            <a:solidFill>
              <a:srgbClr val="4A7DBA"/>
            </a:solidFill>
            <a:prstDash val="solid"/>
            <a:round/>
            <a:headEnd len="sm" w="sm" type="none"/>
            <a:tailEnd len="sm" w="sm" type="none"/>
          </a:ln>
        </p:spPr>
      </p:cxnSp>
      <p:cxnSp>
        <p:nvCxnSpPr>
          <p:cNvPr id="133" name="Google Shape;133;p13"/>
          <p:cNvCxnSpPr>
            <a:endCxn id="131" idx="1"/>
          </p:cNvCxnSpPr>
          <p:nvPr/>
        </p:nvCxnSpPr>
        <p:spPr>
          <a:xfrm>
            <a:off x="1447792" y="2828925"/>
            <a:ext cx="733500" cy="0"/>
          </a:xfrm>
          <a:prstGeom prst="straightConnector1">
            <a:avLst/>
          </a:prstGeom>
          <a:noFill/>
          <a:ln cap="flat" cmpd="sng" w="9525">
            <a:solidFill>
              <a:srgbClr val="4A7DBA"/>
            </a:solidFill>
            <a:prstDash val="solid"/>
            <a:round/>
            <a:headEnd len="sm" w="sm" type="none"/>
            <a:tailEnd len="sm" w="sm" type="none"/>
          </a:ln>
        </p:spPr>
      </p:cxnSp>
      <p:cxnSp>
        <p:nvCxnSpPr>
          <p:cNvPr id="134" name="Google Shape;134;p13"/>
          <p:cNvCxnSpPr>
            <a:stCxn id="126" idx="3"/>
          </p:cNvCxnSpPr>
          <p:nvPr/>
        </p:nvCxnSpPr>
        <p:spPr>
          <a:xfrm>
            <a:off x="4767943" y="861657"/>
            <a:ext cx="1959300" cy="0"/>
          </a:xfrm>
          <a:prstGeom prst="straightConnector1">
            <a:avLst/>
          </a:prstGeom>
          <a:noFill/>
          <a:ln cap="flat" cmpd="sng" w="9525">
            <a:solidFill>
              <a:srgbClr val="4A7DBA"/>
            </a:solidFill>
            <a:prstDash val="solid"/>
            <a:round/>
            <a:headEnd len="sm" w="sm" type="none"/>
            <a:tailEnd len="sm" w="sm" type="none"/>
          </a:ln>
        </p:spPr>
      </p:cxnSp>
      <p:cxnSp>
        <p:nvCxnSpPr>
          <p:cNvPr id="135" name="Google Shape;135;p13"/>
          <p:cNvCxnSpPr>
            <a:stCxn id="126" idx="2"/>
          </p:cNvCxnSpPr>
          <p:nvPr/>
        </p:nvCxnSpPr>
        <p:spPr>
          <a:xfrm>
            <a:off x="3320143" y="1290282"/>
            <a:ext cx="0" cy="1281600"/>
          </a:xfrm>
          <a:prstGeom prst="straightConnector1">
            <a:avLst/>
          </a:prstGeom>
          <a:noFill/>
          <a:ln cap="flat" cmpd="sng" w="9525">
            <a:solidFill>
              <a:srgbClr val="4A7DBA"/>
            </a:solidFill>
            <a:prstDash val="solid"/>
            <a:round/>
            <a:headEnd len="sm" w="sm" type="none"/>
            <a:tailEnd len="med" w="med" type="stealth"/>
          </a:ln>
        </p:spPr>
      </p:cxnSp>
      <p:cxnSp>
        <p:nvCxnSpPr>
          <p:cNvPr id="136" name="Google Shape;136;p13"/>
          <p:cNvCxnSpPr/>
          <p:nvPr/>
        </p:nvCxnSpPr>
        <p:spPr>
          <a:xfrm>
            <a:off x="6727372" y="861657"/>
            <a:ext cx="0" cy="2376843"/>
          </a:xfrm>
          <a:prstGeom prst="straightConnector1">
            <a:avLst/>
          </a:prstGeom>
          <a:noFill/>
          <a:ln cap="flat" cmpd="sng" w="9525">
            <a:solidFill>
              <a:srgbClr val="4A7DBA"/>
            </a:solidFill>
            <a:prstDash val="solid"/>
            <a:round/>
            <a:headEnd len="sm" w="sm" type="none"/>
            <a:tailEnd len="med" w="med" type="stealth"/>
          </a:ln>
        </p:spPr>
      </p:cxnSp>
      <p:sp>
        <p:nvSpPr>
          <p:cNvPr id="137" name="Google Shape;137;p13"/>
          <p:cNvSpPr/>
          <p:nvPr/>
        </p:nvSpPr>
        <p:spPr>
          <a:xfrm>
            <a:off x="5442857" y="3238500"/>
            <a:ext cx="2438400" cy="51435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ctr" bIns="33225" lIns="66425" spcFirstLastPara="1" rIns="66425" wrap="square" tIns="33225">
            <a:noAutofit/>
          </a:bodyPr>
          <a:lstStyle/>
          <a:p>
            <a:pPr indent="0" lvl="0" marL="0" marR="0" rtl="0" algn="ctr">
              <a:spcBef>
                <a:spcPts val="0"/>
              </a:spcBef>
              <a:spcAft>
                <a:spcPts val="0"/>
              </a:spcAft>
              <a:buNone/>
            </a:pPr>
            <a:r>
              <a:rPr lang="en-US" sz="1600">
                <a:solidFill>
                  <a:schemeClr val="dk1"/>
                </a:solidFill>
                <a:latin typeface="Times New Roman"/>
                <a:ea typeface="Times New Roman"/>
                <a:cs typeface="Times New Roman"/>
                <a:sym typeface="Times New Roman"/>
              </a:rPr>
              <a:t>Rest of the Code</a:t>
            </a:r>
            <a:endParaRPr/>
          </a:p>
        </p:txBody>
      </p:sp>
      <p:sp>
        <p:nvSpPr>
          <p:cNvPr id="138" name="Google Shape;138;p13"/>
          <p:cNvSpPr txBox="1"/>
          <p:nvPr/>
        </p:nvSpPr>
        <p:spPr>
          <a:xfrm>
            <a:off x="5029200" y="514350"/>
            <a:ext cx="1200193" cy="282543"/>
          </a:xfrm>
          <a:prstGeom prst="rect">
            <a:avLst/>
          </a:prstGeom>
          <a:noFill/>
          <a:ln>
            <a:noFill/>
          </a:ln>
        </p:spPr>
        <p:txBody>
          <a:bodyPr anchorCtr="0" anchor="t" bIns="33225" lIns="66425" spcFirstLastPara="1" rIns="66425" wrap="square" tIns="33225">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If NO Element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par>
                                <p:cTn fill="hold" nodeType="with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for Loop with Range</a:t>
            </a:r>
            <a:endParaRPr b="1" sz="4000" u="sng">
              <a:latin typeface="Times New Roman"/>
              <a:ea typeface="Times New Roman"/>
              <a:cs typeface="Times New Roman"/>
              <a:sym typeface="Times New Roman"/>
            </a:endParaRPr>
          </a:p>
        </p:txBody>
      </p:sp>
      <p:sp>
        <p:nvSpPr>
          <p:cNvPr id="144" name="Google Shape;144;p14"/>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latin typeface="Times New Roman"/>
                <a:ea typeface="Times New Roman"/>
                <a:cs typeface="Times New Roman"/>
                <a:sym typeface="Times New Roman"/>
              </a:rPr>
              <a:t>a = range(5)</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for i in a </a:t>
            </a:r>
            <a:r>
              <a:rPr b="1" lang="en-US" sz="2400">
                <a:latin typeface="Times New Roman"/>
                <a:ea typeface="Times New Roman"/>
                <a:cs typeface="Times New Roman"/>
                <a:sym typeface="Times New Roman"/>
              </a:rPr>
              <a:t>:</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print(i)</a:t>
            </a:r>
            <a:endParaRPr/>
          </a:p>
          <a:p>
            <a:pPr indent="0" lvl="0" marL="0" rtl="0" algn="l">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for i in range(5) </a:t>
            </a:r>
            <a:r>
              <a:rPr b="1" lang="en-US" sz="2400">
                <a:latin typeface="Times New Roman"/>
                <a:ea typeface="Times New Roman"/>
                <a:cs typeface="Times New Roman"/>
                <a:sym typeface="Times New Roman"/>
              </a:rPr>
              <a:t>:</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print(i)</a:t>
            </a:r>
            <a:endParaRPr sz="2400">
              <a:latin typeface="Times New Roman"/>
              <a:ea typeface="Times New Roman"/>
              <a:cs typeface="Times New Roman"/>
              <a:sym typeface="Times New Roman"/>
            </a:endParaRPr>
          </a:p>
          <a:p>
            <a:pPr indent="0" lvl="0" marL="0" rtl="0" algn="l">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animEffect filter="fade" transition="in">
                                      <p:cBhvr>
                                        <p:cTn dur="500"/>
                                        <p:tgtEl>
                                          <p:spTgt spid="1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animEffect filter="fade" transition="in">
                                      <p:cBhvr>
                                        <p:cTn dur="500"/>
                                        <p:tgtEl>
                                          <p:spTgt spid="1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animEffect filter="fade" transition="in">
                                      <p:cBhvr>
                                        <p:cTn dur="500"/>
                                        <p:tgtEl>
                                          <p:spTgt spid="1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animEffect filter="fade" transition="in">
                                      <p:cBhvr>
                                        <p:cTn dur="500"/>
                                        <p:tgtEl>
                                          <p:spTgt spid="14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animEffect filter="fade" transition="in">
                                      <p:cBhvr>
                                        <p:cTn dur="500"/>
                                        <p:tgtEl>
                                          <p:spTgt spid="14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animEffect filter="fade" transition="in">
                                      <p:cBhvr>
                                        <p:cTn dur="500"/>
                                        <p:tgtEl>
                                          <p:spTgt spid="14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xEl>
                                              <p:pRg end="6" st="6"/>
                                            </p:txEl>
                                          </p:spTgt>
                                        </p:tgtEl>
                                        <p:attrNameLst>
                                          <p:attrName>style.visibility</p:attrName>
                                        </p:attrNameLst>
                                      </p:cBhvr>
                                      <p:to>
                                        <p:strVal val="visible"/>
                                      </p:to>
                                    </p:set>
                                    <p:animEffect filter="fade" transition="in">
                                      <p:cBhvr>
                                        <p:cTn dur="500"/>
                                        <p:tgtEl>
                                          <p:spTgt spid="14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5"/>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Times New Roman"/>
              <a:buNone/>
            </a:pPr>
            <a:r>
              <a:rPr b="1" lang="en-US" u="sng">
                <a:latin typeface="Times New Roman"/>
                <a:ea typeface="Times New Roman"/>
                <a:cs typeface="Times New Roman"/>
                <a:sym typeface="Times New Roman"/>
              </a:rPr>
              <a:t>for Loop with else</a:t>
            </a:r>
            <a:endParaRPr/>
          </a:p>
        </p:txBody>
      </p:sp>
      <p:sp>
        <p:nvSpPr>
          <p:cNvPr id="150" name="Google Shape;150;p15"/>
          <p:cNvSpPr txBox="1"/>
          <p:nvPr>
            <p:ph idx="1" type="body"/>
          </p:nvPr>
        </p:nvSpPr>
        <p:spPr>
          <a:xfrm>
            <a:off x="457200" y="895350"/>
            <a:ext cx="8229600" cy="37147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The for loop is useful to iterate over the elements of sequence such as string, list, tuple etc. The else suite will be always executed irrespective of the statements in the loop are executed or not.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Syntax:</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for var in sequence</a:t>
            </a:r>
            <a:r>
              <a:rPr b="1" lang="en-US" sz="2000">
                <a:latin typeface="Times New Roman"/>
                <a:ea typeface="Times New Roman"/>
                <a:cs typeface="Times New Roman"/>
                <a:sym typeface="Times New Roman"/>
              </a:rPr>
              <a:t>:</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Statements</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else</a:t>
            </a:r>
            <a:r>
              <a:rPr b="1" lang="en-US" sz="2000">
                <a:latin typeface="Times New Roman"/>
                <a:ea typeface="Times New Roman"/>
                <a:cs typeface="Times New Roman"/>
                <a:sym typeface="Times New Roman"/>
              </a:rPr>
              <a:t>:</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Statements</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Rest of the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500"/>
                                        <p:tgtEl>
                                          <p:spTgt spid="1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animEffect filter="fade" transition="in">
                                      <p:cBhvr>
                                        <p:cTn dur="500"/>
                                        <p:tgtEl>
                                          <p:spTgt spid="1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animEffect filter="fade" transition="in">
                                      <p:cBhvr>
                                        <p:cTn dur="500"/>
                                        <p:tgtEl>
                                          <p:spTgt spid="1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animEffect filter="fade" transition="in">
                                      <p:cBhvr>
                                        <p:cTn dur="500"/>
                                        <p:tgtEl>
                                          <p:spTgt spid="1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animEffect filter="fade" transition="in">
                                      <p:cBhvr>
                                        <p:cTn dur="500"/>
                                        <p:tgtEl>
                                          <p:spTgt spid="1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animEffect filter="fade" transition="in">
                                      <p:cBhvr>
                                        <p:cTn dur="500"/>
                                        <p:tgtEl>
                                          <p:spTgt spid="1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6" st="6"/>
                                            </p:txEl>
                                          </p:spTgt>
                                        </p:tgtEl>
                                        <p:attrNameLst>
                                          <p:attrName>style.visibility</p:attrName>
                                        </p:attrNameLst>
                                      </p:cBhvr>
                                      <p:to>
                                        <p:strVal val="visible"/>
                                      </p:to>
                                    </p:set>
                                    <p:animEffect filter="fade" transition="in">
                                      <p:cBhvr>
                                        <p:cTn dur="500"/>
                                        <p:tgtEl>
                                          <p:spTgt spid="15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6"/>
          <p:cNvSpPr txBox="1"/>
          <p:nvPr>
            <p:ph type="title"/>
          </p:nvPr>
        </p:nvSpPr>
        <p:spPr>
          <a:xfrm>
            <a:off x="457200" y="19050"/>
            <a:ext cx="8229600" cy="7239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900"/>
              <a:buFont typeface="Times New Roman"/>
              <a:buNone/>
            </a:pPr>
            <a:r>
              <a:rPr b="1" lang="en-US" sz="2900" u="sng">
                <a:latin typeface="Times New Roman"/>
                <a:ea typeface="Times New Roman"/>
                <a:cs typeface="Times New Roman"/>
                <a:sym typeface="Times New Roman"/>
              </a:rPr>
              <a:t>Nested for loop</a:t>
            </a:r>
            <a:endParaRPr/>
          </a:p>
        </p:txBody>
      </p:sp>
      <p:sp>
        <p:nvSpPr>
          <p:cNvPr id="156" name="Google Shape;156;p16"/>
          <p:cNvSpPr txBox="1"/>
          <p:nvPr>
            <p:ph idx="1" type="body"/>
          </p:nvPr>
        </p:nvSpPr>
        <p:spPr>
          <a:xfrm>
            <a:off x="457200" y="777478"/>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For loop inside another for loop is known as nested for loop.</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for i in range(n):</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for j in range(y):</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Statements</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Statements</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Rest of the Code</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0" st="0"/>
                                            </p:txEl>
                                          </p:spTgt>
                                        </p:tgtEl>
                                        <p:attrNameLst>
                                          <p:attrName>style.visibility</p:attrName>
                                        </p:attrNameLst>
                                      </p:cBhvr>
                                      <p:to>
                                        <p:strVal val="visible"/>
                                      </p:to>
                                    </p:set>
                                    <p:animEffect filter="fade" transition="in">
                                      <p:cBhvr>
                                        <p:cTn dur="500"/>
                                        <p:tgtEl>
                                          <p:spTgt spid="1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 st="1"/>
                                            </p:txEl>
                                          </p:spTgt>
                                        </p:tgtEl>
                                        <p:attrNameLst>
                                          <p:attrName>style.visibility</p:attrName>
                                        </p:attrNameLst>
                                      </p:cBhvr>
                                      <p:to>
                                        <p:strVal val="visible"/>
                                      </p:to>
                                    </p:set>
                                    <p:animEffect filter="fade" transition="in">
                                      <p:cBhvr>
                                        <p:cTn dur="500"/>
                                        <p:tgtEl>
                                          <p:spTgt spid="1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2" st="2"/>
                                            </p:txEl>
                                          </p:spTgt>
                                        </p:tgtEl>
                                        <p:attrNameLst>
                                          <p:attrName>style.visibility</p:attrName>
                                        </p:attrNameLst>
                                      </p:cBhvr>
                                      <p:to>
                                        <p:strVal val="visible"/>
                                      </p:to>
                                    </p:set>
                                    <p:animEffect filter="fade" transition="in">
                                      <p:cBhvr>
                                        <p:cTn dur="500"/>
                                        <p:tgtEl>
                                          <p:spTgt spid="1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3" st="3"/>
                                            </p:txEl>
                                          </p:spTgt>
                                        </p:tgtEl>
                                        <p:attrNameLst>
                                          <p:attrName>style.visibility</p:attrName>
                                        </p:attrNameLst>
                                      </p:cBhvr>
                                      <p:to>
                                        <p:strVal val="visible"/>
                                      </p:to>
                                    </p:set>
                                    <p:animEffect filter="fade" transition="in">
                                      <p:cBhvr>
                                        <p:cTn dur="500"/>
                                        <p:tgtEl>
                                          <p:spTgt spid="1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4" st="4"/>
                                            </p:txEl>
                                          </p:spTgt>
                                        </p:tgtEl>
                                        <p:attrNameLst>
                                          <p:attrName>style.visibility</p:attrName>
                                        </p:attrNameLst>
                                      </p:cBhvr>
                                      <p:to>
                                        <p:strVal val="visible"/>
                                      </p:to>
                                    </p:set>
                                    <p:animEffect filter="fade" transition="in">
                                      <p:cBhvr>
                                        <p:cTn dur="500"/>
                                        <p:tgtEl>
                                          <p:spTgt spid="1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5" st="5"/>
                                            </p:txEl>
                                          </p:spTgt>
                                        </p:tgtEl>
                                        <p:attrNameLst>
                                          <p:attrName>style.visibility</p:attrName>
                                        </p:attrNameLst>
                                      </p:cBhvr>
                                      <p:to>
                                        <p:strVal val="visible"/>
                                      </p:to>
                                    </p:set>
                                    <p:animEffect filter="fade" transition="in">
                                      <p:cBhvr>
                                        <p:cTn dur="500"/>
                                        <p:tgtEl>
                                          <p:spTgt spid="1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6" st="6"/>
                                            </p:txEl>
                                          </p:spTgt>
                                        </p:tgtEl>
                                        <p:attrNameLst>
                                          <p:attrName>style.visibility</p:attrName>
                                        </p:attrNameLst>
                                      </p:cBhvr>
                                      <p:to>
                                        <p:strVal val="visible"/>
                                      </p:to>
                                    </p:set>
                                    <p:animEffect filter="fade" transition="in">
                                      <p:cBhvr>
                                        <p:cTn dur="500"/>
                                        <p:tgtEl>
                                          <p:spTgt spid="15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7"/>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Break Statement</a:t>
            </a:r>
            <a:endParaRPr b="1" sz="4000" u="sng">
              <a:latin typeface="Times New Roman"/>
              <a:ea typeface="Times New Roman"/>
              <a:cs typeface="Times New Roman"/>
              <a:sym typeface="Times New Roman"/>
            </a:endParaRPr>
          </a:p>
        </p:txBody>
      </p:sp>
      <p:sp>
        <p:nvSpPr>
          <p:cNvPr id="162" name="Google Shape;162;p17"/>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Break statement is used to jump out of loop to process the next statement in the program.</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while condition:</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if(condition):</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break</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Rest of Code</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animEffect filter="fade" transition="in">
                                      <p:cBhvr>
                                        <p:cTn dur="500"/>
                                        <p:tgtEl>
                                          <p:spTgt spid="1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animEffect filter="fade" transition="in">
                                      <p:cBhvr>
                                        <p:cTn dur="500"/>
                                        <p:tgtEl>
                                          <p:spTgt spid="1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2" st="2"/>
                                            </p:txEl>
                                          </p:spTgt>
                                        </p:tgtEl>
                                        <p:attrNameLst>
                                          <p:attrName>style.visibility</p:attrName>
                                        </p:attrNameLst>
                                      </p:cBhvr>
                                      <p:to>
                                        <p:strVal val="visible"/>
                                      </p:to>
                                    </p:set>
                                    <p:animEffect filter="fade" transition="in">
                                      <p:cBhvr>
                                        <p:cTn dur="500"/>
                                        <p:tgtEl>
                                          <p:spTgt spid="1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3" st="3"/>
                                            </p:txEl>
                                          </p:spTgt>
                                        </p:tgtEl>
                                        <p:attrNameLst>
                                          <p:attrName>style.visibility</p:attrName>
                                        </p:attrNameLst>
                                      </p:cBhvr>
                                      <p:to>
                                        <p:strVal val="visible"/>
                                      </p:to>
                                    </p:set>
                                    <p:animEffect filter="fade" transition="in">
                                      <p:cBhvr>
                                        <p:cTn dur="500"/>
                                        <p:tgtEl>
                                          <p:spTgt spid="1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xEl>
                                              <p:pRg end="4" st="4"/>
                                            </p:txEl>
                                          </p:spTgt>
                                        </p:tgtEl>
                                        <p:attrNameLst>
                                          <p:attrName>style.visibility</p:attrName>
                                        </p:attrNameLst>
                                      </p:cBhvr>
                                      <p:to>
                                        <p:strVal val="visible"/>
                                      </p:to>
                                    </p:set>
                                    <p:animEffect filter="fade" transition="in">
                                      <p:cBhvr>
                                        <p:cTn dur="500"/>
                                        <p:tgtEl>
                                          <p:spTgt spid="16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Continue Statement</a:t>
            </a:r>
            <a:endParaRPr b="1" sz="4000" u="sng">
              <a:latin typeface="Times New Roman"/>
              <a:ea typeface="Times New Roman"/>
              <a:cs typeface="Times New Roman"/>
              <a:sym typeface="Times New Roman"/>
            </a:endParaRPr>
          </a:p>
        </p:txBody>
      </p:sp>
      <p:sp>
        <p:nvSpPr>
          <p:cNvPr id="168" name="Google Shape;168;p18"/>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Continue statement is used in a loop to go back to the beginning of the loop.</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while condition:</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if(condition):</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continue</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Rest of Code</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animEffect filter="fade" transition="in">
                                      <p:cBhvr>
                                        <p:cTn dur="500"/>
                                        <p:tgtEl>
                                          <p:spTgt spid="1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animEffect filter="fade" transition="in">
                                      <p:cBhvr>
                                        <p:cTn dur="500"/>
                                        <p:tgtEl>
                                          <p:spTgt spid="1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animEffect filter="fade" transition="in">
                                      <p:cBhvr>
                                        <p:cTn dur="500"/>
                                        <p:tgtEl>
                                          <p:spTgt spid="1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animEffect filter="fade" transition="in">
                                      <p:cBhvr>
                                        <p:cTn dur="500"/>
                                        <p:tgtEl>
                                          <p:spTgt spid="1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animEffect filter="fade" transition="in">
                                      <p:cBhvr>
                                        <p:cTn dur="500"/>
                                        <p:tgtEl>
                                          <p:spTgt spid="16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Pass Statement</a:t>
            </a:r>
            <a:endParaRPr b="1" sz="4000" u="sng">
              <a:latin typeface="Times New Roman"/>
              <a:ea typeface="Times New Roman"/>
              <a:cs typeface="Times New Roman"/>
              <a:sym typeface="Times New Roman"/>
            </a:endParaRPr>
          </a:p>
        </p:txBody>
      </p:sp>
      <p:sp>
        <p:nvSpPr>
          <p:cNvPr id="174" name="Google Shape;174;p19"/>
          <p:cNvSpPr txBox="1"/>
          <p:nvPr>
            <p:ph idx="1" type="body"/>
          </p:nvPr>
        </p:nvSpPr>
        <p:spPr>
          <a:xfrm>
            <a:off x="457200" y="8191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Pass Statement is used to do nothing. It can be used inside a loop or if statement to represent no operation. Pass is useful when we need statement syntactically correct but we do not want to do any operation.</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if(condition)</a:t>
            </a:r>
            <a:r>
              <a:rPr b="1" lang="en-US" sz="2000">
                <a:latin typeface="Times New Roman"/>
                <a:ea typeface="Times New Roman"/>
                <a:cs typeface="Times New Roman"/>
                <a:sym typeface="Times New Roman"/>
              </a:rPr>
              <a:t>:</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pass</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else</a:t>
            </a:r>
            <a:r>
              <a:rPr b="1" lang="en-US" sz="2000">
                <a:latin typeface="Times New Roman"/>
                <a:ea typeface="Times New Roman"/>
                <a:cs typeface="Times New Roman"/>
                <a:sym typeface="Times New Roman"/>
              </a:rPr>
              <a:t>:</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Statements </a:t>
            </a:r>
            <a:endParaRPr/>
          </a:p>
        </p:txBody>
      </p:sp>
      <p:sp>
        <p:nvSpPr>
          <p:cNvPr id="175" name="Google Shape;175;p19"/>
          <p:cNvSpPr txBox="1"/>
          <p:nvPr/>
        </p:nvSpPr>
        <p:spPr>
          <a:xfrm>
            <a:off x="2438400" y="1885950"/>
            <a:ext cx="2410147"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If this condition is True </a:t>
            </a:r>
            <a:endParaRPr sz="1800">
              <a:solidFill>
                <a:schemeClr val="dk1"/>
              </a:solidFill>
              <a:latin typeface="Times New Roman"/>
              <a:ea typeface="Times New Roman"/>
              <a:cs typeface="Times New Roman"/>
              <a:sym typeface="Times New Roman"/>
            </a:endParaRPr>
          </a:p>
        </p:txBody>
      </p:sp>
      <p:sp>
        <p:nvSpPr>
          <p:cNvPr id="176" name="Google Shape;176;p19"/>
          <p:cNvSpPr txBox="1"/>
          <p:nvPr/>
        </p:nvSpPr>
        <p:spPr>
          <a:xfrm>
            <a:off x="2500727" y="2354818"/>
            <a:ext cx="3052439"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Do not perform any operation</a:t>
            </a:r>
            <a:endParaRPr sz="1800">
              <a:solidFill>
                <a:schemeClr val="dk1"/>
              </a:solidFill>
              <a:latin typeface="Times New Roman"/>
              <a:ea typeface="Times New Roman"/>
              <a:cs typeface="Times New Roman"/>
              <a:sym typeface="Times New Roman"/>
            </a:endParaRPr>
          </a:p>
        </p:txBody>
      </p:sp>
      <p:cxnSp>
        <p:nvCxnSpPr>
          <p:cNvPr id="177" name="Google Shape;177;p19"/>
          <p:cNvCxnSpPr>
            <a:stCxn id="175" idx="1"/>
          </p:cNvCxnSpPr>
          <p:nvPr/>
        </p:nvCxnSpPr>
        <p:spPr>
          <a:xfrm flipH="1">
            <a:off x="1524000" y="2070616"/>
            <a:ext cx="914400" cy="1848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cxnSp>
        <p:nvCxnSpPr>
          <p:cNvPr id="178" name="Google Shape;178;p19"/>
          <p:cNvCxnSpPr/>
          <p:nvPr/>
        </p:nvCxnSpPr>
        <p:spPr>
          <a:xfrm flipH="1">
            <a:off x="1981200" y="2539484"/>
            <a:ext cx="519527" cy="184666"/>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sp>
        <p:nvSpPr>
          <p:cNvPr id="179" name="Google Shape;179;p19"/>
          <p:cNvSpPr txBox="1"/>
          <p:nvPr/>
        </p:nvSpPr>
        <p:spPr>
          <a:xfrm>
            <a:off x="2971800" y="3257550"/>
            <a:ext cx="4576894"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So Only else will execute when condition False</a:t>
            </a: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Effect filter="fade" transition="in">
                                      <p:cBhvr>
                                        <p:cTn dur="500"/>
                                        <p:tgtEl>
                                          <p:spTgt spid="1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animEffect filter="fade" transition="in">
                                      <p:cBhvr>
                                        <p:cTn dur="500"/>
                                        <p:tgtEl>
                                          <p:spTgt spid="1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2" st="2"/>
                                            </p:txEl>
                                          </p:spTgt>
                                        </p:tgtEl>
                                        <p:attrNameLst>
                                          <p:attrName>style.visibility</p:attrName>
                                        </p:attrNameLst>
                                      </p:cBhvr>
                                      <p:to>
                                        <p:strVal val="visible"/>
                                      </p:to>
                                    </p:set>
                                    <p:animEffect filter="fade" transition="in">
                                      <p:cBhvr>
                                        <p:cTn dur="500"/>
                                        <p:tgtEl>
                                          <p:spTgt spid="1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3" st="3"/>
                                            </p:txEl>
                                          </p:spTgt>
                                        </p:tgtEl>
                                        <p:attrNameLst>
                                          <p:attrName>style.visibility</p:attrName>
                                        </p:attrNameLst>
                                      </p:cBhvr>
                                      <p:to>
                                        <p:strVal val="visible"/>
                                      </p:to>
                                    </p:set>
                                    <p:animEffect filter="fade" transition="in">
                                      <p:cBhvr>
                                        <p:cTn dur="500"/>
                                        <p:tgtEl>
                                          <p:spTgt spid="1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4" st="4"/>
                                            </p:txEl>
                                          </p:spTgt>
                                        </p:tgtEl>
                                        <p:attrNameLst>
                                          <p:attrName>style.visibility</p:attrName>
                                        </p:attrNameLst>
                                      </p:cBhvr>
                                      <p:to>
                                        <p:strVal val="visible"/>
                                      </p:to>
                                    </p:set>
                                    <p:animEffect filter="fade" transition="in">
                                      <p:cBhvr>
                                        <p:cTn dur="500"/>
                                        <p:tgtEl>
                                          <p:spTgt spid="1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xEl>
                                              <p:pRg end="5" st="5"/>
                                            </p:txEl>
                                          </p:spTgt>
                                        </p:tgtEl>
                                        <p:attrNameLst>
                                          <p:attrName>style.visibility</p:attrName>
                                        </p:attrNameLst>
                                      </p:cBhvr>
                                      <p:to>
                                        <p:strVal val="visible"/>
                                      </p:to>
                                    </p:set>
                                    <p:animEffect filter="fade" transition="in">
                                      <p:cBhvr>
                                        <p:cTn dur="500"/>
                                        <p:tgtEl>
                                          <p:spTgt spid="1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par>
                                <p:cTn fill="hold" nodeType="with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par>
                                <p:cTn fill="hold" nodeType="with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0"/>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Pass Statement</a:t>
            </a:r>
            <a:endParaRPr b="1" sz="4000" u="sng">
              <a:latin typeface="Times New Roman"/>
              <a:ea typeface="Times New Roman"/>
              <a:cs typeface="Times New Roman"/>
              <a:sym typeface="Times New Roman"/>
            </a:endParaRPr>
          </a:p>
        </p:txBody>
      </p:sp>
      <p:sp>
        <p:nvSpPr>
          <p:cNvPr id="185" name="Google Shape;185;p20"/>
          <p:cNvSpPr txBox="1"/>
          <p:nvPr>
            <p:ph idx="1" type="body"/>
          </p:nvPr>
        </p:nvSpPr>
        <p:spPr>
          <a:xfrm>
            <a:off x="457200" y="8191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while condition:</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if(condition):</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pass</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	Statements</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Rest of Code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animEffect filter="fade" transition="in">
                                      <p:cBhvr>
                                        <p:cTn dur="500"/>
                                        <p:tgtEl>
                                          <p:spTgt spid="1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animEffect filter="fade" transition="in">
                                      <p:cBhvr>
                                        <p:cTn dur="500"/>
                                        <p:tgtEl>
                                          <p:spTgt spid="1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2" st="2"/>
                                            </p:txEl>
                                          </p:spTgt>
                                        </p:tgtEl>
                                        <p:attrNameLst>
                                          <p:attrName>style.visibility</p:attrName>
                                        </p:attrNameLst>
                                      </p:cBhvr>
                                      <p:to>
                                        <p:strVal val="visible"/>
                                      </p:to>
                                    </p:set>
                                    <p:animEffect filter="fade" transition="in">
                                      <p:cBhvr>
                                        <p:cTn dur="500"/>
                                        <p:tgtEl>
                                          <p:spTgt spid="18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3" st="3"/>
                                            </p:txEl>
                                          </p:spTgt>
                                        </p:tgtEl>
                                        <p:attrNameLst>
                                          <p:attrName>style.visibility</p:attrName>
                                        </p:attrNameLst>
                                      </p:cBhvr>
                                      <p:to>
                                        <p:strVal val="visible"/>
                                      </p:to>
                                    </p:set>
                                    <p:animEffect filter="fade" transition="in">
                                      <p:cBhvr>
                                        <p:cTn dur="500"/>
                                        <p:tgtEl>
                                          <p:spTgt spid="18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4" st="4"/>
                                            </p:txEl>
                                          </p:spTgt>
                                        </p:tgtEl>
                                        <p:attrNameLst>
                                          <p:attrName>style.visibility</p:attrName>
                                        </p:attrNameLst>
                                      </p:cBhvr>
                                      <p:to>
                                        <p:strVal val="visible"/>
                                      </p:to>
                                    </p:set>
                                    <p:animEffect filter="fade" transition="in">
                                      <p:cBhvr>
                                        <p:cTn dur="500"/>
                                        <p:tgtEl>
                                          <p:spTgt spid="18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75442e448e_0_29"/>
          <p:cNvSpPr txBox="1"/>
          <p:nvPr>
            <p:ph type="title"/>
          </p:nvPr>
        </p:nvSpPr>
        <p:spPr>
          <a:xfrm>
            <a:off x="457200" y="-19050"/>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List of Tuples in Python</a:t>
            </a:r>
            <a:endParaRPr b="1" sz="4000" u="sng">
              <a:latin typeface="Times New Roman"/>
              <a:ea typeface="Times New Roman"/>
              <a:cs typeface="Times New Roman"/>
              <a:sym typeface="Times New Roman"/>
            </a:endParaRPr>
          </a:p>
        </p:txBody>
      </p:sp>
      <p:sp>
        <p:nvSpPr>
          <p:cNvPr id="191" name="Google Shape;191;g375442e448e_0_29"/>
          <p:cNvSpPr txBox="1"/>
          <p:nvPr>
            <p:ph idx="1" type="body"/>
          </p:nvPr>
        </p:nvSpPr>
        <p:spPr>
          <a:xfrm>
            <a:off x="457200" y="819150"/>
            <a:ext cx="8229600" cy="33945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students =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("Alice", 23, "Math"),</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("Bob", 21, "Physics"),</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("Charlie", 22, "Computer Science")</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Print all names</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for name, age, subject in students:</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print(f"{name} studies {subject} and is {age} years old.")</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Font typeface="Arial"/>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Font typeface="Arial"/>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100000"/>
              <a:buNone/>
            </a:pPr>
            <a:r>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Effect filter="fade" transition="in">
                                      <p:cBhvr>
                                        <p:cTn dur="500"/>
                                        <p:tgtEl>
                                          <p:spTgt spid="1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Effect filter="fade" transition="in">
                                      <p:cBhvr>
                                        <p:cTn dur="500"/>
                                        <p:tgtEl>
                                          <p:spTgt spid="1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animEffect filter="fade" transition="in">
                                      <p:cBhvr>
                                        <p:cTn dur="500"/>
                                        <p:tgtEl>
                                          <p:spTgt spid="1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animEffect filter="fade" transition="in">
                                      <p:cBhvr>
                                        <p:cTn dur="500"/>
                                        <p:tgtEl>
                                          <p:spTgt spid="1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4" st="4"/>
                                            </p:txEl>
                                          </p:spTgt>
                                        </p:tgtEl>
                                        <p:attrNameLst>
                                          <p:attrName>style.visibility</p:attrName>
                                        </p:attrNameLst>
                                      </p:cBhvr>
                                      <p:to>
                                        <p:strVal val="visible"/>
                                      </p:to>
                                    </p:set>
                                    <p:animEffect filter="fade" transition="in">
                                      <p:cBhvr>
                                        <p:cTn dur="500"/>
                                        <p:tgtEl>
                                          <p:spTgt spid="1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5" st="5"/>
                                            </p:txEl>
                                          </p:spTgt>
                                        </p:tgtEl>
                                        <p:attrNameLst>
                                          <p:attrName>style.visibility</p:attrName>
                                        </p:attrNameLst>
                                      </p:cBhvr>
                                      <p:to>
                                        <p:strVal val="visible"/>
                                      </p:to>
                                    </p:set>
                                    <p:animEffect filter="fade" transition="in">
                                      <p:cBhvr>
                                        <p:cTn dur="500"/>
                                        <p:tgtEl>
                                          <p:spTgt spid="1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6" st="6"/>
                                            </p:txEl>
                                          </p:spTgt>
                                        </p:tgtEl>
                                        <p:attrNameLst>
                                          <p:attrName>style.visibility</p:attrName>
                                        </p:attrNameLst>
                                      </p:cBhvr>
                                      <p:to>
                                        <p:strVal val="visible"/>
                                      </p:to>
                                    </p:set>
                                    <p:animEffect filter="fade" transition="in">
                                      <p:cBhvr>
                                        <p:cTn dur="500"/>
                                        <p:tgtEl>
                                          <p:spTgt spid="19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7" st="7"/>
                                            </p:txEl>
                                          </p:spTgt>
                                        </p:tgtEl>
                                        <p:attrNameLst>
                                          <p:attrName>style.visibility</p:attrName>
                                        </p:attrNameLst>
                                      </p:cBhvr>
                                      <p:to>
                                        <p:strVal val="visible"/>
                                      </p:to>
                                    </p:set>
                                    <p:animEffect filter="fade" transition="in">
                                      <p:cBhvr>
                                        <p:cTn dur="500"/>
                                        <p:tgtEl>
                                          <p:spTgt spid="19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8" st="8"/>
                                            </p:txEl>
                                          </p:spTgt>
                                        </p:tgtEl>
                                        <p:attrNameLst>
                                          <p:attrName>style.visibility</p:attrName>
                                        </p:attrNameLst>
                                      </p:cBhvr>
                                      <p:to>
                                        <p:strVal val="visible"/>
                                      </p:to>
                                    </p:set>
                                    <p:animEffect filter="fade" transition="in">
                                      <p:cBhvr>
                                        <p:cTn dur="500"/>
                                        <p:tgtEl>
                                          <p:spTgt spid="19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9" st="9"/>
                                            </p:txEl>
                                          </p:spTgt>
                                        </p:tgtEl>
                                        <p:attrNameLst>
                                          <p:attrName>style.visibility</p:attrName>
                                        </p:attrNameLst>
                                      </p:cBhvr>
                                      <p:to>
                                        <p:strVal val="visible"/>
                                      </p:to>
                                    </p:set>
                                    <p:animEffect filter="fade" transition="in">
                                      <p:cBhvr>
                                        <p:cTn dur="500"/>
                                        <p:tgtEl>
                                          <p:spTgt spid="19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0" st="10"/>
                                            </p:txEl>
                                          </p:spTgt>
                                        </p:tgtEl>
                                        <p:attrNameLst>
                                          <p:attrName>style.visibility</p:attrName>
                                        </p:attrNameLst>
                                      </p:cBhvr>
                                      <p:to>
                                        <p:strVal val="visible"/>
                                      </p:to>
                                    </p:set>
                                    <p:animEffect filter="fade" transition="in">
                                      <p:cBhvr>
                                        <p:cTn dur="500"/>
                                        <p:tgtEl>
                                          <p:spTgt spid="19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1" st="11"/>
                                            </p:txEl>
                                          </p:spTgt>
                                        </p:tgtEl>
                                        <p:attrNameLst>
                                          <p:attrName>style.visibility</p:attrName>
                                        </p:attrNameLst>
                                      </p:cBhvr>
                                      <p:to>
                                        <p:strVal val="visible"/>
                                      </p:to>
                                    </p:set>
                                    <p:animEffect filter="fade" transition="in">
                                      <p:cBhvr>
                                        <p:cTn dur="500"/>
                                        <p:tgtEl>
                                          <p:spTgt spid="19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2" st="12"/>
                                            </p:txEl>
                                          </p:spTgt>
                                        </p:tgtEl>
                                        <p:attrNameLst>
                                          <p:attrName>style.visibility</p:attrName>
                                        </p:attrNameLst>
                                      </p:cBhvr>
                                      <p:to>
                                        <p:strVal val="visible"/>
                                      </p:to>
                                    </p:set>
                                    <p:animEffect filter="fade" transition="in">
                                      <p:cBhvr>
                                        <p:cTn dur="500"/>
                                        <p:tgtEl>
                                          <p:spTgt spid="191">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75442e448e_0_37"/>
          <p:cNvSpPr txBox="1"/>
          <p:nvPr>
            <p:ph type="title"/>
          </p:nvPr>
        </p:nvSpPr>
        <p:spPr>
          <a:xfrm>
            <a:off x="457200" y="-19050"/>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Tuple of list</a:t>
            </a:r>
            <a:endParaRPr b="1" sz="4000" u="sng">
              <a:latin typeface="Times New Roman"/>
              <a:ea typeface="Times New Roman"/>
              <a:cs typeface="Times New Roman"/>
              <a:sym typeface="Times New Roman"/>
            </a:endParaRPr>
          </a:p>
        </p:txBody>
      </p:sp>
      <p:sp>
        <p:nvSpPr>
          <p:cNvPr id="197" name="Google Shape;197;g375442e448e_0_37"/>
          <p:cNvSpPr txBox="1"/>
          <p:nvPr>
            <p:ph idx="1" type="body"/>
          </p:nvPr>
        </p:nvSpPr>
        <p:spPr>
          <a:xfrm>
            <a:off x="415775" y="874500"/>
            <a:ext cx="8229600" cy="33945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sales =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[200, 220, 250],   # Week 1 sales</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[180, 210, 230],   # Week 2 sales</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[300, 280, 320]    # Week 3 sales</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Find total sales per week</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totals = [sum(week) for week in sales]</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print("Weekly Totals:", totals</a:t>
            </a:r>
            <a:r>
              <a:rPr lang="en-US" sz="1150">
                <a:latin typeface="Courier New"/>
                <a:ea typeface="Courier New"/>
                <a:cs typeface="Courier New"/>
                <a:sym typeface="Courier New"/>
              </a:rPr>
              <a:t>)</a:t>
            </a:r>
            <a:endParaRPr sz="1150">
              <a:latin typeface="Courier New"/>
              <a:ea typeface="Courier New"/>
              <a:cs typeface="Courier New"/>
              <a:sym typeface="Courier New"/>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100000"/>
              <a:buNone/>
            </a:pPr>
            <a:r>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2" st="2"/>
                                            </p:txEl>
                                          </p:spTgt>
                                        </p:tgtEl>
                                        <p:attrNameLst>
                                          <p:attrName>style.visibility</p:attrName>
                                        </p:attrNameLst>
                                      </p:cBhvr>
                                      <p:to>
                                        <p:strVal val="visible"/>
                                      </p:to>
                                    </p:set>
                                    <p:animEffect filter="fade" transition="in">
                                      <p:cBhvr>
                                        <p:cTn dur="500"/>
                                        <p:tgtEl>
                                          <p:spTgt spid="1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3" st="3"/>
                                            </p:txEl>
                                          </p:spTgt>
                                        </p:tgtEl>
                                        <p:attrNameLst>
                                          <p:attrName>style.visibility</p:attrName>
                                        </p:attrNameLst>
                                      </p:cBhvr>
                                      <p:to>
                                        <p:strVal val="visible"/>
                                      </p:to>
                                    </p:set>
                                    <p:animEffect filter="fade" transition="in">
                                      <p:cBhvr>
                                        <p:cTn dur="500"/>
                                        <p:tgtEl>
                                          <p:spTgt spid="1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4" st="4"/>
                                            </p:txEl>
                                          </p:spTgt>
                                        </p:tgtEl>
                                        <p:attrNameLst>
                                          <p:attrName>style.visibility</p:attrName>
                                        </p:attrNameLst>
                                      </p:cBhvr>
                                      <p:to>
                                        <p:strVal val="visible"/>
                                      </p:to>
                                    </p:set>
                                    <p:animEffect filter="fade" transition="in">
                                      <p:cBhvr>
                                        <p:cTn dur="500"/>
                                        <p:tgtEl>
                                          <p:spTgt spid="1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5" st="5"/>
                                            </p:txEl>
                                          </p:spTgt>
                                        </p:tgtEl>
                                        <p:attrNameLst>
                                          <p:attrName>style.visibility</p:attrName>
                                        </p:attrNameLst>
                                      </p:cBhvr>
                                      <p:to>
                                        <p:strVal val="visible"/>
                                      </p:to>
                                    </p:set>
                                    <p:animEffect filter="fade" transition="in">
                                      <p:cBhvr>
                                        <p:cTn dur="500"/>
                                        <p:tgtEl>
                                          <p:spTgt spid="19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6" st="6"/>
                                            </p:txEl>
                                          </p:spTgt>
                                        </p:tgtEl>
                                        <p:attrNameLst>
                                          <p:attrName>style.visibility</p:attrName>
                                        </p:attrNameLst>
                                      </p:cBhvr>
                                      <p:to>
                                        <p:strVal val="visible"/>
                                      </p:to>
                                    </p:set>
                                    <p:animEffect filter="fade" transition="in">
                                      <p:cBhvr>
                                        <p:cTn dur="500"/>
                                        <p:tgtEl>
                                          <p:spTgt spid="19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7" st="7"/>
                                            </p:txEl>
                                          </p:spTgt>
                                        </p:tgtEl>
                                        <p:attrNameLst>
                                          <p:attrName>style.visibility</p:attrName>
                                        </p:attrNameLst>
                                      </p:cBhvr>
                                      <p:to>
                                        <p:strVal val="visible"/>
                                      </p:to>
                                    </p:set>
                                    <p:animEffect filter="fade" transition="in">
                                      <p:cBhvr>
                                        <p:cTn dur="500"/>
                                        <p:tgtEl>
                                          <p:spTgt spid="19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8" st="8"/>
                                            </p:txEl>
                                          </p:spTgt>
                                        </p:tgtEl>
                                        <p:attrNameLst>
                                          <p:attrName>style.visibility</p:attrName>
                                        </p:attrNameLst>
                                      </p:cBhvr>
                                      <p:to>
                                        <p:strVal val="visible"/>
                                      </p:to>
                                    </p:set>
                                    <p:animEffect filter="fade" transition="in">
                                      <p:cBhvr>
                                        <p:cTn dur="500"/>
                                        <p:tgtEl>
                                          <p:spTgt spid="19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9" st="9"/>
                                            </p:txEl>
                                          </p:spTgt>
                                        </p:tgtEl>
                                        <p:attrNameLst>
                                          <p:attrName>style.visibility</p:attrName>
                                        </p:attrNameLst>
                                      </p:cBhvr>
                                      <p:to>
                                        <p:strVal val="visible"/>
                                      </p:to>
                                    </p:set>
                                    <p:animEffect filter="fade" transition="in">
                                      <p:cBhvr>
                                        <p:cTn dur="500"/>
                                        <p:tgtEl>
                                          <p:spTgt spid="19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0" st="10"/>
                                            </p:txEl>
                                          </p:spTgt>
                                        </p:tgtEl>
                                        <p:attrNameLst>
                                          <p:attrName>style.visibility</p:attrName>
                                        </p:attrNameLst>
                                      </p:cBhvr>
                                      <p:to>
                                        <p:strVal val="visible"/>
                                      </p:to>
                                    </p:set>
                                    <p:animEffect filter="fade" transition="in">
                                      <p:cBhvr>
                                        <p:cTn dur="500"/>
                                        <p:tgtEl>
                                          <p:spTgt spid="19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1" st="11"/>
                                            </p:txEl>
                                          </p:spTgt>
                                        </p:tgtEl>
                                        <p:attrNameLst>
                                          <p:attrName>style.visibility</p:attrName>
                                        </p:attrNameLst>
                                      </p:cBhvr>
                                      <p:to>
                                        <p:strVal val="visible"/>
                                      </p:to>
                                    </p:set>
                                    <p:animEffect filter="fade" transition="in">
                                      <p:cBhvr>
                                        <p:cTn dur="500"/>
                                        <p:tgtEl>
                                          <p:spTgt spid="19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2" st="12"/>
                                            </p:txEl>
                                          </p:spTgt>
                                        </p:tgtEl>
                                        <p:attrNameLst>
                                          <p:attrName>style.visibility</p:attrName>
                                        </p:attrNameLst>
                                      </p:cBhvr>
                                      <p:to>
                                        <p:strVal val="visible"/>
                                      </p:to>
                                    </p:set>
                                    <p:animEffect filter="fade" transition="in">
                                      <p:cBhvr>
                                        <p:cTn dur="500"/>
                                        <p:tgtEl>
                                          <p:spTgt spid="19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3" st="13"/>
                                            </p:txEl>
                                          </p:spTgt>
                                        </p:tgtEl>
                                        <p:attrNameLst>
                                          <p:attrName>style.visibility</p:attrName>
                                        </p:attrNameLst>
                                      </p:cBhvr>
                                      <p:to>
                                        <p:strVal val="visible"/>
                                      </p:to>
                                    </p:set>
                                    <p:animEffect filter="fade" transition="in">
                                      <p:cBhvr>
                                        <p:cTn dur="500"/>
                                        <p:tgtEl>
                                          <p:spTgt spid="197">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75442e448e_0_42"/>
          <p:cNvSpPr txBox="1"/>
          <p:nvPr>
            <p:ph type="title"/>
          </p:nvPr>
        </p:nvSpPr>
        <p:spPr>
          <a:xfrm>
            <a:off x="457200" y="-19050"/>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Nested Dictionary</a:t>
            </a:r>
            <a:endParaRPr b="1" sz="4000" u="sng">
              <a:latin typeface="Times New Roman"/>
              <a:ea typeface="Times New Roman"/>
              <a:cs typeface="Times New Roman"/>
              <a:sym typeface="Times New Roman"/>
            </a:endParaRPr>
          </a:p>
        </p:txBody>
      </p:sp>
      <p:sp>
        <p:nvSpPr>
          <p:cNvPr id="203" name="Google Shape;203;g375442e448e_0_42"/>
          <p:cNvSpPr txBox="1"/>
          <p:nvPr>
            <p:ph idx="1" type="body"/>
          </p:nvPr>
        </p:nvSpPr>
        <p:spPr>
          <a:xfrm>
            <a:off x="457200" y="819150"/>
            <a:ext cx="8229600" cy="33945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company =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"HR": {"employees": ["Alice", "Bob"], "manager": "Sarah"},</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"IT": {"employees": ["Charlie", "David"], "manager": "John"},</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    "Finance": {"employees": ["Eve"], "manager": "Emma"}</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rPr lang="en-US" sz="2000">
                <a:latin typeface="Times New Roman"/>
                <a:ea typeface="Times New Roman"/>
                <a:cs typeface="Times New Roman"/>
                <a:sym typeface="Times New Roman"/>
              </a:rPr>
              <a:t>print(company["IT"]["employees"])  # ['Charlie', 'David']</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100000"/>
              <a:buNone/>
            </a:pPr>
            <a:r>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0" st="0"/>
                                            </p:txEl>
                                          </p:spTgt>
                                        </p:tgtEl>
                                        <p:attrNameLst>
                                          <p:attrName>style.visibility</p:attrName>
                                        </p:attrNameLst>
                                      </p:cBhvr>
                                      <p:to>
                                        <p:strVal val="visible"/>
                                      </p:to>
                                    </p:set>
                                    <p:animEffect filter="fade" transition="in">
                                      <p:cBhvr>
                                        <p:cTn dur="500"/>
                                        <p:tgtEl>
                                          <p:spTgt spid="2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 st="1"/>
                                            </p:txEl>
                                          </p:spTgt>
                                        </p:tgtEl>
                                        <p:attrNameLst>
                                          <p:attrName>style.visibility</p:attrName>
                                        </p:attrNameLst>
                                      </p:cBhvr>
                                      <p:to>
                                        <p:strVal val="visible"/>
                                      </p:to>
                                    </p:set>
                                    <p:animEffect filter="fade" transition="in">
                                      <p:cBhvr>
                                        <p:cTn dur="500"/>
                                        <p:tgtEl>
                                          <p:spTgt spid="2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2" st="2"/>
                                            </p:txEl>
                                          </p:spTgt>
                                        </p:tgtEl>
                                        <p:attrNameLst>
                                          <p:attrName>style.visibility</p:attrName>
                                        </p:attrNameLst>
                                      </p:cBhvr>
                                      <p:to>
                                        <p:strVal val="visible"/>
                                      </p:to>
                                    </p:set>
                                    <p:animEffect filter="fade" transition="in">
                                      <p:cBhvr>
                                        <p:cTn dur="500"/>
                                        <p:tgtEl>
                                          <p:spTgt spid="2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3" st="3"/>
                                            </p:txEl>
                                          </p:spTgt>
                                        </p:tgtEl>
                                        <p:attrNameLst>
                                          <p:attrName>style.visibility</p:attrName>
                                        </p:attrNameLst>
                                      </p:cBhvr>
                                      <p:to>
                                        <p:strVal val="visible"/>
                                      </p:to>
                                    </p:set>
                                    <p:animEffect filter="fade" transition="in">
                                      <p:cBhvr>
                                        <p:cTn dur="500"/>
                                        <p:tgtEl>
                                          <p:spTgt spid="2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4" st="4"/>
                                            </p:txEl>
                                          </p:spTgt>
                                        </p:tgtEl>
                                        <p:attrNameLst>
                                          <p:attrName>style.visibility</p:attrName>
                                        </p:attrNameLst>
                                      </p:cBhvr>
                                      <p:to>
                                        <p:strVal val="visible"/>
                                      </p:to>
                                    </p:set>
                                    <p:animEffect filter="fade" transition="in">
                                      <p:cBhvr>
                                        <p:cTn dur="500"/>
                                        <p:tgtEl>
                                          <p:spTgt spid="2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5" st="5"/>
                                            </p:txEl>
                                          </p:spTgt>
                                        </p:tgtEl>
                                        <p:attrNameLst>
                                          <p:attrName>style.visibility</p:attrName>
                                        </p:attrNameLst>
                                      </p:cBhvr>
                                      <p:to>
                                        <p:strVal val="visible"/>
                                      </p:to>
                                    </p:set>
                                    <p:animEffect filter="fade" transition="in">
                                      <p:cBhvr>
                                        <p:cTn dur="500"/>
                                        <p:tgtEl>
                                          <p:spTgt spid="2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6" st="6"/>
                                            </p:txEl>
                                          </p:spTgt>
                                        </p:tgtEl>
                                        <p:attrNameLst>
                                          <p:attrName>style.visibility</p:attrName>
                                        </p:attrNameLst>
                                      </p:cBhvr>
                                      <p:to>
                                        <p:strVal val="visible"/>
                                      </p:to>
                                    </p:set>
                                    <p:animEffect filter="fade" transition="in">
                                      <p:cBhvr>
                                        <p:cTn dur="500"/>
                                        <p:tgtEl>
                                          <p:spTgt spid="2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7" st="7"/>
                                            </p:txEl>
                                          </p:spTgt>
                                        </p:tgtEl>
                                        <p:attrNameLst>
                                          <p:attrName>style.visibility</p:attrName>
                                        </p:attrNameLst>
                                      </p:cBhvr>
                                      <p:to>
                                        <p:strVal val="visible"/>
                                      </p:to>
                                    </p:set>
                                    <p:animEffect filter="fade" transition="in">
                                      <p:cBhvr>
                                        <p:cTn dur="500"/>
                                        <p:tgtEl>
                                          <p:spTgt spid="20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8" st="8"/>
                                            </p:txEl>
                                          </p:spTgt>
                                        </p:tgtEl>
                                        <p:attrNameLst>
                                          <p:attrName>style.visibility</p:attrName>
                                        </p:attrNameLst>
                                      </p:cBhvr>
                                      <p:to>
                                        <p:strVal val="visible"/>
                                      </p:to>
                                    </p:set>
                                    <p:animEffect filter="fade" transition="in">
                                      <p:cBhvr>
                                        <p:cTn dur="500"/>
                                        <p:tgtEl>
                                          <p:spTgt spid="20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9" st="9"/>
                                            </p:txEl>
                                          </p:spTgt>
                                        </p:tgtEl>
                                        <p:attrNameLst>
                                          <p:attrName>style.visibility</p:attrName>
                                        </p:attrNameLst>
                                      </p:cBhvr>
                                      <p:to>
                                        <p:strVal val="visible"/>
                                      </p:to>
                                    </p:set>
                                    <p:animEffect filter="fade" transition="in">
                                      <p:cBhvr>
                                        <p:cTn dur="500"/>
                                        <p:tgtEl>
                                          <p:spTgt spid="20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0" st="10"/>
                                            </p:txEl>
                                          </p:spTgt>
                                        </p:tgtEl>
                                        <p:attrNameLst>
                                          <p:attrName>style.visibility</p:attrName>
                                        </p:attrNameLst>
                                      </p:cBhvr>
                                      <p:to>
                                        <p:strVal val="visible"/>
                                      </p:to>
                                    </p:set>
                                    <p:animEffect filter="fade" transition="in">
                                      <p:cBhvr>
                                        <p:cTn dur="500"/>
                                        <p:tgtEl>
                                          <p:spTgt spid="20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1" st="11"/>
                                            </p:txEl>
                                          </p:spTgt>
                                        </p:tgtEl>
                                        <p:attrNameLst>
                                          <p:attrName>style.visibility</p:attrName>
                                        </p:attrNameLst>
                                      </p:cBhvr>
                                      <p:to>
                                        <p:strVal val="visible"/>
                                      </p:to>
                                    </p:set>
                                    <p:animEffect filter="fade" transition="in">
                                      <p:cBhvr>
                                        <p:cTn dur="500"/>
                                        <p:tgtEl>
                                          <p:spTgt spid="20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xEl>
                                              <p:pRg end="12" st="12"/>
                                            </p:txEl>
                                          </p:spTgt>
                                        </p:tgtEl>
                                        <p:attrNameLst>
                                          <p:attrName>style.visibility</p:attrName>
                                        </p:attrNameLst>
                                      </p:cBhvr>
                                      <p:to>
                                        <p:strVal val="visible"/>
                                      </p:to>
                                    </p:set>
                                    <p:animEffect filter="fade" transition="in">
                                      <p:cBhvr>
                                        <p:cTn dur="500"/>
                                        <p:tgtEl>
                                          <p:spTgt spid="203">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375442e448e_0_51"/>
          <p:cNvSpPr txBox="1"/>
          <p:nvPr>
            <p:ph type="title"/>
          </p:nvPr>
        </p:nvSpPr>
        <p:spPr>
          <a:xfrm>
            <a:off x="457200" y="-19050"/>
            <a:ext cx="8229600" cy="8574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What are Comprehensions?</a:t>
            </a:r>
            <a:endParaRPr b="1" sz="4000" u="sng">
              <a:latin typeface="Times New Roman"/>
              <a:ea typeface="Times New Roman"/>
              <a:cs typeface="Times New Roman"/>
              <a:sym typeface="Times New Roman"/>
            </a:endParaRPr>
          </a:p>
        </p:txBody>
      </p:sp>
      <p:sp>
        <p:nvSpPr>
          <p:cNvPr id="209" name="Google Shape;209;g375442e448e_0_51"/>
          <p:cNvSpPr txBox="1"/>
          <p:nvPr>
            <p:ph idx="1" type="body"/>
          </p:nvPr>
        </p:nvSpPr>
        <p:spPr>
          <a:xfrm>
            <a:off x="457200" y="819150"/>
            <a:ext cx="8229600" cy="3394500"/>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15000"/>
              </a:lnSpc>
              <a:spcBef>
                <a:spcPts val="1200"/>
              </a:spcBef>
              <a:spcAft>
                <a:spcPts val="0"/>
              </a:spcAft>
              <a:buClr>
                <a:schemeClr val="dk1"/>
              </a:buClr>
              <a:buSzPts val="275"/>
              <a:buNone/>
            </a:pPr>
            <a:r>
              <a:rPr lang="en-US" sz="5600">
                <a:latin typeface="Times New Roman"/>
                <a:ea typeface="Times New Roman"/>
                <a:cs typeface="Times New Roman"/>
                <a:sym typeface="Times New Roman"/>
              </a:rPr>
              <a:t>Comprehensions are a concise way to create sequences (lists, sets, dicts) or apply transformations using a single line.</a:t>
            </a:r>
            <a:endParaRPr sz="56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275"/>
              <a:buNone/>
            </a:pPr>
            <a:r>
              <a:rPr b="1" lang="en-US" sz="5600">
                <a:latin typeface="Times New Roman"/>
                <a:ea typeface="Times New Roman"/>
                <a:cs typeface="Times New Roman"/>
                <a:sym typeface="Times New Roman"/>
              </a:rPr>
              <a:t>There are mainly 4 types:</a:t>
            </a:r>
            <a:endParaRPr b="1" sz="5600">
              <a:latin typeface="Times New Roman"/>
              <a:ea typeface="Times New Roman"/>
              <a:cs typeface="Times New Roman"/>
              <a:sym typeface="Times New Roman"/>
            </a:endParaRPr>
          </a:p>
          <a:p>
            <a:pPr indent="-317500" lvl="0" marL="457200" rtl="0" algn="l">
              <a:lnSpc>
                <a:spcPct val="115000"/>
              </a:lnSpc>
              <a:spcBef>
                <a:spcPts val="1200"/>
              </a:spcBef>
              <a:spcAft>
                <a:spcPts val="0"/>
              </a:spcAft>
              <a:buSzPct val="100000"/>
              <a:buAutoNum type="arabicPeriod"/>
            </a:pPr>
            <a:r>
              <a:rPr lang="en-US" sz="5600">
                <a:latin typeface="Times New Roman"/>
                <a:ea typeface="Times New Roman"/>
                <a:cs typeface="Times New Roman"/>
                <a:sym typeface="Times New Roman"/>
              </a:rPr>
              <a:t>List Comprehension</a:t>
            </a:r>
            <a:br>
              <a:rPr lang="en-US" sz="5600">
                <a:latin typeface="Times New Roman"/>
                <a:ea typeface="Times New Roman"/>
                <a:cs typeface="Times New Roman"/>
                <a:sym typeface="Times New Roman"/>
              </a:rPr>
            </a:br>
            <a:endParaRPr sz="5600">
              <a:latin typeface="Times New Roman"/>
              <a:ea typeface="Times New Roman"/>
              <a:cs typeface="Times New Roman"/>
              <a:sym typeface="Times New Roman"/>
            </a:endParaRPr>
          </a:p>
          <a:p>
            <a:pPr indent="-317500" lvl="0" marL="457200" rtl="0" algn="l">
              <a:lnSpc>
                <a:spcPct val="115000"/>
              </a:lnSpc>
              <a:spcBef>
                <a:spcPts val="0"/>
              </a:spcBef>
              <a:spcAft>
                <a:spcPts val="0"/>
              </a:spcAft>
              <a:buSzPct val="100000"/>
              <a:buAutoNum type="arabicPeriod"/>
            </a:pPr>
            <a:r>
              <a:rPr lang="en-US" sz="5600">
                <a:latin typeface="Times New Roman"/>
                <a:ea typeface="Times New Roman"/>
                <a:cs typeface="Times New Roman"/>
                <a:sym typeface="Times New Roman"/>
              </a:rPr>
              <a:t>Set Comprehension</a:t>
            </a:r>
            <a:br>
              <a:rPr lang="en-US" sz="5600">
                <a:latin typeface="Times New Roman"/>
                <a:ea typeface="Times New Roman"/>
                <a:cs typeface="Times New Roman"/>
                <a:sym typeface="Times New Roman"/>
              </a:rPr>
            </a:br>
            <a:endParaRPr sz="5600">
              <a:latin typeface="Times New Roman"/>
              <a:ea typeface="Times New Roman"/>
              <a:cs typeface="Times New Roman"/>
              <a:sym typeface="Times New Roman"/>
            </a:endParaRPr>
          </a:p>
          <a:p>
            <a:pPr indent="-317500" lvl="0" marL="457200" rtl="0" algn="l">
              <a:lnSpc>
                <a:spcPct val="115000"/>
              </a:lnSpc>
              <a:spcBef>
                <a:spcPts val="0"/>
              </a:spcBef>
              <a:spcAft>
                <a:spcPts val="0"/>
              </a:spcAft>
              <a:buSzPct val="100000"/>
              <a:buAutoNum type="arabicPeriod"/>
            </a:pPr>
            <a:r>
              <a:rPr lang="en-US" sz="5600">
                <a:latin typeface="Times New Roman"/>
                <a:ea typeface="Times New Roman"/>
                <a:cs typeface="Times New Roman"/>
                <a:sym typeface="Times New Roman"/>
              </a:rPr>
              <a:t>Dictionary Comprehension</a:t>
            </a:r>
            <a:br>
              <a:rPr lang="en-US" sz="5600">
                <a:latin typeface="Times New Roman"/>
                <a:ea typeface="Times New Roman"/>
                <a:cs typeface="Times New Roman"/>
                <a:sym typeface="Times New Roman"/>
              </a:rPr>
            </a:br>
            <a:endParaRPr sz="5600">
              <a:latin typeface="Times New Roman"/>
              <a:ea typeface="Times New Roman"/>
              <a:cs typeface="Times New Roman"/>
              <a:sym typeface="Times New Roman"/>
            </a:endParaRPr>
          </a:p>
          <a:p>
            <a:pPr indent="-317500" lvl="0" marL="457200" rtl="0" algn="l">
              <a:lnSpc>
                <a:spcPct val="115000"/>
              </a:lnSpc>
              <a:spcBef>
                <a:spcPts val="0"/>
              </a:spcBef>
              <a:spcAft>
                <a:spcPts val="0"/>
              </a:spcAft>
              <a:buSzPct val="100000"/>
              <a:buAutoNum type="arabicPeriod"/>
            </a:pPr>
            <a:r>
              <a:rPr lang="en-US" sz="5600">
                <a:latin typeface="Times New Roman"/>
                <a:ea typeface="Times New Roman"/>
                <a:cs typeface="Times New Roman"/>
                <a:sym typeface="Times New Roman"/>
              </a:rPr>
              <a:t>Generator Comprehension</a:t>
            </a:r>
            <a:endParaRPr b="1" sz="5600">
              <a:latin typeface="Arial"/>
              <a:ea typeface="Arial"/>
              <a:cs typeface="Arial"/>
              <a:sym typeface="Arial"/>
            </a:endParaRPr>
          </a:p>
          <a:p>
            <a:pPr indent="0" lvl="0" marL="0" rtl="0" algn="l">
              <a:spcBef>
                <a:spcPts val="12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55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ct val="100000"/>
              <a:buNone/>
            </a:pPr>
            <a:r>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0" st="0"/>
                                            </p:txEl>
                                          </p:spTgt>
                                        </p:tgtEl>
                                        <p:attrNameLst>
                                          <p:attrName>style.visibility</p:attrName>
                                        </p:attrNameLst>
                                      </p:cBhvr>
                                      <p:to>
                                        <p:strVal val="visible"/>
                                      </p:to>
                                    </p:set>
                                    <p:animEffect filter="fade" transition="in">
                                      <p:cBhvr>
                                        <p:cTn dur="500"/>
                                        <p:tgtEl>
                                          <p:spTgt spid="20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1" st="1"/>
                                            </p:txEl>
                                          </p:spTgt>
                                        </p:tgtEl>
                                        <p:attrNameLst>
                                          <p:attrName>style.visibility</p:attrName>
                                        </p:attrNameLst>
                                      </p:cBhvr>
                                      <p:to>
                                        <p:strVal val="visible"/>
                                      </p:to>
                                    </p:set>
                                    <p:animEffect filter="fade" transition="in">
                                      <p:cBhvr>
                                        <p:cTn dur="500"/>
                                        <p:tgtEl>
                                          <p:spTgt spid="20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2" st="2"/>
                                            </p:txEl>
                                          </p:spTgt>
                                        </p:tgtEl>
                                        <p:attrNameLst>
                                          <p:attrName>style.visibility</p:attrName>
                                        </p:attrNameLst>
                                      </p:cBhvr>
                                      <p:to>
                                        <p:strVal val="visible"/>
                                      </p:to>
                                    </p:set>
                                    <p:animEffect filter="fade" transition="in">
                                      <p:cBhvr>
                                        <p:cTn dur="500"/>
                                        <p:tgtEl>
                                          <p:spTgt spid="20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3" st="3"/>
                                            </p:txEl>
                                          </p:spTgt>
                                        </p:tgtEl>
                                        <p:attrNameLst>
                                          <p:attrName>style.visibility</p:attrName>
                                        </p:attrNameLst>
                                      </p:cBhvr>
                                      <p:to>
                                        <p:strVal val="visible"/>
                                      </p:to>
                                    </p:set>
                                    <p:animEffect filter="fade" transition="in">
                                      <p:cBhvr>
                                        <p:cTn dur="500"/>
                                        <p:tgtEl>
                                          <p:spTgt spid="20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4" st="4"/>
                                            </p:txEl>
                                          </p:spTgt>
                                        </p:tgtEl>
                                        <p:attrNameLst>
                                          <p:attrName>style.visibility</p:attrName>
                                        </p:attrNameLst>
                                      </p:cBhvr>
                                      <p:to>
                                        <p:strVal val="visible"/>
                                      </p:to>
                                    </p:set>
                                    <p:animEffect filter="fade" transition="in">
                                      <p:cBhvr>
                                        <p:cTn dur="500"/>
                                        <p:tgtEl>
                                          <p:spTgt spid="20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5" st="5"/>
                                            </p:txEl>
                                          </p:spTgt>
                                        </p:tgtEl>
                                        <p:attrNameLst>
                                          <p:attrName>style.visibility</p:attrName>
                                        </p:attrNameLst>
                                      </p:cBhvr>
                                      <p:to>
                                        <p:strVal val="visible"/>
                                      </p:to>
                                    </p:set>
                                    <p:animEffect filter="fade" transition="in">
                                      <p:cBhvr>
                                        <p:cTn dur="500"/>
                                        <p:tgtEl>
                                          <p:spTgt spid="20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6" st="6"/>
                                            </p:txEl>
                                          </p:spTgt>
                                        </p:tgtEl>
                                        <p:attrNameLst>
                                          <p:attrName>style.visibility</p:attrName>
                                        </p:attrNameLst>
                                      </p:cBhvr>
                                      <p:to>
                                        <p:strVal val="visible"/>
                                      </p:to>
                                    </p:set>
                                    <p:animEffect filter="fade" transition="in">
                                      <p:cBhvr>
                                        <p:cTn dur="500"/>
                                        <p:tgtEl>
                                          <p:spTgt spid="20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7" st="7"/>
                                            </p:txEl>
                                          </p:spTgt>
                                        </p:tgtEl>
                                        <p:attrNameLst>
                                          <p:attrName>style.visibility</p:attrName>
                                        </p:attrNameLst>
                                      </p:cBhvr>
                                      <p:to>
                                        <p:strVal val="visible"/>
                                      </p:to>
                                    </p:set>
                                    <p:animEffect filter="fade" transition="in">
                                      <p:cBhvr>
                                        <p:cTn dur="500"/>
                                        <p:tgtEl>
                                          <p:spTgt spid="20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8" st="8"/>
                                            </p:txEl>
                                          </p:spTgt>
                                        </p:tgtEl>
                                        <p:attrNameLst>
                                          <p:attrName>style.visibility</p:attrName>
                                        </p:attrNameLst>
                                      </p:cBhvr>
                                      <p:to>
                                        <p:strVal val="visible"/>
                                      </p:to>
                                    </p:set>
                                    <p:animEffect filter="fade" transition="in">
                                      <p:cBhvr>
                                        <p:cTn dur="500"/>
                                        <p:tgtEl>
                                          <p:spTgt spid="20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9" st="9"/>
                                            </p:txEl>
                                          </p:spTgt>
                                        </p:tgtEl>
                                        <p:attrNameLst>
                                          <p:attrName>style.visibility</p:attrName>
                                        </p:attrNameLst>
                                      </p:cBhvr>
                                      <p:to>
                                        <p:strVal val="visible"/>
                                      </p:to>
                                    </p:set>
                                    <p:animEffect filter="fade" transition="in">
                                      <p:cBhvr>
                                        <p:cTn dur="500"/>
                                        <p:tgtEl>
                                          <p:spTgt spid="20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10" st="10"/>
                                            </p:txEl>
                                          </p:spTgt>
                                        </p:tgtEl>
                                        <p:attrNameLst>
                                          <p:attrName>style.visibility</p:attrName>
                                        </p:attrNameLst>
                                      </p:cBhvr>
                                      <p:to>
                                        <p:strVal val="visible"/>
                                      </p:to>
                                    </p:set>
                                    <p:animEffect filter="fade" transition="in">
                                      <p:cBhvr>
                                        <p:cTn dur="500"/>
                                        <p:tgtEl>
                                          <p:spTgt spid="20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11" st="11"/>
                                            </p:txEl>
                                          </p:spTgt>
                                        </p:tgtEl>
                                        <p:attrNameLst>
                                          <p:attrName>style.visibility</p:attrName>
                                        </p:attrNameLst>
                                      </p:cBhvr>
                                      <p:to>
                                        <p:strVal val="visible"/>
                                      </p:to>
                                    </p:set>
                                    <p:animEffect filter="fade" transition="in">
                                      <p:cBhvr>
                                        <p:cTn dur="500"/>
                                        <p:tgtEl>
                                          <p:spTgt spid="20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xEl>
                                              <p:pRg end="12" st="12"/>
                                            </p:txEl>
                                          </p:spTgt>
                                        </p:tgtEl>
                                        <p:attrNameLst>
                                          <p:attrName>style.visibility</p:attrName>
                                        </p:attrNameLst>
                                      </p:cBhvr>
                                      <p:to>
                                        <p:strVal val="visible"/>
                                      </p:to>
                                    </p:set>
                                    <p:animEffect filter="fade" transition="in">
                                      <p:cBhvr>
                                        <p:cTn dur="500"/>
                                        <p:tgtEl>
                                          <p:spTgt spid="209">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75442e448e_0_68"/>
          <p:cNvSpPr txBox="1"/>
          <p:nvPr>
            <p:ph type="title"/>
          </p:nvPr>
        </p:nvSpPr>
        <p:spPr>
          <a:xfrm>
            <a:off x="457200" y="205979"/>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4000" u="sng">
                <a:latin typeface="Times New Roman"/>
                <a:ea typeface="Times New Roman"/>
                <a:cs typeface="Times New Roman"/>
                <a:sym typeface="Times New Roman"/>
              </a:rPr>
              <a:t>List Comprehension</a:t>
            </a:r>
            <a:endParaRPr/>
          </a:p>
        </p:txBody>
      </p:sp>
      <p:sp>
        <p:nvSpPr>
          <p:cNvPr id="215" name="Google Shape;215;g375442e448e_0_68"/>
          <p:cNvSpPr txBox="1"/>
          <p:nvPr>
            <p:ph idx="1" type="body"/>
          </p:nvPr>
        </p:nvSpPr>
        <p:spPr>
          <a:xfrm>
            <a:off x="457200" y="1200150"/>
            <a:ext cx="8976600" cy="3394500"/>
          </a:xfrm>
          <a:prstGeom prst="rect">
            <a:avLst/>
          </a:prstGeom>
        </p:spPr>
        <p:txBody>
          <a:bodyPr anchorCtr="0" anchor="t" bIns="45700" lIns="91425" spcFirstLastPara="1" rIns="91425" wrap="square" tIns="45700">
            <a:normAutofit fontScale="70000" lnSpcReduction="20000"/>
          </a:bodyPr>
          <a:lstStyle/>
          <a:p>
            <a:pPr indent="0" lvl="0" marL="0" rtl="0" algn="l">
              <a:spcBef>
                <a:spcPts val="360"/>
              </a:spcBef>
              <a:spcAft>
                <a:spcPts val="0"/>
              </a:spcAft>
              <a:buNone/>
            </a:pPr>
            <a:r>
              <a:rPr lang="en-US"/>
              <a:t># Normal way</a:t>
            </a:r>
            <a:endParaRPr/>
          </a:p>
          <a:p>
            <a:pPr indent="0" lvl="0" marL="0" rtl="0" algn="l">
              <a:spcBef>
                <a:spcPts val="360"/>
              </a:spcBef>
              <a:spcAft>
                <a:spcPts val="0"/>
              </a:spcAft>
              <a:buNone/>
            </a:pPr>
            <a:r>
              <a:rPr lang="en-US"/>
              <a:t>squares = []</a:t>
            </a:r>
            <a:endParaRPr/>
          </a:p>
          <a:p>
            <a:pPr indent="0" lvl="0" marL="0" rtl="0" algn="l">
              <a:spcBef>
                <a:spcPts val="360"/>
              </a:spcBef>
              <a:spcAft>
                <a:spcPts val="0"/>
              </a:spcAft>
              <a:buNone/>
            </a:pPr>
            <a:r>
              <a:rPr lang="en-US"/>
              <a:t>for i in range(5):</a:t>
            </a:r>
            <a:endParaRPr/>
          </a:p>
          <a:p>
            <a:pPr indent="0" lvl="0" marL="0" rtl="0" algn="l">
              <a:spcBef>
                <a:spcPts val="360"/>
              </a:spcBef>
              <a:spcAft>
                <a:spcPts val="0"/>
              </a:spcAft>
              <a:buNone/>
            </a:pPr>
            <a:r>
              <a:rPr lang="en-US"/>
              <a:t>    squares.append(i * i)</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List comprehension</a:t>
            </a:r>
            <a:endParaRPr/>
          </a:p>
          <a:p>
            <a:pPr indent="0" lvl="0" marL="0" rtl="0" algn="l">
              <a:spcBef>
                <a:spcPts val="360"/>
              </a:spcBef>
              <a:spcAft>
                <a:spcPts val="0"/>
              </a:spcAft>
              <a:buNone/>
            </a:pPr>
            <a:r>
              <a:rPr lang="en-US"/>
              <a:t>squares = [i * i for i in range(5)]</a:t>
            </a:r>
            <a:endParaRPr/>
          </a:p>
          <a:p>
            <a:pPr indent="0" lvl="0" marL="0" rtl="0" algn="l">
              <a:spcBef>
                <a:spcPts val="360"/>
              </a:spcBef>
              <a:spcAft>
                <a:spcPts val="0"/>
              </a:spcAft>
              <a:buNone/>
            </a:pPr>
            <a:r>
              <a:rPr lang="en-US"/>
              <a:t>print(squares)  # [0, 1, 4, 9, 16]</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216" name="Google Shape;216;g375442e448e_0_68"/>
          <p:cNvSpPr txBox="1"/>
          <p:nvPr/>
        </p:nvSpPr>
        <p:spPr>
          <a:xfrm>
            <a:off x="5797825" y="1822175"/>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t>With Condition:</a:t>
            </a:r>
            <a:br>
              <a:rPr lang="en-US"/>
            </a:br>
            <a:br>
              <a:rPr lang="en-US"/>
            </a:br>
            <a:r>
              <a:rPr lang="en-US"/>
              <a:t>evens = [i*i for i in range(10) if i % 2 == 0]</a:t>
            </a:r>
            <a:endParaRPr/>
          </a:p>
          <a:p>
            <a:pPr indent="0" lvl="0" marL="0" rtl="0" algn="l">
              <a:spcBef>
                <a:spcPts val="0"/>
              </a:spcBef>
              <a:spcAft>
                <a:spcPts val="0"/>
              </a:spcAft>
              <a:buNone/>
            </a:pPr>
            <a:r>
              <a:rPr lang="en-US"/>
              <a:t>print(evens)  # [0, 2, 4, 6, 8]</a:t>
            </a:r>
            <a:endParaRPr/>
          </a:p>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75442e448e_0_24"/>
          <p:cNvSpPr txBox="1"/>
          <p:nvPr>
            <p:ph type="title"/>
          </p:nvPr>
        </p:nvSpPr>
        <p:spPr>
          <a:xfrm>
            <a:off x="457200" y="205979"/>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Set Comprehension</a:t>
            </a:r>
            <a:endParaRPr/>
          </a:p>
        </p:txBody>
      </p:sp>
      <p:sp>
        <p:nvSpPr>
          <p:cNvPr id="222" name="Google Shape;222;g375442e448e_0_24"/>
          <p:cNvSpPr txBox="1"/>
          <p:nvPr>
            <p:ph idx="1" type="body"/>
          </p:nvPr>
        </p:nvSpPr>
        <p:spPr>
          <a:xfrm>
            <a:off x="457200" y="1200151"/>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US"/>
              <a:t>nums = [1, 2, 2, 3, 4, 4, 5]</a:t>
            </a:r>
            <a:endParaRPr/>
          </a:p>
          <a:p>
            <a:pPr indent="0" lvl="0" marL="0" rtl="0" algn="l">
              <a:spcBef>
                <a:spcPts val="360"/>
              </a:spcBef>
              <a:spcAft>
                <a:spcPts val="0"/>
              </a:spcAft>
              <a:buClr>
                <a:schemeClr val="dk1"/>
              </a:buClr>
              <a:buSzPts val="1100"/>
              <a:buFont typeface="Arial"/>
              <a:buNone/>
            </a:pPr>
            <a:r>
              <a:rPr lang="en-US"/>
              <a:t>unique_squares = {x * x for x in nums}</a:t>
            </a:r>
            <a:endParaRPr/>
          </a:p>
          <a:p>
            <a:pPr indent="0" lvl="0" marL="0" rtl="0" algn="l">
              <a:spcBef>
                <a:spcPts val="360"/>
              </a:spcBef>
              <a:spcAft>
                <a:spcPts val="0"/>
              </a:spcAft>
              <a:buClr>
                <a:schemeClr val="dk1"/>
              </a:buClr>
              <a:buSzPts val="1100"/>
              <a:buFont typeface="Arial"/>
              <a:buNone/>
            </a:pPr>
            <a:r>
              <a:rPr lang="en-US"/>
              <a:t>print(unique_squares)  # {1, 4, 9, 16, 25}</a:t>
            </a:r>
            <a:endParaRPr/>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75442e448e_0_63"/>
          <p:cNvSpPr txBox="1"/>
          <p:nvPr>
            <p:ph type="title"/>
          </p:nvPr>
        </p:nvSpPr>
        <p:spPr>
          <a:xfrm>
            <a:off x="457200" y="205979"/>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4000" u="sng">
                <a:latin typeface="Times New Roman"/>
                <a:ea typeface="Times New Roman"/>
                <a:cs typeface="Times New Roman"/>
                <a:sym typeface="Times New Roman"/>
              </a:rPr>
              <a:t>Dictionary Comprehension</a:t>
            </a:r>
            <a:endParaRPr/>
          </a:p>
        </p:txBody>
      </p:sp>
      <p:sp>
        <p:nvSpPr>
          <p:cNvPr id="228" name="Google Shape;228;g375442e448e_0_63"/>
          <p:cNvSpPr txBox="1"/>
          <p:nvPr>
            <p:ph idx="1" type="body"/>
          </p:nvPr>
        </p:nvSpPr>
        <p:spPr>
          <a:xfrm>
            <a:off x="457200" y="1200151"/>
            <a:ext cx="8229600" cy="3394500"/>
          </a:xfrm>
          <a:prstGeom prst="rect">
            <a:avLst/>
          </a:prstGeom>
        </p:spPr>
        <p:txBody>
          <a:bodyPr anchorCtr="0" anchor="t" bIns="45700" lIns="91425" spcFirstLastPara="1" rIns="91425" wrap="square" tIns="45700">
            <a:normAutofit fontScale="85000" lnSpcReduction="20000"/>
          </a:bodyPr>
          <a:lstStyle/>
          <a:p>
            <a:pPr indent="0" lvl="0" marL="0" rtl="0" algn="l">
              <a:spcBef>
                <a:spcPts val="360"/>
              </a:spcBef>
              <a:spcAft>
                <a:spcPts val="0"/>
              </a:spcAft>
              <a:buClr>
                <a:schemeClr val="dk1"/>
              </a:buClr>
              <a:buSzPct val="34375"/>
              <a:buFont typeface="Arial"/>
              <a:buNone/>
            </a:pPr>
            <a:r>
              <a:rPr lang="en-US"/>
              <a:t># Squares dictionary</a:t>
            </a:r>
            <a:endParaRPr/>
          </a:p>
          <a:p>
            <a:pPr indent="0" lvl="0" marL="0" rtl="0" algn="l">
              <a:spcBef>
                <a:spcPts val="360"/>
              </a:spcBef>
              <a:spcAft>
                <a:spcPts val="0"/>
              </a:spcAft>
              <a:buClr>
                <a:schemeClr val="dk1"/>
              </a:buClr>
              <a:buSzPct val="34375"/>
              <a:buFont typeface="Arial"/>
              <a:buNone/>
            </a:pPr>
            <a:r>
              <a:rPr lang="en-US"/>
              <a:t>squares = {x: x * x for x in range(5)}</a:t>
            </a:r>
            <a:endParaRPr/>
          </a:p>
          <a:p>
            <a:pPr indent="0" lvl="0" marL="0" rtl="0" algn="l">
              <a:spcBef>
                <a:spcPts val="360"/>
              </a:spcBef>
              <a:spcAft>
                <a:spcPts val="0"/>
              </a:spcAft>
              <a:buClr>
                <a:schemeClr val="dk1"/>
              </a:buClr>
              <a:buSzPct val="34375"/>
              <a:buFont typeface="Arial"/>
              <a:buNone/>
            </a:pPr>
            <a:r>
              <a:rPr lang="en-US"/>
              <a:t>print(squares)  # {0: 0, 1: 1, 2: 4, 3: 9, 4: 16}</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even_squares = {x: x * x for x in range(10) if x % 2 == 0}</a:t>
            </a:r>
            <a:endParaRPr/>
          </a:p>
          <a:p>
            <a:pPr indent="0" lvl="0" marL="0" rtl="0" algn="l">
              <a:spcBef>
                <a:spcPts val="360"/>
              </a:spcBef>
              <a:spcAft>
                <a:spcPts val="0"/>
              </a:spcAft>
              <a:buClr>
                <a:schemeClr val="dk1"/>
              </a:buClr>
              <a:buSzPct val="34375"/>
              <a:buFont typeface="Arial"/>
              <a:buNone/>
            </a:pPr>
            <a:r>
              <a:rPr lang="en-US"/>
              <a:t>print(even_squares)  # {0: 0, 2: 4, 4: 16, 6: 36, 8: 64}</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75442e448e_0_58"/>
          <p:cNvSpPr txBox="1"/>
          <p:nvPr>
            <p:ph type="title"/>
          </p:nvPr>
        </p:nvSpPr>
        <p:spPr>
          <a:xfrm>
            <a:off x="457200" y="205979"/>
            <a:ext cx="8229600" cy="8574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4000" u="sng">
                <a:latin typeface="Times New Roman"/>
                <a:ea typeface="Times New Roman"/>
                <a:cs typeface="Times New Roman"/>
                <a:sym typeface="Times New Roman"/>
              </a:rPr>
              <a:t>Generator Comprehension</a:t>
            </a:r>
            <a:endParaRPr/>
          </a:p>
        </p:txBody>
      </p:sp>
      <p:sp>
        <p:nvSpPr>
          <p:cNvPr id="234" name="Google Shape;234;g375442e448e_0_58"/>
          <p:cNvSpPr txBox="1"/>
          <p:nvPr>
            <p:ph idx="1" type="body"/>
          </p:nvPr>
        </p:nvSpPr>
        <p:spPr>
          <a:xfrm>
            <a:off x="457200" y="1200151"/>
            <a:ext cx="8229600" cy="33945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US"/>
              <a:t>gen = (x * x for x in range(5))</a:t>
            </a:r>
            <a:endParaRPr/>
          </a:p>
          <a:p>
            <a:pPr indent="0" lvl="0" marL="0" rtl="0" algn="l">
              <a:spcBef>
                <a:spcPts val="360"/>
              </a:spcBef>
              <a:spcAft>
                <a:spcPts val="0"/>
              </a:spcAft>
              <a:buClr>
                <a:schemeClr val="dk1"/>
              </a:buClr>
              <a:buSzPts val="1100"/>
              <a:buFont typeface="Arial"/>
              <a:buNone/>
            </a:pPr>
            <a:r>
              <a:rPr lang="en-US"/>
              <a:t>print(next(gen))  # 0</a:t>
            </a:r>
            <a:endParaRPr/>
          </a:p>
          <a:p>
            <a:pPr indent="0" lvl="0" marL="0" rtl="0" algn="l">
              <a:spcBef>
                <a:spcPts val="360"/>
              </a:spcBef>
              <a:spcAft>
                <a:spcPts val="0"/>
              </a:spcAft>
              <a:buClr>
                <a:schemeClr val="dk1"/>
              </a:buClr>
              <a:buSzPts val="1100"/>
              <a:buFont typeface="Arial"/>
              <a:buNone/>
            </a:pPr>
            <a:r>
              <a:rPr lang="en-US"/>
              <a:t>print(next(gen))  # 1</a:t>
            </a:r>
            <a:endParaRPr/>
          </a:p>
          <a:p>
            <a:pPr indent="0" lvl="0" marL="0" rtl="0" algn="l">
              <a:spcBef>
                <a:spcPts val="360"/>
              </a:spcBef>
              <a:spcAft>
                <a:spcPts val="0"/>
              </a:spcAft>
              <a:buClr>
                <a:schemeClr val="dk1"/>
              </a:buClr>
              <a:buSzPts val="1100"/>
              <a:buFont typeface="Arial"/>
              <a:buNone/>
            </a:pPr>
            <a:r>
              <a:rPr lang="en-US"/>
              <a:t>print(list(gen))  # [4, 9, 16]</a:t>
            </a:r>
            <a:endParaRPr/>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75442e448e_0_86"/>
          <p:cNvSpPr txBox="1"/>
          <p:nvPr>
            <p:ph idx="1" type="body"/>
          </p:nvPr>
        </p:nvSpPr>
        <p:spPr>
          <a:xfrm>
            <a:off x="457200" y="333375"/>
            <a:ext cx="8229600" cy="4261200"/>
          </a:xfrm>
          <a:prstGeom prst="rect">
            <a:avLst/>
          </a:prstGeom>
        </p:spPr>
        <p:txBody>
          <a:bodyPr anchorCtr="0" anchor="t" bIns="45700" lIns="91425" spcFirstLastPara="1" rIns="91425" wrap="square" tIns="45700">
            <a:normAutofit fontScale="70000" lnSpcReduction="20000"/>
          </a:bodyPr>
          <a:lstStyle/>
          <a:p>
            <a:pPr indent="0" lvl="0" marL="0" rtl="0" algn="l">
              <a:lnSpc>
                <a:spcPct val="115000"/>
              </a:lnSpc>
              <a:spcBef>
                <a:spcPts val="1800"/>
              </a:spcBef>
              <a:spcAft>
                <a:spcPts val="0"/>
              </a:spcAft>
              <a:buClr>
                <a:schemeClr val="dk1"/>
              </a:buClr>
              <a:buSzPct val="40640"/>
              <a:buFont typeface="Arial"/>
              <a:buNone/>
            </a:pPr>
            <a:r>
              <a:rPr b="1" lang="en-US" sz="2706">
                <a:latin typeface="Arial"/>
                <a:ea typeface="Arial"/>
                <a:cs typeface="Arial"/>
                <a:sym typeface="Arial"/>
              </a:rPr>
              <a:t>What is a Package?</a:t>
            </a:r>
            <a:endParaRPr b="1" sz="2706">
              <a:latin typeface="Arial"/>
              <a:ea typeface="Arial"/>
              <a:cs typeface="Arial"/>
              <a:sym typeface="Arial"/>
            </a:endParaRPr>
          </a:p>
          <a:p>
            <a:pPr indent="-322240" lvl="0" marL="457200" rtl="0" algn="l">
              <a:lnSpc>
                <a:spcPct val="115000"/>
              </a:lnSpc>
              <a:spcBef>
                <a:spcPts val="1200"/>
              </a:spcBef>
              <a:spcAft>
                <a:spcPts val="0"/>
              </a:spcAft>
              <a:buSzPct val="100000"/>
              <a:buChar char="●"/>
            </a:pPr>
            <a:r>
              <a:rPr lang="en-US" sz="2106">
                <a:latin typeface="Arial"/>
                <a:ea typeface="Arial"/>
                <a:cs typeface="Arial"/>
                <a:sym typeface="Arial"/>
              </a:rPr>
              <a:t>A </a:t>
            </a:r>
            <a:r>
              <a:rPr b="1" lang="en-US" sz="2106">
                <a:latin typeface="Arial"/>
                <a:ea typeface="Arial"/>
                <a:cs typeface="Arial"/>
                <a:sym typeface="Arial"/>
              </a:rPr>
              <a:t>package</a:t>
            </a:r>
            <a:r>
              <a:rPr lang="en-US" sz="2106">
                <a:latin typeface="Arial"/>
                <a:ea typeface="Arial"/>
                <a:cs typeface="Arial"/>
                <a:sym typeface="Arial"/>
              </a:rPr>
              <a:t> in Python is a </a:t>
            </a:r>
            <a:r>
              <a:rPr b="1" lang="en-US" sz="2106">
                <a:latin typeface="Arial"/>
                <a:ea typeface="Arial"/>
                <a:cs typeface="Arial"/>
                <a:sym typeface="Arial"/>
              </a:rPr>
              <a:t>collection of modules</a:t>
            </a:r>
            <a:r>
              <a:rPr lang="en-US" sz="2106">
                <a:latin typeface="Arial"/>
                <a:ea typeface="Arial"/>
                <a:cs typeface="Arial"/>
                <a:sym typeface="Arial"/>
              </a:rPr>
              <a:t> (Python files) organized in a </a:t>
            </a:r>
            <a:r>
              <a:rPr b="1" lang="en-US" sz="2106">
                <a:latin typeface="Arial"/>
                <a:ea typeface="Arial"/>
                <a:cs typeface="Arial"/>
                <a:sym typeface="Arial"/>
              </a:rPr>
              <a:t>directory</a:t>
            </a:r>
            <a:r>
              <a:rPr lang="en-US" sz="2106">
                <a:latin typeface="Arial"/>
                <a:ea typeface="Arial"/>
                <a:cs typeface="Arial"/>
                <a:sym typeface="Arial"/>
              </a:rPr>
              <a:t>.</a:t>
            </a:r>
            <a:br>
              <a:rPr lang="en-US" sz="2106">
                <a:latin typeface="Arial"/>
                <a:ea typeface="Arial"/>
                <a:cs typeface="Arial"/>
                <a:sym typeface="Arial"/>
              </a:rPr>
            </a:br>
            <a:endParaRPr sz="2106">
              <a:latin typeface="Arial"/>
              <a:ea typeface="Arial"/>
              <a:cs typeface="Arial"/>
              <a:sym typeface="Arial"/>
            </a:endParaRPr>
          </a:p>
          <a:p>
            <a:pPr indent="-322240" lvl="0" marL="457200" rtl="0" algn="l">
              <a:lnSpc>
                <a:spcPct val="115000"/>
              </a:lnSpc>
              <a:spcBef>
                <a:spcPts val="0"/>
              </a:spcBef>
              <a:spcAft>
                <a:spcPts val="0"/>
              </a:spcAft>
              <a:buSzPct val="100000"/>
              <a:buChar char="●"/>
            </a:pPr>
            <a:r>
              <a:rPr lang="en-US" sz="2106">
                <a:latin typeface="Arial"/>
                <a:ea typeface="Arial"/>
                <a:cs typeface="Arial"/>
                <a:sym typeface="Arial"/>
              </a:rPr>
              <a:t>It helps you </a:t>
            </a:r>
            <a:r>
              <a:rPr b="1" lang="en-US" sz="2106">
                <a:latin typeface="Arial"/>
                <a:ea typeface="Arial"/>
                <a:cs typeface="Arial"/>
                <a:sym typeface="Arial"/>
              </a:rPr>
              <a:t>organize and reuse code</a:t>
            </a:r>
            <a:r>
              <a:rPr lang="en-US" sz="2106">
                <a:latin typeface="Arial"/>
                <a:ea typeface="Arial"/>
                <a:cs typeface="Arial"/>
                <a:sym typeface="Arial"/>
              </a:rPr>
              <a:t>.</a:t>
            </a:r>
            <a:br>
              <a:rPr lang="en-US" sz="2106">
                <a:latin typeface="Arial"/>
                <a:ea typeface="Arial"/>
                <a:cs typeface="Arial"/>
                <a:sym typeface="Arial"/>
              </a:rPr>
            </a:br>
            <a:endParaRPr sz="2106">
              <a:latin typeface="Arial"/>
              <a:ea typeface="Arial"/>
              <a:cs typeface="Arial"/>
              <a:sym typeface="Arial"/>
            </a:endParaRPr>
          </a:p>
          <a:p>
            <a:pPr indent="-322240" lvl="0" marL="457200" rtl="0" algn="l">
              <a:lnSpc>
                <a:spcPct val="115000"/>
              </a:lnSpc>
              <a:spcBef>
                <a:spcPts val="0"/>
              </a:spcBef>
              <a:spcAft>
                <a:spcPts val="0"/>
              </a:spcAft>
              <a:buSzPct val="100000"/>
              <a:buChar char="●"/>
            </a:pPr>
            <a:r>
              <a:rPr lang="en-US" sz="2106">
                <a:latin typeface="Arial"/>
                <a:ea typeface="Arial"/>
                <a:cs typeface="Arial"/>
                <a:sym typeface="Arial"/>
              </a:rPr>
              <a:t>A package usually contains an </a:t>
            </a:r>
            <a:r>
              <a:rPr b="1" lang="en-US" sz="2106">
                <a:solidFill>
                  <a:srgbClr val="188038"/>
                </a:solidFill>
                <a:latin typeface="Roboto Mono"/>
                <a:ea typeface="Roboto Mono"/>
                <a:cs typeface="Roboto Mono"/>
                <a:sym typeface="Roboto Mono"/>
              </a:rPr>
              <a:t>__init__.py</a:t>
            </a:r>
            <a:r>
              <a:rPr lang="en-US" sz="2106">
                <a:latin typeface="Arial"/>
                <a:ea typeface="Arial"/>
                <a:cs typeface="Arial"/>
                <a:sym typeface="Arial"/>
              </a:rPr>
              <a:t> file (can be empty, but it marks the folder as a package)..</a:t>
            </a:r>
            <a:endParaRPr sz="2106">
              <a:latin typeface="Arial"/>
              <a:ea typeface="Arial"/>
              <a:cs typeface="Arial"/>
              <a:sym typeface="Arial"/>
            </a:endParaRPr>
          </a:p>
          <a:p>
            <a:pPr indent="0" lvl="0" marL="0" rtl="0" algn="l">
              <a:lnSpc>
                <a:spcPct val="115000"/>
              </a:lnSpc>
              <a:spcBef>
                <a:spcPts val="1200"/>
              </a:spcBef>
              <a:spcAft>
                <a:spcPts val="0"/>
              </a:spcAft>
              <a:buNone/>
            </a:pPr>
            <a:r>
              <a:rPr b="1" lang="en-US" sz="2106">
                <a:latin typeface="Arial"/>
                <a:ea typeface="Arial"/>
                <a:cs typeface="Arial"/>
                <a:sym typeface="Arial"/>
              </a:rPr>
              <a:t>Ex: </a:t>
            </a:r>
            <a:endParaRPr b="1" sz="2106">
              <a:latin typeface="Arial"/>
              <a:ea typeface="Arial"/>
              <a:cs typeface="Arial"/>
              <a:sym typeface="Arial"/>
            </a:endParaRPr>
          </a:p>
          <a:p>
            <a:pPr indent="0" lvl="0" marL="0" rtl="0" algn="l">
              <a:spcBef>
                <a:spcPts val="1200"/>
              </a:spcBef>
              <a:spcAft>
                <a:spcPts val="0"/>
              </a:spcAft>
              <a:buNone/>
            </a:pPr>
            <a:r>
              <a:rPr lang="en-US" sz="2676"/>
              <a:t>import numpy as np</a:t>
            </a:r>
            <a:endParaRPr sz="2676"/>
          </a:p>
          <a:p>
            <a:pPr indent="0" lvl="0" marL="0" rtl="0" algn="l">
              <a:spcBef>
                <a:spcPts val="360"/>
              </a:spcBef>
              <a:spcAft>
                <a:spcPts val="0"/>
              </a:spcAft>
              <a:buNone/>
            </a:pPr>
            <a:r>
              <a:t/>
            </a:r>
            <a:endParaRPr sz="2676"/>
          </a:p>
          <a:p>
            <a:pPr indent="0" lvl="0" marL="0" rtl="0" algn="l">
              <a:spcBef>
                <a:spcPts val="360"/>
              </a:spcBef>
              <a:spcAft>
                <a:spcPts val="0"/>
              </a:spcAft>
              <a:buNone/>
            </a:pPr>
            <a:r>
              <a:rPr lang="en-US" sz="2676"/>
              <a:t>arr = np.array([1, 2, 3])</a:t>
            </a:r>
            <a:endParaRPr sz="2676"/>
          </a:p>
          <a:p>
            <a:pPr indent="0" lvl="0" marL="0" rtl="0" algn="l">
              <a:spcBef>
                <a:spcPts val="360"/>
              </a:spcBef>
              <a:spcAft>
                <a:spcPts val="0"/>
              </a:spcAft>
              <a:buNone/>
            </a:pPr>
            <a:r>
              <a:rPr lang="en-US" sz="2676"/>
              <a:t>print(arr * 2)   # [2 4 6]</a:t>
            </a:r>
            <a:endParaRPr sz="2676"/>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RK</dc:creator>
</cp:coreProperties>
</file>