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9406924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9406924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94069246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94069246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94069246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94069246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94069246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94069246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94069246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94069246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94069246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94069246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94069246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94069246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794069246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794069246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94069246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794069246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794069246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794069246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94069246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94069246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94069246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794069246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94069246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794069246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794069246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794069246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94069246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794069246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94069246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794069246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7940692464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794069246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94069246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794069246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94069246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794069246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94069246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794069246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94069246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7940692464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7940692464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7940692464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940692464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7940692464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940692464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7940692464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940692464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7940692464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7940692464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7940692464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94069246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794069246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94069246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794069246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794069246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794069246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940692464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7940692464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7940692464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7940692464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794069246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794069246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940692464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7940692464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940692464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7940692464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794069246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794069246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7940692464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7940692464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7940692464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7940692464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940692464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7940692464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940692464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7940692464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7940692464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7940692464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Numpy</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50">
                <a:solidFill>
                  <a:srgbClr val="001D35"/>
                </a:solidFill>
                <a:highlight>
                  <a:srgbClr val="FFFFFF"/>
                </a:highlight>
              </a:rPr>
              <a:t>NumPy, short for Numerical Python, is a fundamental open-source library in Python for scientific computing. It provides support for large, multi-dimensional arrays and matrices, along with a collection of high-level mathematical functions to operate efficiently on these arrays.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925752" y="0"/>
            <a:ext cx="7292496" cy="5143500"/>
          </a:xfrm>
          <a:prstGeom prst="rect">
            <a:avLst/>
          </a:prstGeom>
          <a:noFill/>
          <a:ln>
            <a:noFill/>
          </a:ln>
        </p:spPr>
      </p:pic>
      <p:pic>
        <p:nvPicPr>
          <p:cNvPr id="67" name="Google Shape;67;p15"/>
          <p:cNvPicPr preferRelativeResize="0"/>
          <p:nvPr/>
        </p:nvPicPr>
        <p:blipFill>
          <a:blip r:embed="rId3">
            <a:alphaModFix/>
          </a:blip>
          <a:stretch>
            <a:fillRect/>
          </a:stretch>
        </p:blipFill>
        <p:spPr>
          <a:xfrm>
            <a:off x="1078152" y="152400"/>
            <a:ext cx="7292496"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1. Importing NumPy</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73" name="Google Shape;73;p16"/>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lang="en"/>
              <a:t>import numpy as np</a:t>
            </a:r>
            <a:endParaRPr/>
          </a:p>
          <a:p>
            <a:pPr indent="0" lvl="0" marL="0" rtl="0" algn="l">
              <a:spcBef>
                <a:spcPts val="1200"/>
              </a:spcBef>
              <a:spcAft>
                <a:spcPts val="0"/>
              </a:spcAft>
              <a:buClr>
                <a:schemeClr val="dk1"/>
              </a:buClr>
              <a:buSzPct val="61111"/>
              <a:buFont typeface="Arial"/>
              <a:buNone/>
            </a:pPr>
            <a:r>
              <a:rPr b="1" lang="en"/>
              <a:t># </a:t>
            </a:r>
            <a:r>
              <a:rPr b="1" lang="en"/>
              <a:t>2. Creating Arrays</a:t>
            </a:r>
            <a:endParaRPr b="1"/>
          </a:p>
          <a:p>
            <a:pPr indent="0" lvl="0" marL="0" rtl="0" algn="l">
              <a:spcBef>
                <a:spcPts val="1200"/>
              </a:spcBef>
              <a:spcAft>
                <a:spcPts val="0"/>
              </a:spcAft>
              <a:buClr>
                <a:schemeClr val="dk1"/>
              </a:buClr>
              <a:buSzPct val="61111"/>
              <a:buFont typeface="Arial"/>
              <a:buNone/>
            </a:pPr>
            <a:r>
              <a:rPr lang="en"/>
              <a:t>a = np.array([1, 2, 3])                   # 1D array</a:t>
            </a:r>
            <a:endParaRPr/>
          </a:p>
          <a:p>
            <a:pPr indent="0" lvl="0" marL="0" rtl="0" algn="l">
              <a:spcBef>
                <a:spcPts val="1200"/>
              </a:spcBef>
              <a:spcAft>
                <a:spcPts val="0"/>
              </a:spcAft>
              <a:buClr>
                <a:schemeClr val="dk1"/>
              </a:buClr>
              <a:buSzPct val="61111"/>
              <a:buFont typeface="Arial"/>
              <a:buNone/>
            </a:pPr>
            <a:r>
              <a:rPr lang="en"/>
              <a:t>b = np.array([[1, 2], [3, 4]])            # 2D array</a:t>
            </a:r>
            <a:endParaRPr/>
          </a:p>
          <a:p>
            <a:pPr indent="0" lvl="0" marL="0" rtl="0" algn="l">
              <a:spcBef>
                <a:spcPts val="1200"/>
              </a:spcBef>
              <a:spcAft>
                <a:spcPts val="0"/>
              </a:spcAft>
              <a:buClr>
                <a:schemeClr val="dk1"/>
              </a:buClr>
              <a:buSzPct val="61111"/>
              <a:buFont typeface="Arial"/>
              <a:buNone/>
            </a:pPr>
            <a:r>
              <a:rPr lang="en"/>
              <a:t>zeros = np.zeros((2, 3))                  # array of zeros</a:t>
            </a:r>
            <a:endParaRPr/>
          </a:p>
          <a:p>
            <a:pPr indent="0" lvl="0" marL="0" rtl="0" algn="l">
              <a:spcBef>
                <a:spcPts val="1200"/>
              </a:spcBef>
              <a:spcAft>
                <a:spcPts val="0"/>
              </a:spcAft>
              <a:buClr>
                <a:schemeClr val="dk1"/>
              </a:buClr>
              <a:buSzPct val="61111"/>
              <a:buFont typeface="Arial"/>
              <a:buNone/>
            </a:pPr>
            <a:r>
              <a:rPr lang="en"/>
              <a:t>ones = np.ones((2, 3))                    # array of ones</a:t>
            </a:r>
            <a:endParaRPr/>
          </a:p>
          <a:p>
            <a:pPr indent="0" lvl="0" marL="0" rtl="0" algn="l">
              <a:spcBef>
                <a:spcPts val="1200"/>
              </a:spcBef>
              <a:spcAft>
                <a:spcPts val="0"/>
              </a:spcAft>
              <a:buClr>
                <a:schemeClr val="dk1"/>
              </a:buClr>
              <a:buSzPct val="61111"/>
              <a:buFont typeface="Arial"/>
              <a:buNone/>
            </a:pPr>
            <a:r>
              <a:rPr lang="en"/>
              <a:t>full = np.full((2, 2), 7)                 # array filled with 7</a:t>
            </a:r>
            <a:endParaRPr/>
          </a:p>
          <a:p>
            <a:pPr indent="0" lvl="0" marL="0" rtl="0" algn="l">
              <a:spcBef>
                <a:spcPts val="1200"/>
              </a:spcBef>
              <a:spcAft>
                <a:spcPts val="0"/>
              </a:spcAft>
              <a:buClr>
                <a:schemeClr val="dk1"/>
              </a:buClr>
              <a:buSzPct val="61111"/>
              <a:buFont typeface="Arial"/>
              <a:buNone/>
            </a:pPr>
            <a:r>
              <a:rPr lang="en"/>
              <a:t>eye = np.eye(3)                           # identity matrix</a:t>
            </a:r>
            <a:endParaRPr/>
          </a:p>
          <a:p>
            <a:pPr indent="0" lvl="0" marL="0" rtl="0" algn="l">
              <a:spcBef>
                <a:spcPts val="1200"/>
              </a:spcBef>
              <a:spcAft>
                <a:spcPts val="0"/>
              </a:spcAft>
              <a:buClr>
                <a:schemeClr val="dk1"/>
              </a:buClr>
              <a:buSzPct val="61111"/>
              <a:buFont typeface="Arial"/>
              <a:buNone/>
            </a:pPr>
            <a:r>
              <a:rPr lang="en"/>
              <a:t>arange = np.arange(0, 10, 2)              # range with step</a:t>
            </a:r>
            <a:endParaRPr/>
          </a:p>
          <a:p>
            <a:pPr indent="0" lvl="0" marL="0" rtl="0" algn="l">
              <a:spcBef>
                <a:spcPts val="1200"/>
              </a:spcBef>
              <a:spcAft>
                <a:spcPts val="1200"/>
              </a:spcAft>
              <a:buNone/>
            </a:pPr>
            <a:r>
              <a:rPr lang="en"/>
              <a:t>linspace = np.linspace(0, 1, 5)           # equally spaced numbers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Array Attributes</a:t>
            </a:r>
            <a:endParaRPr sz="1800">
              <a:solidFill>
                <a:schemeClr val="dk2"/>
              </a:solidFill>
            </a:endParaRPr>
          </a:p>
          <a:p>
            <a:pPr indent="0" lvl="0" marL="0" rtl="0" algn="l">
              <a:spcBef>
                <a:spcPts val="120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a:t>#</a:t>
            </a:r>
            <a:r>
              <a:rPr b="1" lang="en"/>
              <a:t>3. Array Attributes</a:t>
            </a:r>
            <a:endParaRPr b="1"/>
          </a:p>
          <a:p>
            <a:pPr indent="0" lvl="0" marL="0" rtl="0" algn="l">
              <a:spcBef>
                <a:spcPts val="1200"/>
              </a:spcBef>
              <a:spcAft>
                <a:spcPts val="0"/>
              </a:spcAft>
              <a:buClr>
                <a:schemeClr val="dk1"/>
              </a:buClr>
              <a:buSzPts val="1100"/>
              <a:buFont typeface="Arial"/>
              <a:buNone/>
            </a:pPr>
            <a:r>
              <a:rPr lang="en"/>
              <a:t>arr = np.array([[1,2,3],[4,5,6]])</a:t>
            </a:r>
            <a:endParaRPr/>
          </a:p>
          <a:p>
            <a:pPr indent="0" lvl="0" marL="0" rtl="0" algn="l">
              <a:spcBef>
                <a:spcPts val="1200"/>
              </a:spcBef>
              <a:spcAft>
                <a:spcPts val="0"/>
              </a:spcAft>
              <a:buClr>
                <a:schemeClr val="dk1"/>
              </a:buClr>
              <a:buSzPts val="1100"/>
              <a:buFont typeface="Arial"/>
              <a:buNone/>
            </a:pPr>
            <a:r>
              <a:rPr lang="en"/>
              <a:t>print(arr.shape)   # (2,3)</a:t>
            </a:r>
            <a:endParaRPr/>
          </a:p>
          <a:p>
            <a:pPr indent="0" lvl="0" marL="0" rtl="0" algn="l">
              <a:spcBef>
                <a:spcPts val="1200"/>
              </a:spcBef>
              <a:spcAft>
                <a:spcPts val="0"/>
              </a:spcAft>
              <a:buClr>
                <a:schemeClr val="dk1"/>
              </a:buClr>
              <a:buSzPts val="1100"/>
              <a:buFont typeface="Arial"/>
              <a:buNone/>
            </a:pPr>
            <a:r>
              <a:rPr lang="en"/>
              <a:t>print(arr.ndim)    # 2</a:t>
            </a:r>
            <a:endParaRPr/>
          </a:p>
          <a:p>
            <a:pPr indent="0" lvl="0" marL="0" rtl="0" algn="l">
              <a:spcBef>
                <a:spcPts val="1200"/>
              </a:spcBef>
              <a:spcAft>
                <a:spcPts val="0"/>
              </a:spcAft>
              <a:buClr>
                <a:schemeClr val="dk1"/>
              </a:buClr>
              <a:buSzPts val="1100"/>
              <a:buFont typeface="Arial"/>
              <a:buNone/>
            </a:pPr>
            <a:r>
              <a:rPr lang="en"/>
              <a:t>print(arr.size)    # 6</a:t>
            </a:r>
            <a:endParaRPr/>
          </a:p>
          <a:p>
            <a:pPr indent="0" lvl="0" marL="0" rtl="0" algn="l">
              <a:spcBef>
                <a:spcPts val="1200"/>
              </a:spcBef>
              <a:spcAft>
                <a:spcPts val="0"/>
              </a:spcAft>
              <a:buClr>
                <a:schemeClr val="dk1"/>
              </a:buClr>
              <a:buSzPts val="1100"/>
              <a:buFont typeface="Arial"/>
              <a:buNone/>
            </a:pPr>
            <a:r>
              <a:rPr lang="en"/>
              <a:t>print(arr.dtype)   # int64 (depends on system)</a:t>
            </a:r>
            <a:endParaRPr/>
          </a:p>
          <a:p>
            <a:pPr indent="0" lvl="0" marL="0" rtl="0" algn="l">
              <a:spcBef>
                <a:spcPts val="1200"/>
              </a:spcBef>
              <a:spcAft>
                <a:spcPts val="0"/>
              </a:spcAft>
              <a:buClr>
                <a:schemeClr val="dk1"/>
              </a:buClr>
              <a:buSzPts val="1100"/>
              <a:buFont typeface="Arial"/>
              <a:buNone/>
            </a:pPr>
            <a:r>
              <a:rPr lang="en"/>
              <a:t>print(arr.itemsize) # bytes per element</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b="1" lang="en" sz="1800">
                <a:solidFill>
                  <a:schemeClr val="dk2"/>
                </a:solidFill>
              </a:rPr>
              <a:t>Indexing &amp; Slicing</a:t>
            </a:r>
            <a:endParaRPr b="1" sz="1800">
              <a:solidFill>
                <a:schemeClr val="dk2"/>
              </a:solidFill>
            </a:endParaRPr>
          </a:p>
          <a:p>
            <a:pPr indent="0" lvl="0" marL="0" rtl="0" algn="l">
              <a:spcBef>
                <a:spcPts val="1200"/>
              </a:spcBef>
              <a:spcAft>
                <a:spcPts val="0"/>
              </a:spcAft>
              <a:buNone/>
            </a:pPr>
            <a:r>
              <a:t/>
            </a:r>
            <a:endParaRPr b="1"/>
          </a:p>
        </p:txBody>
      </p:sp>
      <p:sp>
        <p:nvSpPr>
          <p:cNvPr id="85" name="Google Shape;85;p18"/>
          <p:cNvSpPr txBox="1"/>
          <p:nvPr>
            <p:ph idx="1" type="body"/>
          </p:nvPr>
        </p:nvSpPr>
        <p:spPr>
          <a:xfrm>
            <a:off x="485700" y="1206850"/>
            <a:ext cx="8520600" cy="4104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b="1" lang="en"/>
              <a:t># </a:t>
            </a:r>
            <a:r>
              <a:rPr b="1" lang="en"/>
              <a:t>4. Indexing &amp; Slicing</a:t>
            </a:r>
            <a:endParaRPr b="1"/>
          </a:p>
          <a:p>
            <a:pPr indent="0" lvl="0" marL="0" rtl="0" algn="l">
              <a:spcBef>
                <a:spcPts val="1200"/>
              </a:spcBef>
              <a:spcAft>
                <a:spcPts val="0"/>
              </a:spcAft>
              <a:buClr>
                <a:schemeClr val="dk1"/>
              </a:buClr>
              <a:buSzPct val="61111"/>
              <a:buFont typeface="Arial"/>
              <a:buNone/>
            </a:pPr>
            <a:r>
              <a:rPr lang="en"/>
              <a:t>arr = np.array([10,20,30,40,50])</a:t>
            </a:r>
            <a:endParaRPr/>
          </a:p>
          <a:p>
            <a:pPr indent="0" lvl="0" marL="0" rtl="0" algn="l">
              <a:spcBef>
                <a:spcPts val="1200"/>
              </a:spcBef>
              <a:spcAft>
                <a:spcPts val="0"/>
              </a:spcAft>
              <a:buClr>
                <a:schemeClr val="dk1"/>
              </a:buClr>
              <a:buSzPct val="61111"/>
              <a:buFont typeface="Arial"/>
              <a:buNone/>
            </a:pPr>
            <a:r>
              <a:rPr lang="en"/>
              <a:t>print(arr[0])       # 10</a:t>
            </a:r>
            <a:endParaRPr/>
          </a:p>
          <a:p>
            <a:pPr indent="0" lvl="0" marL="0" rtl="0" algn="l">
              <a:spcBef>
                <a:spcPts val="1200"/>
              </a:spcBef>
              <a:spcAft>
                <a:spcPts val="0"/>
              </a:spcAft>
              <a:buClr>
                <a:schemeClr val="dk1"/>
              </a:buClr>
              <a:buSzPct val="61111"/>
              <a:buFont typeface="Arial"/>
              <a:buNone/>
            </a:pPr>
            <a:r>
              <a:rPr lang="en"/>
              <a:t>print(arr[-1])      # 50</a:t>
            </a:r>
            <a:endParaRPr/>
          </a:p>
          <a:p>
            <a:pPr indent="0" lvl="0" marL="0" rtl="0" algn="l">
              <a:spcBef>
                <a:spcPts val="1200"/>
              </a:spcBef>
              <a:spcAft>
                <a:spcPts val="0"/>
              </a:spcAft>
              <a:buClr>
                <a:schemeClr val="dk1"/>
              </a:buClr>
              <a:buSzPct val="61111"/>
              <a:buFont typeface="Arial"/>
              <a:buNone/>
            </a:pPr>
            <a:r>
              <a:rPr lang="en"/>
              <a:t>print(arr[1:4])     # [20 30 40]</a:t>
            </a:r>
            <a:endParaRPr/>
          </a:p>
          <a:p>
            <a:pPr indent="0" lvl="0" marL="0" rtl="0" algn="l">
              <a:spcBef>
                <a:spcPts val="1200"/>
              </a:spcBef>
              <a:spcAft>
                <a:spcPts val="0"/>
              </a:spcAft>
              <a:buNone/>
            </a:pPr>
            <a:r>
              <a:rPr lang="en"/>
              <a:t>mat = np.array([[1,2,3],[4,5,6]])</a:t>
            </a:r>
            <a:endParaRPr/>
          </a:p>
          <a:p>
            <a:pPr indent="0" lvl="0" marL="0" rtl="0" algn="l">
              <a:spcBef>
                <a:spcPts val="1200"/>
              </a:spcBef>
              <a:spcAft>
                <a:spcPts val="0"/>
              </a:spcAft>
              <a:buNone/>
            </a:pPr>
            <a:r>
              <a:rPr lang="en"/>
              <a:t>print(mat[0,1])     # 2</a:t>
            </a:r>
            <a:endParaRPr/>
          </a:p>
          <a:p>
            <a:pPr indent="0" lvl="0" marL="0" rtl="0" algn="l">
              <a:spcBef>
                <a:spcPts val="1200"/>
              </a:spcBef>
              <a:spcAft>
                <a:spcPts val="0"/>
              </a:spcAft>
              <a:buNone/>
            </a:pPr>
            <a:r>
              <a:rPr lang="en"/>
              <a:t>print(mat[:,1])     # column [2 5]</a:t>
            </a:r>
            <a:endParaRPr/>
          </a:p>
          <a:p>
            <a:pPr indent="0" lvl="0" marL="0" rtl="0" algn="l">
              <a:spcBef>
                <a:spcPts val="1200"/>
              </a:spcBef>
              <a:spcAft>
                <a:spcPts val="0"/>
              </a:spcAft>
              <a:buClr>
                <a:schemeClr val="dk1"/>
              </a:buClr>
              <a:buSzPct val="61111"/>
              <a:buFont typeface="Arial"/>
              <a:buNone/>
            </a:pPr>
            <a:r>
              <a:rPr lang="en"/>
              <a:t>print(mat[1,:])     # row [4 5 6]</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b="1" lang="en" sz="1800">
                <a:solidFill>
                  <a:schemeClr val="dk2"/>
                </a:solidFill>
              </a:rPr>
              <a:t>Mathematical Operations</a:t>
            </a:r>
            <a:endParaRPr b="1" sz="1800">
              <a:solidFill>
                <a:schemeClr val="dk2"/>
              </a:solidFill>
            </a:endParaRPr>
          </a:p>
          <a:p>
            <a:pPr indent="0" lvl="0" marL="0" rtl="0" algn="l">
              <a:spcBef>
                <a:spcPts val="1200"/>
              </a:spcBef>
              <a:spcAft>
                <a:spcPts val="0"/>
              </a:spcAft>
              <a:buNone/>
            </a:pPr>
            <a:r>
              <a:t/>
            </a:r>
            <a:endParaRPr/>
          </a:p>
        </p:txBody>
      </p:sp>
      <p:sp>
        <p:nvSpPr>
          <p:cNvPr id="91" name="Google Shape;91;p19"/>
          <p:cNvSpPr txBox="1"/>
          <p:nvPr>
            <p:ph idx="1" type="body"/>
          </p:nvPr>
        </p:nvSpPr>
        <p:spPr>
          <a:xfrm>
            <a:off x="311700" y="1152475"/>
            <a:ext cx="8520600" cy="3919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a:t>#</a:t>
            </a:r>
            <a:r>
              <a:rPr b="1" lang="en"/>
              <a:t>5. Mathematical Operations</a:t>
            </a:r>
            <a:endParaRPr b="1"/>
          </a:p>
          <a:p>
            <a:pPr indent="0" lvl="0" marL="0" rtl="0" algn="l">
              <a:spcBef>
                <a:spcPts val="1200"/>
              </a:spcBef>
              <a:spcAft>
                <a:spcPts val="0"/>
              </a:spcAft>
              <a:buClr>
                <a:schemeClr val="dk1"/>
              </a:buClr>
              <a:buSzPts val="1100"/>
              <a:buFont typeface="Arial"/>
              <a:buNone/>
            </a:pPr>
            <a:r>
              <a:rPr lang="en"/>
              <a:t>x = np.array([1,2,3])</a:t>
            </a:r>
            <a:endParaRPr/>
          </a:p>
          <a:p>
            <a:pPr indent="0" lvl="0" marL="0" rtl="0" algn="l">
              <a:spcBef>
                <a:spcPts val="1200"/>
              </a:spcBef>
              <a:spcAft>
                <a:spcPts val="0"/>
              </a:spcAft>
              <a:buClr>
                <a:schemeClr val="dk1"/>
              </a:buClr>
              <a:buSzPts val="1100"/>
              <a:buFont typeface="Arial"/>
              <a:buNone/>
            </a:pPr>
            <a:r>
              <a:rPr lang="en"/>
              <a:t>y = np.array([4,5,6])</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print(x + y)      # [5 7 9]</a:t>
            </a:r>
            <a:endParaRPr/>
          </a:p>
          <a:p>
            <a:pPr indent="0" lvl="0" marL="0" rtl="0" algn="l">
              <a:spcBef>
                <a:spcPts val="1200"/>
              </a:spcBef>
              <a:spcAft>
                <a:spcPts val="0"/>
              </a:spcAft>
              <a:buClr>
                <a:schemeClr val="dk1"/>
              </a:buClr>
              <a:buSzPts val="1100"/>
              <a:buFont typeface="Arial"/>
              <a:buNone/>
            </a:pPr>
            <a:r>
              <a:rPr lang="en"/>
              <a:t>print(x - y)      # [-3 -3 -3]</a:t>
            </a:r>
            <a:endParaRPr/>
          </a:p>
          <a:p>
            <a:pPr indent="0" lvl="0" marL="0" rtl="0" algn="l">
              <a:spcBef>
                <a:spcPts val="1200"/>
              </a:spcBef>
              <a:spcAft>
                <a:spcPts val="0"/>
              </a:spcAft>
              <a:buClr>
                <a:schemeClr val="dk1"/>
              </a:buClr>
              <a:buSzPts val="1100"/>
              <a:buFont typeface="Arial"/>
              <a:buNone/>
            </a:pPr>
            <a:r>
              <a:rPr lang="en"/>
              <a:t>print(x * y)      # [ 4 10 18]</a:t>
            </a:r>
            <a:endParaRPr/>
          </a:p>
          <a:p>
            <a:pPr indent="0" lvl="0" marL="0" rtl="0" algn="l">
              <a:spcBef>
                <a:spcPts val="1200"/>
              </a:spcBef>
              <a:spcAft>
                <a:spcPts val="0"/>
              </a:spcAft>
              <a:buClr>
                <a:schemeClr val="dk1"/>
              </a:buClr>
              <a:buSzPts val="1100"/>
              <a:buFont typeface="Arial"/>
              <a:buNone/>
            </a:pPr>
            <a:r>
              <a:rPr lang="en"/>
              <a:t>print(x / y)      # [0.25 0.4 0.5 ]</a:t>
            </a:r>
            <a:endParaRPr/>
          </a:p>
          <a:p>
            <a:pPr indent="0" lvl="0" marL="0" rtl="0" algn="l">
              <a:spcBef>
                <a:spcPts val="1200"/>
              </a:spcBef>
              <a:spcAft>
                <a:spcPts val="1200"/>
              </a:spcAft>
              <a:buNone/>
            </a:pPr>
            <a:r>
              <a:rPr lang="en"/>
              <a:t>print(np.power(x, 2))  # [1 4 9]</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b="1" lang="en" sz="1800">
                <a:solidFill>
                  <a:schemeClr val="dk2"/>
                </a:solidFill>
              </a:rPr>
              <a:t>Aggregate Functions</a:t>
            </a:r>
            <a:endParaRPr b="1" sz="1800">
              <a:solidFill>
                <a:schemeClr val="dk2"/>
              </a:solidFill>
            </a:endParaRPr>
          </a:p>
          <a:p>
            <a:pPr indent="0" lvl="0" marL="0" rtl="0" algn="l">
              <a:spcBef>
                <a:spcPts val="1200"/>
              </a:spcBef>
              <a:spcAft>
                <a:spcPts val="0"/>
              </a:spcAft>
              <a:buNone/>
            </a:pPr>
            <a:r>
              <a:t/>
            </a:r>
            <a:endParaRPr b="1" sz="1800">
              <a:solidFill>
                <a:schemeClr val="dk2"/>
              </a:solidFill>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arr = np.array([1,2,3,4,5])</a:t>
            </a:r>
            <a:endParaRPr/>
          </a:p>
          <a:p>
            <a:pPr indent="0" lvl="0" marL="0" rtl="0" algn="l">
              <a:spcBef>
                <a:spcPts val="1200"/>
              </a:spcBef>
              <a:spcAft>
                <a:spcPts val="0"/>
              </a:spcAft>
              <a:buClr>
                <a:schemeClr val="dk1"/>
              </a:buClr>
              <a:buSzPct val="61111"/>
              <a:buFont typeface="Arial"/>
              <a:buNone/>
            </a:pPr>
            <a:r>
              <a:rPr lang="en"/>
              <a:t>print(arr.sum())        # 15</a:t>
            </a:r>
            <a:endParaRPr/>
          </a:p>
          <a:p>
            <a:pPr indent="0" lvl="0" marL="0" rtl="0" algn="l">
              <a:spcBef>
                <a:spcPts val="1200"/>
              </a:spcBef>
              <a:spcAft>
                <a:spcPts val="0"/>
              </a:spcAft>
              <a:buClr>
                <a:schemeClr val="dk1"/>
              </a:buClr>
              <a:buSzPct val="61111"/>
              <a:buFont typeface="Arial"/>
              <a:buNone/>
            </a:pPr>
            <a:r>
              <a:rPr lang="en"/>
              <a:t>print(arr.mean())       # 3.0</a:t>
            </a:r>
            <a:endParaRPr/>
          </a:p>
          <a:p>
            <a:pPr indent="0" lvl="0" marL="0" rtl="0" algn="l">
              <a:spcBef>
                <a:spcPts val="1200"/>
              </a:spcBef>
              <a:spcAft>
                <a:spcPts val="0"/>
              </a:spcAft>
              <a:buClr>
                <a:schemeClr val="dk1"/>
              </a:buClr>
              <a:buSzPct val="61111"/>
              <a:buFont typeface="Arial"/>
              <a:buNone/>
            </a:pPr>
            <a:r>
              <a:rPr lang="en"/>
              <a:t>print(arr.min())        # 1</a:t>
            </a:r>
            <a:endParaRPr/>
          </a:p>
          <a:p>
            <a:pPr indent="0" lvl="0" marL="0" rtl="0" algn="l">
              <a:spcBef>
                <a:spcPts val="1200"/>
              </a:spcBef>
              <a:spcAft>
                <a:spcPts val="0"/>
              </a:spcAft>
              <a:buClr>
                <a:schemeClr val="dk1"/>
              </a:buClr>
              <a:buSzPct val="61111"/>
              <a:buFont typeface="Arial"/>
              <a:buNone/>
            </a:pPr>
            <a:r>
              <a:rPr lang="en"/>
              <a:t>print(arr.max())        # 5</a:t>
            </a:r>
            <a:endParaRPr/>
          </a:p>
          <a:p>
            <a:pPr indent="0" lvl="0" marL="0" rtl="0" algn="l">
              <a:spcBef>
                <a:spcPts val="1200"/>
              </a:spcBef>
              <a:spcAft>
                <a:spcPts val="0"/>
              </a:spcAft>
              <a:buClr>
                <a:schemeClr val="dk1"/>
              </a:buClr>
              <a:buSzPct val="61111"/>
              <a:buFont typeface="Arial"/>
              <a:buNone/>
            </a:pPr>
            <a:r>
              <a:rPr lang="en"/>
              <a:t>print(arr.std())        # 1.414..</a:t>
            </a:r>
            <a:endParaRPr/>
          </a:p>
          <a:p>
            <a:pPr indent="0" lvl="0" marL="0" rtl="0" algn="l">
              <a:spcBef>
                <a:spcPts val="1200"/>
              </a:spcBef>
              <a:spcAft>
                <a:spcPts val="0"/>
              </a:spcAft>
              <a:buClr>
                <a:schemeClr val="dk1"/>
              </a:buClr>
              <a:buSzPct val="61111"/>
              <a:buFont typeface="Arial"/>
              <a:buNone/>
            </a:pPr>
            <a:r>
              <a:rPr lang="en"/>
              <a:t>print(arr.var())        # 2.0</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Reshaping</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arr = np.arange(1,7)     # [1 2 3 4 5 6]</a:t>
            </a:r>
            <a:endParaRPr/>
          </a:p>
          <a:p>
            <a:pPr indent="0" lvl="0" marL="0" rtl="0" algn="l">
              <a:spcBef>
                <a:spcPts val="1200"/>
              </a:spcBef>
              <a:spcAft>
                <a:spcPts val="0"/>
              </a:spcAft>
              <a:buClr>
                <a:schemeClr val="dk1"/>
              </a:buClr>
              <a:buSzPct val="61111"/>
              <a:buFont typeface="Arial"/>
              <a:buNone/>
            </a:pPr>
            <a:r>
              <a:rPr lang="en"/>
              <a:t>reshaped = arr.reshape(2,3)  </a:t>
            </a:r>
            <a:endParaRPr/>
          </a:p>
          <a:p>
            <a:pPr indent="0" lvl="0" marL="0" rtl="0" algn="l">
              <a:spcBef>
                <a:spcPts val="1200"/>
              </a:spcBef>
              <a:spcAft>
                <a:spcPts val="0"/>
              </a:spcAft>
              <a:buClr>
                <a:schemeClr val="dk1"/>
              </a:buClr>
              <a:buSzPct val="61111"/>
              <a:buFont typeface="Arial"/>
              <a:buNone/>
            </a:pPr>
            <a:r>
              <a:rPr lang="en"/>
              <a:t># [[1 2 3]</a:t>
            </a:r>
            <a:endParaRPr/>
          </a:p>
          <a:p>
            <a:pPr indent="0" lvl="0" marL="0" rtl="0" algn="l">
              <a:spcBef>
                <a:spcPts val="1200"/>
              </a:spcBef>
              <a:spcAft>
                <a:spcPts val="0"/>
              </a:spcAft>
              <a:buClr>
                <a:schemeClr val="dk1"/>
              </a:buClr>
              <a:buSzPct val="61111"/>
              <a:buFont typeface="Arial"/>
              <a:buNone/>
            </a:pPr>
            <a:r>
              <a:rPr lang="en"/>
              <a:t>#  [4 5 6]]</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flat = reshaped.ravel()  # back to 1D</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Stacking &amp; Splitting</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350">
                <a:solidFill>
                  <a:srgbClr val="001D35"/>
                </a:solidFill>
                <a:highlight>
                  <a:srgbClr val="FFFFFF"/>
                </a:highlight>
              </a:rPr>
              <a:t>NumPy provides various functions for both stacking (joining) and splitting arrays, allowing for flexible manipulation of data structures.</a:t>
            </a:r>
            <a:endParaRPr sz="1350">
              <a:solidFill>
                <a:srgbClr val="001D35"/>
              </a:solidFill>
              <a:highlight>
                <a:srgbClr val="FFFFFF"/>
              </a:highlight>
            </a:endParaRPr>
          </a:p>
          <a:p>
            <a:pPr indent="0" lvl="0" marL="0" rtl="0" algn="l">
              <a:spcBef>
                <a:spcPts val="1200"/>
              </a:spcBef>
              <a:spcAft>
                <a:spcPts val="0"/>
              </a:spcAft>
              <a:buClr>
                <a:schemeClr val="dk1"/>
              </a:buClr>
              <a:buSzPts val="1100"/>
              <a:buFont typeface="Arial"/>
              <a:buNone/>
            </a:pPr>
            <a:r>
              <a:rPr lang="en"/>
              <a:t>a = np.array([[1,2],[3,4]])</a:t>
            </a:r>
            <a:endParaRPr/>
          </a:p>
          <a:p>
            <a:pPr indent="0" lvl="0" marL="0" rtl="0" algn="l">
              <a:spcBef>
                <a:spcPts val="1200"/>
              </a:spcBef>
              <a:spcAft>
                <a:spcPts val="0"/>
              </a:spcAft>
              <a:buClr>
                <a:schemeClr val="dk1"/>
              </a:buClr>
              <a:buSzPts val="1100"/>
              <a:buFont typeface="Arial"/>
              <a:buNone/>
            </a:pPr>
            <a:r>
              <a:rPr lang="en"/>
              <a:t>b = np.array([[5,6],[7,8]])</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print(np.hstack((a,b)))</a:t>
            </a:r>
            <a:endParaRPr/>
          </a:p>
          <a:p>
            <a:pPr indent="0" lvl="0" marL="0" rtl="0" algn="l">
              <a:spcBef>
                <a:spcPts val="1200"/>
              </a:spcBef>
              <a:spcAft>
                <a:spcPts val="0"/>
              </a:spcAft>
              <a:buClr>
                <a:schemeClr val="dk1"/>
              </a:buClr>
              <a:buSzPts val="1100"/>
              <a:buFont typeface="Arial"/>
              <a:buNone/>
            </a:pPr>
            <a:r>
              <a:rPr lang="en"/>
              <a:t># [[1 2 5 6]</a:t>
            </a:r>
            <a:endParaRPr/>
          </a:p>
          <a:p>
            <a:pPr indent="0" lvl="0" marL="0" rtl="0" algn="l">
              <a:spcBef>
                <a:spcPts val="1200"/>
              </a:spcBef>
              <a:spcAft>
                <a:spcPts val="1200"/>
              </a:spcAft>
              <a:buNone/>
            </a:pPr>
            <a:r>
              <a:rPr lang="en"/>
              <a:t>#  [3 4 7 8]]</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Stacking &amp; Splitting</a:t>
            </a:r>
            <a:endParaRPr/>
          </a:p>
          <a:p>
            <a:pPr indent="0" lvl="0" marL="0" rtl="0" algn="l">
              <a:spcBef>
                <a:spcPts val="0"/>
              </a:spcBef>
              <a:spcAft>
                <a:spcPts val="0"/>
              </a:spcAft>
              <a:buNone/>
            </a:pPr>
            <a:r>
              <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en"/>
              <a:t>print(np.vstack((a,b)))</a:t>
            </a:r>
            <a:endParaRPr/>
          </a:p>
          <a:p>
            <a:pPr indent="0" lvl="0" marL="0" rtl="0" algn="l">
              <a:spcBef>
                <a:spcPts val="1200"/>
              </a:spcBef>
              <a:spcAft>
                <a:spcPts val="0"/>
              </a:spcAft>
              <a:buClr>
                <a:schemeClr val="dk1"/>
              </a:buClr>
              <a:buSzPct val="61111"/>
              <a:buFont typeface="Arial"/>
              <a:buNone/>
            </a:pPr>
            <a:r>
              <a:rPr lang="en"/>
              <a:t># [[1 2]</a:t>
            </a:r>
            <a:endParaRPr/>
          </a:p>
          <a:p>
            <a:pPr indent="0" lvl="0" marL="0" rtl="0" algn="l">
              <a:spcBef>
                <a:spcPts val="1200"/>
              </a:spcBef>
              <a:spcAft>
                <a:spcPts val="0"/>
              </a:spcAft>
              <a:buClr>
                <a:schemeClr val="dk1"/>
              </a:buClr>
              <a:buSzPct val="61111"/>
              <a:buFont typeface="Arial"/>
              <a:buNone/>
            </a:pPr>
            <a:r>
              <a:rPr lang="en"/>
              <a:t>#  [3 4]</a:t>
            </a:r>
            <a:endParaRPr/>
          </a:p>
          <a:p>
            <a:pPr indent="0" lvl="0" marL="0" rtl="0" algn="l">
              <a:spcBef>
                <a:spcPts val="1200"/>
              </a:spcBef>
              <a:spcAft>
                <a:spcPts val="0"/>
              </a:spcAft>
              <a:buClr>
                <a:schemeClr val="dk1"/>
              </a:buClr>
              <a:buSzPct val="61111"/>
              <a:buFont typeface="Arial"/>
              <a:buNone/>
            </a:pPr>
            <a:r>
              <a:rPr lang="en"/>
              <a:t>#  [5 6]</a:t>
            </a:r>
            <a:endParaRPr/>
          </a:p>
          <a:p>
            <a:pPr indent="0" lvl="0" marL="0" rtl="0" algn="l">
              <a:spcBef>
                <a:spcPts val="1200"/>
              </a:spcBef>
              <a:spcAft>
                <a:spcPts val="0"/>
              </a:spcAft>
              <a:buClr>
                <a:schemeClr val="dk1"/>
              </a:buClr>
              <a:buSzPct val="61111"/>
              <a:buFont typeface="Arial"/>
              <a:buNone/>
            </a:pPr>
            <a:r>
              <a:rPr lang="en"/>
              <a:t>#  [7 8]]</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arr = np.array([1,2,3,4,5,6])</a:t>
            </a:r>
            <a:endParaRPr/>
          </a:p>
          <a:p>
            <a:pPr indent="0" lvl="0" marL="0" rtl="0" algn="l">
              <a:spcBef>
                <a:spcPts val="1200"/>
              </a:spcBef>
              <a:spcAft>
                <a:spcPts val="0"/>
              </a:spcAft>
              <a:buClr>
                <a:schemeClr val="dk1"/>
              </a:buClr>
              <a:buSzPct val="61111"/>
              <a:buFont typeface="Arial"/>
              <a:buNone/>
            </a:pPr>
            <a:r>
              <a:rPr lang="en"/>
              <a:t>print(np.split(arr, 3))  # [array([1,2]), array([3,4]), array([5,6])]</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 Random Module</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print(np.random.rand(3))         # random floats [0,1)</a:t>
            </a:r>
            <a:endParaRPr/>
          </a:p>
          <a:p>
            <a:pPr indent="0" lvl="0" marL="0" rtl="0" algn="l">
              <a:spcBef>
                <a:spcPts val="1200"/>
              </a:spcBef>
              <a:spcAft>
                <a:spcPts val="0"/>
              </a:spcAft>
              <a:buClr>
                <a:schemeClr val="dk1"/>
              </a:buClr>
              <a:buSzPts val="1100"/>
              <a:buFont typeface="Arial"/>
              <a:buNone/>
            </a:pPr>
            <a:r>
              <a:rPr lang="en"/>
              <a:t>print(np.random.randn(2,2))      # normal distribution</a:t>
            </a:r>
            <a:endParaRPr/>
          </a:p>
          <a:p>
            <a:pPr indent="0" lvl="0" marL="0" rtl="0" algn="l">
              <a:spcBef>
                <a:spcPts val="1200"/>
              </a:spcBef>
              <a:spcAft>
                <a:spcPts val="0"/>
              </a:spcAft>
              <a:buClr>
                <a:schemeClr val="dk1"/>
              </a:buClr>
              <a:buSzPts val="1100"/>
              <a:buFont typeface="Arial"/>
              <a:buNone/>
            </a:pPr>
            <a:r>
              <a:rPr lang="en"/>
              <a:t>print(np.random.randint(1,10,5)) # random ints</a:t>
            </a:r>
            <a:endParaRPr/>
          </a:p>
          <a:p>
            <a:pPr indent="0" lvl="0" marL="0" rtl="0" algn="l">
              <a:spcBef>
                <a:spcPts val="1200"/>
              </a:spcBef>
              <a:spcAft>
                <a:spcPts val="0"/>
              </a:spcAft>
              <a:buClr>
                <a:schemeClr val="dk1"/>
              </a:buClr>
              <a:buSzPts val="1100"/>
              <a:buFont typeface="Arial"/>
              <a:buNone/>
            </a:pPr>
            <a:r>
              <a:rPr lang="en"/>
              <a:t>print(np.random.choice([1,2,3])) # random element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Linear Algebra</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A = np.array([[1,2],[3,4]])</a:t>
            </a:r>
            <a:endParaRPr/>
          </a:p>
          <a:p>
            <a:pPr indent="0" lvl="0" marL="0" rtl="0" algn="l">
              <a:spcBef>
                <a:spcPts val="1200"/>
              </a:spcBef>
              <a:spcAft>
                <a:spcPts val="0"/>
              </a:spcAft>
              <a:buClr>
                <a:schemeClr val="dk1"/>
              </a:buClr>
              <a:buSzPct val="61111"/>
              <a:buFont typeface="Arial"/>
              <a:buNone/>
            </a:pPr>
            <a:r>
              <a:rPr lang="en"/>
              <a:t>B = np.array([[5,6],[7,8]])</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print(np.dot(A,B))   # matrix multiplication</a:t>
            </a:r>
            <a:endParaRPr/>
          </a:p>
          <a:p>
            <a:pPr indent="0" lvl="0" marL="0" rtl="0" algn="l">
              <a:spcBef>
                <a:spcPts val="1200"/>
              </a:spcBef>
              <a:spcAft>
                <a:spcPts val="0"/>
              </a:spcAft>
              <a:buClr>
                <a:schemeClr val="dk1"/>
              </a:buClr>
              <a:buSzPct val="61111"/>
              <a:buFont typeface="Arial"/>
              <a:buNone/>
            </a:pPr>
            <a:r>
              <a:rPr lang="en"/>
              <a:t>print(np.linalg.inv(A)) # inverse</a:t>
            </a:r>
            <a:endParaRPr/>
          </a:p>
          <a:p>
            <a:pPr indent="0" lvl="0" marL="0" rtl="0" algn="l">
              <a:spcBef>
                <a:spcPts val="1200"/>
              </a:spcBef>
              <a:spcAft>
                <a:spcPts val="0"/>
              </a:spcAft>
              <a:buClr>
                <a:schemeClr val="dk1"/>
              </a:buClr>
              <a:buSzPct val="61111"/>
              <a:buFont typeface="Arial"/>
              <a:buNone/>
            </a:pPr>
            <a:r>
              <a:rPr lang="en"/>
              <a:t>print(np.linalg.det(A)) # determinant</a:t>
            </a:r>
            <a:endParaRPr/>
          </a:p>
          <a:p>
            <a:pPr indent="0" lvl="0" marL="0" rtl="0" algn="l">
              <a:spcBef>
                <a:spcPts val="1200"/>
              </a:spcBef>
              <a:spcAft>
                <a:spcPts val="0"/>
              </a:spcAft>
              <a:buClr>
                <a:schemeClr val="dk1"/>
              </a:buClr>
              <a:buSzPct val="61111"/>
              <a:buFont typeface="Arial"/>
              <a:buNone/>
            </a:pPr>
            <a:r>
              <a:rPr lang="en"/>
              <a:t>print(np.linalg.eig(A)) # eigenvalues &amp; vectors</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Useful Functions</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arr = np.array([1,2,3,4,5])</a:t>
            </a:r>
            <a:endParaRPr/>
          </a:p>
          <a:p>
            <a:pPr indent="0" lvl="0" marL="0" rtl="0" algn="l">
              <a:spcBef>
                <a:spcPts val="1200"/>
              </a:spcBef>
              <a:spcAft>
                <a:spcPts val="0"/>
              </a:spcAft>
              <a:buClr>
                <a:schemeClr val="dk1"/>
              </a:buClr>
              <a:buSzPts val="1100"/>
              <a:buFont typeface="Arial"/>
              <a:buNone/>
            </a:pPr>
            <a:r>
              <a:rPr lang="en"/>
              <a:t>print(np.unique(arr))           # unique values</a:t>
            </a:r>
            <a:endParaRPr/>
          </a:p>
          <a:p>
            <a:pPr indent="0" lvl="0" marL="0" rtl="0" algn="l">
              <a:spcBef>
                <a:spcPts val="1200"/>
              </a:spcBef>
              <a:spcAft>
                <a:spcPts val="0"/>
              </a:spcAft>
              <a:buClr>
                <a:schemeClr val="dk1"/>
              </a:buClr>
              <a:buSzPts val="1100"/>
              <a:buFont typeface="Arial"/>
              <a:buNone/>
            </a:pPr>
            <a:r>
              <a:rPr lang="en"/>
              <a:t>print(np.sort(arr))             # sort</a:t>
            </a:r>
            <a:endParaRPr/>
          </a:p>
          <a:p>
            <a:pPr indent="0" lvl="0" marL="0" rtl="0" algn="l">
              <a:spcBef>
                <a:spcPts val="1200"/>
              </a:spcBef>
              <a:spcAft>
                <a:spcPts val="0"/>
              </a:spcAft>
              <a:buClr>
                <a:schemeClr val="dk1"/>
              </a:buClr>
              <a:buSzPts val="1100"/>
              <a:buFont typeface="Arial"/>
              <a:buNone/>
            </a:pPr>
            <a:r>
              <a:rPr lang="en"/>
              <a:t>print(np.where(arr&gt;2))          # indices where condition holds</a:t>
            </a:r>
            <a:endParaRPr/>
          </a:p>
          <a:p>
            <a:pPr indent="0" lvl="0" marL="0" rtl="0" algn="l">
              <a:spcBef>
                <a:spcPts val="1200"/>
              </a:spcBef>
              <a:spcAft>
                <a:spcPts val="0"/>
              </a:spcAft>
              <a:buClr>
                <a:schemeClr val="dk1"/>
              </a:buClr>
              <a:buSzPts val="1100"/>
              <a:buFont typeface="Arial"/>
              <a:buNone/>
            </a:pPr>
            <a:r>
              <a:rPr lang="en"/>
              <a:t>print(np.clip(arr, 2, 4))       # limit values [2 2 3 4 4]</a:t>
            </a:r>
            <a:endParaRPr/>
          </a:p>
          <a:p>
            <a:pPr indent="0" lvl="0" marL="0" rtl="0" algn="l">
              <a:spcBef>
                <a:spcPts val="1200"/>
              </a:spcBef>
              <a:spcAft>
                <a:spcPts val="0"/>
              </a:spcAft>
              <a:buClr>
                <a:schemeClr val="dk1"/>
              </a:buClr>
              <a:buSzPts val="1100"/>
              <a:buFont typeface="Arial"/>
              <a:buNone/>
            </a:pPr>
            <a:r>
              <a:rPr lang="en"/>
              <a:t>print(np.argmax(arr))           # index of max → 4</a:t>
            </a:r>
            <a:endParaRPr/>
          </a:p>
          <a:p>
            <a:pPr indent="0" lvl="0" marL="0" rtl="0" algn="l">
              <a:spcBef>
                <a:spcPts val="1200"/>
              </a:spcBef>
              <a:spcAft>
                <a:spcPts val="0"/>
              </a:spcAft>
              <a:buClr>
                <a:schemeClr val="dk1"/>
              </a:buClr>
              <a:buSzPts val="1100"/>
              <a:buFont typeface="Arial"/>
              <a:buNone/>
            </a:pPr>
            <a:r>
              <a:rPr lang="en"/>
              <a:t>print(np.argmin(arr))           # index of min → 0</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Pandas</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50">
                <a:solidFill>
                  <a:srgbClr val="001D35"/>
                </a:solidFill>
                <a:highlight>
                  <a:srgbClr val="FFFFFF"/>
                </a:highlight>
              </a:rPr>
              <a:t>Pandas is a popular open-source software library written for the Python programming language, specifically designed for data manipulation and analysis. It provides powerful and flexible data structures, primarily the DataFrame and Series, which are optimized for working with "relational" or "labeled" data.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Introduction</a:t>
            </a:r>
            <a:endParaRPr sz="1800">
              <a:solidFill>
                <a:schemeClr val="dk2"/>
              </a:solidFill>
            </a:endParaRPr>
          </a:p>
          <a:p>
            <a:pPr indent="0" lvl="0" marL="0" rtl="0" algn="l">
              <a:spcBef>
                <a:spcPts val="1200"/>
              </a:spcBef>
              <a:spcAft>
                <a:spcPts val="0"/>
              </a:spcAft>
              <a:buNone/>
            </a:pPr>
            <a:r>
              <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import numpy as np</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pandas = data analysis library</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a:t>
            </a:r>
            <a:r>
              <a:rPr lang="en"/>
              <a:t>Works with Series (1D) and DataFrame (2D)</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 Pandas Data Structures</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en"/>
              <a:t> #Series (1D)</a:t>
            </a:r>
            <a:endParaRPr/>
          </a:p>
          <a:p>
            <a:pPr indent="0" lvl="0" marL="0" rtl="0" algn="l">
              <a:spcBef>
                <a:spcPts val="1200"/>
              </a:spcBef>
              <a:spcAft>
                <a:spcPts val="0"/>
              </a:spcAft>
              <a:buClr>
                <a:schemeClr val="dk1"/>
              </a:buClr>
              <a:buSzPct val="61111"/>
              <a:buFont typeface="Arial"/>
              <a:buNone/>
            </a:pPr>
            <a:r>
              <a:rPr lang="en"/>
              <a:t>s = pd.Series([10, 20, 30], index=["a", "b", "c"])</a:t>
            </a:r>
            <a:endParaRPr/>
          </a:p>
          <a:p>
            <a:pPr indent="0" lvl="0" marL="0" rtl="0" algn="l">
              <a:spcBef>
                <a:spcPts val="1200"/>
              </a:spcBef>
              <a:spcAft>
                <a:spcPts val="0"/>
              </a:spcAft>
              <a:buClr>
                <a:schemeClr val="dk1"/>
              </a:buClr>
              <a:buSzPct val="61111"/>
              <a:buFont typeface="Arial"/>
              <a:buNone/>
            </a:pPr>
            <a:r>
              <a:rPr lang="en"/>
              <a:t>print(s)</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a:t>
            </a:r>
            <a:r>
              <a:rPr lang="en"/>
              <a:t> DataFrame (2D)</a:t>
            </a:r>
            <a:endParaRPr/>
          </a:p>
          <a:p>
            <a:pPr indent="0" lvl="0" marL="0" rtl="0" algn="l">
              <a:spcBef>
                <a:spcPts val="1200"/>
              </a:spcBef>
              <a:spcAft>
                <a:spcPts val="0"/>
              </a:spcAft>
              <a:buClr>
                <a:schemeClr val="dk1"/>
              </a:buClr>
              <a:buSzPct val="61111"/>
              <a:buFont typeface="Arial"/>
              <a:buNone/>
            </a:pPr>
            <a:r>
              <a:rPr lang="en"/>
              <a:t>data = {"Name": ["Alice", "Bob", "Charlie"], "Age": [25, 30, 35]}</a:t>
            </a:r>
            <a:endParaRPr/>
          </a:p>
          <a:p>
            <a:pPr indent="0" lvl="0" marL="0" rtl="0" algn="l">
              <a:spcBef>
                <a:spcPts val="1200"/>
              </a:spcBef>
              <a:spcAft>
                <a:spcPts val="0"/>
              </a:spcAft>
              <a:buClr>
                <a:schemeClr val="dk1"/>
              </a:buClr>
              <a:buSzPct val="61111"/>
              <a:buFont typeface="Arial"/>
              <a:buNone/>
            </a:pPr>
            <a:r>
              <a:rPr lang="en"/>
              <a:t>df = pd.DataFrame(data)</a:t>
            </a:r>
            <a:endParaRPr/>
          </a:p>
          <a:p>
            <a:pPr indent="0" lvl="0" marL="0" rtl="0" algn="l">
              <a:spcBef>
                <a:spcPts val="1200"/>
              </a:spcBef>
              <a:spcAft>
                <a:spcPts val="0"/>
              </a:spcAft>
              <a:buClr>
                <a:schemeClr val="dk1"/>
              </a:buClr>
              <a:buSzPct val="61111"/>
              <a:buFont typeface="Arial"/>
              <a:buNone/>
            </a:pPr>
            <a:r>
              <a:rPr lang="en"/>
              <a:t>print(df)</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Reading &amp; Writing Data</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df = pd.read_csv("data.csv")        # Read CSV</a:t>
            </a:r>
            <a:endParaRPr/>
          </a:p>
          <a:p>
            <a:pPr indent="0" lvl="0" marL="0" rtl="0" algn="l">
              <a:spcBef>
                <a:spcPts val="1200"/>
              </a:spcBef>
              <a:spcAft>
                <a:spcPts val="0"/>
              </a:spcAft>
              <a:buClr>
                <a:schemeClr val="dk1"/>
              </a:buClr>
              <a:buSzPts val="1100"/>
              <a:buFont typeface="Arial"/>
              <a:buNone/>
            </a:pPr>
            <a:r>
              <a:rPr lang="en"/>
              <a:t>df.to_csv("output.csv", index=False)  # Save CSV</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df = pd.read_excel("data.xlsx")     # Read Excel</a:t>
            </a:r>
            <a:endParaRPr/>
          </a:p>
          <a:p>
            <a:pPr indent="0" lvl="0" marL="0" rtl="0" algn="l">
              <a:spcBef>
                <a:spcPts val="1200"/>
              </a:spcBef>
              <a:spcAft>
                <a:spcPts val="0"/>
              </a:spcAft>
              <a:buClr>
                <a:schemeClr val="dk1"/>
              </a:buClr>
              <a:buSzPts val="1100"/>
              <a:buFont typeface="Arial"/>
              <a:buNone/>
            </a:pPr>
            <a:r>
              <a:rPr lang="en"/>
              <a:t>df.to_excel("output.xlsx", index=False)</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Basic Info &amp; Exploration</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print(df.head())        # first 5 rows</a:t>
            </a:r>
            <a:endParaRPr/>
          </a:p>
          <a:p>
            <a:pPr indent="0" lvl="0" marL="0" rtl="0" algn="l">
              <a:spcBef>
                <a:spcPts val="1200"/>
              </a:spcBef>
              <a:spcAft>
                <a:spcPts val="0"/>
              </a:spcAft>
              <a:buClr>
                <a:schemeClr val="dk1"/>
              </a:buClr>
              <a:buSzPct val="61111"/>
              <a:buFont typeface="Arial"/>
              <a:buNone/>
            </a:pPr>
            <a:r>
              <a:rPr lang="en"/>
              <a:t>print(df.tail(3))       # last 3 rows</a:t>
            </a:r>
            <a:endParaRPr/>
          </a:p>
          <a:p>
            <a:pPr indent="0" lvl="0" marL="0" rtl="0" algn="l">
              <a:spcBef>
                <a:spcPts val="1200"/>
              </a:spcBef>
              <a:spcAft>
                <a:spcPts val="0"/>
              </a:spcAft>
              <a:buClr>
                <a:schemeClr val="dk1"/>
              </a:buClr>
              <a:buSzPct val="61111"/>
              <a:buFont typeface="Arial"/>
              <a:buNone/>
            </a:pPr>
            <a:r>
              <a:rPr lang="en"/>
              <a:t>print(df.shape)         # rows, cols</a:t>
            </a:r>
            <a:endParaRPr/>
          </a:p>
          <a:p>
            <a:pPr indent="0" lvl="0" marL="0" rtl="0" algn="l">
              <a:spcBef>
                <a:spcPts val="1200"/>
              </a:spcBef>
              <a:spcAft>
                <a:spcPts val="0"/>
              </a:spcAft>
              <a:buClr>
                <a:schemeClr val="dk1"/>
              </a:buClr>
              <a:buSzPct val="61111"/>
              <a:buFont typeface="Arial"/>
              <a:buNone/>
            </a:pPr>
            <a:r>
              <a:rPr lang="en"/>
              <a:t>print(df.info())        # data types</a:t>
            </a:r>
            <a:endParaRPr/>
          </a:p>
          <a:p>
            <a:pPr indent="0" lvl="0" marL="0" rtl="0" algn="l">
              <a:spcBef>
                <a:spcPts val="1200"/>
              </a:spcBef>
              <a:spcAft>
                <a:spcPts val="0"/>
              </a:spcAft>
              <a:buClr>
                <a:schemeClr val="dk1"/>
              </a:buClr>
              <a:buSzPct val="61111"/>
              <a:buFont typeface="Arial"/>
              <a:buNone/>
            </a:pPr>
            <a:r>
              <a:rPr lang="en"/>
              <a:t>print(df.describe())    # summary stats</a:t>
            </a:r>
            <a:endParaRPr/>
          </a:p>
          <a:p>
            <a:pPr indent="0" lvl="0" marL="0" rtl="0" algn="l">
              <a:spcBef>
                <a:spcPts val="1200"/>
              </a:spcBef>
              <a:spcAft>
                <a:spcPts val="0"/>
              </a:spcAft>
              <a:buClr>
                <a:schemeClr val="dk1"/>
              </a:buClr>
              <a:buSzPct val="61111"/>
              <a:buFont typeface="Arial"/>
              <a:buNone/>
            </a:pPr>
            <a:r>
              <a:rPr lang="en"/>
              <a:t>print(df.columns)       # column names</a:t>
            </a:r>
            <a:endParaRPr/>
          </a:p>
          <a:p>
            <a:pPr indent="0" lvl="0" marL="0" rtl="0" algn="l">
              <a:spcBef>
                <a:spcPts val="1200"/>
              </a:spcBef>
              <a:spcAft>
                <a:spcPts val="0"/>
              </a:spcAft>
              <a:buClr>
                <a:schemeClr val="dk1"/>
              </a:buClr>
              <a:buSzPct val="61111"/>
              <a:buFont typeface="Arial"/>
              <a:buNone/>
            </a:pPr>
            <a:r>
              <a:rPr lang="en"/>
              <a:t>print(df.dtypes)        # column types</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Selecting Data</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69" name="Google Shape;169;p32"/>
          <p:cNvSpPr txBox="1"/>
          <p:nvPr>
            <p:ph idx="1" type="body"/>
          </p:nvPr>
        </p:nvSpPr>
        <p:spPr>
          <a:xfrm>
            <a:off x="311700" y="1152475"/>
            <a:ext cx="8520600" cy="39192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Clr>
                <a:schemeClr val="dk1"/>
              </a:buClr>
              <a:buSzPct val="61111"/>
              <a:buFont typeface="Arial"/>
              <a:buNone/>
            </a:pPr>
            <a:r>
              <a:rPr lang="en"/>
              <a:t>✅ By column</a:t>
            </a:r>
            <a:endParaRPr/>
          </a:p>
          <a:p>
            <a:pPr indent="0" lvl="0" marL="0" rtl="0" algn="l">
              <a:spcBef>
                <a:spcPts val="1200"/>
              </a:spcBef>
              <a:spcAft>
                <a:spcPts val="0"/>
              </a:spcAft>
              <a:buClr>
                <a:schemeClr val="dk1"/>
              </a:buClr>
              <a:buSzPct val="61111"/>
              <a:buFont typeface="Arial"/>
              <a:buNone/>
            </a:pPr>
            <a:r>
              <a:rPr lang="en"/>
              <a:t>print(df["Name"])</a:t>
            </a:r>
            <a:endParaRPr/>
          </a:p>
          <a:p>
            <a:pPr indent="0" lvl="0" marL="0" rtl="0" algn="l">
              <a:spcBef>
                <a:spcPts val="1200"/>
              </a:spcBef>
              <a:spcAft>
                <a:spcPts val="0"/>
              </a:spcAft>
              <a:buClr>
                <a:schemeClr val="dk1"/>
              </a:buClr>
              <a:buSzPct val="61111"/>
              <a:buFont typeface="Arial"/>
              <a:buNone/>
            </a:pPr>
            <a:r>
              <a:rPr lang="en"/>
              <a:t>print(df[["Name","Age"]])</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 By row</a:t>
            </a:r>
            <a:endParaRPr/>
          </a:p>
          <a:p>
            <a:pPr indent="0" lvl="0" marL="0" rtl="0" algn="l">
              <a:spcBef>
                <a:spcPts val="1200"/>
              </a:spcBef>
              <a:spcAft>
                <a:spcPts val="0"/>
              </a:spcAft>
              <a:buClr>
                <a:schemeClr val="dk1"/>
              </a:buClr>
              <a:buSzPct val="61111"/>
              <a:buFont typeface="Arial"/>
              <a:buNone/>
            </a:pPr>
            <a:r>
              <a:rPr lang="en"/>
              <a:t>print(df.loc[0])        # by index label</a:t>
            </a:r>
            <a:endParaRPr/>
          </a:p>
          <a:p>
            <a:pPr indent="0" lvl="0" marL="0" rtl="0" algn="l">
              <a:spcBef>
                <a:spcPts val="1200"/>
              </a:spcBef>
              <a:spcAft>
                <a:spcPts val="0"/>
              </a:spcAft>
              <a:buClr>
                <a:schemeClr val="dk1"/>
              </a:buClr>
              <a:buSzPct val="61111"/>
              <a:buFont typeface="Arial"/>
              <a:buNone/>
            </a:pPr>
            <a:r>
              <a:rPr lang="en"/>
              <a:t>print(df.iloc[0])       # by position</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 Conditional selection</a:t>
            </a:r>
            <a:endParaRPr/>
          </a:p>
          <a:p>
            <a:pPr indent="0" lvl="0" marL="0" rtl="0" algn="l">
              <a:spcBef>
                <a:spcPts val="1200"/>
              </a:spcBef>
              <a:spcAft>
                <a:spcPts val="0"/>
              </a:spcAft>
              <a:buClr>
                <a:schemeClr val="dk1"/>
              </a:buClr>
              <a:buSzPct val="61111"/>
              <a:buFont typeface="Arial"/>
              <a:buNone/>
            </a:pPr>
            <a:r>
              <a:rPr lang="en"/>
              <a:t>print(df[df["Age"] &gt; 30])</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Adding / Modifying Columns</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75" name="Google Shape;17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df["Salary"] = [5000, 6000, 7000]     # add new</a:t>
            </a:r>
            <a:endParaRPr/>
          </a:p>
          <a:p>
            <a:pPr indent="0" lvl="0" marL="0" rtl="0" algn="l">
              <a:spcBef>
                <a:spcPts val="1200"/>
              </a:spcBef>
              <a:spcAft>
                <a:spcPts val="0"/>
              </a:spcAft>
              <a:buClr>
                <a:schemeClr val="dk1"/>
              </a:buClr>
              <a:buSzPts val="1100"/>
              <a:buFont typeface="Arial"/>
              <a:buNone/>
            </a:pPr>
            <a:r>
              <a:rPr lang="en"/>
              <a:t>df["Age+5"] = df["Age"] + 5           # derived</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Deleting Rows/Columns</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81" name="Google Shape;18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df.drop("Salary", axis=1, inplace=True)   # drop column</a:t>
            </a:r>
            <a:endParaRPr/>
          </a:p>
          <a:p>
            <a:pPr indent="0" lvl="0" marL="0" rtl="0" algn="l">
              <a:spcBef>
                <a:spcPts val="1200"/>
              </a:spcBef>
              <a:spcAft>
                <a:spcPts val="0"/>
              </a:spcAft>
              <a:buClr>
                <a:schemeClr val="dk1"/>
              </a:buClr>
              <a:buSzPts val="1100"/>
              <a:buFont typeface="Arial"/>
              <a:buNone/>
            </a:pPr>
            <a:r>
              <a:rPr lang="en"/>
              <a:t>df.drop(0, axis=0, inplace=True)          # drop row</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Handling Missing Data</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87" name="Google Shape;18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df.dropna()                # drop missing</a:t>
            </a:r>
            <a:endParaRPr/>
          </a:p>
          <a:p>
            <a:pPr indent="0" lvl="0" marL="0" rtl="0" algn="l">
              <a:spcBef>
                <a:spcPts val="1200"/>
              </a:spcBef>
              <a:spcAft>
                <a:spcPts val="0"/>
              </a:spcAft>
              <a:buClr>
                <a:schemeClr val="dk1"/>
              </a:buClr>
              <a:buSzPts val="1100"/>
              <a:buFont typeface="Arial"/>
              <a:buNone/>
            </a:pPr>
            <a:r>
              <a:rPr lang="en"/>
              <a:t>df.fillna(0)               # replace with 0</a:t>
            </a:r>
            <a:endParaRPr/>
          </a:p>
          <a:p>
            <a:pPr indent="0" lvl="0" marL="0" rtl="0" algn="l">
              <a:spcBef>
                <a:spcPts val="1200"/>
              </a:spcBef>
              <a:spcAft>
                <a:spcPts val="0"/>
              </a:spcAft>
              <a:buClr>
                <a:schemeClr val="dk1"/>
              </a:buClr>
              <a:buSzPts val="1100"/>
              <a:buFont typeface="Arial"/>
              <a:buNone/>
            </a:pPr>
            <a:r>
              <a:rPr lang="en"/>
              <a:t>df["Age"].fillna(df["Age"].mean(), inplace=True)  # replace with mean</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Sorting</a:t>
            </a:r>
            <a:endParaRPr/>
          </a:p>
        </p:txBody>
      </p:sp>
      <p:sp>
        <p:nvSpPr>
          <p:cNvPr id="193" name="Google Shape;19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df.sort_values("Age")                     # ascending</a:t>
            </a:r>
            <a:endParaRPr/>
          </a:p>
          <a:p>
            <a:pPr indent="0" lvl="0" marL="0" rtl="0" algn="l">
              <a:spcBef>
                <a:spcPts val="1200"/>
              </a:spcBef>
              <a:spcAft>
                <a:spcPts val="0"/>
              </a:spcAft>
              <a:buClr>
                <a:schemeClr val="dk1"/>
              </a:buClr>
              <a:buSzPts val="1100"/>
              <a:buFont typeface="Arial"/>
              <a:buNone/>
            </a:pPr>
            <a:r>
              <a:rPr lang="en"/>
              <a:t>df.sort_values("Age", ascending=False)    # descending</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Grouping &amp; Aggregation</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99" name="Google Shape;199;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df.groupby("Name")["Age"].mean()</a:t>
            </a:r>
            <a:endParaRPr/>
          </a:p>
          <a:p>
            <a:pPr indent="0" lvl="0" marL="0" rtl="0" algn="l">
              <a:spcBef>
                <a:spcPts val="1200"/>
              </a:spcBef>
              <a:spcAft>
                <a:spcPts val="0"/>
              </a:spcAft>
              <a:buClr>
                <a:schemeClr val="dk1"/>
              </a:buClr>
              <a:buSzPts val="1100"/>
              <a:buFont typeface="Arial"/>
              <a:buNone/>
            </a:pPr>
            <a:r>
              <a:rPr lang="en"/>
              <a:t>df.groupby("Name").agg({"Age": "max"})</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Merging &amp; Joining (SQL style)</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205" name="Google Shape;20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pd.merge(df1, df2, on="id", how="inner")   # inner join</a:t>
            </a:r>
            <a:endParaRPr/>
          </a:p>
          <a:p>
            <a:pPr indent="0" lvl="0" marL="0" rtl="0" algn="l">
              <a:spcBef>
                <a:spcPts val="1200"/>
              </a:spcBef>
              <a:spcAft>
                <a:spcPts val="0"/>
              </a:spcAft>
              <a:buClr>
                <a:schemeClr val="dk1"/>
              </a:buClr>
              <a:buSzPts val="1100"/>
              <a:buFont typeface="Arial"/>
              <a:buNone/>
            </a:pPr>
            <a:r>
              <a:rPr lang="en"/>
              <a:t>df1.join(df2, how="outer")                 # index-based join</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Concatenation &amp; Append</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211" name="Google Shape;21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pd.concat([df1, df2])   # stack vertically</a:t>
            </a:r>
            <a:endParaRPr/>
          </a:p>
          <a:p>
            <a:pPr indent="0" lvl="0" marL="0" rtl="0" algn="l">
              <a:spcBef>
                <a:spcPts val="1200"/>
              </a:spcBef>
              <a:spcAft>
                <a:spcPts val="0"/>
              </a:spcAft>
              <a:buClr>
                <a:schemeClr val="dk1"/>
              </a:buClr>
              <a:buSzPts val="1100"/>
              <a:buFont typeface="Arial"/>
              <a:buNone/>
            </a:pPr>
            <a:r>
              <a:rPr lang="en"/>
              <a:t>df1.append(df2)         # (deprecated, use concat)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 Pivot &amp; Crosstab</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217" name="Google Shape;21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#Reshapes data: turns </a:t>
            </a:r>
            <a:r>
              <a:rPr b="1" lang="en" sz="1100">
                <a:solidFill>
                  <a:schemeClr val="dk1"/>
                </a:solidFill>
              </a:rPr>
              <a:t>unique values of a column</a:t>
            </a:r>
            <a:r>
              <a:rPr lang="en" sz="1100">
                <a:solidFill>
                  <a:schemeClr val="dk1"/>
                </a:solidFill>
              </a:rPr>
              <a:t> into </a:t>
            </a:r>
            <a:r>
              <a:rPr b="1" lang="en" sz="1100">
                <a:solidFill>
                  <a:schemeClr val="dk1"/>
                </a:solidFill>
              </a:rPr>
              <a:t>columns</a:t>
            </a:r>
            <a:r>
              <a:rPr lang="en" sz="1100">
                <a:solidFill>
                  <a:schemeClr val="dk1"/>
                </a:solidFill>
              </a:rPr>
              <a:t>.</a:t>
            </a:r>
            <a:endParaRPr/>
          </a:p>
          <a:p>
            <a:pPr indent="0" lvl="0" marL="0" rtl="0" algn="l">
              <a:spcBef>
                <a:spcPts val="1200"/>
              </a:spcBef>
              <a:spcAft>
                <a:spcPts val="0"/>
              </a:spcAft>
              <a:buNone/>
            </a:pPr>
            <a:r>
              <a:rPr lang="en"/>
              <a:t>pd.pivot_table(df, values="Age", index="Name", aggfunc="mean")</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a:t>
            </a:r>
            <a:r>
              <a:rPr lang="en" sz="1100">
                <a:solidFill>
                  <a:schemeClr val="dk1"/>
                </a:solidFill>
              </a:rPr>
              <a:t>Used to compute </a:t>
            </a:r>
            <a:r>
              <a:rPr b="1" lang="en" sz="1100">
                <a:solidFill>
                  <a:schemeClr val="dk1"/>
                </a:solidFill>
              </a:rPr>
              <a:t>frequency tables</a:t>
            </a:r>
            <a:r>
              <a:rPr lang="en" sz="1100">
                <a:solidFill>
                  <a:schemeClr val="dk1"/>
                </a:solidFill>
              </a:rPr>
              <a:t> (counts).</a:t>
            </a:r>
            <a:endParaRPr/>
          </a:p>
          <a:p>
            <a:pPr indent="0" lvl="0" marL="0" rtl="0" algn="l">
              <a:spcBef>
                <a:spcPts val="1200"/>
              </a:spcBef>
              <a:spcAft>
                <a:spcPts val="0"/>
              </a:spcAft>
              <a:buClr>
                <a:schemeClr val="dk1"/>
              </a:buClr>
              <a:buSzPts val="1100"/>
              <a:buFont typeface="Arial"/>
              <a:buNone/>
            </a:pPr>
            <a:r>
              <a:rPr lang="en"/>
              <a:t>pd.crosstab(df["Name"], df["Age"])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Apply &amp; Lambda</a:t>
            </a:r>
            <a:endParaRPr sz="1800">
              <a:solidFill>
                <a:schemeClr val="dk2"/>
              </a:solidFill>
            </a:endParaRPr>
          </a:p>
          <a:p>
            <a:pPr indent="0" lvl="0" marL="0" rtl="0" algn="l">
              <a:spcBef>
                <a:spcPts val="1200"/>
              </a:spcBef>
              <a:spcAft>
                <a:spcPts val="0"/>
              </a:spcAft>
              <a:buNone/>
            </a:pPr>
            <a:r>
              <a:t/>
            </a:r>
            <a:endParaRPr/>
          </a:p>
        </p:txBody>
      </p:sp>
      <p:sp>
        <p:nvSpPr>
          <p:cNvPr id="223" name="Google Shape;22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df["Age2"] = df["Age"].apply(lambda x: x*2)</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String Operations</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229" name="Google Shape;229;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df["Name"].str.upper()</a:t>
            </a:r>
            <a:endParaRPr/>
          </a:p>
          <a:p>
            <a:pPr indent="0" lvl="0" marL="0" rtl="0" algn="l">
              <a:spcBef>
                <a:spcPts val="1200"/>
              </a:spcBef>
              <a:spcAft>
                <a:spcPts val="0"/>
              </a:spcAft>
              <a:buClr>
                <a:schemeClr val="dk1"/>
              </a:buClr>
              <a:buSzPts val="1100"/>
              <a:buFont typeface="Arial"/>
              <a:buNone/>
            </a:pPr>
            <a:r>
              <a:rPr lang="en"/>
              <a:t>df["Name"].str.contains("A")</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Date &amp; Time</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235" name="Google Shape;23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df["date"] = pd.to_datetime(["2025-01-01", "2025-02-01", "2025-03-01"])</a:t>
            </a:r>
            <a:endParaRPr/>
          </a:p>
          <a:p>
            <a:pPr indent="0" lvl="0" marL="0" rtl="0" algn="l">
              <a:spcBef>
                <a:spcPts val="1200"/>
              </a:spcBef>
              <a:spcAft>
                <a:spcPts val="0"/>
              </a:spcAft>
              <a:buClr>
                <a:schemeClr val="dk1"/>
              </a:buClr>
              <a:buSzPts val="1100"/>
              <a:buFont typeface="Arial"/>
              <a:buNone/>
            </a:pPr>
            <a:r>
              <a:rPr lang="en"/>
              <a:t>df["year"] = df["date"].dt.year</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Window Functions</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241" name="Google Shape;241;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df["rolling_mean"] = df["Age"].rolling(2).mean()</a:t>
            </a:r>
            <a:endParaRPr/>
          </a:p>
          <a:p>
            <a:pPr indent="0" lvl="0" marL="0" rtl="0" algn="l">
              <a:spcBef>
                <a:spcPts val="1200"/>
              </a:spcBef>
              <a:spcAft>
                <a:spcPts val="0"/>
              </a:spcAft>
              <a:buNone/>
            </a:pPr>
            <a:r>
              <a:rPr lang="en"/>
              <a:t>#Rolling Mean (Moving Average)</a:t>
            </a:r>
            <a:endParaRPr/>
          </a:p>
          <a:p>
            <a:pPr indent="0" lvl="0" marL="0" rtl="0" algn="l">
              <a:spcBef>
                <a:spcPts val="1200"/>
              </a:spcBef>
              <a:spcAft>
                <a:spcPts val="0"/>
              </a:spcAft>
              <a:buClr>
                <a:schemeClr val="dk1"/>
              </a:buClr>
              <a:buSzPts val="1100"/>
              <a:buFont typeface="Arial"/>
              <a:buNone/>
            </a:pPr>
            <a:r>
              <a:rPr lang="en"/>
              <a:t>df["Rolling_Mean"] = df["Sales"].rolling(window=3).mean()</a:t>
            </a:r>
            <a:endParaRPr/>
          </a:p>
          <a:p>
            <a:pPr indent="0" lvl="0" marL="0" rtl="0" algn="l">
              <a:spcBef>
                <a:spcPts val="1200"/>
              </a:spcBef>
              <a:spcAft>
                <a:spcPts val="0"/>
              </a:spcAft>
              <a:buNone/>
            </a:pPr>
            <a:r>
              <a:rPr lang="en"/>
              <a:t>print(df</a:t>
            </a:r>
            <a:r>
              <a:rPr lang="en"/>
              <a:t>)</a:t>
            </a:r>
            <a:endParaRPr/>
          </a:p>
          <a:p>
            <a:pPr indent="0" lvl="0" marL="0" rtl="0" algn="l">
              <a:spcBef>
                <a:spcPts val="1200"/>
              </a:spcBef>
              <a:spcAft>
                <a:spcPts val="0"/>
              </a:spcAft>
              <a:buNone/>
            </a:pPr>
            <a:r>
              <a:rPr lang="en"/>
              <a:t>#</a:t>
            </a:r>
            <a:r>
              <a:rPr lang="en" sz="1100">
                <a:solidFill>
                  <a:schemeClr val="dk1"/>
                </a:solidFill>
              </a:rPr>
              <a:t>Like SQL </a:t>
            </a:r>
            <a:r>
              <a:rPr b="1" lang="en" sz="1100">
                <a:solidFill>
                  <a:schemeClr val="dk1"/>
                </a:solidFill>
              </a:rPr>
              <a:t>RANK, DENSE_RANK, ROW_NUMBER</a:t>
            </a:r>
            <a:r>
              <a:rPr lang="en" sz="1100">
                <a:solidFill>
                  <a:schemeClr val="dk1"/>
                </a:solidFill>
              </a:rPr>
              <a:t>.</a:t>
            </a:r>
            <a:endParaRPr/>
          </a:p>
          <a:p>
            <a:pPr indent="0" lvl="0" marL="0" rtl="0" algn="l">
              <a:spcBef>
                <a:spcPts val="1200"/>
              </a:spcBef>
              <a:spcAft>
                <a:spcPts val="0"/>
              </a:spcAft>
              <a:buNone/>
            </a:pPr>
            <a:r>
              <a:rPr lang="en"/>
              <a:t>df["Rank"] = df["Sales"].rank(method="dense", ascending=False)</a:t>
            </a:r>
            <a:endParaRPr/>
          </a:p>
          <a:p>
            <a:pPr indent="0" lvl="0" marL="0" rtl="0" algn="l">
              <a:spcBef>
                <a:spcPts val="1200"/>
              </a:spcBef>
              <a:spcAft>
                <a:spcPts val="0"/>
              </a:spcAft>
              <a:buNone/>
            </a:pPr>
            <a:r>
              <a:rPr lang="en"/>
              <a:t>print(df)</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Exporting</a:t>
            </a:r>
            <a:endParaRPr/>
          </a:p>
        </p:txBody>
      </p:sp>
      <p:sp>
        <p:nvSpPr>
          <p:cNvPr id="247" name="Google Shape;247;p45"/>
          <p:cNvSpPr txBox="1"/>
          <p:nvPr>
            <p:ph idx="1" type="body"/>
          </p:nvPr>
        </p:nvSpPr>
        <p:spPr>
          <a:xfrm>
            <a:off x="265275"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df.to_csv("out.csv")</a:t>
            </a:r>
            <a:endParaRPr/>
          </a:p>
          <a:p>
            <a:pPr indent="0" lvl="0" marL="0" rtl="0" algn="l">
              <a:spcBef>
                <a:spcPts val="1200"/>
              </a:spcBef>
              <a:spcAft>
                <a:spcPts val="0"/>
              </a:spcAft>
              <a:buClr>
                <a:schemeClr val="dk1"/>
              </a:buClr>
              <a:buSzPts val="1100"/>
              <a:buFont typeface="Arial"/>
              <a:buNone/>
            </a:pPr>
            <a:r>
              <a:rPr lang="en"/>
              <a:t>df.to_json("out.json")</a:t>
            </a:r>
            <a:endParaRPr/>
          </a:p>
          <a:p>
            <a:pPr indent="0" lvl="0" marL="0" rtl="0" algn="l">
              <a:spcBef>
                <a:spcPts val="1200"/>
              </a:spcBef>
              <a:spcAft>
                <a:spcPts val="0"/>
              </a:spcAft>
              <a:buClr>
                <a:schemeClr val="dk1"/>
              </a:buClr>
              <a:buSzPts val="1100"/>
              <a:buFont typeface="Arial"/>
              <a:buNone/>
            </a:pPr>
            <a:r>
              <a:rPr lang="en"/>
              <a:t>df.to_excel("out.xlsx")</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1"/>
              <a:buFont typeface="Arial"/>
              <a:buNone/>
            </a:pPr>
            <a:r>
              <a:rPr lang="en" sz="1800">
                <a:solidFill>
                  <a:schemeClr val="dk2"/>
                </a:solidFill>
              </a:rPr>
              <a:t> Visualization (with matplotlib)</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253" name="Google Shape;25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import matplotlib.pyplot as plt</a:t>
            </a:r>
            <a:endParaRPr/>
          </a:p>
          <a:p>
            <a:pPr indent="0" lvl="0" marL="0" rtl="0" algn="l">
              <a:spcBef>
                <a:spcPts val="1200"/>
              </a:spcBef>
              <a:spcAft>
                <a:spcPts val="0"/>
              </a:spcAft>
              <a:buClr>
                <a:schemeClr val="dk1"/>
              </a:buClr>
              <a:buSzPts val="1100"/>
              <a:buFont typeface="Arial"/>
              <a:buNone/>
            </a:pPr>
            <a:r>
              <a:rPr lang="en"/>
              <a:t>df["Age"].plot(kind="hist")</a:t>
            </a:r>
            <a:endParaRPr/>
          </a:p>
          <a:p>
            <a:pPr indent="0" lvl="0" marL="0" rtl="0" algn="l">
              <a:spcBef>
                <a:spcPts val="1200"/>
              </a:spcBef>
              <a:spcAft>
                <a:spcPts val="0"/>
              </a:spcAft>
              <a:buClr>
                <a:schemeClr val="dk1"/>
              </a:buClr>
              <a:buSzPts val="1100"/>
              <a:buFont typeface="Arial"/>
              <a:buNone/>
            </a:pPr>
            <a:r>
              <a:rPr lang="en"/>
              <a:t>plt.show()</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9" name="Google Shape;259;p47"/>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62500" lnSpcReduction="20000"/>
          </a:bodyPr>
          <a:lstStyle/>
          <a:p>
            <a:pPr indent="0" lvl="0" marL="0" rtl="0" algn="l">
              <a:lnSpc>
                <a:spcPct val="65000"/>
              </a:lnSpc>
              <a:spcBef>
                <a:spcPts val="0"/>
              </a:spcBef>
              <a:spcAft>
                <a:spcPts val="0"/>
              </a:spcAft>
              <a:buClr>
                <a:schemeClr val="dk1"/>
              </a:buClr>
              <a:buSzPct val="61111"/>
              <a:buFont typeface="Arial"/>
              <a:buNone/>
            </a:pPr>
            <a:r>
              <a:rPr lang="en"/>
              <a:t>import pandas as pd</a:t>
            </a:r>
            <a:endParaRPr/>
          </a:p>
          <a:p>
            <a:pPr indent="0" lvl="0" marL="0" rtl="0" algn="l">
              <a:lnSpc>
                <a:spcPct val="65000"/>
              </a:lnSpc>
              <a:spcBef>
                <a:spcPts val="1200"/>
              </a:spcBef>
              <a:spcAft>
                <a:spcPts val="0"/>
              </a:spcAft>
              <a:buClr>
                <a:schemeClr val="dk1"/>
              </a:buClr>
              <a:buSzPct val="61111"/>
              <a:buFont typeface="Arial"/>
              <a:buNone/>
            </a:pPr>
            <a:r>
              <a:rPr lang="en"/>
              <a:t>import matplotlib.pyplot as plt</a:t>
            </a:r>
            <a:endParaRPr/>
          </a:p>
          <a:p>
            <a:pPr indent="0" lvl="0" marL="0" rtl="0" algn="l">
              <a:lnSpc>
                <a:spcPct val="65000"/>
              </a:lnSpc>
              <a:spcBef>
                <a:spcPts val="1200"/>
              </a:spcBef>
              <a:spcAft>
                <a:spcPts val="0"/>
              </a:spcAft>
              <a:buClr>
                <a:schemeClr val="dk1"/>
              </a:buClr>
              <a:buSzPct val="61111"/>
              <a:buFont typeface="Arial"/>
              <a:buNone/>
            </a:pPr>
            <a:r>
              <a:t/>
            </a:r>
            <a:endParaRPr/>
          </a:p>
          <a:p>
            <a:pPr indent="0" lvl="0" marL="0" rtl="0" algn="l">
              <a:lnSpc>
                <a:spcPct val="65000"/>
              </a:lnSpc>
              <a:spcBef>
                <a:spcPts val="1200"/>
              </a:spcBef>
              <a:spcAft>
                <a:spcPts val="0"/>
              </a:spcAft>
              <a:buClr>
                <a:schemeClr val="dk1"/>
              </a:buClr>
              <a:buSzPct val="61111"/>
              <a:buFont typeface="Arial"/>
              <a:buNone/>
            </a:pPr>
            <a:r>
              <a:rPr lang="en"/>
              <a:t># Create a sample DataFrame</a:t>
            </a:r>
            <a:endParaRPr/>
          </a:p>
          <a:p>
            <a:pPr indent="0" lvl="0" marL="0" rtl="0" algn="l">
              <a:lnSpc>
                <a:spcPct val="65000"/>
              </a:lnSpc>
              <a:spcBef>
                <a:spcPts val="1200"/>
              </a:spcBef>
              <a:spcAft>
                <a:spcPts val="0"/>
              </a:spcAft>
              <a:buClr>
                <a:schemeClr val="dk1"/>
              </a:buClr>
              <a:buSzPct val="61111"/>
              <a:buFont typeface="Arial"/>
              <a:buNone/>
            </a:pPr>
            <a:r>
              <a:rPr lang="en"/>
              <a:t>data = {</a:t>
            </a:r>
            <a:endParaRPr/>
          </a:p>
          <a:p>
            <a:pPr indent="0" lvl="0" marL="0" rtl="0" algn="l">
              <a:lnSpc>
                <a:spcPct val="65000"/>
              </a:lnSpc>
              <a:spcBef>
                <a:spcPts val="1200"/>
              </a:spcBef>
              <a:spcAft>
                <a:spcPts val="0"/>
              </a:spcAft>
              <a:buClr>
                <a:schemeClr val="dk1"/>
              </a:buClr>
              <a:buSzPct val="61111"/>
              <a:buFont typeface="Arial"/>
              <a:buNone/>
            </a:pPr>
            <a:r>
              <a:rPr lang="en"/>
              <a:t>    "Product": ["Laptop", "Mobile", "Tablet", "Headphone", "Camera"],</a:t>
            </a:r>
            <a:endParaRPr/>
          </a:p>
          <a:p>
            <a:pPr indent="0" lvl="0" marL="0" rtl="0" algn="l">
              <a:lnSpc>
                <a:spcPct val="65000"/>
              </a:lnSpc>
              <a:spcBef>
                <a:spcPts val="1200"/>
              </a:spcBef>
              <a:spcAft>
                <a:spcPts val="0"/>
              </a:spcAft>
              <a:buClr>
                <a:schemeClr val="dk1"/>
              </a:buClr>
              <a:buSzPct val="61111"/>
              <a:buFont typeface="Arial"/>
              <a:buNone/>
            </a:pPr>
            <a:r>
              <a:rPr lang="en"/>
              <a:t>    "Sales": [120, 300, 180, 90, 150]</a:t>
            </a:r>
            <a:endParaRPr/>
          </a:p>
          <a:p>
            <a:pPr indent="0" lvl="0" marL="0" rtl="0" algn="l">
              <a:lnSpc>
                <a:spcPct val="65000"/>
              </a:lnSpc>
              <a:spcBef>
                <a:spcPts val="1200"/>
              </a:spcBef>
              <a:spcAft>
                <a:spcPts val="0"/>
              </a:spcAft>
              <a:buClr>
                <a:schemeClr val="dk1"/>
              </a:buClr>
              <a:buSzPct val="61111"/>
              <a:buFont typeface="Arial"/>
              <a:buNone/>
            </a:pPr>
            <a:r>
              <a:rPr lang="en"/>
              <a:t>}</a:t>
            </a:r>
            <a:endParaRPr/>
          </a:p>
          <a:p>
            <a:pPr indent="0" lvl="0" marL="0" rtl="0" algn="l">
              <a:lnSpc>
                <a:spcPct val="65000"/>
              </a:lnSpc>
              <a:spcBef>
                <a:spcPts val="1200"/>
              </a:spcBef>
              <a:spcAft>
                <a:spcPts val="0"/>
              </a:spcAft>
              <a:buClr>
                <a:schemeClr val="dk1"/>
              </a:buClr>
              <a:buSzPct val="61111"/>
              <a:buFont typeface="Arial"/>
              <a:buNone/>
            </a:pPr>
            <a:r>
              <a:rPr lang="en"/>
              <a:t>df = pd.DataFrame(data)</a:t>
            </a:r>
            <a:endParaRPr/>
          </a:p>
          <a:p>
            <a:pPr indent="0" lvl="0" marL="0" rtl="0" algn="l">
              <a:lnSpc>
                <a:spcPct val="65000"/>
              </a:lnSpc>
              <a:spcBef>
                <a:spcPts val="1200"/>
              </a:spcBef>
              <a:spcAft>
                <a:spcPts val="0"/>
              </a:spcAft>
              <a:buClr>
                <a:schemeClr val="dk1"/>
              </a:buClr>
              <a:buSzPct val="61111"/>
              <a:buFont typeface="Arial"/>
              <a:buNone/>
            </a:pPr>
            <a:r>
              <a:rPr lang="en"/>
              <a:t>print(df)</a:t>
            </a:r>
            <a:endParaRPr/>
          </a:p>
          <a:p>
            <a:pPr indent="0" lvl="0" marL="0" rtl="0" algn="l">
              <a:lnSpc>
                <a:spcPct val="65000"/>
              </a:lnSpc>
              <a:spcBef>
                <a:spcPts val="1200"/>
              </a:spcBef>
              <a:spcAft>
                <a:spcPts val="0"/>
              </a:spcAft>
              <a:buClr>
                <a:schemeClr val="dk1"/>
              </a:buClr>
              <a:buSzPct val="61111"/>
              <a:buFont typeface="Arial"/>
              <a:buNone/>
            </a:pPr>
            <a:r>
              <a:rPr lang="en"/>
              <a:t># Plot Bar Graph</a:t>
            </a:r>
            <a:endParaRPr/>
          </a:p>
          <a:p>
            <a:pPr indent="0" lvl="0" marL="0" rtl="0" algn="l">
              <a:lnSpc>
                <a:spcPct val="65000"/>
              </a:lnSpc>
              <a:spcBef>
                <a:spcPts val="1200"/>
              </a:spcBef>
              <a:spcAft>
                <a:spcPts val="0"/>
              </a:spcAft>
              <a:buClr>
                <a:schemeClr val="dk1"/>
              </a:buClr>
              <a:buSzPct val="61111"/>
              <a:buFont typeface="Arial"/>
              <a:buNone/>
            </a:pPr>
            <a:r>
              <a:rPr lang="en"/>
              <a:t>plt.bar(df["Product"], df["Sales"], color="skyblue", edgecolor="black")</a:t>
            </a:r>
            <a:endParaRPr/>
          </a:p>
          <a:p>
            <a:pPr indent="0" lvl="0" marL="0" rtl="0" algn="l">
              <a:lnSpc>
                <a:spcPct val="65000"/>
              </a:lnSpc>
              <a:spcBef>
                <a:spcPts val="1200"/>
              </a:spcBef>
              <a:spcAft>
                <a:spcPts val="0"/>
              </a:spcAft>
              <a:buClr>
                <a:schemeClr val="dk1"/>
              </a:buClr>
              <a:buSzPct val="61111"/>
              <a:buFont typeface="Arial"/>
              <a:buNone/>
            </a:pPr>
            <a:r>
              <a:t/>
            </a:r>
            <a:endParaRPr/>
          </a:p>
          <a:p>
            <a:pPr indent="0" lvl="0" marL="0" rtl="0" algn="l">
              <a:lnSpc>
                <a:spcPct val="65000"/>
              </a:lnSpc>
              <a:spcBef>
                <a:spcPts val="1200"/>
              </a:spcBef>
              <a:spcAft>
                <a:spcPts val="0"/>
              </a:spcAft>
              <a:buClr>
                <a:schemeClr val="dk1"/>
              </a:buClr>
              <a:buSzPct val="61111"/>
              <a:buFont typeface="Arial"/>
              <a:buNone/>
            </a:pPr>
            <a:r>
              <a:rPr lang="en"/>
              <a:t>plt.title("Product Sales")</a:t>
            </a:r>
            <a:endParaRPr/>
          </a:p>
          <a:p>
            <a:pPr indent="0" lvl="0" marL="0" rtl="0" algn="l">
              <a:lnSpc>
                <a:spcPct val="65000"/>
              </a:lnSpc>
              <a:spcBef>
                <a:spcPts val="1200"/>
              </a:spcBef>
              <a:spcAft>
                <a:spcPts val="0"/>
              </a:spcAft>
              <a:buClr>
                <a:schemeClr val="dk1"/>
              </a:buClr>
              <a:buSzPct val="61111"/>
              <a:buFont typeface="Arial"/>
              <a:buNone/>
            </a:pPr>
            <a:r>
              <a:rPr lang="en"/>
              <a:t>plt.xlabel("Product")</a:t>
            </a:r>
            <a:endParaRPr/>
          </a:p>
          <a:p>
            <a:pPr indent="0" lvl="0" marL="0" rtl="0" algn="l">
              <a:lnSpc>
                <a:spcPct val="65000"/>
              </a:lnSpc>
              <a:spcBef>
                <a:spcPts val="1200"/>
              </a:spcBef>
              <a:spcAft>
                <a:spcPts val="0"/>
              </a:spcAft>
              <a:buClr>
                <a:schemeClr val="dk1"/>
              </a:buClr>
              <a:buSzPct val="61111"/>
              <a:buFont typeface="Arial"/>
              <a:buNone/>
            </a:pPr>
            <a:r>
              <a:rPr lang="en"/>
              <a:t>plt.ylabel("Sales Units")</a:t>
            </a:r>
            <a:endParaRPr/>
          </a:p>
          <a:p>
            <a:pPr indent="0" lvl="0" marL="0" rtl="0" algn="l">
              <a:lnSpc>
                <a:spcPct val="65000"/>
              </a:lnSpc>
              <a:spcBef>
                <a:spcPts val="1200"/>
              </a:spcBef>
              <a:spcAft>
                <a:spcPts val="1200"/>
              </a:spcAft>
              <a:buNone/>
            </a:pPr>
            <a:r>
              <a:rPr lang="en"/>
              <a:t>plt.show()</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5" name="Google Shape;265;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1" name="Google Shape;271;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7" name="Google Shape;277;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3" name="Google Shape;283;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9" name="Google Shape;289;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5" name="Google Shape;295;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