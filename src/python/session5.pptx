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 uri="GoogleSlidesCustomDataVersion2">
      <go:slidesCustomData xmlns:go="http://customooxmlschemas.google.com/" r:id="rId43" roundtripDataSignature="AMtx7mgqKtSKV4jBIS8SWmro59Lysa3I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AEC8D2-4E8A-4346-AD17-980F2BD889F5}">
  <a:tblStyle styleId="{D3AEC8D2-4E8A-4346-AD17-980F2BD889F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9022695-C1DF-4223-AB93-3AA630AD9347}" styleName="Table_1">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g377887c9f1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 name="Google Shape;19;g377887c9f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377887c9f10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 name="Google Shape;31;g377887c9f1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377887c9f10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 name="Google Shape;38;g377887c9f1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785fd132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7785fd13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7785fd1329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7785fd132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8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89"/>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 name="Google Shape;14;p8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8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8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8"/>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jpg"/><Relationship Id="rId4" Type="http://schemas.openxmlformats.org/officeDocument/2006/relationships/image" Target="../media/image8.jpg"/><Relationship Id="rId5" Type="http://schemas.openxmlformats.org/officeDocument/2006/relationships/image" Target="../media/image14.jpg"/><Relationship Id="rId6" Type="http://schemas.openxmlformats.org/officeDocument/2006/relationships/image" Target="../media/image19.png"/><Relationship Id="rId7" Type="http://schemas.openxmlformats.org/officeDocument/2006/relationships/image" Target="../media/image1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jpg"/><Relationship Id="rId4" Type="http://schemas.openxmlformats.org/officeDocument/2006/relationships/image" Target="../media/image15.jpg"/><Relationship Id="rId5" Type="http://schemas.openxmlformats.org/officeDocument/2006/relationships/image" Target="../media/image14.jpg"/><Relationship Id="rId6" Type="http://schemas.openxmlformats.org/officeDocument/2006/relationships/image" Target="../media/image18.png"/><Relationship Id="rId7" Type="http://schemas.openxmlformats.org/officeDocument/2006/relationships/image" Target="../media/image1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6.jpg"/><Relationship Id="rId6" Type="http://schemas.openxmlformats.org/officeDocument/2006/relationships/image" Target="../media/image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2.jpg"/><Relationship Id="rId4" Type="http://schemas.openxmlformats.org/officeDocument/2006/relationships/image" Target="../media/image7.jpg"/><Relationship Id="rId5" Type="http://schemas.openxmlformats.org/officeDocument/2006/relationships/image" Target="../media/image1.jpg"/><Relationship Id="rId6" Type="http://schemas.openxmlformats.org/officeDocument/2006/relationships/image" Target="../media/image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g377887c9f10_0_0"/>
          <p:cNvSpPr txBox="1"/>
          <p:nvPr>
            <p:ph type="title"/>
          </p:nvPr>
        </p:nvSpPr>
        <p:spPr>
          <a:xfrm>
            <a:off x="457200" y="205979"/>
            <a:ext cx="8229600" cy="85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Real world example of group by</a:t>
            </a:r>
            <a:endParaRPr/>
          </a:p>
        </p:txBody>
      </p:sp>
      <p:sp>
        <p:nvSpPr>
          <p:cNvPr id="22" name="Google Shape;22;g377887c9f10_0_0"/>
          <p:cNvSpPr/>
          <p:nvPr/>
        </p:nvSpPr>
        <p:spPr>
          <a:xfrm>
            <a:off x="556775" y="1939950"/>
            <a:ext cx="1359300" cy="163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xml_files1.gz</a:t>
            </a:r>
            <a:endParaRPr>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xml_files2.gz</a:t>
            </a:r>
            <a:endParaRPr>
              <a:latin typeface="Calibri"/>
              <a:ea typeface="Calibri"/>
              <a:cs typeface="Calibri"/>
              <a:sym typeface="Calibri"/>
            </a:endParaRPr>
          </a:p>
        </p:txBody>
      </p:sp>
      <p:sp>
        <p:nvSpPr>
          <p:cNvPr id="23" name="Google Shape;23;g377887c9f10_0_0"/>
          <p:cNvSpPr/>
          <p:nvPr/>
        </p:nvSpPr>
        <p:spPr>
          <a:xfrm>
            <a:off x="2492525" y="1939950"/>
            <a:ext cx="1359300" cy="218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pipeline</a:t>
            </a:r>
            <a:endParaRPr>
              <a:latin typeface="Calibri"/>
              <a:ea typeface="Calibri"/>
              <a:cs typeface="Calibri"/>
              <a:sym typeface="Calibri"/>
            </a:endParaRPr>
          </a:p>
          <a:p>
            <a:pPr indent="0" lvl="0" marL="0" rtl="0" algn="ctr">
              <a:spcBef>
                <a:spcPts val="0"/>
              </a:spcBef>
              <a:spcAft>
                <a:spcPts val="0"/>
              </a:spcAft>
              <a:buNone/>
            </a:pPr>
            <a:r>
              <a:rPr lang="en-US">
                <a:latin typeface="Calibri"/>
                <a:ea typeface="Calibri"/>
                <a:cs typeface="Calibri"/>
                <a:sym typeface="Calibri"/>
              </a:rPr>
              <a:t>unzipping(decompressing) </a:t>
            </a:r>
            <a:endParaRPr>
              <a:latin typeface="Calibri"/>
              <a:ea typeface="Calibri"/>
              <a:cs typeface="Calibri"/>
              <a:sym typeface="Calibri"/>
            </a:endParaRPr>
          </a:p>
          <a:p>
            <a:pPr indent="0" lvl="0" marL="0" rtl="0" algn="ctr">
              <a:spcBef>
                <a:spcPts val="0"/>
              </a:spcBef>
              <a:spcAft>
                <a:spcPts val="0"/>
              </a:spcAft>
              <a:buNone/>
            </a:pPr>
            <a:r>
              <a:rPr lang="en-US">
                <a:latin typeface="Calibri"/>
                <a:ea typeface="Calibri"/>
                <a:cs typeface="Calibri"/>
                <a:sym typeface="Calibri"/>
              </a:rPr>
              <a:t>extract </a:t>
            </a:r>
            <a:endParaRPr>
              <a:latin typeface="Calibri"/>
              <a:ea typeface="Calibri"/>
              <a:cs typeface="Calibri"/>
              <a:sym typeface="Calibri"/>
            </a:endParaRPr>
          </a:p>
          <a:p>
            <a:pPr indent="0" lvl="0" marL="0" rtl="0" algn="ctr">
              <a:spcBef>
                <a:spcPts val="0"/>
              </a:spcBef>
              <a:spcAft>
                <a:spcPts val="0"/>
              </a:spcAft>
              <a:buNone/>
            </a:pPr>
            <a:r>
              <a:rPr lang="en-US">
                <a:latin typeface="Calibri"/>
                <a:ea typeface="Calibri"/>
                <a:cs typeface="Calibri"/>
                <a:sym typeface="Calibri"/>
              </a:rPr>
              <a:t>create a table(data frame)</a:t>
            </a:r>
            <a:endParaRPr>
              <a:latin typeface="Calibri"/>
              <a:ea typeface="Calibri"/>
              <a:cs typeface="Calibri"/>
              <a:sym typeface="Calibri"/>
            </a:endParaRPr>
          </a:p>
          <a:p>
            <a:pPr indent="0" lvl="0" marL="0" rtl="0" algn="ctr">
              <a:spcBef>
                <a:spcPts val="0"/>
              </a:spcBef>
              <a:spcAft>
                <a:spcPts val="0"/>
              </a:spcAft>
              <a:buNone/>
            </a:pPr>
            <a:r>
              <a:rPr lang="en-US">
                <a:latin typeface="Calibri"/>
                <a:ea typeface="Calibri"/>
                <a:cs typeface="Calibri"/>
                <a:sym typeface="Calibri"/>
              </a:rPr>
              <a:t>then write a json file</a:t>
            </a:r>
            <a:endParaRPr>
              <a:latin typeface="Calibri"/>
              <a:ea typeface="Calibri"/>
              <a:cs typeface="Calibri"/>
              <a:sym typeface="Calibri"/>
            </a:endParaRPr>
          </a:p>
        </p:txBody>
      </p:sp>
      <p:sp>
        <p:nvSpPr>
          <p:cNvPr id="24" name="Google Shape;24;g377887c9f10_0_0"/>
          <p:cNvSpPr/>
          <p:nvPr/>
        </p:nvSpPr>
        <p:spPr>
          <a:xfrm>
            <a:off x="1948650" y="2755525"/>
            <a:ext cx="543900" cy="195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 name="Google Shape;25;g377887c9f10_0_0"/>
          <p:cNvSpPr/>
          <p:nvPr/>
        </p:nvSpPr>
        <p:spPr>
          <a:xfrm>
            <a:off x="3851825" y="2755525"/>
            <a:ext cx="543900" cy="195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 name="Google Shape;26;g377887c9f10_0_0"/>
          <p:cNvSpPr/>
          <p:nvPr/>
        </p:nvSpPr>
        <p:spPr>
          <a:xfrm>
            <a:off x="4428275" y="2037775"/>
            <a:ext cx="1359300" cy="163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Bigquery</a:t>
            </a:r>
            <a:endParaRPr>
              <a:latin typeface="Calibri"/>
              <a:ea typeface="Calibri"/>
              <a:cs typeface="Calibri"/>
              <a:sym typeface="Calibri"/>
            </a:endParaRPr>
          </a:p>
          <a:p>
            <a:pPr indent="0" lvl="0" marL="0" rtl="0" algn="ctr">
              <a:spcBef>
                <a:spcPts val="0"/>
              </a:spcBef>
              <a:spcAft>
                <a:spcPts val="0"/>
              </a:spcAft>
              <a:buNone/>
            </a:pPr>
            <a:r>
              <a:rPr lang="en-US">
                <a:latin typeface="Calibri"/>
                <a:ea typeface="Calibri"/>
                <a:cs typeface="Calibri"/>
                <a:sym typeface="Calibri"/>
              </a:rPr>
              <a:t>stage(dataset</a:t>
            </a:r>
            <a:r>
              <a:rPr lang="en-US">
                <a:latin typeface="Calibri"/>
                <a:ea typeface="Calibri"/>
                <a:cs typeface="Calibri"/>
                <a:sym typeface="Calibri"/>
              </a:rPr>
              <a:t>)</a:t>
            </a:r>
            <a:endParaRPr>
              <a:latin typeface="Calibri"/>
              <a:ea typeface="Calibri"/>
              <a:cs typeface="Calibri"/>
              <a:sym typeface="Calibri"/>
            </a:endParaRPr>
          </a:p>
        </p:txBody>
      </p:sp>
      <p:sp>
        <p:nvSpPr>
          <p:cNvPr id="27" name="Google Shape;27;g377887c9f10_0_0"/>
          <p:cNvSpPr/>
          <p:nvPr/>
        </p:nvSpPr>
        <p:spPr>
          <a:xfrm>
            <a:off x="6418400" y="2081850"/>
            <a:ext cx="1793700" cy="182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Bigquery</a:t>
            </a:r>
            <a:endParaRPr>
              <a:latin typeface="Calibri"/>
              <a:ea typeface="Calibri"/>
              <a:cs typeface="Calibri"/>
              <a:sym typeface="Calibri"/>
            </a:endParaRPr>
          </a:p>
          <a:p>
            <a:pPr indent="0" lvl="0" marL="0" rtl="0" algn="ctr">
              <a:spcBef>
                <a:spcPts val="0"/>
              </a:spcBef>
              <a:spcAft>
                <a:spcPts val="0"/>
              </a:spcAft>
              <a:buNone/>
            </a:pPr>
            <a:r>
              <a:rPr lang="en-US">
                <a:latin typeface="Calibri"/>
                <a:ea typeface="Calibri"/>
                <a:cs typeface="Calibri"/>
                <a:sym typeface="Calibri"/>
              </a:rPr>
              <a:t>production(dataset)</a:t>
            </a:r>
            <a:endParaRPr>
              <a:latin typeface="Calibri"/>
              <a:ea typeface="Calibri"/>
              <a:cs typeface="Calibri"/>
              <a:sym typeface="Calibri"/>
            </a:endParaRPr>
          </a:p>
        </p:txBody>
      </p:sp>
      <p:sp>
        <p:nvSpPr>
          <p:cNvPr id="28" name="Google Shape;28;g377887c9f10_0_0"/>
          <p:cNvSpPr/>
          <p:nvPr/>
        </p:nvSpPr>
        <p:spPr>
          <a:xfrm>
            <a:off x="5831038" y="2799600"/>
            <a:ext cx="543900" cy="195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g377887c9f10_0_5"/>
          <p:cNvSpPr txBox="1"/>
          <p:nvPr>
            <p:ph idx="1" type="body"/>
          </p:nvPr>
        </p:nvSpPr>
        <p:spPr>
          <a:xfrm>
            <a:off x="435450" y="264975"/>
            <a:ext cx="27420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a:p>
            <a:pPr indent="0" lvl="0" marL="0" rtl="0" algn="l">
              <a:spcBef>
                <a:spcPts val="360"/>
              </a:spcBef>
              <a:spcAft>
                <a:spcPts val="0"/>
              </a:spcAft>
              <a:buNone/>
            </a:pPr>
            <a:r>
              <a:rPr b="1" lang="en-US"/>
              <a:t>mesinfoid</a:t>
            </a:r>
            <a:endParaRPr b="1"/>
          </a:p>
          <a:p>
            <a:pPr indent="0" lvl="0" marL="0" rtl="0" algn="l">
              <a:spcBef>
                <a:spcPts val="360"/>
              </a:spcBef>
              <a:spcAft>
                <a:spcPts val="0"/>
              </a:spcAft>
              <a:buNone/>
            </a:pPr>
            <a:r>
              <a:rPr lang="en-US"/>
              <a:t>node- 1  </a:t>
            </a:r>
            <a:endParaRPr/>
          </a:p>
          <a:p>
            <a:pPr indent="0" lvl="0" marL="0" rtl="0" algn="l">
              <a:spcBef>
                <a:spcPts val="360"/>
              </a:spcBef>
              <a:spcAft>
                <a:spcPts val="0"/>
              </a:spcAft>
              <a:buNone/>
            </a:pPr>
            <a:r>
              <a:rPr lang="en-US"/>
              <a:t>node -2</a:t>
            </a:r>
            <a:endParaRPr/>
          </a:p>
          <a:p>
            <a:pPr indent="0" lvl="0" marL="0" rtl="0" algn="l">
              <a:spcBef>
                <a:spcPts val="360"/>
              </a:spcBef>
              <a:spcAft>
                <a:spcPts val="0"/>
              </a:spcAft>
              <a:buNone/>
            </a:pPr>
            <a:r>
              <a:rPr lang="en-US"/>
              <a:t>node -3</a:t>
            </a:r>
            <a:endParaRPr/>
          </a:p>
        </p:txBody>
      </p:sp>
      <p:sp>
        <p:nvSpPr>
          <p:cNvPr id="34" name="Google Shape;34;g377887c9f10_0_5"/>
          <p:cNvSpPr txBox="1"/>
          <p:nvPr>
            <p:ph idx="1" type="body"/>
          </p:nvPr>
        </p:nvSpPr>
        <p:spPr>
          <a:xfrm>
            <a:off x="3687000" y="210750"/>
            <a:ext cx="3579000" cy="23610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sz="2800"/>
          </a:p>
          <a:p>
            <a:pPr indent="0" lvl="0" marL="0" rtl="0" algn="l">
              <a:spcBef>
                <a:spcPts val="360"/>
              </a:spcBef>
              <a:spcAft>
                <a:spcPts val="0"/>
              </a:spcAft>
              <a:buNone/>
            </a:pPr>
            <a:r>
              <a:rPr b="1" lang="en-US" sz="2800"/>
              <a:t>init time</a:t>
            </a:r>
            <a:endParaRPr b="1" sz="2800"/>
          </a:p>
          <a:p>
            <a:pPr indent="0" lvl="0" marL="0" rtl="0" algn="l">
              <a:spcBef>
                <a:spcPts val="360"/>
              </a:spcBef>
              <a:spcAft>
                <a:spcPts val="0"/>
              </a:spcAft>
              <a:buNone/>
            </a:pPr>
            <a:r>
              <a:rPr lang="en-US" sz="2800"/>
              <a:t>23-08-2025 T012530 UTC</a:t>
            </a:r>
            <a:endParaRPr sz="2800"/>
          </a:p>
        </p:txBody>
      </p:sp>
      <p:sp>
        <p:nvSpPr>
          <p:cNvPr id="35" name="Google Shape;35;g377887c9f10_0_5"/>
          <p:cNvSpPr/>
          <p:nvPr/>
        </p:nvSpPr>
        <p:spPr>
          <a:xfrm>
            <a:off x="2742450" y="3407975"/>
            <a:ext cx="4730400" cy="915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select max(mesinfo_id), max(init),..........,any_value(job_id) as job_id  from table group by mesinfoid, init</a:t>
            </a:r>
            <a:endParaRPr>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graphicFrame>
        <p:nvGraphicFramePr>
          <p:cNvPr id="40" name="Google Shape;40;g377887c9f10_0_19"/>
          <p:cNvGraphicFramePr/>
          <p:nvPr/>
        </p:nvGraphicFramePr>
        <p:xfrm>
          <a:off x="952500" y="1619250"/>
          <a:ext cx="3000000" cy="3000000"/>
        </p:xfrm>
        <a:graphic>
          <a:graphicData uri="http://schemas.openxmlformats.org/drawingml/2006/table">
            <a:tbl>
              <a:tblPr>
                <a:noFill/>
                <a:tableStyleId>{D3AEC8D2-4E8A-4346-AD17-980F2BD889F5}</a:tableStyleId>
              </a:tblPr>
              <a:tblGrid>
                <a:gridCol w="1428225"/>
                <a:gridCol w="2037175"/>
                <a:gridCol w="819275"/>
                <a:gridCol w="1428225"/>
                <a:gridCol w="1428225"/>
              </a:tblGrid>
              <a:tr h="210200">
                <a:tc>
                  <a:txBody>
                    <a:bodyPr/>
                    <a:lstStyle/>
                    <a:p>
                      <a:pPr indent="0" lvl="0" marL="0" rtl="0" algn="l">
                        <a:spcBef>
                          <a:spcPts val="0"/>
                        </a:spcBef>
                        <a:spcAft>
                          <a:spcPts val="0"/>
                        </a:spcAft>
                        <a:buNone/>
                      </a:pPr>
                      <a:r>
                        <a:rPr b="1" lang="en-US"/>
                        <a:t>mesinfoid</a:t>
                      </a:r>
                      <a:endParaRPr b="1"/>
                    </a:p>
                  </a:txBody>
                  <a:tcPr marT="91425" marB="91425" marR="91425" marL="91425"/>
                </a:tc>
                <a:tc>
                  <a:txBody>
                    <a:bodyPr/>
                    <a:lstStyle/>
                    <a:p>
                      <a:pPr indent="0" lvl="0" marL="0" rtl="0" algn="l">
                        <a:spcBef>
                          <a:spcPts val="0"/>
                        </a:spcBef>
                        <a:spcAft>
                          <a:spcPts val="0"/>
                        </a:spcAft>
                        <a:buNone/>
                      </a:pPr>
                      <a:r>
                        <a:rPr b="1" lang="en-US"/>
                        <a:t>init_time</a:t>
                      </a:r>
                      <a:endParaRPr b="1"/>
                    </a:p>
                  </a:txBody>
                  <a:tcPr marT="91425" marB="91425" marR="91425" marL="91425"/>
                </a:tc>
                <a:tc>
                  <a:txBody>
                    <a:bodyPr/>
                    <a:lstStyle/>
                    <a:p>
                      <a:pPr indent="0" lvl="0" marL="0" rtl="0" algn="l">
                        <a:spcBef>
                          <a:spcPts val="0"/>
                        </a:spcBef>
                        <a:spcAft>
                          <a:spcPts val="0"/>
                        </a:spcAft>
                        <a:buNone/>
                      </a:pPr>
                      <a:r>
                        <a:rPr b="1" lang="en-US"/>
                        <a:t>job_id</a:t>
                      </a:r>
                      <a:endParaRPr b="1"/>
                    </a:p>
                  </a:txBody>
                  <a:tcPr marT="91425" marB="91425" marR="91425" marL="91425"/>
                </a:tc>
                <a:tc>
                  <a:txBody>
                    <a:bodyPr/>
                    <a:lstStyle/>
                    <a:p>
                      <a:pPr indent="0" lvl="0" marL="0" rtl="0" algn="l">
                        <a:spcBef>
                          <a:spcPts val="0"/>
                        </a:spcBef>
                        <a:spcAft>
                          <a:spcPts val="0"/>
                        </a:spcAft>
                        <a:buNone/>
                      </a:pPr>
                      <a:r>
                        <a:rPr b="1" lang="en-US"/>
                        <a:t>process_id</a:t>
                      </a:r>
                      <a:endParaRPr b="1"/>
                    </a:p>
                  </a:txBody>
                  <a:tcPr marT="91425" marB="91425" marR="91425" marL="91425"/>
                </a:tc>
                <a:tc>
                  <a:txBody>
                    <a:bodyPr/>
                    <a:lstStyle/>
                    <a:p>
                      <a:pPr indent="0" lvl="0" marL="0" rtl="0" algn="l">
                        <a:spcBef>
                          <a:spcPts val="0"/>
                        </a:spcBef>
                        <a:spcAft>
                          <a:spcPts val="0"/>
                        </a:spcAft>
                        <a:buNone/>
                      </a:pPr>
                      <a:r>
                        <a:rPr b="1" lang="en-US"/>
                        <a:t>file_name</a:t>
                      </a:r>
                      <a:endParaRPr b="1"/>
                    </a:p>
                  </a:txBody>
                  <a:tcPr marT="91425" marB="91425" marR="91425" marL="91425"/>
                </a:tc>
              </a:tr>
              <a:tr h="323400">
                <a:tc>
                  <a:txBody>
                    <a:bodyPr/>
                    <a:lstStyle/>
                    <a:p>
                      <a:pPr indent="0" lvl="0" marL="0" rtl="0" algn="l">
                        <a:spcBef>
                          <a:spcPts val="0"/>
                        </a:spcBef>
                        <a:spcAft>
                          <a:spcPts val="0"/>
                        </a:spcAft>
                        <a:buNone/>
                      </a:pPr>
                      <a:r>
                        <a:rPr lang="en-US"/>
                        <a:t>node1</a:t>
                      </a:r>
                      <a:endParaRPr/>
                    </a:p>
                  </a:txBody>
                  <a:tcPr marT="91425" marB="91425" marR="91425" marL="91425"/>
                </a:tc>
                <a:tc>
                  <a:txBody>
                    <a:bodyPr/>
                    <a:lstStyle/>
                    <a:p>
                      <a:pPr indent="0" lvl="0" marL="0" rtl="0" algn="l">
                        <a:spcBef>
                          <a:spcPts val="0"/>
                        </a:spcBef>
                        <a:spcAft>
                          <a:spcPts val="0"/>
                        </a:spcAft>
                        <a:buNone/>
                      </a:pPr>
                      <a:r>
                        <a:rPr lang="en-US"/>
                        <a:t>23-08-2025 T01253</a:t>
                      </a:r>
                      <a:endParaRPr/>
                    </a:p>
                  </a:txBody>
                  <a:tcPr marT="91425" marB="91425" marR="91425" marL="91425"/>
                </a:tc>
                <a:tc>
                  <a:txBody>
                    <a:bodyPr/>
                    <a:lstStyle/>
                    <a:p>
                      <a:pPr indent="0" lvl="0" marL="0" rtl="0" algn="l">
                        <a:spcBef>
                          <a:spcPts val="0"/>
                        </a:spcBef>
                        <a:spcAft>
                          <a:spcPts val="0"/>
                        </a:spcAft>
                        <a:buNone/>
                      </a:pPr>
                      <a:r>
                        <a:rPr lang="en-US"/>
                        <a:t>23</a:t>
                      </a:r>
                      <a:endParaRPr/>
                    </a:p>
                  </a:txBody>
                  <a:tcPr marT="91425" marB="91425" marR="91425" marL="91425"/>
                </a:tc>
                <a:tc>
                  <a:txBody>
                    <a:bodyPr/>
                    <a:lstStyle/>
                    <a:p>
                      <a:pPr indent="0" lvl="0" marL="0" rtl="0" algn="l">
                        <a:spcBef>
                          <a:spcPts val="0"/>
                        </a:spcBef>
                        <a:spcAft>
                          <a:spcPts val="0"/>
                        </a:spcAft>
                        <a:buNone/>
                      </a:pPr>
                      <a:r>
                        <a:rPr lang="en-US"/>
                        <a:t>123456</a:t>
                      </a:r>
                      <a:endParaRPr/>
                    </a:p>
                  </a:txBody>
                  <a:tcPr marT="91425" marB="91425" marR="91425" marL="91425"/>
                </a:tc>
                <a:tc>
                  <a:txBody>
                    <a:bodyPr/>
                    <a:lstStyle/>
                    <a:p>
                      <a:pPr indent="0" lvl="0" marL="0" rtl="0" algn="l">
                        <a:spcBef>
                          <a:spcPts val="0"/>
                        </a:spcBef>
                        <a:spcAft>
                          <a:spcPts val="0"/>
                        </a:spcAft>
                        <a:buNone/>
                      </a:pPr>
                      <a:r>
                        <a:rPr lang="en-US"/>
                        <a:t>file1</a:t>
                      </a:r>
                      <a:endParaRPr/>
                    </a:p>
                  </a:txBody>
                  <a:tcPr marT="91425" marB="91425" marR="91425" marL="91425"/>
                </a:tc>
              </a:tr>
              <a:tr h="436600">
                <a:tc>
                  <a:txBody>
                    <a:bodyPr/>
                    <a:lstStyle/>
                    <a:p>
                      <a:pPr indent="0" lvl="0" marL="0" rtl="0" algn="l">
                        <a:spcBef>
                          <a:spcPts val="0"/>
                        </a:spcBef>
                        <a:spcAft>
                          <a:spcPts val="0"/>
                        </a:spcAft>
                        <a:buNone/>
                      </a:pPr>
                      <a:r>
                        <a:rPr lang="en-US"/>
                        <a:t>node2</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23-08-2025 T01253</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23</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123456</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file1</a:t>
                      </a:r>
                      <a:endParaRPr/>
                    </a:p>
                  </a:txBody>
                  <a:tcPr marT="91425" marB="91425" marR="91425" marL="91425"/>
                </a:tc>
              </a:tr>
              <a:tr h="436600">
                <a:tc>
                  <a:txBody>
                    <a:bodyPr/>
                    <a:lstStyle/>
                    <a:p>
                      <a:pPr indent="0" lvl="0" marL="0" rtl="0" algn="l">
                        <a:spcBef>
                          <a:spcPts val="0"/>
                        </a:spcBef>
                        <a:spcAft>
                          <a:spcPts val="0"/>
                        </a:spcAft>
                        <a:buNone/>
                      </a:pPr>
                      <a:r>
                        <a:rPr lang="en-US"/>
                        <a:t>node1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23-08-2025 T01215</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t>23</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123456</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t>file1</a:t>
                      </a:r>
                      <a:endParaRPr/>
                    </a:p>
                  </a:txBody>
                  <a:tcPr marT="91425" marB="91425" marR="91425" marL="91425"/>
                </a:tc>
              </a:tr>
              <a:tr h="436600">
                <a:tc>
                  <a:txBody>
                    <a:bodyPr/>
                    <a:lstStyle/>
                    <a:p>
                      <a:pPr indent="0" lvl="0" marL="0" rtl="0" algn="l">
                        <a:spcBef>
                          <a:spcPts val="0"/>
                        </a:spcBef>
                        <a:spcAft>
                          <a:spcPts val="0"/>
                        </a:spcAft>
                        <a:buNone/>
                      </a:pPr>
                      <a:r>
                        <a:rPr lang="en-US"/>
                        <a:t>node1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23-08-2025 T01253</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23</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123456</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file2</a:t>
                      </a:r>
                      <a:endParaRPr/>
                    </a:p>
                  </a:txBody>
                  <a:tcPr marT="91425" marB="91425" marR="91425" marL="91425"/>
                </a:tc>
              </a:tr>
              <a:tr h="436600">
                <a:tc>
                  <a:txBody>
                    <a:bodyPr/>
                    <a:lstStyle/>
                    <a:p>
                      <a:pPr indent="0" lvl="0" marL="0" rtl="0" algn="l">
                        <a:spcBef>
                          <a:spcPts val="0"/>
                        </a:spcBef>
                        <a:spcAft>
                          <a:spcPts val="0"/>
                        </a:spcAft>
                        <a:buNone/>
                      </a:pPr>
                      <a:r>
                        <a:rPr lang="en-US"/>
                        <a:t>node2</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23-08-2025 T01253</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23</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123456</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file2</a:t>
                      </a:r>
                      <a:endParaRPr/>
                    </a:p>
                  </a:txBody>
                  <a:tcPr marT="91425" marB="91425" marR="91425" marL="91425"/>
                </a:tc>
              </a:tr>
              <a:tr h="740050">
                <a:tc>
                  <a:txBody>
                    <a:bodyPr/>
                    <a:lstStyle/>
                    <a:p>
                      <a:pPr indent="0" lvl="0" marL="0" rtl="0" algn="l">
                        <a:spcBef>
                          <a:spcPts val="0"/>
                        </a:spcBef>
                        <a:spcAft>
                          <a:spcPts val="0"/>
                        </a:spcAft>
                        <a:buNone/>
                      </a:pPr>
                      <a:r>
                        <a:rPr lang="en-US"/>
                        <a:t>node2</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23-08-2025 T01253</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t>23</a:t>
                      </a:r>
                      <a:endParaRPr/>
                    </a:p>
                  </a:txBody>
                  <a:tcPr marT="91425" marB="91425" marR="91425" marL="91425"/>
                </a:tc>
                <a:tc>
                  <a:txBody>
                    <a:bodyPr/>
                    <a:lstStyle/>
                    <a:p>
                      <a:pPr indent="0" lvl="0" marL="0" rtl="0" algn="l">
                        <a:spcBef>
                          <a:spcPts val="0"/>
                        </a:spcBef>
                        <a:spcAft>
                          <a:spcPts val="0"/>
                        </a:spcAft>
                        <a:buNone/>
                      </a:pPr>
                      <a:r>
                        <a:rPr lang="en-US">
                          <a:solidFill>
                            <a:schemeClr val="dk1"/>
                          </a:solidFill>
                        </a:rPr>
                        <a:t>123456</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US"/>
                        <a:t>file2</a:t>
                      </a:r>
                      <a:endParaRPr/>
                    </a:p>
                  </a:txBody>
                  <a:tcPr marT="91425" marB="91425" marR="91425" marL="91425"/>
                </a:tc>
              </a:tr>
            </a:tbl>
          </a:graphicData>
        </a:graphic>
      </p:graphicFrame>
      <p:sp>
        <p:nvSpPr>
          <p:cNvPr id="41" name="Google Shape;41;g377887c9f10_0_19"/>
          <p:cNvSpPr/>
          <p:nvPr/>
        </p:nvSpPr>
        <p:spPr>
          <a:xfrm>
            <a:off x="1839925" y="384950"/>
            <a:ext cx="4773900" cy="90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insert into final table from </a:t>
            </a:r>
            <a:endParaRPr>
              <a:latin typeface="Calibri"/>
              <a:ea typeface="Calibri"/>
              <a:cs typeface="Calibri"/>
              <a:sym typeface="Calibri"/>
            </a:endParaRPr>
          </a:p>
          <a:p>
            <a:pPr indent="0" lvl="0" marL="0" rtl="0" algn="ctr">
              <a:spcBef>
                <a:spcPts val="0"/>
              </a:spcBef>
              <a:spcAft>
                <a:spcPts val="0"/>
              </a:spcAft>
              <a:buNone/>
            </a:pPr>
            <a:r>
              <a:rPr lang="en-US">
                <a:latin typeface="Calibri"/>
                <a:ea typeface="Calibri"/>
                <a:cs typeface="Calibri"/>
                <a:sym typeface="Calibri"/>
              </a:rPr>
              <a:t>(</a:t>
            </a:r>
            <a:r>
              <a:rPr lang="en-US">
                <a:latin typeface="Calibri"/>
                <a:ea typeface="Calibri"/>
                <a:cs typeface="Calibri"/>
                <a:sym typeface="Calibri"/>
              </a:rPr>
              <a:t>select max(mesinfo_id), max(init),..........,any_value(job_id) as job_id  from table group by mesinfoid, init,file_name</a:t>
            </a:r>
            <a:r>
              <a:rPr b="1" lang="en-US">
                <a:solidFill>
                  <a:schemeClr val="dk1"/>
                </a:solidFill>
              </a:rPr>
              <a:t>)</a:t>
            </a:r>
            <a:endParaRPr b="1">
              <a:solidFill>
                <a:schemeClr val="dk1"/>
              </a:solidFill>
            </a:endParaRPr>
          </a:p>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Module</a:t>
            </a:r>
            <a:endParaRPr b="1" sz="4000" u="sng">
              <a:latin typeface="Times New Roman"/>
              <a:ea typeface="Times New Roman"/>
              <a:cs typeface="Times New Roman"/>
              <a:sym typeface="Times New Roman"/>
            </a:endParaRPr>
          </a:p>
        </p:txBody>
      </p:sp>
      <p:sp>
        <p:nvSpPr>
          <p:cNvPr id="47" name="Google Shape;47;p1"/>
          <p:cNvSpPr txBox="1"/>
          <p:nvPr>
            <p:ph idx="1" type="body"/>
          </p:nvPr>
        </p:nvSpPr>
        <p:spPr>
          <a:xfrm>
            <a:off x="457200" y="895350"/>
            <a:ext cx="82296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A module is a file containing Python definitions and statements.</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A module is a file containing group of variables, methods, function and classes etc.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They are executed only the first time the module name is encountered in an import statement.</a:t>
            </a: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Assume that you are building a very large project, it will be very difficult to manage all logic within one single file so If you want to separate your similar logic to a separate file, you can use module.</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b="1" lang="en-US" sz="1800" u="sng">
                <a:latin typeface="Times New Roman"/>
                <a:ea typeface="Times New Roman"/>
                <a:cs typeface="Times New Roman"/>
                <a:sym typeface="Times New Roman"/>
              </a:rPr>
              <a:t>Type of Modules:-</a:t>
            </a:r>
            <a:endParaRPr/>
          </a:p>
          <a:p>
            <a:pPr indent="-342900" lvl="0" marL="342900" rtl="0" algn="l">
              <a:lnSpc>
                <a:spcPct val="150000"/>
              </a:lnSpc>
              <a:spcBef>
                <a:spcPts val="360"/>
              </a:spcBef>
              <a:spcAft>
                <a:spcPts val="0"/>
              </a:spcAft>
              <a:buClr>
                <a:schemeClr val="dk1"/>
              </a:buClr>
              <a:buSzPts val="1800"/>
              <a:buChar char="•"/>
            </a:pPr>
            <a:r>
              <a:rPr lang="en-US" sz="1800">
                <a:latin typeface="Times New Roman"/>
                <a:ea typeface="Times New Roman"/>
                <a:cs typeface="Times New Roman"/>
                <a:sym typeface="Times New Roman"/>
              </a:rPr>
              <a:t>User-defined Modules</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Built-in Modules</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Ex:- array, math, numpy, sys,pandas, datetime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
                                            <p:txEl>
                                              <p:pRg end="0" st="0"/>
                                            </p:txEl>
                                          </p:spTgt>
                                        </p:tgtEl>
                                        <p:attrNameLst>
                                          <p:attrName>style.visibility</p:attrName>
                                        </p:attrNameLst>
                                      </p:cBhvr>
                                      <p:to>
                                        <p:strVal val="visible"/>
                                      </p:to>
                                    </p:set>
                                    <p:animEffect filter="fade" transition="in">
                                      <p:cBhvr>
                                        <p:cTn dur="500"/>
                                        <p:tgtEl>
                                          <p:spTgt spid="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
                                            <p:txEl>
                                              <p:pRg end="1" st="1"/>
                                            </p:txEl>
                                          </p:spTgt>
                                        </p:tgtEl>
                                        <p:attrNameLst>
                                          <p:attrName>style.visibility</p:attrName>
                                        </p:attrNameLst>
                                      </p:cBhvr>
                                      <p:to>
                                        <p:strVal val="visible"/>
                                      </p:to>
                                    </p:set>
                                    <p:animEffect filter="fade" transition="in">
                                      <p:cBhvr>
                                        <p:cTn dur="500"/>
                                        <p:tgtEl>
                                          <p:spTgt spid="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
                                            <p:txEl>
                                              <p:pRg end="2" st="2"/>
                                            </p:txEl>
                                          </p:spTgt>
                                        </p:tgtEl>
                                        <p:attrNameLst>
                                          <p:attrName>style.visibility</p:attrName>
                                        </p:attrNameLst>
                                      </p:cBhvr>
                                      <p:to>
                                        <p:strVal val="visible"/>
                                      </p:to>
                                    </p:set>
                                    <p:animEffect filter="fade" transition="in">
                                      <p:cBhvr>
                                        <p:cTn dur="500"/>
                                        <p:tgtEl>
                                          <p:spTgt spid="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
                                            <p:txEl>
                                              <p:pRg end="3" st="3"/>
                                            </p:txEl>
                                          </p:spTgt>
                                        </p:tgtEl>
                                        <p:attrNameLst>
                                          <p:attrName>style.visibility</p:attrName>
                                        </p:attrNameLst>
                                      </p:cBhvr>
                                      <p:to>
                                        <p:strVal val="visible"/>
                                      </p:to>
                                    </p:set>
                                    <p:animEffect filter="fade" transition="in">
                                      <p:cBhvr>
                                        <p:cTn dur="500"/>
                                        <p:tgtEl>
                                          <p:spTgt spid="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
                                            <p:txEl>
                                              <p:pRg end="4" st="4"/>
                                            </p:txEl>
                                          </p:spTgt>
                                        </p:tgtEl>
                                        <p:attrNameLst>
                                          <p:attrName>style.visibility</p:attrName>
                                        </p:attrNameLst>
                                      </p:cBhvr>
                                      <p:to>
                                        <p:strVal val="visible"/>
                                      </p:to>
                                    </p:set>
                                    <p:animEffect filter="fade" transition="in">
                                      <p:cBhvr>
                                        <p:cTn dur="500"/>
                                        <p:tgtEl>
                                          <p:spTgt spid="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
                                            <p:txEl>
                                              <p:pRg end="5" st="5"/>
                                            </p:txEl>
                                          </p:spTgt>
                                        </p:tgtEl>
                                        <p:attrNameLst>
                                          <p:attrName>style.visibility</p:attrName>
                                        </p:attrNameLst>
                                      </p:cBhvr>
                                      <p:to>
                                        <p:strVal val="visible"/>
                                      </p:to>
                                    </p:set>
                                    <p:animEffect filter="fade" transition="in">
                                      <p:cBhvr>
                                        <p:cTn dur="500"/>
                                        <p:tgtEl>
                                          <p:spTgt spid="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
                                            <p:txEl>
                                              <p:pRg end="6" st="6"/>
                                            </p:txEl>
                                          </p:spTgt>
                                        </p:tgtEl>
                                        <p:attrNameLst>
                                          <p:attrName>style.visibility</p:attrName>
                                        </p:attrNameLst>
                                      </p:cBhvr>
                                      <p:to>
                                        <p:strVal val="visible"/>
                                      </p:to>
                                    </p:set>
                                    <p:animEffect filter="fade" transition="in">
                                      <p:cBhvr>
                                        <p:cTn dur="500"/>
                                        <p:tgtEl>
                                          <p:spTgt spid="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
                                            <p:txEl>
                                              <p:pRg end="7" st="7"/>
                                            </p:txEl>
                                          </p:spTgt>
                                        </p:tgtEl>
                                        <p:attrNameLst>
                                          <p:attrName>style.visibility</p:attrName>
                                        </p:attrNameLst>
                                      </p:cBhvr>
                                      <p:to>
                                        <p:strVal val="visible"/>
                                      </p:to>
                                    </p:set>
                                    <p:animEffect filter="fade" transition="in">
                                      <p:cBhvr>
                                        <p:cTn dur="500"/>
                                        <p:tgtEl>
                                          <p:spTgt spid="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
                                            <p:txEl>
                                              <p:pRg end="8" st="8"/>
                                            </p:txEl>
                                          </p:spTgt>
                                        </p:tgtEl>
                                        <p:attrNameLst>
                                          <p:attrName>style.visibility</p:attrName>
                                        </p:attrNameLst>
                                      </p:cBhvr>
                                      <p:to>
                                        <p:strVal val="visible"/>
                                      </p:to>
                                    </p:set>
                                    <p:animEffect filter="fade" transition="in">
                                      <p:cBhvr>
                                        <p:cTn dur="500"/>
                                        <p:tgtEl>
                                          <p:spTgt spid="4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4"/>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How to use Module</a:t>
            </a:r>
            <a:endParaRPr b="1" sz="4000" u="sng">
              <a:latin typeface="Times New Roman"/>
              <a:ea typeface="Times New Roman"/>
              <a:cs typeface="Times New Roman"/>
              <a:sym typeface="Times New Roman"/>
            </a:endParaRPr>
          </a:p>
        </p:txBody>
      </p:sp>
      <p:sp>
        <p:nvSpPr>
          <p:cNvPr id="53" name="Google Shape;53;p4"/>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i="1" lang="en-US" sz="1800">
                <a:latin typeface="Times New Roman"/>
                <a:ea typeface="Times New Roman"/>
                <a:cs typeface="Times New Roman"/>
                <a:sym typeface="Times New Roman"/>
              </a:rPr>
              <a:t>import</a:t>
            </a:r>
            <a:r>
              <a:rPr lang="en-US" sz="1800">
                <a:latin typeface="Times New Roman"/>
                <a:ea typeface="Times New Roman"/>
                <a:cs typeface="Times New Roman"/>
                <a:sym typeface="Times New Roman"/>
              </a:rPr>
              <a:t> statement is used to import modules.</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Syntax:-</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import module_name</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import module_name as alias_name</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from module_name import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from module_name import f_name as alias_f_name</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from module_name import *</a:t>
            </a:r>
            <a:endParaRPr sz="1800">
              <a:latin typeface="Times New Roman"/>
              <a:ea typeface="Times New Roman"/>
              <a:cs typeface="Times New Roman"/>
              <a:sym typeface="Times New Roman"/>
            </a:endParaRPr>
          </a:p>
        </p:txBody>
      </p:sp>
      <p:sp>
        <p:nvSpPr>
          <p:cNvPr id="54" name="Google Shape;54;p4"/>
          <p:cNvSpPr txBox="1"/>
          <p:nvPr/>
        </p:nvSpPr>
        <p:spPr>
          <a:xfrm>
            <a:off x="2971800" y="2222800"/>
            <a:ext cx="5498621" cy="305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function_name1, function_name2,……, function_nameN</a:t>
            </a:r>
            <a:endParaRPr sz="1800">
              <a:solidFill>
                <a:schemeClr val="dk1"/>
              </a:solidFill>
              <a:latin typeface="Times New Roman"/>
              <a:ea typeface="Times New Roman"/>
              <a:cs typeface="Times New Roman"/>
              <a:sym typeface="Times New Roman"/>
            </a:endParaRPr>
          </a:p>
        </p:txBody>
      </p:sp>
      <p:sp>
        <p:nvSpPr>
          <p:cNvPr id="55" name="Google Shape;55;p4"/>
          <p:cNvSpPr/>
          <p:nvPr/>
        </p:nvSpPr>
        <p:spPr>
          <a:xfrm>
            <a:off x="446024" y="3790950"/>
            <a:ext cx="42021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
                                            <p:txEl>
                                              <p:pRg end="0" st="0"/>
                                            </p:txEl>
                                          </p:spTgt>
                                        </p:tgtEl>
                                        <p:attrNameLst>
                                          <p:attrName>style.visibility</p:attrName>
                                        </p:attrNameLst>
                                      </p:cBhvr>
                                      <p:to>
                                        <p:strVal val="visible"/>
                                      </p:to>
                                    </p:set>
                                    <p:animEffect filter="fade" transition="in">
                                      <p:cBhvr>
                                        <p:cTn dur="500"/>
                                        <p:tgtEl>
                                          <p:spTgt spid="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
                                            <p:txEl>
                                              <p:pRg end="1" st="1"/>
                                            </p:txEl>
                                          </p:spTgt>
                                        </p:tgtEl>
                                        <p:attrNameLst>
                                          <p:attrName>style.visibility</p:attrName>
                                        </p:attrNameLst>
                                      </p:cBhvr>
                                      <p:to>
                                        <p:strVal val="visible"/>
                                      </p:to>
                                    </p:set>
                                    <p:animEffect filter="fade" transition="in">
                                      <p:cBhvr>
                                        <p:cTn dur="500"/>
                                        <p:tgtEl>
                                          <p:spTgt spid="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
                                            <p:txEl>
                                              <p:pRg end="2" st="2"/>
                                            </p:txEl>
                                          </p:spTgt>
                                        </p:tgtEl>
                                        <p:attrNameLst>
                                          <p:attrName>style.visibility</p:attrName>
                                        </p:attrNameLst>
                                      </p:cBhvr>
                                      <p:to>
                                        <p:strVal val="visible"/>
                                      </p:to>
                                    </p:set>
                                    <p:animEffect filter="fade" transition="in">
                                      <p:cBhvr>
                                        <p:cTn dur="500"/>
                                        <p:tgtEl>
                                          <p:spTgt spid="5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
                                            <p:txEl>
                                              <p:pRg end="3" st="3"/>
                                            </p:txEl>
                                          </p:spTgt>
                                        </p:tgtEl>
                                        <p:attrNameLst>
                                          <p:attrName>style.visibility</p:attrName>
                                        </p:attrNameLst>
                                      </p:cBhvr>
                                      <p:to>
                                        <p:strVal val="visible"/>
                                      </p:to>
                                    </p:set>
                                    <p:animEffect filter="fade" transition="in">
                                      <p:cBhvr>
                                        <p:cTn dur="500"/>
                                        <p:tgtEl>
                                          <p:spTgt spid="5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
                                            <p:txEl>
                                              <p:pRg end="4" st="4"/>
                                            </p:txEl>
                                          </p:spTgt>
                                        </p:tgtEl>
                                        <p:attrNameLst>
                                          <p:attrName>style.visibility</p:attrName>
                                        </p:attrNameLst>
                                      </p:cBhvr>
                                      <p:to>
                                        <p:strVal val="visible"/>
                                      </p:to>
                                    </p:set>
                                    <p:animEffect filter="fade" transition="in">
                                      <p:cBhvr>
                                        <p:cTn dur="500"/>
                                        <p:tgtEl>
                                          <p:spTgt spid="5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
                                            <p:txEl>
                                              <p:pRg end="5" st="5"/>
                                            </p:txEl>
                                          </p:spTgt>
                                        </p:tgtEl>
                                        <p:attrNameLst>
                                          <p:attrName>style.visibility</p:attrName>
                                        </p:attrNameLst>
                                      </p:cBhvr>
                                      <p:to>
                                        <p:strVal val="visible"/>
                                      </p:to>
                                    </p:set>
                                    <p:animEffect filter="fade" transition="in">
                                      <p:cBhvr>
                                        <p:cTn dur="500"/>
                                        <p:tgtEl>
                                          <p:spTgt spid="5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
                                            <p:txEl>
                                              <p:pRg end="6" st="6"/>
                                            </p:txEl>
                                          </p:spTgt>
                                        </p:tgtEl>
                                        <p:attrNameLst>
                                          <p:attrName>style.visibility</p:attrName>
                                        </p:attrNameLst>
                                      </p:cBhvr>
                                      <p:to>
                                        <p:strVal val="visible"/>
                                      </p:to>
                                    </p:set>
                                    <p:animEffect filter="fade" transition="in">
                                      <p:cBhvr>
                                        <p:cTn dur="500"/>
                                        <p:tgtEl>
                                          <p:spTgt spid="5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4"/>
                                        </p:tgtEl>
                                      </p:cBhvr>
                                    </p:animEffect>
                                    <p:set>
                                      <p:cBhvr>
                                        <p:cTn dur="1" fill="hold">
                                          <p:stCondLst>
                                            <p:cond delay="500"/>
                                          </p:stCondLst>
                                        </p:cTn>
                                        <p:tgtEl>
                                          <p:spTgt spid="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9"/>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Times New Roman"/>
              <a:buNone/>
            </a:pPr>
            <a:r>
              <a:rPr b="1" lang="en-US" sz="3200" u="sng">
                <a:latin typeface="Times New Roman"/>
                <a:ea typeface="Times New Roman"/>
                <a:cs typeface="Times New Roman"/>
                <a:sym typeface="Times New Roman"/>
              </a:rPr>
              <a:t>from module_name import *</a:t>
            </a:r>
            <a:endParaRPr b="1" sz="3200" u="sng">
              <a:latin typeface="Times New Roman"/>
              <a:ea typeface="Times New Roman"/>
              <a:cs typeface="Times New Roman"/>
              <a:sym typeface="Times New Roman"/>
            </a:endParaRPr>
          </a:p>
        </p:txBody>
      </p:sp>
      <p:sp>
        <p:nvSpPr>
          <p:cNvPr id="61" name="Google Shape;61;p9"/>
          <p:cNvSpPr txBox="1"/>
          <p:nvPr>
            <p:ph idx="1" type="body"/>
          </p:nvPr>
        </p:nvSpPr>
        <p:spPr>
          <a:xfrm>
            <a:off x="457200" y="895350"/>
            <a:ext cx="8229600" cy="3962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This imports all names except those beginning with an underscore (_).</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from cal import *</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b="1" lang="en-US" sz="1800" u="sng">
                <a:latin typeface="Times New Roman"/>
                <a:ea typeface="Times New Roman"/>
                <a:cs typeface="Times New Roman"/>
                <a:sym typeface="Times New Roman"/>
              </a:rPr>
              <a:t>How to access Methods, Functions, Variable and Classes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You can access the functions directly by it’s name.</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add(10, 20)</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sub(20, 10)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animEffect filter="fade" transition="in">
                                      <p:cBhvr>
                                        <p:cTn dur="500"/>
                                        <p:tgtEl>
                                          <p:spTgt spid="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1" st="1"/>
                                            </p:txEl>
                                          </p:spTgt>
                                        </p:tgtEl>
                                        <p:attrNameLst>
                                          <p:attrName>style.visibility</p:attrName>
                                        </p:attrNameLst>
                                      </p:cBhvr>
                                      <p:to>
                                        <p:strVal val="visible"/>
                                      </p:to>
                                    </p:set>
                                    <p:animEffect filter="fade" transition="in">
                                      <p:cBhvr>
                                        <p:cTn dur="500"/>
                                        <p:tgtEl>
                                          <p:spTgt spid="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2" st="2"/>
                                            </p:txEl>
                                          </p:spTgt>
                                        </p:tgtEl>
                                        <p:attrNameLst>
                                          <p:attrName>style.visibility</p:attrName>
                                        </p:attrNameLst>
                                      </p:cBhvr>
                                      <p:to>
                                        <p:strVal val="visible"/>
                                      </p:to>
                                    </p:set>
                                    <p:animEffect filter="fade" transition="in">
                                      <p:cBhvr>
                                        <p:cTn dur="500"/>
                                        <p:tgtEl>
                                          <p:spTgt spid="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3" st="3"/>
                                            </p:txEl>
                                          </p:spTgt>
                                        </p:tgtEl>
                                        <p:attrNameLst>
                                          <p:attrName>style.visibility</p:attrName>
                                        </p:attrNameLst>
                                      </p:cBhvr>
                                      <p:to>
                                        <p:strVal val="visible"/>
                                      </p:to>
                                    </p:set>
                                    <p:animEffect filter="fade" transition="in">
                                      <p:cBhvr>
                                        <p:cTn dur="500"/>
                                        <p:tgtEl>
                                          <p:spTgt spid="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4" st="4"/>
                                            </p:txEl>
                                          </p:spTgt>
                                        </p:tgtEl>
                                        <p:attrNameLst>
                                          <p:attrName>style.visibility</p:attrName>
                                        </p:attrNameLst>
                                      </p:cBhvr>
                                      <p:to>
                                        <p:strVal val="visible"/>
                                      </p:to>
                                    </p:set>
                                    <p:animEffect filter="fade" transition="in">
                                      <p:cBhvr>
                                        <p:cTn dur="500"/>
                                        <p:tgtEl>
                                          <p:spTgt spid="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5" st="5"/>
                                            </p:txEl>
                                          </p:spTgt>
                                        </p:tgtEl>
                                        <p:attrNameLst>
                                          <p:attrName>style.visibility</p:attrName>
                                        </p:attrNameLst>
                                      </p:cBhvr>
                                      <p:to>
                                        <p:strVal val="visible"/>
                                      </p:to>
                                    </p:set>
                                    <p:animEffect filter="fade" transition="in">
                                      <p:cBhvr>
                                        <p:cTn dur="500"/>
                                        <p:tgtEl>
                                          <p:spTgt spid="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6" st="6"/>
                                            </p:txEl>
                                          </p:spTgt>
                                        </p:tgtEl>
                                        <p:attrNameLst>
                                          <p:attrName>style.visibility</p:attrName>
                                        </p:attrNameLst>
                                      </p:cBhvr>
                                      <p:to>
                                        <p:strVal val="visible"/>
                                      </p:to>
                                    </p:set>
                                    <p:animEffect filter="fade" transition="in">
                                      <p:cBhvr>
                                        <p:cTn dur="500"/>
                                        <p:tgtEl>
                                          <p:spTgt spid="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7" st="7"/>
                                            </p:txEl>
                                          </p:spTgt>
                                        </p:tgtEl>
                                        <p:attrNameLst>
                                          <p:attrName>style.visibility</p:attrName>
                                        </p:attrNameLst>
                                      </p:cBhvr>
                                      <p:to>
                                        <p:strVal val="visible"/>
                                      </p:to>
                                    </p:set>
                                    <p:animEffect filter="fade" transition="in">
                                      <p:cBhvr>
                                        <p:cTn dur="500"/>
                                        <p:tgtEl>
                                          <p:spTgt spid="61">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1"/>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Package</a:t>
            </a:r>
            <a:endParaRPr b="1" sz="4000" u="sng">
              <a:latin typeface="Times New Roman"/>
              <a:ea typeface="Times New Roman"/>
              <a:cs typeface="Times New Roman"/>
              <a:sym typeface="Times New Roman"/>
            </a:endParaRPr>
          </a:p>
        </p:txBody>
      </p:sp>
      <p:sp>
        <p:nvSpPr>
          <p:cNvPr id="67" name="Google Shape;67;p11"/>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Packages are a way of structuring Python’s module namespace by using “dotted module names”.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A package can have one or more modules which means, a package is collection of modules and packages.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A package can contain packages.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Package is nothing but a Directory/Folder</a:t>
            </a:r>
            <a:endParaRPr sz="2000">
              <a:latin typeface="Times New Roman"/>
              <a:ea typeface="Times New Roman"/>
              <a:cs typeface="Times New Roman"/>
              <a:sym typeface="Times New Roman"/>
            </a:endParaRPr>
          </a:p>
        </p:txBody>
      </p:sp>
      <p:sp>
        <p:nvSpPr>
          <p:cNvPr id="68" name="Google Shape;68;p11"/>
          <p:cNvSpPr/>
          <p:nvPr/>
        </p:nvSpPr>
        <p:spPr>
          <a:xfrm>
            <a:off x="3048000" y="3028951"/>
            <a:ext cx="2362200" cy="1371600"/>
          </a:xfrm>
          <a:custGeom>
            <a:rect b="b" l="l" r="r" t="t"/>
            <a:pathLst>
              <a:path extrusionOk="0" h="21600" w="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close/>
              </a:path>
            </a:pathLst>
          </a:cu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11"/>
          <p:cNvSpPr/>
          <p:nvPr/>
        </p:nvSpPr>
        <p:spPr>
          <a:xfrm>
            <a:off x="3276600" y="3562350"/>
            <a:ext cx="452438" cy="681038"/>
          </a:xfrm>
          <a:custGeom>
            <a:rect b="b" l="l" r="r" t="t"/>
            <a:pathLst>
              <a:path extrusionOk="0" h="21600" w="21600">
                <a:moveTo>
                  <a:pt x="10800" y="0"/>
                </a:moveTo>
                <a:lnTo>
                  <a:pt x="0" y="0"/>
                </a:lnTo>
                <a:lnTo>
                  <a:pt x="0" y="10800"/>
                </a:lnTo>
                <a:lnTo>
                  <a:pt x="0" y="20367"/>
                </a:lnTo>
                <a:lnTo>
                  <a:pt x="5807" y="20367"/>
                </a:lnTo>
                <a:lnTo>
                  <a:pt x="5807" y="20637"/>
                </a:lnTo>
                <a:lnTo>
                  <a:pt x="5970" y="20818"/>
                </a:lnTo>
                <a:lnTo>
                  <a:pt x="6133" y="20968"/>
                </a:lnTo>
                <a:lnTo>
                  <a:pt x="6404" y="21239"/>
                </a:lnTo>
                <a:lnTo>
                  <a:pt x="6567" y="21419"/>
                </a:lnTo>
                <a:lnTo>
                  <a:pt x="7055" y="21510"/>
                </a:lnTo>
                <a:lnTo>
                  <a:pt x="7544" y="21600"/>
                </a:lnTo>
                <a:lnTo>
                  <a:pt x="8141" y="21600"/>
                </a:lnTo>
                <a:lnTo>
                  <a:pt x="10800" y="21600"/>
                </a:lnTo>
                <a:lnTo>
                  <a:pt x="13188" y="21600"/>
                </a:lnTo>
                <a:lnTo>
                  <a:pt x="13948" y="21600"/>
                </a:lnTo>
                <a:lnTo>
                  <a:pt x="14436" y="21510"/>
                </a:lnTo>
                <a:lnTo>
                  <a:pt x="14708" y="21419"/>
                </a:lnTo>
                <a:lnTo>
                  <a:pt x="15033" y="21239"/>
                </a:lnTo>
                <a:lnTo>
                  <a:pt x="15359" y="20968"/>
                </a:lnTo>
                <a:lnTo>
                  <a:pt x="15522" y="20818"/>
                </a:lnTo>
                <a:lnTo>
                  <a:pt x="15684" y="20637"/>
                </a:lnTo>
                <a:lnTo>
                  <a:pt x="15684" y="20367"/>
                </a:lnTo>
                <a:lnTo>
                  <a:pt x="21600" y="20367"/>
                </a:lnTo>
                <a:lnTo>
                  <a:pt x="21600" y="10800"/>
                </a:lnTo>
                <a:lnTo>
                  <a:pt x="21600" y="0"/>
                </a:lnTo>
                <a:lnTo>
                  <a:pt x="10800" y="0"/>
                </a:lnTo>
                <a:close/>
                <a:moveTo>
                  <a:pt x="7055" y="20367"/>
                </a:moveTo>
                <a:lnTo>
                  <a:pt x="7055" y="20547"/>
                </a:lnTo>
                <a:lnTo>
                  <a:pt x="7055" y="20637"/>
                </a:lnTo>
                <a:lnTo>
                  <a:pt x="7218" y="20728"/>
                </a:lnTo>
                <a:lnTo>
                  <a:pt x="7381" y="20818"/>
                </a:lnTo>
                <a:lnTo>
                  <a:pt x="7544" y="20908"/>
                </a:lnTo>
                <a:lnTo>
                  <a:pt x="7707" y="20968"/>
                </a:lnTo>
                <a:lnTo>
                  <a:pt x="7815" y="20968"/>
                </a:lnTo>
                <a:lnTo>
                  <a:pt x="8141" y="20968"/>
                </a:lnTo>
                <a:lnTo>
                  <a:pt x="13188" y="20968"/>
                </a:lnTo>
                <a:lnTo>
                  <a:pt x="13459" y="20968"/>
                </a:lnTo>
                <a:lnTo>
                  <a:pt x="13785" y="20968"/>
                </a:lnTo>
                <a:lnTo>
                  <a:pt x="13948" y="20908"/>
                </a:lnTo>
                <a:lnTo>
                  <a:pt x="14111" y="20818"/>
                </a:lnTo>
                <a:lnTo>
                  <a:pt x="14273" y="20728"/>
                </a:lnTo>
                <a:lnTo>
                  <a:pt x="14273" y="20637"/>
                </a:lnTo>
                <a:lnTo>
                  <a:pt x="14436" y="20547"/>
                </a:lnTo>
                <a:lnTo>
                  <a:pt x="14436" y="20367"/>
                </a:lnTo>
                <a:lnTo>
                  <a:pt x="7055" y="20367"/>
                </a:lnTo>
                <a:close/>
              </a:path>
              <a:path extrusionOk="0" h="21600" w="21600">
                <a:moveTo>
                  <a:pt x="7055" y="20367"/>
                </a:moveTo>
                <a:lnTo>
                  <a:pt x="5807" y="20367"/>
                </a:lnTo>
                <a:lnTo>
                  <a:pt x="21600" y="20367"/>
                </a:lnTo>
              </a:path>
            </a:pathLst>
          </a:cu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11"/>
          <p:cNvSpPr/>
          <p:nvPr/>
        </p:nvSpPr>
        <p:spPr>
          <a:xfrm>
            <a:off x="3888581" y="3567112"/>
            <a:ext cx="452438" cy="681038"/>
          </a:xfrm>
          <a:custGeom>
            <a:rect b="b" l="l" r="r" t="t"/>
            <a:pathLst>
              <a:path extrusionOk="0" h="21600" w="21600">
                <a:moveTo>
                  <a:pt x="10800" y="0"/>
                </a:moveTo>
                <a:lnTo>
                  <a:pt x="0" y="0"/>
                </a:lnTo>
                <a:lnTo>
                  <a:pt x="0" y="10800"/>
                </a:lnTo>
                <a:lnTo>
                  <a:pt x="0" y="20367"/>
                </a:lnTo>
                <a:lnTo>
                  <a:pt x="5807" y="20367"/>
                </a:lnTo>
                <a:lnTo>
                  <a:pt x="5807" y="20637"/>
                </a:lnTo>
                <a:lnTo>
                  <a:pt x="5970" y="20818"/>
                </a:lnTo>
                <a:lnTo>
                  <a:pt x="6133" y="20968"/>
                </a:lnTo>
                <a:lnTo>
                  <a:pt x="6404" y="21239"/>
                </a:lnTo>
                <a:lnTo>
                  <a:pt x="6567" y="21419"/>
                </a:lnTo>
                <a:lnTo>
                  <a:pt x="7055" y="21510"/>
                </a:lnTo>
                <a:lnTo>
                  <a:pt x="7544" y="21600"/>
                </a:lnTo>
                <a:lnTo>
                  <a:pt x="8141" y="21600"/>
                </a:lnTo>
                <a:lnTo>
                  <a:pt x="10800" y="21600"/>
                </a:lnTo>
                <a:lnTo>
                  <a:pt x="13188" y="21600"/>
                </a:lnTo>
                <a:lnTo>
                  <a:pt x="13948" y="21600"/>
                </a:lnTo>
                <a:lnTo>
                  <a:pt x="14436" y="21510"/>
                </a:lnTo>
                <a:lnTo>
                  <a:pt x="14708" y="21419"/>
                </a:lnTo>
                <a:lnTo>
                  <a:pt x="15033" y="21239"/>
                </a:lnTo>
                <a:lnTo>
                  <a:pt x="15359" y="20968"/>
                </a:lnTo>
                <a:lnTo>
                  <a:pt x="15522" y="20818"/>
                </a:lnTo>
                <a:lnTo>
                  <a:pt x="15684" y="20637"/>
                </a:lnTo>
                <a:lnTo>
                  <a:pt x="15684" y="20367"/>
                </a:lnTo>
                <a:lnTo>
                  <a:pt x="21600" y="20367"/>
                </a:lnTo>
                <a:lnTo>
                  <a:pt x="21600" y="10800"/>
                </a:lnTo>
                <a:lnTo>
                  <a:pt x="21600" y="0"/>
                </a:lnTo>
                <a:lnTo>
                  <a:pt x="10800" y="0"/>
                </a:lnTo>
                <a:close/>
                <a:moveTo>
                  <a:pt x="7055" y="20367"/>
                </a:moveTo>
                <a:lnTo>
                  <a:pt x="7055" y="20547"/>
                </a:lnTo>
                <a:lnTo>
                  <a:pt x="7055" y="20637"/>
                </a:lnTo>
                <a:lnTo>
                  <a:pt x="7218" y="20728"/>
                </a:lnTo>
                <a:lnTo>
                  <a:pt x="7381" y="20818"/>
                </a:lnTo>
                <a:lnTo>
                  <a:pt x="7544" y="20908"/>
                </a:lnTo>
                <a:lnTo>
                  <a:pt x="7707" y="20968"/>
                </a:lnTo>
                <a:lnTo>
                  <a:pt x="7815" y="20968"/>
                </a:lnTo>
                <a:lnTo>
                  <a:pt x="8141" y="20968"/>
                </a:lnTo>
                <a:lnTo>
                  <a:pt x="13188" y="20968"/>
                </a:lnTo>
                <a:lnTo>
                  <a:pt x="13459" y="20968"/>
                </a:lnTo>
                <a:lnTo>
                  <a:pt x="13785" y="20968"/>
                </a:lnTo>
                <a:lnTo>
                  <a:pt x="13948" y="20908"/>
                </a:lnTo>
                <a:lnTo>
                  <a:pt x="14111" y="20818"/>
                </a:lnTo>
                <a:lnTo>
                  <a:pt x="14273" y="20728"/>
                </a:lnTo>
                <a:lnTo>
                  <a:pt x="14273" y="20637"/>
                </a:lnTo>
                <a:lnTo>
                  <a:pt x="14436" y="20547"/>
                </a:lnTo>
                <a:lnTo>
                  <a:pt x="14436" y="20367"/>
                </a:lnTo>
                <a:lnTo>
                  <a:pt x="7055" y="20367"/>
                </a:lnTo>
                <a:close/>
              </a:path>
              <a:path extrusionOk="0" h="21600" w="21600">
                <a:moveTo>
                  <a:pt x="7055" y="20367"/>
                </a:moveTo>
                <a:lnTo>
                  <a:pt x="5807" y="20367"/>
                </a:lnTo>
                <a:lnTo>
                  <a:pt x="21600" y="20367"/>
                </a:lnTo>
              </a:path>
            </a:pathLst>
          </a:custGeom>
          <a:gradFill>
            <a:gsLst>
              <a:gs pos="0">
                <a:srgbClr val="C8B2E9"/>
              </a:gs>
              <a:gs pos="35000">
                <a:srgbClr val="D6CAED"/>
              </a:gs>
              <a:gs pos="100000">
                <a:srgbClr val="EFE8FA"/>
              </a:gs>
            </a:gsLst>
            <a:lin ang="16200000" scaled="0"/>
          </a:gra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11"/>
          <p:cNvSpPr/>
          <p:nvPr/>
        </p:nvSpPr>
        <p:spPr>
          <a:xfrm>
            <a:off x="4572000" y="3679031"/>
            <a:ext cx="685800" cy="447674"/>
          </a:xfrm>
          <a:custGeom>
            <a:rect b="b" l="l" r="r" t="t"/>
            <a:pathLst>
              <a:path extrusionOk="0" h="21600" w="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close/>
              </a:path>
            </a:pathLst>
          </a:cu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0" st="0"/>
                                            </p:txEl>
                                          </p:spTgt>
                                        </p:tgtEl>
                                        <p:attrNameLst>
                                          <p:attrName>style.visibility</p:attrName>
                                        </p:attrNameLst>
                                      </p:cBhvr>
                                      <p:to>
                                        <p:strVal val="visible"/>
                                      </p:to>
                                    </p:set>
                                    <p:animEffect filter="fade" transition="in">
                                      <p:cBhvr>
                                        <p:cTn dur="500"/>
                                        <p:tgtEl>
                                          <p:spTgt spid="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1" st="1"/>
                                            </p:txEl>
                                          </p:spTgt>
                                        </p:tgtEl>
                                        <p:attrNameLst>
                                          <p:attrName>style.visibility</p:attrName>
                                        </p:attrNameLst>
                                      </p:cBhvr>
                                      <p:to>
                                        <p:strVal val="visible"/>
                                      </p:to>
                                    </p:set>
                                    <p:animEffect filter="fade" transition="in">
                                      <p:cBhvr>
                                        <p:cTn dur="500"/>
                                        <p:tgtEl>
                                          <p:spTgt spid="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2" st="2"/>
                                            </p:txEl>
                                          </p:spTgt>
                                        </p:tgtEl>
                                        <p:attrNameLst>
                                          <p:attrName>style.visibility</p:attrName>
                                        </p:attrNameLst>
                                      </p:cBhvr>
                                      <p:to>
                                        <p:strVal val="visible"/>
                                      </p:to>
                                    </p:set>
                                    <p:animEffect filter="fade" transition="in">
                                      <p:cBhvr>
                                        <p:cTn dur="500"/>
                                        <p:tgtEl>
                                          <p:spTgt spid="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3" st="3"/>
                                            </p:txEl>
                                          </p:spTgt>
                                        </p:tgtEl>
                                        <p:attrNameLst>
                                          <p:attrName>style.visibility</p:attrName>
                                        </p:attrNameLst>
                                      </p:cBhvr>
                                      <p:to>
                                        <p:strVal val="visible"/>
                                      </p:to>
                                    </p:set>
                                    <p:animEffect filter="fade" transition="in">
                                      <p:cBhvr>
                                        <p:cTn dur="500"/>
                                        <p:tgtEl>
                                          <p:spTgt spid="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500"/>
                                        <p:tgtEl>
                                          <p:spTgt spid="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500"/>
                                        <p:tgtEl>
                                          <p:spTgt spid="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
                                        </p:tgtEl>
                                        <p:attrNameLst>
                                          <p:attrName>style.visibility</p:attrName>
                                        </p:attrNameLst>
                                      </p:cBhvr>
                                      <p:to>
                                        <p:strVal val="visible"/>
                                      </p:to>
                                    </p:set>
                                    <p:animEffect filter="fade" transition="in">
                                      <p:cBhvr>
                                        <p:cTn dur="500"/>
                                        <p:tgtEl>
                                          <p:spTgt spid="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2"/>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Creating Package</a:t>
            </a:r>
            <a:endParaRPr b="1" sz="4000" u="sng">
              <a:latin typeface="Times New Roman"/>
              <a:ea typeface="Times New Roman"/>
              <a:cs typeface="Times New Roman"/>
              <a:sym typeface="Times New Roman"/>
            </a:endParaRPr>
          </a:p>
        </p:txBody>
      </p:sp>
      <p:sp>
        <p:nvSpPr>
          <p:cNvPr id="77" name="Google Shape;77;p12"/>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Package is nothing but a Directory/Folder which MUST contain a special file called </a:t>
            </a:r>
            <a:r>
              <a:rPr i="1" lang="en-US" sz="2000">
                <a:latin typeface="Times New Roman"/>
                <a:ea typeface="Times New Roman"/>
                <a:cs typeface="Times New Roman"/>
                <a:sym typeface="Times New Roman"/>
              </a:rPr>
              <a:t>__init__.py</a:t>
            </a: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i="1" lang="en-US" sz="2000">
                <a:latin typeface="Times New Roman"/>
                <a:ea typeface="Times New Roman"/>
                <a:cs typeface="Times New Roman"/>
                <a:sym typeface="Times New Roman"/>
              </a:rPr>
              <a:t>__init__.py</a:t>
            </a:r>
            <a:r>
              <a:rPr lang="en-US" sz="2000">
                <a:latin typeface="Times New Roman"/>
                <a:ea typeface="Times New Roman"/>
                <a:cs typeface="Times New Roman"/>
                <a:sym typeface="Times New Roman"/>
              </a:rPr>
              <a:t> file can be empty, it indicates that the directory it contains is a Python package, so it can be imported the same way a module can be imported.</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xEl>
                                              <p:pRg end="0" st="0"/>
                                            </p:txEl>
                                          </p:spTgt>
                                        </p:tgtEl>
                                        <p:attrNameLst>
                                          <p:attrName>style.visibility</p:attrName>
                                        </p:attrNameLst>
                                      </p:cBhvr>
                                      <p:to>
                                        <p:strVal val="visible"/>
                                      </p:to>
                                    </p:set>
                                    <p:animEffect filter="fade" transition="in">
                                      <p:cBhvr>
                                        <p:cTn dur="500"/>
                                        <p:tgtEl>
                                          <p:spTgt spid="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xEl>
                                              <p:pRg end="1" st="1"/>
                                            </p:txEl>
                                          </p:spTgt>
                                        </p:tgtEl>
                                        <p:attrNameLst>
                                          <p:attrName>style.visibility</p:attrName>
                                        </p:attrNameLst>
                                      </p:cBhvr>
                                      <p:to>
                                        <p:strVal val="visible"/>
                                      </p:to>
                                    </p:set>
                                    <p:animEffect filter="fade" transition="in">
                                      <p:cBhvr>
                                        <p:cTn dur="500"/>
                                        <p:tgtEl>
                                          <p:spTgt spid="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xEl>
                                              <p:pRg end="2" st="2"/>
                                            </p:txEl>
                                          </p:spTgt>
                                        </p:tgtEl>
                                        <p:attrNameLst>
                                          <p:attrName>style.visibility</p:attrName>
                                        </p:attrNameLst>
                                      </p:cBhvr>
                                      <p:to>
                                        <p:strVal val="visible"/>
                                      </p:to>
                                    </p:set>
                                    <p:animEffect filter="fade" transition="in">
                                      <p:cBhvr>
                                        <p:cTn dur="500"/>
                                        <p:tgtEl>
                                          <p:spTgt spid="7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3"/>
          <p:cNvSpPr/>
          <p:nvPr/>
        </p:nvSpPr>
        <p:spPr>
          <a:xfrm>
            <a:off x="990600" y="361950"/>
            <a:ext cx="6781800" cy="4419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88900" lvl="1" marL="114300" marR="0" rtl="0" algn="l">
              <a:lnSpc>
                <a:spcPct val="75000"/>
              </a:lnSpc>
              <a:spcBef>
                <a:spcPts val="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SMS</a:t>
            </a:r>
            <a:endParaRPr b="0" i="0" sz="800" u="none" cap="none" strike="noStrike">
              <a:solidFill>
                <a:schemeClr val="dk1"/>
              </a:solidFill>
              <a:latin typeface="Times New Roman"/>
              <a:ea typeface="Times New Roman"/>
              <a:cs typeface="Times New Roman"/>
              <a:sym typeface="Times New Roman"/>
            </a:endParaRPr>
          </a:p>
          <a:p>
            <a:pPr indent="-88900" lvl="2" marL="2286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Admin</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dashboard.py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service.py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product.py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logout.py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Calibri"/>
              <a:buChar char="•"/>
            </a:pPr>
            <a:r>
              <a:rPr b="0" i="0" lang="en-US" sz="800" u="none" cap="none" strike="noStrike">
                <a:solidFill>
                  <a:schemeClr val="dk1"/>
                </a:solidFill>
                <a:latin typeface="Calibri"/>
                <a:ea typeface="Calibri"/>
                <a:cs typeface="Calibri"/>
                <a:sym typeface="Calibri"/>
              </a:rPr>
              <a:t>__init__.py</a:t>
            </a:r>
            <a:endParaRPr b="0" i="0" sz="800" u="none" cap="none" strike="noStrike">
              <a:solidFill>
                <a:schemeClr val="dk1"/>
              </a:solidFill>
              <a:latin typeface="Calibri"/>
              <a:ea typeface="Calibri"/>
              <a:cs typeface="Calibri"/>
              <a:sym typeface="Calibri"/>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Calibri"/>
              <a:ea typeface="Calibri"/>
              <a:cs typeface="Calibri"/>
              <a:sym typeface="Calibri"/>
            </a:endParaRPr>
          </a:p>
          <a:p>
            <a:pPr indent="-38100" lvl="2" marL="2286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2" marL="2286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User</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profile.py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request.py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logout.py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__init__.py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Calibri"/>
              <a:ea typeface="Calibri"/>
              <a:cs typeface="Calibri"/>
              <a:sym typeface="Calibri"/>
            </a:endParaRPr>
          </a:p>
          <a:p>
            <a:pPr indent="-38100" lvl="2" marL="2286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2" marL="2286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Tech</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profile.py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work.py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logout.py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3" marL="342900" marR="0" rtl="0" algn="l">
              <a:lnSpc>
                <a:spcPct val="75000"/>
              </a:lnSpc>
              <a:spcBef>
                <a:spcPts val="120"/>
              </a:spcBef>
              <a:spcAft>
                <a:spcPts val="0"/>
              </a:spcAft>
              <a:buClr>
                <a:schemeClr val="dk1"/>
              </a:buClr>
              <a:buSzPts val="800"/>
              <a:buFont typeface="Times New Roman"/>
              <a:buChar char="•"/>
            </a:pPr>
            <a:r>
              <a:rPr b="0" i="0" lang="en-US" sz="800" u="none" cap="none" strike="noStrike">
                <a:solidFill>
                  <a:schemeClr val="dk1"/>
                </a:solidFill>
                <a:latin typeface="Times New Roman"/>
                <a:ea typeface="Times New Roman"/>
                <a:cs typeface="Times New Roman"/>
                <a:sym typeface="Times New Roman"/>
              </a:rPr>
              <a:t>__init__.py</a:t>
            </a:r>
            <a:endParaRPr b="0" i="0" sz="800" u="none" cap="none" strike="noStrike">
              <a:solidFill>
                <a:schemeClr val="dk1"/>
              </a:solidFill>
              <a:latin typeface="Times New Roman"/>
              <a:ea typeface="Times New Roman"/>
              <a:cs typeface="Times New Roman"/>
              <a:sym typeface="Times New Roman"/>
            </a:endParaRPr>
          </a:p>
          <a:p>
            <a:pPr indent="-38100" lvl="3" marL="3429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Calibri"/>
              <a:ea typeface="Calibri"/>
              <a:cs typeface="Calibri"/>
              <a:sym typeface="Calibri"/>
            </a:endParaRPr>
          </a:p>
          <a:p>
            <a:pPr indent="-38100" lvl="2" marL="228600" marR="0" rtl="0" algn="l">
              <a:lnSpc>
                <a:spcPct val="75000"/>
              </a:lnSpc>
              <a:spcBef>
                <a:spcPts val="120"/>
              </a:spcBef>
              <a:spcAft>
                <a:spcPts val="0"/>
              </a:spcAft>
              <a:buClr>
                <a:schemeClr val="dk1"/>
              </a:buClr>
              <a:buSzPts val="1200"/>
              <a:buFont typeface="Calibri"/>
              <a:buNone/>
            </a:pPr>
            <a:r>
              <a:t/>
            </a:r>
            <a:endParaRPr b="0" i="0" sz="800" u="none" cap="none" strike="noStrike">
              <a:solidFill>
                <a:schemeClr val="dk1"/>
              </a:solidFill>
              <a:latin typeface="Times New Roman"/>
              <a:ea typeface="Times New Roman"/>
              <a:cs typeface="Times New Roman"/>
              <a:sym typeface="Times New Roman"/>
            </a:endParaRPr>
          </a:p>
          <a:p>
            <a:pPr indent="-88900" lvl="2" marL="228600" marR="0" rtl="0" algn="l">
              <a:lnSpc>
                <a:spcPct val="75000"/>
              </a:lnSpc>
              <a:spcBef>
                <a:spcPts val="120"/>
              </a:spcBef>
              <a:spcAft>
                <a:spcPts val="0"/>
              </a:spcAft>
              <a:buClr>
                <a:schemeClr val="dk1"/>
              </a:buClr>
              <a:buSzPts val="700"/>
              <a:buFont typeface="Times New Roman"/>
              <a:buChar char="•"/>
            </a:pPr>
            <a:r>
              <a:rPr b="0" i="0" lang="en-US" sz="700" u="none" cap="none" strike="noStrike">
                <a:solidFill>
                  <a:schemeClr val="dk1"/>
                </a:solidFill>
                <a:latin typeface="Times New Roman"/>
                <a:ea typeface="Times New Roman"/>
                <a:cs typeface="Times New Roman"/>
                <a:sym typeface="Times New Roman"/>
              </a:rPr>
              <a:t>geekyshows.py</a:t>
            </a:r>
            <a:endParaRPr b="0" i="0" sz="700" u="none" cap="none" strike="noStrike">
              <a:solidFill>
                <a:schemeClr val="dk1"/>
              </a:solidFill>
              <a:latin typeface="Times New Roman"/>
              <a:ea typeface="Times New Roman"/>
              <a:cs typeface="Times New Roman"/>
              <a:sym typeface="Times New Roman"/>
            </a:endParaRPr>
          </a:p>
          <a:p>
            <a:pPr indent="-38100" lvl="2" marL="228600" marR="0" rtl="0" algn="l">
              <a:lnSpc>
                <a:spcPct val="75000"/>
              </a:lnSpc>
              <a:spcBef>
                <a:spcPts val="110"/>
              </a:spcBef>
              <a:spcAft>
                <a:spcPts val="0"/>
              </a:spcAft>
              <a:buClr>
                <a:schemeClr val="dk1"/>
              </a:buClr>
              <a:buSzPts val="1200"/>
              <a:buFont typeface="Calibri"/>
              <a:buNone/>
            </a:pPr>
            <a:r>
              <a:t/>
            </a:r>
            <a:endParaRPr b="0" i="0" sz="800" u="none" cap="none" strike="noStrike">
              <a:solidFill>
                <a:schemeClr val="dk1"/>
              </a:solidFill>
              <a:latin typeface="Calibri"/>
              <a:ea typeface="Calibri"/>
              <a:cs typeface="Calibri"/>
              <a:sym typeface="Calibri"/>
            </a:endParaRPr>
          </a:p>
          <a:p>
            <a:pPr indent="-88900" lvl="2" marL="228600" marR="0" rtl="0" algn="l">
              <a:lnSpc>
                <a:spcPct val="75000"/>
              </a:lnSpc>
              <a:spcBef>
                <a:spcPts val="120"/>
              </a:spcBef>
              <a:spcAft>
                <a:spcPts val="0"/>
              </a:spcAft>
              <a:buClr>
                <a:schemeClr val="dk1"/>
              </a:buClr>
              <a:buSzPts val="1400"/>
              <a:buFont typeface="Times New Roman"/>
              <a:buChar char="•"/>
            </a:pPr>
            <a:r>
              <a:rPr b="0" i="0" lang="en-US" u="none" cap="none" strike="noStrike">
                <a:solidFill>
                  <a:schemeClr val="dk1"/>
                </a:solidFill>
                <a:latin typeface="Times New Roman"/>
                <a:ea typeface="Times New Roman"/>
                <a:cs typeface="Times New Roman"/>
                <a:sym typeface="Times New Roman"/>
              </a:rPr>
              <a:t>__init__.py</a:t>
            </a:r>
            <a:endParaRPr b="0" i="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80"/>
              </a:spcBef>
              <a:spcAft>
                <a:spcPts val="0"/>
              </a:spcAft>
              <a:buClr>
                <a:schemeClr val="dk1"/>
              </a:buClr>
              <a:buSzPts val="1800"/>
              <a:buFont typeface="Calibri"/>
              <a:buNone/>
            </a:pPr>
            <a:r>
              <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idx="1" type="body"/>
          </p:nvPr>
        </p:nvSpPr>
        <p:spPr>
          <a:xfrm>
            <a:off x="457200" y="895350"/>
            <a:ext cx="8229600" cy="3962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Syntax:- from packageName</a:t>
            </a:r>
            <a:r>
              <a:rPr b="1" lang="en-US" sz="2000">
                <a:latin typeface="Times New Roman"/>
                <a:ea typeface="Times New Roman"/>
                <a:cs typeface="Times New Roman"/>
                <a:sym typeface="Times New Roman"/>
              </a:rPr>
              <a:t>.</a:t>
            </a:r>
            <a:r>
              <a:rPr lang="en-US" sz="2000">
                <a:latin typeface="Times New Roman"/>
                <a:ea typeface="Times New Roman"/>
                <a:cs typeface="Times New Roman"/>
                <a:sym typeface="Times New Roman"/>
              </a:rPr>
              <a:t>moduleName</a:t>
            </a:r>
            <a:r>
              <a:rPr b="1" lang="en-US" sz="2000">
                <a:latin typeface="Times New Roman"/>
                <a:ea typeface="Times New Roman"/>
                <a:cs typeface="Times New Roman"/>
                <a:sym typeface="Times New Roman"/>
              </a:rPr>
              <a:t> </a:t>
            </a:r>
            <a:r>
              <a:rPr lang="en-US" sz="2000">
                <a:latin typeface="Times New Roman"/>
                <a:ea typeface="Times New Roman"/>
                <a:cs typeface="Times New Roman"/>
                <a:sym typeface="Times New Roman"/>
              </a:rPr>
              <a:t>import fun_name</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Syntax:- from packageName</a:t>
            </a:r>
            <a:r>
              <a:rPr b="1" lang="en-US" sz="2000">
                <a:latin typeface="Times New Roman"/>
                <a:ea typeface="Times New Roman"/>
                <a:cs typeface="Times New Roman"/>
                <a:sym typeface="Times New Roman"/>
              </a:rPr>
              <a:t>.</a:t>
            </a:r>
            <a:r>
              <a:rPr lang="en-US" sz="2000">
                <a:latin typeface="Times New Roman"/>
                <a:ea typeface="Times New Roman"/>
                <a:cs typeface="Times New Roman"/>
                <a:sym typeface="Times New Roman"/>
              </a:rPr>
              <a:t>subPackageName</a:t>
            </a:r>
            <a:r>
              <a:rPr b="1" lang="en-US" sz="2000">
                <a:latin typeface="Times New Roman"/>
                <a:ea typeface="Times New Roman"/>
                <a:cs typeface="Times New Roman"/>
                <a:sym typeface="Times New Roman"/>
              </a:rPr>
              <a:t>.</a:t>
            </a:r>
            <a:r>
              <a:rPr lang="en-US" sz="2000">
                <a:latin typeface="Times New Roman"/>
                <a:ea typeface="Times New Roman"/>
                <a:cs typeface="Times New Roman"/>
                <a:sym typeface="Times New Roman"/>
              </a:rPr>
              <a:t>moduleName</a:t>
            </a:r>
            <a:r>
              <a:rPr b="1" lang="en-US" sz="2000">
                <a:latin typeface="Times New Roman"/>
                <a:ea typeface="Times New Roman"/>
                <a:cs typeface="Times New Roman"/>
                <a:sym typeface="Times New Roman"/>
              </a:rPr>
              <a:t> </a:t>
            </a:r>
            <a:r>
              <a:rPr lang="en-US" sz="2000">
                <a:latin typeface="Times New Roman"/>
                <a:ea typeface="Times New Roman"/>
                <a:cs typeface="Times New Roman"/>
                <a:sym typeface="Times New Roman"/>
              </a:rPr>
              <a:t>import fun_name</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Ex:- from Admin.service import admin_service</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Ex:- from Admin.Common.footer import admin_common_footer</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b="1" lang="en-US" sz="2000" u="sng">
                <a:latin typeface="Times New Roman"/>
                <a:ea typeface="Times New Roman"/>
                <a:cs typeface="Times New Roman"/>
                <a:sym typeface="Times New Roman"/>
              </a:rPr>
              <a:t>How to Access Variable, Function, Method, Class etc.</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Syntax:- functionName()</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Ex:-</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admin_service(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admin_common_footer( )</a:t>
            </a:r>
            <a:endParaRPr sz="2000">
              <a:latin typeface="Times New Roman"/>
              <a:ea typeface="Times New Roman"/>
              <a:cs typeface="Times New Roman"/>
              <a:sym typeface="Times New Roman"/>
            </a:endParaRPr>
          </a:p>
        </p:txBody>
      </p:sp>
      <p:sp>
        <p:nvSpPr>
          <p:cNvPr id="88" name="Google Shape;88;p17"/>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How to use Package</a:t>
            </a:r>
            <a:endParaRPr b="1" sz="4000" u="sng">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animEffect filter="fade" transition="in">
                                      <p:cBhvr>
                                        <p:cTn dur="500"/>
                                        <p:tgtEl>
                                          <p:spTgt spid="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1" st="1"/>
                                            </p:txEl>
                                          </p:spTgt>
                                        </p:tgtEl>
                                        <p:attrNameLst>
                                          <p:attrName>style.visibility</p:attrName>
                                        </p:attrNameLst>
                                      </p:cBhvr>
                                      <p:to>
                                        <p:strVal val="visible"/>
                                      </p:to>
                                    </p:set>
                                    <p:animEffect filter="fade" transition="in">
                                      <p:cBhvr>
                                        <p:cTn dur="500"/>
                                        <p:tgtEl>
                                          <p:spTgt spid="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2" st="2"/>
                                            </p:txEl>
                                          </p:spTgt>
                                        </p:tgtEl>
                                        <p:attrNameLst>
                                          <p:attrName>style.visibility</p:attrName>
                                        </p:attrNameLst>
                                      </p:cBhvr>
                                      <p:to>
                                        <p:strVal val="visible"/>
                                      </p:to>
                                    </p:set>
                                    <p:animEffect filter="fade" transition="in">
                                      <p:cBhvr>
                                        <p:cTn dur="500"/>
                                        <p:tgtEl>
                                          <p:spTgt spid="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3" st="3"/>
                                            </p:txEl>
                                          </p:spTgt>
                                        </p:tgtEl>
                                        <p:attrNameLst>
                                          <p:attrName>style.visibility</p:attrName>
                                        </p:attrNameLst>
                                      </p:cBhvr>
                                      <p:to>
                                        <p:strVal val="visible"/>
                                      </p:to>
                                    </p:set>
                                    <p:animEffect filter="fade" transition="in">
                                      <p:cBhvr>
                                        <p:cTn dur="500"/>
                                        <p:tgtEl>
                                          <p:spTgt spid="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4" st="4"/>
                                            </p:txEl>
                                          </p:spTgt>
                                        </p:tgtEl>
                                        <p:attrNameLst>
                                          <p:attrName>style.visibility</p:attrName>
                                        </p:attrNameLst>
                                      </p:cBhvr>
                                      <p:to>
                                        <p:strVal val="visible"/>
                                      </p:to>
                                    </p:set>
                                    <p:animEffect filter="fade" transition="in">
                                      <p:cBhvr>
                                        <p:cTn dur="500"/>
                                        <p:tgtEl>
                                          <p:spTgt spid="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5" st="5"/>
                                            </p:txEl>
                                          </p:spTgt>
                                        </p:tgtEl>
                                        <p:attrNameLst>
                                          <p:attrName>style.visibility</p:attrName>
                                        </p:attrNameLst>
                                      </p:cBhvr>
                                      <p:to>
                                        <p:strVal val="visible"/>
                                      </p:to>
                                    </p:set>
                                    <p:animEffect filter="fade" transition="in">
                                      <p:cBhvr>
                                        <p:cTn dur="500"/>
                                        <p:tgtEl>
                                          <p:spTgt spid="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6" st="6"/>
                                            </p:txEl>
                                          </p:spTgt>
                                        </p:tgtEl>
                                        <p:attrNameLst>
                                          <p:attrName>style.visibility</p:attrName>
                                        </p:attrNameLst>
                                      </p:cBhvr>
                                      <p:to>
                                        <p:strVal val="visible"/>
                                      </p:to>
                                    </p:set>
                                    <p:animEffect filter="fade" transition="in">
                                      <p:cBhvr>
                                        <p:cTn dur="500"/>
                                        <p:tgtEl>
                                          <p:spTgt spid="8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7" st="7"/>
                                            </p:txEl>
                                          </p:spTgt>
                                        </p:tgtEl>
                                        <p:attrNameLst>
                                          <p:attrName>style.visibility</p:attrName>
                                        </p:attrNameLst>
                                      </p:cBhvr>
                                      <p:to>
                                        <p:strVal val="visible"/>
                                      </p:to>
                                    </p:set>
                                    <p:animEffect filter="fade" transition="in">
                                      <p:cBhvr>
                                        <p:cTn dur="500"/>
                                        <p:tgtEl>
                                          <p:spTgt spid="8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8" st="8"/>
                                            </p:txEl>
                                          </p:spTgt>
                                        </p:tgtEl>
                                        <p:attrNameLst>
                                          <p:attrName>style.visibility</p:attrName>
                                        </p:attrNameLst>
                                      </p:cBhvr>
                                      <p:to>
                                        <p:strVal val="visible"/>
                                      </p:to>
                                    </p:set>
                                    <p:animEffect filter="fade" transition="in">
                                      <p:cBhvr>
                                        <p:cTn dur="500"/>
                                        <p:tgtEl>
                                          <p:spTgt spid="8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9" st="9"/>
                                            </p:txEl>
                                          </p:spTgt>
                                        </p:tgtEl>
                                        <p:attrNameLst>
                                          <p:attrName>style.visibility</p:attrName>
                                        </p:attrNameLst>
                                      </p:cBhvr>
                                      <p:to>
                                        <p:strVal val="visible"/>
                                      </p:to>
                                    </p:set>
                                    <p:animEffect filter="fade" transition="in">
                                      <p:cBhvr>
                                        <p:cTn dur="500"/>
                                        <p:tgtEl>
                                          <p:spTgt spid="8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a:latin typeface="Times New Roman"/>
                <a:ea typeface="Times New Roman"/>
                <a:cs typeface="Times New Roman"/>
                <a:sym typeface="Times New Roman"/>
              </a:rPr>
              <a:t>__all__</a:t>
            </a:r>
            <a:endParaRPr/>
          </a:p>
        </p:txBody>
      </p:sp>
      <p:sp>
        <p:nvSpPr>
          <p:cNvPr id="94" name="Google Shape;94;p19"/>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if a package’s __init__.py code defines a list named __all__, it is taken to be the list of module names that should be imported when from package import * is encountered.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__all__ = [‘dashboard’, ‘service’, ‘product’]</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animEffect filter="fade" transition="in">
                                      <p:cBhvr>
                                        <p:cTn dur="500"/>
                                        <p:tgtEl>
                                          <p:spTgt spid="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animEffect filter="fade" transition="in">
                                      <p:cBhvr>
                                        <p:cTn dur="500"/>
                                        <p:tgtEl>
                                          <p:spTgt spid="9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7785fd1329_0_0"/>
          <p:cNvSpPr txBox="1"/>
          <p:nvPr>
            <p:ph type="title"/>
          </p:nvPr>
        </p:nvSpPr>
        <p:spPr>
          <a:xfrm>
            <a:off x="457200" y="205979"/>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Package</a:t>
            </a:r>
            <a:r>
              <a:rPr lang="en-US"/>
              <a:t> Ex</a:t>
            </a:r>
            <a:endParaRPr/>
          </a:p>
        </p:txBody>
      </p:sp>
      <p:sp>
        <p:nvSpPr>
          <p:cNvPr id="100" name="Google Shape;100;g37785fd1329_0_0"/>
          <p:cNvSpPr txBox="1"/>
          <p:nvPr>
            <p:ph idx="1" type="body"/>
          </p:nvPr>
        </p:nvSpPr>
        <p:spPr>
          <a:xfrm>
            <a:off x="457200" y="1200151"/>
            <a:ext cx="8229600" cy="3394500"/>
          </a:xfrm>
          <a:prstGeom prst="rect">
            <a:avLst/>
          </a:prstGeom>
        </p:spPr>
        <p:txBody>
          <a:bodyPr anchorCtr="0" anchor="t" bIns="45700" lIns="91425" spcFirstLastPara="1" rIns="91425" wrap="square" tIns="45700">
            <a:normAutofit fontScale="62500" lnSpcReduction="20000"/>
          </a:bodyPr>
          <a:lstStyle/>
          <a:p>
            <a:pPr indent="0" lvl="0" marL="0" rtl="0" algn="l">
              <a:spcBef>
                <a:spcPts val="360"/>
              </a:spcBef>
              <a:spcAft>
                <a:spcPts val="0"/>
              </a:spcAft>
              <a:buNone/>
            </a:pPr>
            <a:r>
              <a:rPr b="1" lang="en-US" u="sng"/>
              <a:t>Folder structure:</a:t>
            </a:r>
            <a:endParaRPr b="1" u="sng"/>
          </a:p>
          <a:p>
            <a:pPr indent="0" lvl="0" marL="0" rtl="0" algn="l">
              <a:spcBef>
                <a:spcPts val="360"/>
              </a:spcBef>
              <a:spcAft>
                <a:spcPts val="0"/>
              </a:spcAft>
              <a:buNone/>
            </a:pPr>
            <a:r>
              <a:rPr lang="en-US"/>
              <a:t>-</a:t>
            </a:r>
            <a:r>
              <a:rPr b="1" lang="en-US"/>
              <a:t>pipeline</a:t>
            </a:r>
            <a:endParaRPr b="1"/>
          </a:p>
          <a:p>
            <a:pPr indent="-300038" lvl="0" marL="914400" rtl="0" algn="l">
              <a:spcBef>
                <a:spcPts val="360"/>
              </a:spcBef>
              <a:spcAft>
                <a:spcPts val="0"/>
              </a:spcAft>
              <a:buSzPct val="56250"/>
              <a:buChar char="➔"/>
            </a:pPr>
            <a:r>
              <a:rPr lang="en-US"/>
              <a:t>transformer</a:t>
            </a:r>
            <a:endParaRPr/>
          </a:p>
          <a:p>
            <a:pPr indent="-300038" lvl="1" marL="1371600" rtl="0" algn="l">
              <a:spcBef>
                <a:spcPts val="0"/>
              </a:spcBef>
              <a:spcAft>
                <a:spcPts val="0"/>
              </a:spcAft>
              <a:buSzPct val="64286"/>
              <a:buChar char="◆"/>
            </a:pPr>
            <a:r>
              <a:rPr lang="en-US"/>
              <a:t>noki</a:t>
            </a:r>
            <a:r>
              <a:rPr lang="en-US"/>
              <a:t>a</a:t>
            </a:r>
            <a:endParaRPr/>
          </a:p>
          <a:p>
            <a:pPr indent="-300038" lvl="0" marL="914400" rtl="0" algn="l">
              <a:spcBef>
                <a:spcPts val="0"/>
              </a:spcBef>
              <a:spcAft>
                <a:spcPts val="0"/>
              </a:spcAft>
              <a:buSzPct val="56250"/>
              <a:buChar char="➔"/>
            </a:pPr>
            <a:r>
              <a:rPr lang="en-US"/>
              <a:t>   __init__.py</a:t>
            </a:r>
            <a:endParaRPr/>
          </a:p>
          <a:p>
            <a:pPr indent="-300038" lvl="0" marL="914400" rtl="0" algn="l">
              <a:spcBef>
                <a:spcPts val="0"/>
              </a:spcBef>
              <a:spcAft>
                <a:spcPts val="0"/>
              </a:spcAft>
              <a:buSzPct val="56250"/>
              <a:buChar char="➔"/>
            </a:pPr>
            <a:r>
              <a:rPr lang="en-US"/>
              <a:t>xml_reader.py</a:t>
            </a:r>
            <a:endParaRPr/>
          </a:p>
          <a:p>
            <a:pPr indent="-300038" lvl="0" marL="914400" rtl="0" algn="l">
              <a:spcBef>
                <a:spcPts val="0"/>
              </a:spcBef>
              <a:spcAft>
                <a:spcPts val="0"/>
              </a:spcAft>
              <a:buSzPct val="56250"/>
              <a:buChar char="➔"/>
            </a:pPr>
            <a:r>
              <a:rPr lang="en-US"/>
              <a:t>xml_transformer.py</a:t>
            </a:r>
            <a:endParaRPr/>
          </a:p>
          <a:p>
            <a:pPr indent="-300038" lvl="1" marL="1371600" rtl="0" algn="l">
              <a:spcBef>
                <a:spcPts val="0"/>
              </a:spcBef>
              <a:spcAft>
                <a:spcPts val="0"/>
              </a:spcAft>
              <a:buSzPct val="64286"/>
              <a:buChar char="◆"/>
            </a:pPr>
            <a:r>
              <a:rPr lang="en-US"/>
              <a:t>samsung</a:t>
            </a:r>
            <a:endParaRPr/>
          </a:p>
          <a:p>
            <a:pPr indent="-300038" lvl="1" marL="1371600" rtl="0" algn="l">
              <a:spcBef>
                <a:spcPts val="0"/>
              </a:spcBef>
              <a:spcAft>
                <a:spcPts val="0"/>
              </a:spcAft>
              <a:buSzPct val="64286"/>
              <a:buChar char="◆"/>
            </a:pPr>
            <a:r>
              <a:rPr lang="en-US"/>
              <a:t>huawei</a:t>
            </a:r>
            <a:endParaRPr/>
          </a:p>
          <a:p>
            <a:pPr indent="-300038" lvl="1" marL="1371600" rtl="0" algn="l">
              <a:spcBef>
                <a:spcPts val="0"/>
              </a:spcBef>
              <a:spcAft>
                <a:spcPts val="0"/>
              </a:spcAft>
              <a:buSzPct val="64286"/>
              <a:buChar char="◆"/>
            </a:pPr>
            <a:r>
              <a:rPr lang="en-US"/>
              <a:t>process_reader.py</a:t>
            </a:r>
            <a:endParaRPr/>
          </a:p>
          <a:p>
            <a:pPr indent="-300038" lvl="1" marL="1371600" rtl="0" algn="l">
              <a:spcBef>
                <a:spcPts val="0"/>
              </a:spcBef>
              <a:spcAft>
                <a:spcPts val="0"/>
              </a:spcAft>
              <a:buSzPct val="64286"/>
              <a:buChar char="◆"/>
            </a:pPr>
            <a:r>
              <a:rPr lang="en-US"/>
              <a:t>transformer_factory.py</a:t>
            </a:r>
            <a:endParaRPr/>
          </a:p>
          <a:p>
            <a:pPr indent="-300038" lvl="0" marL="914400" rtl="0" algn="l">
              <a:spcBef>
                <a:spcPts val="0"/>
              </a:spcBef>
              <a:spcAft>
                <a:spcPts val="0"/>
              </a:spcAft>
              <a:buSzPct val="56250"/>
              <a:buChar char="➔"/>
            </a:pPr>
            <a:r>
              <a:rPr lang="en-US"/>
              <a:t>sources</a:t>
            </a:r>
            <a:endParaRPr/>
          </a:p>
          <a:p>
            <a:pPr indent="-300038" lvl="0" marL="914400" rtl="0" algn="l">
              <a:spcBef>
                <a:spcPts val="0"/>
              </a:spcBef>
              <a:spcAft>
                <a:spcPts val="0"/>
              </a:spcAft>
              <a:buSzPct val="56250"/>
              <a:buChar char="➔"/>
            </a:pPr>
            <a:r>
              <a:rPr lang="en-US"/>
              <a:t>utils</a:t>
            </a:r>
            <a:endParaRPr/>
          </a:p>
        </p:txBody>
      </p:sp>
      <p:sp>
        <p:nvSpPr>
          <p:cNvPr id="101" name="Google Shape;101;g37785fd1329_0_0"/>
          <p:cNvSpPr txBox="1"/>
          <p:nvPr/>
        </p:nvSpPr>
        <p:spPr>
          <a:xfrm>
            <a:off x="4254000" y="1842100"/>
            <a:ext cx="4912800" cy="2416500"/>
          </a:xfrm>
          <a:prstGeom prst="rect">
            <a:avLst/>
          </a:prstGeom>
          <a:noFill/>
          <a:ln>
            <a:noFill/>
          </a:ln>
        </p:spPr>
        <p:txBody>
          <a:bodyPr anchorCtr="0" anchor="t" bIns="91425" lIns="91425" spcFirstLastPara="1" rIns="91425" wrap="square" tIns="91425">
            <a:spAutoFit/>
          </a:bodyPr>
          <a:lstStyle/>
          <a:p>
            <a:pPr indent="0" lvl="0" marL="0" rtl="0" algn="l">
              <a:spcBef>
                <a:spcPts val="360"/>
              </a:spcBef>
              <a:spcAft>
                <a:spcPts val="0"/>
              </a:spcAft>
              <a:buNone/>
            </a:pPr>
            <a:r>
              <a:rPr b="1" lang="en-US" sz="1800">
                <a:solidFill>
                  <a:schemeClr val="dk1"/>
                </a:solidFill>
                <a:latin typeface="Calibri"/>
                <a:ea typeface="Calibri"/>
                <a:cs typeface="Calibri"/>
                <a:sym typeface="Calibri"/>
              </a:rPr>
              <a:t> __init__.py</a:t>
            </a:r>
            <a:endParaRPr b="1" sz="100">
              <a:solidFill>
                <a:schemeClr val="dk1"/>
              </a:solidFill>
              <a:latin typeface="Calibri"/>
              <a:ea typeface="Calibri"/>
              <a:cs typeface="Calibri"/>
              <a:sym typeface="Calibri"/>
            </a:endParaRPr>
          </a:p>
          <a:p>
            <a:pPr indent="0" lvl="0" marL="0" rtl="0" algn="l">
              <a:spcBef>
                <a:spcPts val="0"/>
              </a:spcBef>
              <a:spcAft>
                <a:spcPts val="0"/>
              </a:spcAft>
              <a:buNone/>
            </a:pPr>
            <a:r>
              <a:rPr lang="en-US" sz="1300">
                <a:solidFill>
                  <a:schemeClr val="dk1"/>
                </a:solidFill>
                <a:latin typeface="Calibri"/>
                <a:ea typeface="Calibri"/>
                <a:cs typeface="Calibri"/>
                <a:sym typeface="Calibri"/>
              </a:rPr>
              <a:t>from transform.nokia.xml_transformer import table</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US" sz="1300">
                <a:solidFill>
                  <a:schemeClr val="dk1"/>
                </a:solidFill>
                <a:latin typeface="Calibri"/>
                <a:ea typeface="Calibri"/>
                <a:cs typeface="Calibri"/>
                <a:sym typeface="Calibri"/>
              </a:rPr>
              <a:t>__all__ = [table]</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rtl="0" algn="l">
              <a:spcBef>
                <a:spcPts val="0"/>
              </a:spcBef>
              <a:spcAft>
                <a:spcPts val="0"/>
              </a:spcAft>
              <a:buNone/>
            </a:pPr>
            <a:r>
              <a:rPr b="1" lang="en-US" sz="1800">
                <a:solidFill>
                  <a:schemeClr val="dk1"/>
                </a:solidFill>
                <a:latin typeface="Calibri"/>
                <a:ea typeface="Calibri"/>
                <a:cs typeface="Calibri"/>
                <a:sym typeface="Calibri"/>
              </a:rPr>
              <a:t>transformer_factory</a:t>
            </a:r>
            <a:endParaRPr b="1" sz="1800">
              <a:solidFill>
                <a:schemeClr val="dk1"/>
              </a:solidFill>
              <a:latin typeface="Calibri"/>
              <a:ea typeface="Calibri"/>
              <a:cs typeface="Calibri"/>
              <a:sym typeface="Calibri"/>
            </a:endParaRPr>
          </a:p>
          <a:p>
            <a:pPr indent="0" lvl="0" marL="0" rtl="0" algn="l">
              <a:spcBef>
                <a:spcPts val="0"/>
              </a:spcBef>
              <a:spcAft>
                <a:spcPts val="0"/>
              </a:spcAft>
              <a:buNone/>
            </a:pPr>
            <a:r>
              <a:rPr lang="en-US" sz="1300">
                <a:solidFill>
                  <a:schemeClr val="dk1"/>
                </a:solidFill>
                <a:latin typeface="Calibri"/>
                <a:ea typeface="Calibri"/>
                <a:cs typeface="Calibri"/>
                <a:sym typeface="Calibri"/>
              </a:rPr>
              <a:t>from </a:t>
            </a:r>
            <a:r>
              <a:rPr lang="en-US" sz="1300">
                <a:solidFill>
                  <a:schemeClr val="dk1"/>
                </a:solidFill>
                <a:latin typeface="Calibri"/>
                <a:ea typeface="Calibri"/>
                <a:cs typeface="Calibri"/>
                <a:sym typeface="Calibri"/>
              </a:rPr>
              <a:t>transformer</a:t>
            </a:r>
            <a:r>
              <a:rPr lang="en-US" sz="1300">
                <a:solidFill>
                  <a:schemeClr val="dk1"/>
                </a:solidFill>
                <a:latin typeface="Calibri"/>
                <a:ea typeface="Calibri"/>
                <a:cs typeface="Calibri"/>
                <a:sym typeface="Calibri"/>
              </a:rPr>
              <a:t>.nokia import table</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b="1" lang="en-US" sz="1300" u="sng">
                <a:solidFill>
                  <a:schemeClr val="dk1"/>
                </a:solidFill>
                <a:latin typeface="Calibri"/>
                <a:ea typeface="Calibri"/>
                <a:cs typeface="Calibri"/>
                <a:sym typeface="Calibri"/>
              </a:rPr>
              <a:t>or </a:t>
            </a:r>
            <a:endParaRPr b="1" sz="1300" u="sng">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300">
                <a:solidFill>
                  <a:schemeClr val="dk1"/>
                </a:solidFill>
                <a:latin typeface="Calibri"/>
                <a:ea typeface="Calibri"/>
                <a:cs typeface="Calibri"/>
                <a:sym typeface="Calibri"/>
              </a:rPr>
              <a:t>from transformer.nokia.xml_transformer  import table</a:t>
            </a:r>
            <a:endParaRPr b="1" sz="13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Abstract Class</a:t>
            </a:r>
            <a:endParaRPr b="1" sz="3600" u="sng">
              <a:latin typeface="Times New Roman"/>
              <a:ea typeface="Times New Roman"/>
              <a:cs typeface="Times New Roman"/>
              <a:sym typeface="Times New Roman"/>
            </a:endParaRPr>
          </a:p>
        </p:txBody>
      </p:sp>
      <p:sp>
        <p:nvSpPr>
          <p:cNvPr id="107" name="Google Shape;107;p20"/>
          <p:cNvSpPr txBox="1"/>
          <p:nvPr>
            <p:ph idx="1" type="body"/>
          </p:nvPr>
        </p:nvSpPr>
        <p:spPr>
          <a:xfrm>
            <a:off x="457200" y="895350"/>
            <a:ext cx="8229600" cy="3886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A class derived from </a:t>
            </a:r>
            <a:r>
              <a:rPr b="1" i="1" lang="en-US" sz="1800">
                <a:latin typeface="Times New Roman"/>
                <a:ea typeface="Times New Roman"/>
                <a:cs typeface="Times New Roman"/>
                <a:sym typeface="Times New Roman"/>
              </a:rPr>
              <a:t>ABC</a:t>
            </a:r>
            <a:r>
              <a:rPr lang="en-US" sz="1800">
                <a:latin typeface="Times New Roman"/>
                <a:ea typeface="Times New Roman"/>
                <a:cs typeface="Times New Roman"/>
                <a:sym typeface="Times New Roman"/>
              </a:rPr>
              <a:t> class which belongs to </a:t>
            </a:r>
            <a:r>
              <a:rPr i="1" lang="en-US" sz="1800">
                <a:latin typeface="Times New Roman"/>
                <a:ea typeface="Times New Roman"/>
                <a:cs typeface="Times New Roman"/>
                <a:sym typeface="Times New Roman"/>
              </a:rPr>
              <a:t>abc</a:t>
            </a:r>
            <a:r>
              <a:rPr lang="en-US" sz="1800">
                <a:latin typeface="Times New Roman"/>
                <a:ea typeface="Times New Roman"/>
                <a:cs typeface="Times New Roman"/>
                <a:sym typeface="Times New Roman"/>
              </a:rPr>
              <a:t> module, is known as abstract class in Python. </a:t>
            </a:r>
            <a:endParaRPr/>
          </a:p>
          <a:p>
            <a:pPr indent="0" lvl="0" marL="0" rtl="0" algn="l">
              <a:spcBef>
                <a:spcPts val="360"/>
              </a:spcBef>
              <a:spcAft>
                <a:spcPts val="0"/>
              </a:spcAft>
              <a:buClr>
                <a:schemeClr val="dk1"/>
              </a:buClr>
              <a:buSzPts val="1800"/>
              <a:buNone/>
            </a:pPr>
            <a:r>
              <a:rPr i="1" lang="en-US" sz="1800">
                <a:latin typeface="Times New Roman"/>
                <a:ea typeface="Times New Roman"/>
                <a:cs typeface="Times New Roman"/>
                <a:sym typeface="Times New Roman"/>
              </a:rPr>
              <a:t>ABC</a:t>
            </a:r>
            <a:r>
              <a:rPr lang="en-US" sz="1800">
                <a:latin typeface="Times New Roman"/>
                <a:ea typeface="Times New Roman"/>
                <a:cs typeface="Times New Roman"/>
                <a:sym typeface="Times New Roman"/>
              </a:rPr>
              <a:t> Class is known as Meta Class which means a class that defines the behavior of other classes. So we can say, Meta Class ABC defines that the class which is derived from it becomes an abstract class.</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Abstract Class can have abstract method and concrete methods.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Abstract Class needs to be extended and its method implemented.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PVM can not create objects of an abstract class.</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from abc import ABC, abstractmethod</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Class Father(ABC):</a:t>
            </a:r>
            <a:endParaRPr sz="18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animEffect filter="fade" transition="in">
                                      <p:cBhvr>
                                        <p:cTn dur="500"/>
                                        <p:tgtEl>
                                          <p:spTgt spid="1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animEffect filter="fade" transition="in">
                                      <p:cBhvr>
                                        <p:cTn dur="500"/>
                                        <p:tgtEl>
                                          <p:spTgt spid="1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animEffect filter="fade" transition="in">
                                      <p:cBhvr>
                                        <p:cTn dur="500"/>
                                        <p:tgtEl>
                                          <p:spTgt spid="1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3" st="3"/>
                                            </p:txEl>
                                          </p:spTgt>
                                        </p:tgtEl>
                                        <p:attrNameLst>
                                          <p:attrName>style.visibility</p:attrName>
                                        </p:attrNameLst>
                                      </p:cBhvr>
                                      <p:to>
                                        <p:strVal val="visible"/>
                                      </p:to>
                                    </p:set>
                                    <p:animEffect filter="fade" transition="in">
                                      <p:cBhvr>
                                        <p:cTn dur="500"/>
                                        <p:tgtEl>
                                          <p:spTgt spid="1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4" st="4"/>
                                            </p:txEl>
                                          </p:spTgt>
                                        </p:tgtEl>
                                        <p:attrNameLst>
                                          <p:attrName>style.visibility</p:attrName>
                                        </p:attrNameLst>
                                      </p:cBhvr>
                                      <p:to>
                                        <p:strVal val="visible"/>
                                      </p:to>
                                    </p:set>
                                    <p:animEffect filter="fade" transition="in">
                                      <p:cBhvr>
                                        <p:cTn dur="500"/>
                                        <p:tgtEl>
                                          <p:spTgt spid="1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5" st="5"/>
                                            </p:txEl>
                                          </p:spTgt>
                                        </p:tgtEl>
                                        <p:attrNameLst>
                                          <p:attrName>style.visibility</p:attrName>
                                        </p:attrNameLst>
                                      </p:cBhvr>
                                      <p:to>
                                        <p:strVal val="visible"/>
                                      </p:to>
                                    </p:set>
                                    <p:animEffect filter="fade" transition="in">
                                      <p:cBhvr>
                                        <p:cTn dur="500"/>
                                        <p:tgtEl>
                                          <p:spTgt spid="1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6" st="6"/>
                                            </p:txEl>
                                          </p:spTgt>
                                        </p:tgtEl>
                                        <p:attrNameLst>
                                          <p:attrName>style.visibility</p:attrName>
                                        </p:attrNameLst>
                                      </p:cBhvr>
                                      <p:to>
                                        <p:strVal val="visible"/>
                                      </p:to>
                                    </p:set>
                                    <p:animEffect filter="fade" transition="in">
                                      <p:cBhvr>
                                        <p:cTn dur="500"/>
                                        <p:tgtEl>
                                          <p:spTgt spid="10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7" st="7"/>
                                            </p:txEl>
                                          </p:spTgt>
                                        </p:tgtEl>
                                        <p:attrNameLst>
                                          <p:attrName>style.visibility</p:attrName>
                                        </p:attrNameLst>
                                      </p:cBhvr>
                                      <p:to>
                                        <p:strVal val="visible"/>
                                      </p:to>
                                    </p:set>
                                    <p:animEffect filter="fade" transition="in">
                                      <p:cBhvr>
                                        <p:cTn dur="500"/>
                                        <p:tgtEl>
                                          <p:spTgt spid="10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Rules: </a:t>
            </a:r>
            <a:endParaRPr b="1" sz="4000" u="sng">
              <a:latin typeface="Times New Roman"/>
              <a:ea typeface="Times New Roman"/>
              <a:cs typeface="Times New Roman"/>
              <a:sym typeface="Times New Roman"/>
            </a:endParaRPr>
          </a:p>
        </p:txBody>
      </p:sp>
      <p:sp>
        <p:nvSpPr>
          <p:cNvPr id="113" name="Google Shape;113;p23"/>
          <p:cNvSpPr txBox="1"/>
          <p:nvPr>
            <p:ph idx="1" type="body"/>
          </p:nvPr>
        </p:nvSpPr>
        <p:spPr>
          <a:xfrm>
            <a:off x="457200" y="895350"/>
            <a:ext cx="8229600" cy="3733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latin typeface="Times New Roman"/>
                <a:ea typeface="Times New Roman"/>
                <a:cs typeface="Times New Roman"/>
                <a:sym typeface="Times New Roman"/>
              </a:rPr>
              <a:t>PVM can not create objects of an abstract class. </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It is not necessary to declare all methods abstract in a abstract class.</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Abstract Class can have abstract method and concrete methods. </a:t>
            </a:r>
            <a:endParaRPr sz="2000">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If there is any abstract method in a class, that class must be abstract.</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The abstract methods of an abstract class must be defined in its child class/subclass.</a:t>
            </a:r>
            <a:endParaRPr sz="2000">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If you are inheriting any abstract class that have abstract method, you must either provide the implementation of the method or make this class abstract.</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animEffect filter="fade" transition="in">
                                      <p:cBhvr>
                                        <p:cTn dur="500"/>
                                        <p:tgtEl>
                                          <p:spTgt spid="1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animEffect filter="fade" transition="in">
                                      <p:cBhvr>
                                        <p:cTn dur="500"/>
                                        <p:tgtEl>
                                          <p:spTgt spid="1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animEffect filter="fade" transition="in">
                                      <p:cBhvr>
                                        <p:cTn dur="500"/>
                                        <p:tgtEl>
                                          <p:spTgt spid="1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3" st="3"/>
                                            </p:txEl>
                                          </p:spTgt>
                                        </p:tgtEl>
                                        <p:attrNameLst>
                                          <p:attrName>style.visibility</p:attrName>
                                        </p:attrNameLst>
                                      </p:cBhvr>
                                      <p:to>
                                        <p:strVal val="visible"/>
                                      </p:to>
                                    </p:set>
                                    <p:animEffect filter="fade" transition="in">
                                      <p:cBhvr>
                                        <p:cTn dur="500"/>
                                        <p:tgtEl>
                                          <p:spTgt spid="1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4" st="4"/>
                                            </p:txEl>
                                          </p:spTgt>
                                        </p:tgtEl>
                                        <p:attrNameLst>
                                          <p:attrName>style.visibility</p:attrName>
                                        </p:attrNameLst>
                                      </p:cBhvr>
                                      <p:to>
                                        <p:strVal val="visible"/>
                                      </p:to>
                                    </p:set>
                                    <p:animEffect filter="fade" transition="in">
                                      <p:cBhvr>
                                        <p:cTn dur="500"/>
                                        <p:tgtEl>
                                          <p:spTgt spid="1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5" st="5"/>
                                            </p:txEl>
                                          </p:spTgt>
                                        </p:tgtEl>
                                        <p:attrNameLst>
                                          <p:attrName>style.visibility</p:attrName>
                                        </p:attrNameLst>
                                      </p:cBhvr>
                                      <p:to>
                                        <p:strVal val="visible"/>
                                      </p:to>
                                    </p:set>
                                    <p:animEffect filter="fade" transition="in">
                                      <p:cBhvr>
                                        <p:cTn dur="500"/>
                                        <p:tgtEl>
                                          <p:spTgt spid="11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6"/>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Abstract Method</a:t>
            </a:r>
            <a:endParaRPr b="1" sz="4000" u="sng">
              <a:latin typeface="Times New Roman"/>
              <a:ea typeface="Times New Roman"/>
              <a:cs typeface="Times New Roman"/>
              <a:sym typeface="Times New Roman"/>
            </a:endParaRPr>
          </a:p>
        </p:txBody>
      </p:sp>
      <p:sp>
        <p:nvSpPr>
          <p:cNvPr id="119" name="Google Shape;119;p26"/>
          <p:cNvSpPr txBox="1"/>
          <p:nvPr/>
        </p:nvSpPr>
        <p:spPr>
          <a:xfrm>
            <a:off x="0" y="895350"/>
            <a:ext cx="4916100" cy="3740400"/>
          </a:xfrm>
          <a:prstGeom prst="rect">
            <a:avLst/>
          </a:prstGeom>
          <a:noFill/>
          <a:ln>
            <a:noFill/>
          </a:ln>
        </p:spPr>
        <p:txBody>
          <a:bodyPr anchorCtr="0" anchor="t" bIns="91425" lIns="91425" spcFirstLastPara="1" rIns="91425" wrap="square" tIns="91425">
            <a:spAutoFit/>
          </a:bodyPr>
          <a:lstStyle/>
          <a:p>
            <a:pPr indent="0" lvl="0" marL="0" rtl="0" algn="l">
              <a:lnSpc>
                <a:spcPct val="75000"/>
              </a:lnSpc>
              <a:spcBef>
                <a:spcPts val="0"/>
              </a:spcBef>
              <a:spcAft>
                <a:spcPts val="0"/>
              </a:spcAft>
              <a:buNone/>
            </a:pPr>
            <a:r>
              <a:rPr lang="en-US"/>
              <a:t>from abc import ABC, abstractmethod</a:t>
            </a:r>
            <a:endParaRPr/>
          </a:p>
          <a:p>
            <a:pPr indent="0" lvl="0" marL="0" rtl="0" algn="l">
              <a:lnSpc>
                <a:spcPct val="75000"/>
              </a:lnSpc>
              <a:spcBef>
                <a:spcPts val="0"/>
              </a:spcBef>
              <a:spcAft>
                <a:spcPts val="0"/>
              </a:spcAft>
              <a:buNone/>
            </a:pPr>
            <a:r>
              <a:t/>
            </a:r>
            <a:endParaRPr/>
          </a:p>
          <a:p>
            <a:pPr indent="0" lvl="0" marL="0" rtl="0" algn="l">
              <a:lnSpc>
                <a:spcPct val="75000"/>
              </a:lnSpc>
              <a:spcBef>
                <a:spcPts val="0"/>
              </a:spcBef>
              <a:spcAft>
                <a:spcPts val="0"/>
              </a:spcAft>
              <a:buNone/>
            </a:pPr>
            <a:r>
              <a:rPr lang="en-US"/>
              <a:t>class Father(</a:t>
            </a:r>
            <a:r>
              <a:rPr lang="en-US"/>
              <a:t>ABC</a:t>
            </a:r>
            <a:r>
              <a:rPr lang="en-US"/>
              <a:t>):</a:t>
            </a:r>
            <a:endParaRPr/>
          </a:p>
          <a:p>
            <a:pPr indent="0" lvl="0" marL="0" rtl="0" algn="l">
              <a:lnSpc>
                <a:spcPct val="75000"/>
              </a:lnSpc>
              <a:spcBef>
                <a:spcPts val="0"/>
              </a:spcBef>
              <a:spcAft>
                <a:spcPts val="0"/>
              </a:spcAft>
              <a:buNone/>
            </a:pPr>
            <a:r>
              <a:rPr lang="en-US"/>
              <a:t>        </a:t>
            </a:r>
            <a:r>
              <a:rPr lang="en-US"/>
              <a:t>@abstractmethod</a:t>
            </a:r>
            <a:endParaRPr/>
          </a:p>
          <a:p>
            <a:pPr indent="0" lvl="0" marL="0" rtl="0" algn="l">
              <a:lnSpc>
                <a:spcPct val="75000"/>
              </a:lnSpc>
              <a:spcBef>
                <a:spcPts val="0"/>
              </a:spcBef>
              <a:spcAft>
                <a:spcPts val="0"/>
              </a:spcAft>
              <a:buNone/>
            </a:pPr>
            <a:r>
              <a:t/>
            </a:r>
            <a:endParaRPr/>
          </a:p>
          <a:p>
            <a:pPr indent="0" lvl="0" marL="0" rtl="0" algn="l">
              <a:lnSpc>
                <a:spcPct val="75000"/>
              </a:lnSpc>
              <a:spcBef>
                <a:spcPts val="0"/>
              </a:spcBef>
              <a:spcAft>
                <a:spcPts val="0"/>
              </a:spcAft>
              <a:buNone/>
            </a:pPr>
            <a:r>
              <a:rPr lang="en-US"/>
              <a:t>        def disp(self):</a:t>
            </a:r>
            <a:endParaRPr/>
          </a:p>
          <a:p>
            <a:pPr indent="0" lvl="0" marL="0" rtl="0" algn="l">
              <a:lnSpc>
                <a:spcPct val="75000"/>
              </a:lnSpc>
              <a:spcBef>
                <a:spcPts val="0"/>
              </a:spcBef>
              <a:spcAft>
                <a:spcPts val="0"/>
              </a:spcAft>
              <a:buNone/>
            </a:pPr>
            <a:r>
              <a:rPr lang="en-US"/>
              <a:t>                print('disp class')</a:t>
            </a:r>
            <a:endParaRPr/>
          </a:p>
          <a:p>
            <a:pPr indent="0" lvl="0" marL="0" rtl="0" algn="l">
              <a:lnSpc>
                <a:spcPct val="75000"/>
              </a:lnSpc>
              <a:spcBef>
                <a:spcPts val="0"/>
              </a:spcBef>
              <a:spcAft>
                <a:spcPts val="0"/>
              </a:spcAft>
              <a:buNone/>
            </a:pPr>
            <a:r>
              <a:t/>
            </a:r>
            <a:endParaRPr/>
          </a:p>
          <a:p>
            <a:pPr indent="0" lvl="0" marL="0" rtl="0" algn="l">
              <a:lnSpc>
                <a:spcPct val="75000"/>
              </a:lnSpc>
              <a:spcBef>
                <a:spcPts val="0"/>
              </a:spcBef>
              <a:spcAft>
                <a:spcPts val="0"/>
              </a:spcAft>
              <a:buNone/>
            </a:pPr>
            <a:r>
              <a:t/>
            </a:r>
            <a:endParaRPr/>
          </a:p>
          <a:p>
            <a:pPr indent="0" lvl="0" marL="0" rtl="0" algn="l">
              <a:lnSpc>
                <a:spcPct val="75000"/>
              </a:lnSpc>
              <a:spcBef>
                <a:spcPts val="0"/>
              </a:spcBef>
              <a:spcAft>
                <a:spcPts val="0"/>
              </a:spcAft>
              <a:buNone/>
            </a:pPr>
            <a:r>
              <a:rPr lang="en-US"/>
              <a:t>        def show(self):</a:t>
            </a:r>
            <a:endParaRPr/>
          </a:p>
          <a:p>
            <a:pPr indent="0" lvl="0" marL="0" rtl="0" algn="l">
              <a:lnSpc>
                <a:spcPct val="75000"/>
              </a:lnSpc>
              <a:spcBef>
                <a:spcPts val="0"/>
              </a:spcBef>
              <a:spcAft>
                <a:spcPts val="0"/>
              </a:spcAft>
              <a:buNone/>
            </a:pPr>
            <a:r>
              <a:rPr lang="en-US"/>
              <a:t>            print("Concrete Method")</a:t>
            </a:r>
            <a:endParaRPr/>
          </a:p>
          <a:p>
            <a:pPr indent="0" lvl="0" marL="0" rtl="0" algn="l">
              <a:lnSpc>
                <a:spcPct val="75000"/>
              </a:lnSpc>
              <a:spcBef>
                <a:spcPts val="0"/>
              </a:spcBef>
              <a:spcAft>
                <a:spcPts val="0"/>
              </a:spcAft>
              <a:buNone/>
            </a:pPr>
            <a:r>
              <a:t/>
            </a:r>
            <a:endParaRPr/>
          </a:p>
          <a:p>
            <a:pPr indent="0" lvl="0" marL="0" rtl="0" algn="l">
              <a:lnSpc>
                <a:spcPct val="75000"/>
              </a:lnSpc>
              <a:spcBef>
                <a:spcPts val="0"/>
              </a:spcBef>
              <a:spcAft>
                <a:spcPts val="0"/>
              </a:spcAft>
              <a:buNone/>
            </a:pPr>
            <a:r>
              <a:rPr lang="en-US"/>
              <a:t>class Child(Father)  :</a:t>
            </a:r>
            <a:endParaRPr/>
          </a:p>
          <a:p>
            <a:pPr indent="0" lvl="0" marL="0" rtl="0" algn="l">
              <a:lnSpc>
                <a:spcPct val="75000"/>
              </a:lnSpc>
              <a:spcBef>
                <a:spcPts val="0"/>
              </a:spcBef>
              <a:spcAft>
                <a:spcPts val="0"/>
              </a:spcAft>
              <a:buNone/>
            </a:pPr>
            <a:r>
              <a:t/>
            </a:r>
            <a:endParaRPr/>
          </a:p>
          <a:p>
            <a:pPr indent="0" lvl="0" marL="0" rtl="0" algn="l">
              <a:lnSpc>
                <a:spcPct val="75000"/>
              </a:lnSpc>
              <a:spcBef>
                <a:spcPts val="0"/>
              </a:spcBef>
              <a:spcAft>
                <a:spcPts val="0"/>
              </a:spcAft>
              <a:buNone/>
            </a:pPr>
            <a:r>
              <a:rPr lang="en-US"/>
              <a:t>    def __init__(self):</a:t>
            </a:r>
            <a:endParaRPr/>
          </a:p>
          <a:p>
            <a:pPr indent="0" lvl="0" marL="0" rtl="0" algn="l">
              <a:lnSpc>
                <a:spcPct val="75000"/>
              </a:lnSpc>
              <a:spcBef>
                <a:spcPts val="0"/>
              </a:spcBef>
              <a:spcAft>
                <a:spcPts val="0"/>
              </a:spcAft>
              <a:buNone/>
            </a:pPr>
            <a:r>
              <a:rPr lang="en-US"/>
              <a:t>        self.name = 'Raju'</a:t>
            </a:r>
            <a:endParaRPr/>
          </a:p>
          <a:p>
            <a:pPr indent="0" lvl="0" marL="0" rtl="0" algn="l">
              <a:lnSpc>
                <a:spcPct val="75000"/>
              </a:lnSpc>
              <a:spcBef>
                <a:spcPts val="0"/>
              </a:spcBef>
              <a:spcAft>
                <a:spcPts val="0"/>
              </a:spcAft>
              <a:buNone/>
            </a:pPr>
            <a:r>
              <a:t/>
            </a:r>
            <a:endParaRPr/>
          </a:p>
          <a:p>
            <a:pPr indent="0" lvl="0" marL="0" rtl="0" algn="l">
              <a:lnSpc>
                <a:spcPct val="75000"/>
              </a:lnSpc>
              <a:spcBef>
                <a:spcPts val="0"/>
              </a:spcBef>
              <a:spcAft>
                <a:spcPts val="0"/>
              </a:spcAft>
              <a:buNone/>
            </a:pPr>
            <a:r>
              <a:rPr lang="en-US"/>
              <a:t>    def disp(self):</a:t>
            </a:r>
            <a:endParaRPr/>
          </a:p>
          <a:p>
            <a:pPr indent="0" lvl="0" marL="0" rtl="0" algn="l">
              <a:lnSpc>
                <a:spcPct val="75000"/>
              </a:lnSpc>
              <a:spcBef>
                <a:spcPts val="0"/>
              </a:spcBef>
              <a:spcAft>
                <a:spcPts val="0"/>
              </a:spcAft>
              <a:buNone/>
            </a:pPr>
            <a:r>
              <a:rPr lang="en-US"/>
              <a:t>        print('pass')</a:t>
            </a:r>
            <a:endParaRPr/>
          </a:p>
          <a:p>
            <a:pPr indent="0" lvl="0" marL="0" rtl="0" algn="l">
              <a:lnSpc>
                <a:spcPct val="75000"/>
              </a:lnSpc>
              <a:spcBef>
                <a:spcPts val="0"/>
              </a:spcBef>
              <a:spcAft>
                <a:spcPts val="0"/>
              </a:spcAft>
              <a:buNone/>
            </a:pPr>
            <a:r>
              <a:t/>
            </a:r>
            <a:endParaRPr/>
          </a:p>
          <a:p>
            <a:pPr indent="0" lvl="0" marL="0" rtl="0" algn="l">
              <a:lnSpc>
                <a:spcPct val="75000"/>
              </a:lnSpc>
              <a:spcBef>
                <a:spcPts val="0"/>
              </a:spcBef>
              <a:spcAft>
                <a:spcPts val="0"/>
              </a:spcAft>
              <a:buNone/>
            </a:pPr>
            <a:r>
              <a:rPr lang="en-US"/>
              <a:t>a = Child()</a:t>
            </a:r>
            <a:endParaRPr/>
          </a:p>
          <a:p>
            <a:pPr indent="0" lvl="0" marL="0" rtl="0" algn="l">
              <a:lnSpc>
                <a:spcPct val="75000"/>
              </a:lnSpc>
              <a:spcBef>
                <a:spcPts val="0"/>
              </a:spcBef>
              <a:spcAft>
                <a:spcPts val="0"/>
              </a:spcAft>
              <a:buNone/>
            </a:pPr>
            <a:r>
              <a:rPr lang="en-US"/>
              <a:t>print(a.disp())</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8"/>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When use Interface</a:t>
            </a:r>
            <a:endParaRPr b="1" sz="4000" u="sng">
              <a:latin typeface="Times New Roman"/>
              <a:ea typeface="Times New Roman"/>
              <a:cs typeface="Times New Roman"/>
              <a:sym typeface="Times New Roman"/>
            </a:endParaRPr>
          </a:p>
        </p:txBody>
      </p:sp>
      <p:sp>
        <p:nvSpPr>
          <p:cNvPr id="125" name="Google Shape;125;p28"/>
          <p:cNvSpPr txBox="1"/>
          <p:nvPr>
            <p:ph idx="1" type="body"/>
          </p:nvPr>
        </p:nvSpPr>
        <p:spPr>
          <a:xfrm>
            <a:off x="457200" y="9715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We use interface when all the features need to be implemented differently for different objects. </a:t>
            </a:r>
            <a:endParaRPr sz="2000">
              <a:latin typeface="Times New Roman"/>
              <a:ea typeface="Times New Roman"/>
              <a:cs typeface="Times New Roman"/>
              <a:sym typeface="Times New Roman"/>
            </a:endParaRPr>
          </a:p>
        </p:txBody>
      </p:sp>
      <p:sp>
        <p:nvSpPr>
          <p:cNvPr id="126" name="Google Shape;126;p28"/>
          <p:cNvSpPr txBox="1"/>
          <p:nvPr/>
        </p:nvSpPr>
        <p:spPr>
          <a:xfrm>
            <a:off x="3451299" y="1428750"/>
            <a:ext cx="1584729" cy="923330"/>
          </a:xfrm>
          <a:prstGeom prst="rect">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Defence Force</a:t>
            </a:r>
            <a:endParaRPr/>
          </a:p>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Gun = </a:t>
            </a:r>
            <a:endParaRPr/>
          </a:p>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Area = </a:t>
            </a:r>
            <a:endParaRPr sz="1800">
              <a:solidFill>
                <a:schemeClr val="dk1"/>
              </a:solidFill>
              <a:latin typeface="Times New Roman"/>
              <a:ea typeface="Times New Roman"/>
              <a:cs typeface="Times New Roman"/>
              <a:sym typeface="Times New Roman"/>
            </a:endParaRPr>
          </a:p>
        </p:txBody>
      </p:sp>
      <p:cxnSp>
        <p:nvCxnSpPr>
          <p:cNvPr id="127" name="Google Shape;127;p28"/>
          <p:cNvCxnSpPr>
            <a:stCxn id="126" idx="2"/>
          </p:cNvCxnSpPr>
          <p:nvPr/>
        </p:nvCxnSpPr>
        <p:spPr>
          <a:xfrm>
            <a:off x="4243664" y="2352080"/>
            <a:ext cx="0" cy="381000"/>
          </a:xfrm>
          <a:prstGeom prst="straightConnector1">
            <a:avLst/>
          </a:prstGeom>
          <a:no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cxnSp>
        <p:nvCxnSpPr>
          <p:cNvPr id="128" name="Google Shape;128;p28"/>
          <p:cNvCxnSpPr/>
          <p:nvPr/>
        </p:nvCxnSpPr>
        <p:spPr>
          <a:xfrm>
            <a:off x="2100057" y="2733080"/>
            <a:ext cx="4267200" cy="0"/>
          </a:xfrm>
          <a:prstGeom prst="straightConnector1">
            <a:avLst/>
          </a:prstGeom>
          <a:no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
        <p:nvSpPr>
          <p:cNvPr id="129" name="Google Shape;129;p28"/>
          <p:cNvSpPr txBox="1"/>
          <p:nvPr/>
        </p:nvSpPr>
        <p:spPr>
          <a:xfrm>
            <a:off x="1486253" y="3190280"/>
            <a:ext cx="1295419" cy="861774"/>
          </a:xfrm>
          <a:prstGeom prst="rect">
            <a:avLst/>
          </a:prstGeom>
          <a:gradFill>
            <a:gsLst>
              <a:gs pos="0">
                <a:srgbClr val="C8B2E9"/>
              </a:gs>
              <a:gs pos="35000">
                <a:srgbClr val="D6CAED"/>
              </a:gs>
              <a:gs pos="100000">
                <a:srgbClr val="EFE8FA"/>
              </a:gs>
            </a:gsLst>
            <a:lin ang="16200000" scaled="0"/>
          </a:gra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Army</a:t>
            </a:r>
            <a:endParaRPr/>
          </a:p>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Gun = AK 41</a:t>
            </a:r>
            <a:endParaRPr/>
          </a:p>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Area = Land</a:t>
            </a:r>
            <a:endParaRPr sz="1600">
              <a:solidFill>
                <a:schemeClr val="dk1"/>
              </a:solidFill>
              <a:latin typeface="Times New Roman"/>
              <a:ea typeface="Times New Roman"/>
              <a:cs typeface="Times New Roman"/>
              <a:sym typeface="Times New Roman"/>
            </a:endParaRPr>
          </a:p>
        </p:txBody>
      </p:sp>
      <p:cxnSp>
        <p:nvCxnSpPr>
          <p:cNvPr id="130" name="Google Shape;130;p28"/>
          <p:cNvCxnSpPr/>
          <p:nvPr/>
        </p:nvCxnSpPr>
        <p:spPr>
          <a:xfrm>
            <a:off x="2100057" y="2733080"/>
            <a:ext cx="0" cy="4572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sp>
        <p:nvSpPr>
          <p:cNvPr id="131" name="Google Shape;131;p28"/>
          <p:cNvSpPr txBox="1"/>
          <p:nvPr/>
        </p:nvSpPr>
        <p:spPr>
          <a:xfrm>
            <a:off x="3595955" y="3194841"/>
            <a:ext cx="1295419" cy="861774"/>
          </a:xfrm>
          <a:prstGeom prst="rect">
            <a:avLst/>
          </a:prstGeom>
          <a:gradFill>
            <a:gsLst>
              <a:gs pos="0">
                <a:srgbClr val="9BE9FF"/>
              </a:gs>
              <a:gs pos="35000">
                <a:srgbClr val="B8F1FF"/>
              </a:gs>
              <a:gs pos="100000">
                <a:srgbClr val="E2FBFF"/>
              </a:gs>
            </a:gsLst>
            <a:lin ang="16200000" scaled="0"/>
          </a:gra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Air Force</a:t>
            </a:r>
            <a:endParaRPr/>
          </a:p>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Gun = AK 42</a:t>
            </a:r>
            <a:endParaRPr/>
          </a:p>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Area = Sky</a:t>
            </a:r>
            <a:endParaRPr sz="1600">
              <a:solidFill>
                <a:schemeClr val="dk1"/>
              </a:solidFill>
              <a:latin typeface="Times New Roman"/>
              <a:ea typeface="Times New Roman"/>
              <a:cs typeface="Times New Roman"/>
              <a:sym typeface="Times New Roman"/>
            </a:endParaRPr>
          </a:p>
        </p:txBody>
      </p:sp>
      <p:cxnSp>
        <p:nvCxnSpPr>
          <p:cNvPr id="132" name="Google Shape;132;p28"/>
          <p:cNvCxnSpPr/>
          <p:nvPr/>
        </p:nvCxnSpPr>
        <p:spPr>
          <a:xfrm>
            <a:off x="4243663" y="2733080"/>
            <a:ext cx="0" cy="4572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sp>
        <p:nvSpPr>
          <p:cNvPr id="133" name="Google Shape;133;p28"/>
          <p:cNvSpPr txBox="1"/>
          <p:nvPr/>
        </p:nvSpPr>
        <p:spPr>
          <a:xfrm>
            <a:off x="5714981" y="3194841"/>
            <a:ext cx="1295419" cy="861774"/>
          </a:xfrm>
          <a:prstGeom prst="rect">
            <a:avLst/>
          </a:prstGeom>
          <a:gradFill>
            <a:gsLst>
              <a:gs pos="0">
                <a:srgbClr val="FFBB82"/>
              </a:gs>
              <a:gs pos="35000">
                <a:srgbClr val="FFCFA8"/>
              </a:gs>
              <a:gs pos="100000">
                <a:srgbClr val="FFEBD9"/>
              </a:gs>
            </a:gsLst>
            <a:lin ang="16200000" scaled="0"/>
          </a:gradFill>
          <a:ln cap="flat" cmpd="sng" w="9525">
            <a:solidFill>
              <a:srgbClr val="F5913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Navy</a:t>
            </a:r>
            <a:endParaRPr/>
          </a:p>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Gun = AK 43</a:t>
            </a:r>
            <a:endParaRPr/>
          </a:p>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Area = Sea</a:t>
            </a:r>
            <a:endParaRPr sz="1600">
              <a:solidFill>
                <a:schemeClr val="dk1"/>
              </a:solidFill>
              <a:latin typeface="Times New Roman"/>
              <a:ea typeface="Times New Roman"/>
              <a:cs typeface="Times New Roman"/>
              <a:sym typeface="Times New Roman"/>
            </a:endParaRPr>
          </a:p>
        </p:txBody>
      </p:sp>
      <p:cxnSp>
        <p:nvCxnSpPr>
          <p:cNvPr id="134" name="Google Shape;134;p28"/>
          <p:cNvCxnSpPr/>
          <p:nvPr/>
        </p:nvCxnSpPr>
        <p:spPr>
          <a:xfrm>
            <a:off x="6362688" y="2733080"/>
            <a:ext cx="0" cy="4572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animEffect filter="fade" transition="in">
                                      <p:cBhvr>
                                        <p:cTn dur="500"/>
                                        <p:tgtEl>
                                          <p:spTgt spid="1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par>
                                <p:cTn fill="hold" nodeType="with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0"/>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Date and Time</a:t>
            </a:r>
            <a:endParaRPr b="1" sz="4000" u="sng">
              <a:latin typeface="Times New Roman"/>
              <a:ea typeface="Times New Roman"/>
              <a:cs typeface="Times New Roman"/>
              <a:sym typeface="Times New Roman"/>
            </a:endParaRPr>
          </a:p>
        </p:txBody>
      </p:sp>
      <p:sp>
        <p:nvSpPr>
          <p:cNvPr id="140" name="Google Shape;140;p30"/>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Following modules are used to work with date, time, and duration.</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time</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datetime</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animEffect filter="fade" transition="in">
                                      <p:cBhvr>
                                        <p:cTn dur="500"/>
                                        <p:tgtEl>
                                          <p:spTgt spid="1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animEffect filter="fade" transition="in">
                                      <p:cBhvr>
                                        <p:cTn dur="500"/>
                                        <p:tgtEl>
                                          <p:spTgt spid="1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animEffect filter="fade" transition="in">
                                      <p:cBhvr>
                                        <p:cTn dur="500"/>
                                        <p:tgtEl>
                                          <p:spTgt spid="14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2"/>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Time Modules</a:t>
            </a:r>
            <a:endParaRPr b="1" sz="4000" u="sng">
              <a:latin typeface="Times New Roman"/>
              <a:ea typeface="Times New Roman"/>
              <a:cs typeface="Times New Roman"/>
              <a:sym typeface="Times New Roman"/>
            </a:endParaRPr>
          </a:p>
        </p:txBody>
      </p:sp>
      <p:sp>
        <p:nvSpPr>
          <p:cNvPr id="146" name="Google Shape;146;p32"/>
          <p:cNvSpPr txBox="1"/>
          <p:nvPr>
            <p:ph idx="1" type="body"/>
          </p:nvPr>
        </p:nvSpPr>
        <p:spPr>
          <a:xfrm>
            <a:off x="457200" y="971550"/>
            <a:ext cx="8229600" cy="3581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lang="en-US" sz="1800">
                <a:latin typeface="Times New Roman"/>
                <a:ea typeface="Times New Roman"/>
                <a:cs typeface="Times New Roman"/>
                <a:sym typeface="Times New Roman"/>
              </a:rPr>
              <a:t>time ( ) Function – This function return the time in seconds since the epoch as a floating point number. The specific date of the epoch and the handling of leap seconds is platform dependent.</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ctime ( ) Function – This function is used to get current date and time. When we pass epoch time in seconds to the function, it returns corresponding date and time in string format. When we do not pass epoch time, it returns current date and time in string format.</a:t>
            </a:r>
            <a:endParaRPr sz="18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500"/>
                                        <p:tgtEl>
                                          <p:spTgt spid="1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Effect filter="fade" transition="in">
                                      <p:cBhvr>
                                        <p:cTn dur="500"/>
                                        <p:tgtEl>
                                          <p:spTgt spid="1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Effect filter="fade" transition="in">
                                      <p:cBhvr>
                                        <p:cTn dur="500"/>
                                        <p:tgtEl>
                                          <p:spTgt spid="14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4"/>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datetime Module</a:t>
            </a:r>
            <a:endParaRPr b="1" sz="4000" u="sng">
              <a:latin typeface="Times New Roman"/>
              <a:ea typeface="Times New Roman"/>
              <a:cs typeface="Times New Roman"/>
              <a:sym typeface="Times New Roman"/>
            </a:endParaRPr>
          </a:p>
        </p:txBody>
      </p:sp>
      <p:sp>
        <p:nvSpPr>
          <p:cNvPr id="152" name="Google Shape;152;p34"/>
          <p:cNvSpPr txBox="1"/>
          <p:nvPr>
            <p:ph idx="1" type="body"/>
          </p:nvPr>
        </p:nvSpPr>
        <p:spPr>
          <a:xfrm>
            <a:off x="457200" y="895350"/>
            <a:ext cx="8229600" cy="3962400"/>
          </a:xfrm>
          <a:prstGeom prst="rect">
            <a:avLst/>
          </a:prstGeom>
          <a:noFill/>
          <a:ln>
            <a:noFill/>
          </a:ln>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US" sz="1800">
                <a:latin typeface="Times New Roman"/>
                <a:ea typeface="Times New Roman"/>
                <a:cs typeface="Times New Roman"/>
                <a:sym typeface="Times New Roman"/>
              </a:rPr>
              <a:t>import time</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100"/>
              <a:buFont typeface="Arial"/>
              <a:buNone/>
            </a:pPr>
            <a:r>
              <a:rPr lang="en-US" sz="1800">
                <a:latin typeface="Times New Roman"/>
                <a:ea typeface="Times New Roman"/>
                <a:cs typeface="Times New Roman"/>
                <a:sym typeface="Times New Roman"/>
              </a:rPr>
              <a:t>from datetime import datetime, timedelta</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100"/>
              <a:buFont typeface="Arial"/>
              <a:buNone/>
            </a:pPr>
            <a:r>
              <a:rPr lang="en-US" sz="1800">
                <a:latin typeface="Times New Roman"/>
                <a:ea typeface="Times New Roman"/>
                <a:cs typeface="Times New Roman"/>
                <a:sym typeface="Times New Roman"/>
              </a:rPr>
              <a:t>reminder_time = datetime.now() + timedelta(seconds=5)</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100"/>
              <a:buFont typeface="Arial"/>
              <a:buNone/>
            </a:pPr>
            <a:r>
              <a:rPr lang="en-US" sz="1800">
                <a:latin typeface="Times New Roman"/>
                <a:ea typeface="Times New Roman"/>
                <a:cs typeface="Times New Roman"/>
                <a:sym typeface="Times New Roman"/>
              </a:rPr>
              <a:t>print(f"Reminder set for {reminder_time.strftime('%H:%M:%S')}")</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100"/>
              <a:buFont typeface="Arial"/>
              <a:buNone/>
            </a:pPr>
            <a:r>
              <a:rPr lang="en-US" sz="1800">
                <a:latin typeface="Times New Roman"/>
                <a:ea typeface="Times New Roman"/>
                <a:cs typeface="Times New Roman"/>
                <a:sym typeface="Times New Roman"/>
              </a:rPr>
              <a:t>while datetime.now() &lt; reminder_time:</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100"/>
              <a:buFont typeface="Arial"/>
              <a:buNone/>
            </a:pPr>
            <a:r>
              <a:rPr lang="en-US" sz="1800">
                <a:latin typeface="Times New Roman"/>
                <a:ea typeface="Times New Roman"/>
                <a:cs typeface="Times New Roman"/>
                <a:sym typeface="Times New Roman"/>
              </a:rPr>
              <a:t>    time.sleep(100)</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100"/>
              <a:buFont typeface="Arial"/>
              <a:buNone/>
            </a:pPr>
            <a:r>
              <a:rPr lang="en-US" sz="1800">
                <a:latin typeface="Times New Roman"/>
                <a:ea typeface="Times New Roman"/>
                <a:cs typeface="Times New Roman"/>
                <a:sym typeface="Times New Roman"/>
              </a:rPr>
              <a:t>print("Time to drink water!")</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500"/>
                                        <p:tgtEl>
                                          <p:spTgt spid="1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Effect filter="fade" transition="in">
                                      <p:cBhvr>
                                        <p:cTn dur="500"/>
                                        <p:tgtEl>
                                          <p:spTgt spid="1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Effect filter="fade" transition="in">
                                      <p:cBhvr>
                                        <p:cTn dur="500"/>
                                        <p:tgtEl>
                                          <p:spTgt spid="1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animEffect filter="fade" transition="in">
                                      <p:cBhvr>
                                        <p:cTn dur="500"/>
                                        <p:tgtEl>
                                          <p:spTgt spid="1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animEffect filter="fade" transition="in">
                                      <p:cBhvr>
                                        <p:cTn dur="500"/>
                                        <p:tgtEl>
                                          <p:spTgt spid="15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5" st="5"/>
                                            </p:txEl>
                                          </p:spTgt>
                                        </p:tgtEl>
                                        <p:attrNameLst>
                                          <p:attrName>style.visibility</p:attrName>
                                        </p:attrNameLst>
                                      </p:cBhvr>
                                      <p:to>
                                        <p:strVal val="visible"/>
                                      </p:to>
                                    </p:set>
                                    <p:animEffect filter="fade" transition="in">
                                      <p:cBhvr>
                                        <p:cTn dur="500"/>
                                        <p:tgtEl>
                                          <p:spTgt spid="15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6" st="6"/>
                                            </p:txEl>
                                          </p:spTgt>
                                        </p:tgtEl>
                                        <p:attrNameLst>
                                          <p:attrName>style.visibility</p:attrName>
                                        </p:attrNameLst>
                                      </p:cBhvr>
                                      <p:to>
                                        <p:strVal val="visible"/>
                                      </p:to>
                                    </p:set>
                                    <p:animEffect filter="fade" transition="in">
                                      <p:cBhvr>
                                        <p:cTn dur="500"/>
                                        <p:tgtEl>
                                          <p:spTgt spid="15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7" st="7"/>
                                            </p:txEl>
                                          </p:spTgt>
                                        </p:tgtEl>
                                        <p:attrNameLst>
                                          <p:attrName>style.visibility</p:attrName>
                                        </p:attrNameLst>
                                      </p:cBhvr>
                                      <p:to>
                                        <p:strVal val="visible"/>
                                      </p:to>
                                    </p:set>
                                    <p:animEffect filter="fade" transition="in">
                                      <p:cBhvr>
                                        <p:cTn dur="500"/>
                                        <p:tgtEl>
                                          <p:spTgt spid="15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8" st="8"/>
                                            </p:txEl>
                                          </p:spTgt>
                                        </p:tgtEl>
                                        <p:attrNameLst>
                                          <p:attrName>style.visibility</p:attrName>
                                        </p:attrNameLst>
                                      </p:cBhvr>
                                      <p:to>
                                        <p:strVal val="visible"/>
                                      </p:to>
                                    </p:set>
                                    <p:animEffect filter="fade" transition="in">
                                      <p:cBhvr>
                                        <p:cTn dur="500"/>
                                        <p:tgtEl>
                                          <p:spTgt spid="15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9" st="9"/>
                                            </p:txEl>
                                          </p:spTgt>
                                        </p:tgtEl>
                                        <p:attrNameLst>
                                          <p:attrName>style.visibility</p:attrName>
                                        </p:attrNameLst>
                                      </p:cBhvr>
                                      <p:to>
                                        <p:strVal val="visible"/>
                                      </p:to>
                                    </p:set>
                                    <p:animEffect filter="fade" transition="in">
                                      <p:cBhvr>
                                        <p:cTn dur="500"/>
                                        <p:tgtEl>
                                          <p:spTgt spid="15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10" st="10"/>
                                            </p:txEl>
                                          </p:spTgt>
                                        </p:tgtEl>
                                        <p:attrNameLst>
                                          <p:attrName>style.visibility</p:attrName>
                                        </p:attrNameLst>
                                      </p:cBhvr>
                                      <p:to>
                                        <p:strVal val="visible"/>
                                      </p:to>
                                    </p:set>
                                    <p:animEffect filter="fade" transition="in">
                                      <p:cBhvr>
                                        <p:cTn dur="500"/>
                                        <p:tgtEl>
                                          <p:spTgt spid="15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11" st="11"/>
                                            </p:txEl>
                                          </p:spTgt>
                                        </p:tgtEl>
                                        <p:attrNameLst>
                                          <p:attrName>style.visibility</p:attrName>
                                        </p:attrNameLst>
                                      </p:cBhvr>
                                      <p:to>
                                        <p:strVal val="visible"/>
                                      </p:to>
                                    </p:set>
                                    <p:animEffect filter="fade" transition="in">
                                      <p:cBhvr>
                                        <p:cTn dur="500"/>
                                        <p:tgtEl>
                                          <p:spTgt spid="152">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45"/>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Formatting Date and Time</a:t>
            </a:r>
            <a:endParaRPr b="1" sz="4000" u="sng">
              <a:latin typeface="Times New Roman"/>
              <a:ea typeface="Times New Roman"/>
              <a:cs typeface="Times New Roman"/>
              <a:sym typeface="Times New Roman"/>
            </a:endParaRPr>
          </a:p>
        </p:txBody>
      </p:sp>
      <p:sp>
        <p:nvSpPr>
          <p:cNvPr id="158" name="Google Shape;158;p45"/>
          <p:cNvSpPr txBox="1"/>
          <p:nvPr>
            <p:ph idx="1" type="body"/>
          </p:nvPr>
        </p:nvSpPr>
        <p:spPr>
          <a:xfrm>
            <a:off x="457200" y="9715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strftime() Method – This method is used to format the content of datetime, date and time class object. strftime represents string format to time. This method convert the object into a specified format and returns the formatted string.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Ex:-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dt = datetime.today()</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newdt = dt.strftime(“%B, %d, %Y”) </a:t>
            </a:r>
            <a:endParaRPr sz="2000">
              <a:latin typeface="Times New Roman"/>
              <a:ea typeface="Times New Roman"/>
              <a:cs typeface="Times New Roman"/>
              <a:sym typeface="Times New Roman"/>
            </a:endParaRPr>
          </a:p>
        </p:txBody>
      </p:sp>
      <p:sp>
        <p:nvSpPr>
          <p:cNvPr id="159" name="Google Shape;159;p45"/>
          <p:cNvSpPr txBox="1"/>
          <p:nvPr/>
        </p:nvSpPr>
        <p:spPr>
          <a:xfrm>
            <a:off x="3581400" y="3638550"/>
            <a:ext cx="1394484"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Format Code</a:t>
            </a:r>
            <a:endParaRPr sz="1800">
              <a:solidFill>
                <a:schemeClr val="dk1"/>
              </a:solidFill>
              <a:latin typeface="Calibri"/>
              <a:ea typeface="Calibri"/>
              <a:cs typeface="Calibri"/>
              <a:sym typeface="Calibri"/>
            </a:endParaRPr>
          </a:p>
        </p:txBody>
      </p:sp>
      <p:cxnSp>
        <p:nvCxnSpPr>
          <p:cNvPr id="160" name="Google Shape;160;p45"/>
          <p:cNvCxnSpPr>
            <a:stCxn id="159" idx="1"/>
          </p:cNvCxnSpPr>
          <p:nvPr/>
        </p:nvCxnSpPr>
        <p:spPr>
          <a:xfrm rot="10800000">
            <a:off x="2895600" y="3028816"/>
            <a:ext cx="685800" cy="7944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500"/>
                                        <p:tgtEl>
                                          <p:spTgt spid="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Effect filter="fade" transition="in">
                                      <p:cBhvr>
                                        <p:cTn dur="500"/>
                                        <p:tgtEl>
                                          <p:spTgt spid="1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animEffect filter="fade" transition="in">
                                      <p:cBhvr>
                                        <p:cTn dur="500"/>
                                        <p:tgtEl>
                                          <p:spTgt spid="1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animEffect filter="fade" transition="in">
                                      <p:cBhvr>
                                        <p:cTn dur="500"/>
                                        <p:tgtEl>
                                          <p:spTgt spid="1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par>
                                <p:cTn fill="hold" nodeType="with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6"/>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Format Code</a:t>
            </a:r>
            <a:endParaRPr b="1" sz="4000" u="sng">
              <a:latin typeface="Times New Roman"/>
              <a:ea typeface="Times New Roman"/>
              <a:cs typeface="Times New Roman"/>
              <a:sym typeface="Times New Roman"/>
            </a:endParaRPr>
          </a:p>
        </p:txBody>
      </p:sp>
      <p:graphicFrame>
        <p:nvGraphicFramePr>
          <p:cNvPr id="166" name="Google Shape;166;p46"/>
          <p:cNvGraphicFramePr/>
          <p:nvPr/>
        </p:nvGraphicFramePr>
        <p:xfrm>
          <a:off x="457200" y="1002030"/>
          <a:ext cx="3000000" cy="3000000"/>
        </p:xfrm>
        <a:graphic>
          <a:graphicData uri="http://schemas.openxmlformats.org/drawingml/2006/table">
            <a:tbl>
              <a:tblPr bandRow="1" firstRow="1">
                <a:noFill/>
                <a:tableStyleId>{69022695-C1DF-4223-AB93-3AA630AD9347}</a:tableStyleId>
              </a:tblPr>
              <a:tblGrid>
                <a:gridCol w="1371600"/>
                <a:gridCol w="4114800"/>
                <a:gridCol w="2743200"/>
              </a:tblGrid>
              <a:tr h="228600">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Format Code</a:t>
                      </a:r>
                      <a:endParaRPr b="1" sz="1600">
                        <a:latin typeface="Times New Roman"/>
                        <a:ea typeface="Times New Roman"/>
                        <a:cs typeface="Times New Roman"/>
                        <a:sym typeface="Times New Roman"/>
                      </a:endParaRPr>
                    </a:p>
                  </a:txBody>
                  <a:tcPr marT="45725" marB="45725" marR="91450" marL="91450">
                    <a:solidFill>
                      <a:srgbClr val="FBD4B4"/>
                    </a:solidFill>
                  </a:tcPr>
                </a:tc>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Meaning</a:t>
                      </a:r>
                      <a:endParaRPr b="1" sz="1600">
                        <a:latin typeface="Times New Roman"/>
                        <a:ea typeface="Times New Roman"/>
                        <a:cs typeface="Times New Roman"/>
                        <a:sym typeface="Times New Roman"/>
                      </a:endParaRPr>
                    </a:p>
                  </a:txBody>
                  <a:tcPr marT="45725" marB="45725" marR="91450" marL="91450">
                    <a:solidFill>
                      <a:srgbClr val="FBD4B4"/>
                    </a:solidFill>
                  </a:tcPr>
                </a:tc>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Example</a:t>
                      </a:r>
                      <a:endParaRPr b="1" sz="1600">
                        <a:latin typeface="Times New Roman"/>
                        <a:ea typeface="Times New Roman"/>
                        <a:cs typeface="Times New Roman"/>
                        <a:sym typeface="Times New Roman"/>
                      </a:endParaRPr>
                    </a:p>
                  </a:txBody>
                  <a:tcPr marT="45725" marB="45725" marR="91450" marL="91450">
                    <a:solidFill>
                      <a:srgbClr val="FBD4B4"/>
                    </a:solidFill>
                  </a:tcPr>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%a</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Weekday in</a:t>
                      </a:r>
                      <a:r>
                        <a:rPr lang="en-US" sz="1600">
                          <a:latin typeface="Times New Roman"/>
                          <a:ea typeface="Times New Roman"/>
                          <a:cs typeface="Times New Roman"/>
                          <a:sym typeface="Times New Roman"/>
                        </a:rPr>
                        <a:t> short name</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Sun, Mon,…., Sat</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%A</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Weekday in full name</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Sunday, Monday,…, Saturday</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%d</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Day of month with 0 padded</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01, 02,….,30, 31</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%b</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Month in short Name</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Jan, Feb, ……, Dec</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%B</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Month in full Name</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January,</a:t>
                      </a:r>
                      <a:r>
                        <a:rPr lang="en-US" sz="1600">
                          <a:latin typeface="Times New Roman"/>
                          <a:ea typeface="Times New Roman"/>
                          <a:cs typeface="Times New Roman"/>
                          <a:sym typeface="Times New Roman"/>
                        </a:rPr>
                        <a:t>….., December</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%m</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Month in number with 0 padded</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01, 02, ….,</a:t>
                      </a:r>
                      <a:r>
                        <a:rPr lang="en-US" sz="1600">
                          <a:latin typeface="Times New Roman"/>
                          <a:ea typeface="Times New Roman"/>
                          <a:cs typeface="Times New Roman"/>
                          <a:sym typeface="Times New Roman"/>
                        </a:rPr>
                        <a:t> 12</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%y</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Year in short with 0 padded,</a:t>
                      </a:r>
                      <a:r>
                        <a:rPr lang="en-US" sz="1600">
                          <a:latin typeface="Times New Roman"/>
                          <a:ea typeface="Times New Roman"/>
                          <a:cs typeface="Times New Roman"/>
                          <a:sym typeface="Times New Roman"/>
                        </a:rPr>
                        <a:t> without century</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00, 01, 02,…., 99</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%Y</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Year in Full with century</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0001, 0002, </a:t>
                      </a:r>
                      <a:r>
                        <a:rPr lang="en-US" sz="1600">
                          <a:latin typeface="Times New Roman"/>
                          <a:ea typeface="Times New Roman"/>
                          <a:cs typeface="Times New Roman"/>
                          <a:sym typeface="Times New Roman"/>
                        </a:rPr>
                        <a:t>….., 9999</a:t>
                      </a:r>
                      <a:endParaRPr sz="1600">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47"/>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Format Code</a:t>
            </a:r>
            <a:endParaRPr b="1" sz="4000" u="sng">
              <a:latin typeface="Times New Roman"/>
              <a:ea typeface="Times New Roman"/>
              <a:cs typeface="Times New Roman"/>
              <a:sym typeface="Times New Roman"/>
            </a:endParaRPr>
          </a:p>
        </p:txBody>
      </p:sp>
      <p:graphicFrame>
        <p:nvGraphicFramePr>
          <p:cNvPr id="172" name="Google Shape;172;p47"/>
          <p:cNvGraphicFramePr/>
          <p:nvPr/>
        </p:nvGraphicFramePr>
        <p:xfrm>
          <a:off x="457200" y="1002030"/>
          <a:ext cx="3000000" cy="3000000"/>
        </p:xfrm>
        <a:graphic>
          <a:graphicData uri="http://schemas.openxmlformats.org/drawingml/2006/table">
            <a:tbl>
              <a:tblPr bandRow="1" firstRow="1">
                <a:noFill/>
                <a:tableStyleId>{69022695-C1DF-4223-AB93-3AA630AD9347}</a:tableStyleId>
              </a:tblPr>
              <a:tblGrid>
                <a:gridCol w="1371600"/>
                <a:gridCol w="4114800"/>
                <a:gridCol w="2743200"/>
              </a:tblGrid>
              <a:tr h="228600">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Format Code</a:t>
                      </a:r>
                      <a:endParaRPr b="1" sz="1600">
                        <a:latin typeface="Times New Roman"/>
                        <a:ea typeface="Times New Roman"/>
                        <a:cs typeface="Times New Roman"/>
                        <a:sym typeface="Times New Roman"/>
                      </a:endParaRPr>
                    </a:p>
                  </a:txBody>
                  <a:tcPr marT="45725" marB="45725" marR="91450" marL="91450">
                    <a:solidFill>
                      <a:srgbClr val="FBD4B4"/>
                    </a:solidFill>
                  </a:tcPr>
                </a:tc>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Meaning</a:t>
                      </a:r>
                      <a:endParaRPr b="1" sz="1600">
                        <a:latin typeface="Times New Roman"/>
                        <a:ea typeface="Times New Roman"/>
                        <a:cs typeface="Times New Roman"/>
                        <a:sym typeface="Times New Roman"/>
                      </a:endParaRPr>
                    </a:p>
                  </a:txBody>
                  <a:tcPr marT="45725" marB="45725" marR="91450" marL="91450">
                    <a:solidFill>
                      <a:srgbClr val="FBD4B4"/>
                    </a:solidFill>
                  </a:tcPr>
                </a:tc>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Example</a:t>
                      </a:r>
                      <a:endParaRPr b="1" sz="1600">
                        <a:latin typeface="Times New Roman"/>
                        <a:ea typeface="Times New Roman"/>
                        <a:cs typeface="Times New Roman"/>
                        <a:sym typeface="Times New Roman"/>
                      </a:endParaRPr>
                    </a:p>
                  </a:txBody>
                  <a:tcPr marT="45725" marB="45725" marR="91450" marL="91450">
                    <a:solidFill>
                      <a:srgbClr val="FBD4B4"/>
                    </a:solidFill>
                  </a:tcPr>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%H</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Hours with 0 padded (24 hours clock)</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00, 01, 02,……, 23</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%I</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Hours with 0 padded (12 hours clock)</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01,</a:t>
                      </a:r>
                      <a:r>
                        <a:rPr lang="en-US" sz="1600">
                          <a:latin typeface="Times New Roman"/>
                          <a:ea typeface="Times New Roman"/>
                          <a:cs typeface="Times New Roman"/>
                          <a:sym typeface="Times New Roman"/>
                        </a:rPr>
                        <a:t> 02,…., 12</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%p</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AM/PM</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AM, PM</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%M</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Minute with 0 padded</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00, 01,</a:t>
                      </a:r>
                      <a:r>
                        <a:rPr lang="en-US" sz="1600">
                          <a:latin typeface="Times New Roman"/>
                          <a:ea typeface="Times New Roman"/>
                          <a:cs typeface="Times New Roman"/>
                          <a:sym typeface="Times New Roman"/>
                        </a:rPr>
                        <a:t> ….., 59</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%S</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Second with 0 padded</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00, 01,</a:t>
                      </a:r>
                      <a:r>
                        <a:rPr lang="en-US" sz="1600">
                          <a:latin typeface="Times New Roman"/>
                          <a:ea typeface="Times New Roman"/>
                          <a:cs typeface="Times New Roman"/>
                          <a:sym typeface="Times New Roman"/>
                        </a:rPr>
                        <a:t> ….., 59</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%f</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Microsecond with 0 padded</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000000,……, 999999</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%Z</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Time zone name</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(empty), UTC, CST, EST</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%j</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Day number of year with 0 padded</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001,</a:t>
                      </a:r>
                      <a:r>
                        <a:rPr lang="en-US" sz="1600">
                          <a:latin typeface="Times New Roman"/>
                          <a:ea typeface="Times New Roman"/>
                          <a:cs typeface="Times New Roman"/>
                          <a:sym typeface="Times New Roman"/>
                        </a:rPr>
                        <a:t> 002,……, 366</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%U</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Week number of the year, Sunday as the first day of week with 0 padded</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00, 01, ……., 53</a:t>
                      </a:r>
                      <a:endParaRPr sz="1600">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8"/>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Format Code</a:t>
            </a:r>
            <a:endParaRPr b="1" sz="4000" u="sng">
              <a:latin typeface="Times New Roman"/>
              <a:ea typeface="Times New Roman"/>
              <a:cs typeface="Times New Roman"/>
              <a:sym typeface="Times New Roman"/>
            </a:endParaRPr>
          </a:p>
        </p:txBody>
      </p:sp>
      <p:graphicFrame>
        <p:nvGraphicFramePr>
          <p:cNvPr id="178" name="Google Shape;178;p48"/>
          <p:cNvGraphicFramePr/>
          <p:nvPr/>
        </p:nvGraphicFramePr>
        <p:xfrm>
          <a:off x="457200" y="1002030"/>
          <a:ext cx="3000000" cy="3000000"/>
        </p:xfrm>
        <a:graphic>
          <a:graphicData uri="http://schemas.openxmlformats.org/drawingml/2006/table">
            <a:tbl>
              <a:tblPr bandRow="1" firstRow="1">
                <a:noFill/>
                <a:tableStyleId>{69022695-C1DF-4223-AB93-3AA630AD9347}</a:tableStyleId>
              </a:tblPr>
              <a:tblGrid>
                <a:gridCol w="1371600"/>
                <a:gridCol w="4114800"/>
                <a:gridCol w="2743200"/>
              </a:tblGrid>
              <a:tr h="228600">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Format Code</a:t>
                      </a:r>
                      <a:endParaRPr b="1" sz="1600">
                        <a:latin typeface="Times New Roman"/>
                        <a:ea typeface="Times New Roman"/>
                        <a:cs typeface="Times New Roman"/>
                        <a:sym typeface="Times New Roman"/>
                      </a:endParaRPr>
                    </a:p>
                  </a:txBody>
                  <a:tcPr marT="45725" marB="45725" marR="91450" marL="91450">
                    <a:solidFill>
                      <a:srgbClr val="FBD4B4"/>
                    </a:solidFill>
                  </a:tcPr>
                </a:tc>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Meaning</a:t>
                      </a:r>
                      <a:endParaRPr b="1" sz="1600">
                        <a:latin typeface="Times New Roman"/>
                        <a:ea typeface="Times New Roman"/>
                        <a:cs typeface="Times New Roman"/>
                        <a:sym typeface="Times New Roman"/>
                      </a:endParaRPr>
                    </a:p>
                  </a:txBody>
                  <a:tcPr marT="45725" marB="45725" marR="91450" marL="91450">
                    <a:solidFill>
                      <a:srgbClr val="FBD4B4"/>
                    </a:solidFill>
                  </a:tcPr>
                </a:tc>
                <a:tc>
                  <a:txBody>
                    <a:bodyPr/>
                    <a:lstStyle/>
                    <a:p>
                      <a:pPr indent="0" lvl="0" marL="0" marR="0" rtl="0" algn="ctr">
                        <a:spcBef>
                          <a:spcPts val="0"/>
                        </a:spcBef>
                        <a:spcAft>
                          <a:spcPts val="0"/>
                        </a:spcAft>
                        <a:buNone/>
                      </a:pPr>
                      <a:r>
                        <a:rPr b="1" lang="en-US" sz="1600">
                          <a:latin typeface="Times New Roman"/>
                          <a:ea typeface="Times New Roman"/>
                          <a:cs typeface="Times New Roman"/>
                          <a:sym typeface="Times New Roman"/>
                        </a:rPr>
                        <a:t>Example</a:t>
                      </a:r>
                      <a:endParaRPr b="1" sz="1600">
                        <a:latin typeface="Times New Roman"/>
                        <a:ea typeface="Times New Roman"/>
                        <a:cs typeface="Times New Roman"/>
                        <a:sym typeface="Times New Roman"/>
                      </a:endParaRPr>
                    </a:p>
                  </a:txBody>
                  <a:tcPr marT="45725" marB="45725" marR="91450" marL="91450">
                    <a:solidFill>
                      <a:srgbClr val="FBD4B4"/>
                    </a:solidFill>
                  </a:tcPr>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%c</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Locale’s appropriate date and time representation</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Tue Jan</a:t>
                      </a:r>
                      <a:r>
                        <a:rPr lang="en-US" sz="1600">
                          <a:latin typeface="Times New Roman"/>
                          <a:ea typeface="Times New Roman"/>
                          <a:cs typeface="Times New Roman"/>
                          <a:sym typeface="Times New Roman"/>
                        </a:rPr>
                        <a:t> 30 21:30:00 2019</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%x</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Locale’s appropriate date representation</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08/16/88 (None);</a:t>
                      </a:r>
                      <a:endParaRPr/>
                    </a:p>
                    <a:p>
                      <a:pPr indent="0" lvl="0" marL="0" marR="0" rtl="0" algn="l">
                        <a:spcBef>
                          <a:spcPts val="0"/>
                        </a:spcBef>
                        <a:spcAft>
                          <a:spcPts val="0"/>
                        </a:spcAft>
                        <a:buNone/>
                      </a:pPr>
                      <a:r>
                        <a:rPr lang="en-US" sz="1600">
                          <a:latin typeface="Times New Roman"/>
                          <a:ea typeface="Times New Roman"/>
                          <a:cs typeface="Times New Roman"/>
                          <a:sym typeface="Times New Roman"/>
                        </a:rPr>
                        <a:t>08/16/1988 (en_US);</a:t>
                      </a:r>
                      <a:endParaRPr/>
                    </a:p>
                    <a:p>
                      <a:pPr indent="0" lvl="0" marL="0" marR="0" rtl="0" algn="l">
                        <a:spcBef>
                          <a:spcPts val="0"/>
                        </a:spcBef>
                        <a:spcAft>
                          <a:spcPts val="0"/>
                        </a:spcAft>
                        <a:buNone/>
                      </a:pPr>
                      <a:r>
                        <a:rPr lang="en-US" sz="1600">
                          <a:latin typeface="Times New Roman"/>
                          <a:ea typeface="Times New Roman"/>
                          <a:cs typeface="Times New Roman"/>
                          <a:sym typeface="Times New Roman"/>
                        </a:rPr>
                        <a:t>16.08.1988 (de_DE)</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%X</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Locale’s appropriate time representation</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21:30:00 (en_US);</a:t>
                      </a:r>
                      <a:endParaRPr/>
                    </a:p>
                    <a:p>
                      <a:pPr indent="0" lvl="0" marL="0" marR="0" rtl="0" algn="l">
                        <a:spcBef>
                          <a:spcPts val="0"/>
                        </a:spcBef>
                        <a:spcAft>
                          <a:spcPts val="0"/>
                        </a:spcAft>
                        <a:buNone/>
                      </a:pPr>
                      <a:r>
                        <a:rPr lang="en-US" sz="1600">
                          <a:latin typeface="Times New Roman"/>
                          <a:ea typeface="Times New Roman"/>
                          <a:cs typeface="Times New Roman"/>
                          <a:sym typeface="Times New Roman"/>
                        </a:rPr>
                        <a:t>21:30:00 (de_DE)</a:t>
                      </a:r>
                      <a:endParaRPr sz="1600">
                        <a:latin typeface="Times New Roman"/>
                        <a:ea typeface="Times New Roman"/>
                        <a:cs typeface="Times New Roman"/>
                        <a:sym typeface="Times New Roman"/>
                      </a:endParaRPr>
                    </a:p>
                  </a:txBody>
                  <a:tcPr marT="45725" marB="45725" marR="91450" marL="91450"/>
                </a:tc>
              </a:tr>
              <a:tr h="228600">
                <a:tc>
                  <a:txBody>
                    <a:bodyPr/>
                    <a:lstStyle/>
                    <a:p>
                      <a:pPr indent="0" lvl="0" marL="0" marR="0" rtl="0" algn="ctr">
                        <a:spcBef>
                          <a:spcPts val="0"/>
                        </a:spcBef>
                        <a:spcAft>
                          <a:spcPts val="0"/>
                        </a:spcAft>
                        <a:buNone/>
                      </a:pPr>
                      <a:r>
                        <a:rPr lang="en-US" sz="1600">
                          <a:latin typeface="Calibri"/>
                          <a:ea typeface="Calibri"/>
                          <a:cs typeface="Calibri"/>
                          <a:sym typeface="Calibri"/>
                        </a:rPr>
                        <a:t>%%</a:t>
                      </a:r>
                      <a:endParaRPr sz="1600">
                        <a:latin typeface="Calibri"/>
                        <a:ea typeface="Calibri"/>
                        <a:cs typeface="Calibri"/>
                        <a:sym typeface="Calibri"/>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A literal ‘%’ character</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txBody>
                  <a:tcPr marT="45725" marB="45725" marR="91450" marL="91450"/>
                </a:tc>
              </a:tr>
            </a:tbl>
          </a:graphicData>
        </a:graphic>
      </p:graphicFrame>
      <p:sp>
        <p:nvSpPr>
          <p:cNvPr id="179" name="Google Shape;179;p48"/>
          <p:cNvSpPr/>
          <p:nvPr/>
        </p:nvSpPr>
        <p:spPr>
          <a:xfrm>
            <a:off x="381000" y="3714750"/>
            <a:ext cx="80772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https://docs.python.org/3.7/library/datetime.html#strftime-and-strptime-behavior</a:t>
            </a:r>
            <a:endParaRPr sz="1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49"/>
          <p:cNvSpPr txBox="1"/>
          <p:nvPr>
            <p:ph type="title"/>
          </p:nvPr>
        </p:nvSpPr>
        <p:spPr>
          <a:xfrm>
            <a:off x="457200" y="-19050"/>
            <a:ext cx="8229600" cy="77747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Multitasking</a:t>
            </a:r>
            <a:endParaRPr b="1" sz="4000" u="sng">
              <a:latin typeface="Times New Roman"/>
              <a:ea typeface="Times New Roman"/>
              <a:cs typeface="Times New Roman"/>
              <a:sym typeface="Times New Roman"/>
            </a:endParaRPr>
          </a:p>
        </p:txBody>
      </p:sp>
      <p:sp>
        <p:nvSpPr>
          <p:cNvPr id="185" name="Google Shape;185;p49"/>
          <p:cNvSpPr txBox="1"/>
          <p:nvPr>
            <p:ph idx="1" type="body"/>
          </p:nvPr>
        </p:nvSpPr>
        <p:spPr>
          <a:xfrm>
            <a:off x="457200" y="819150"/>
            <a:ext cx="5715000" cy="6096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chemeClr val="dk1"/>
              </a:buClr>
              <a:buSzPct val="100000"/>
              <a:buNone/>
            </a:pPr>
            <a:r>
              <a:rPr lang="en-US" sz="2400">
                <a:latin typeface="Times New Roman"/>
                <a:ea typeface="Times New Roman"/>
                <a:cs typeface="Times New Roman"/>
                <a:sym typeface="Times New Roman"/>
              </a:rPr>
              <a:t>Executing multiple task at the same time.</a:t>
            </a:r>
            <a:endParaRPr/>
          </a:p>
          <a:p>
            <a:pPr indent="0" lvl="0" marL="0" rtl="0" algn="l">
              <a:spcBef>
                <a:spcPts val="480"/>
              </a:spcBef>
              <a:spcAft>
                <a:spcPts val="0"/>
              </a:spcAft>
              <a:buClr>
                <a:schemeClr val="dk1"/>
              </a:buClr>
              <a:buSzPct val="100000"/>
              <a:buNone/>
            </a:pPr>
            <a:r>
              <a:t/>
            </a:r>
            <a:endParaRPr sz="2400">
              <a:latin typeface="Times New Roman"/>
              <a:ea typeface="Times New Roman"/>
              <a:cs typeface="Times New Roman"/>
              <a:sym typeface="Times New Roman"/>
            </a:endParaRPr>
          </a:p>
        </p:txBody>
      </p:sp>
      <p:pic>
        <p:nvPicPr>
          <p:cNvPr id="186" name="Google Shape;186;p49"/>
          <p:cNvPicPr preferRelativeResize="0"/>
          <p:nvPr/>
        </p:nvPicPr>
        <p:blipFill rotWithShape="1">
          <a:blip r:embed="rId3">
            <a:alphaModFix/>
          </a:blip>
          <a:srcRect b="0" l="0" r="0" t="0"/>
          <a:stretch/>
        </p:blipFill>
        <p:spPr>
          <a:xfrm>
            <a:off x="6629400" y="1581403"/>
            <a:ext cx="2399542" cy="1599694"/>
          </a:xfrm>
          <a:prstGeom prst="rect">
            <a:avLst/>
          </a:prstGeom>
          <a:noFill/>
          <a:ln>
            <a:noFill/>
          </a:ln>
        </p:spPr>
      </p:pic>
      <p:pic>
        <p:nvPicPr>
          <p:cNvPr id="187" name="Google Shape;187;p49"/>
          <p:cNvPicPr preferRelativeResize="0"/>
          <p:nvPr/>
        </p:nvPicPr>
        <p:blipFill rotWithShape="1">
          <a:blip r:embed="rId4">
            <a:alphaModFix/>
          </a:blip>
          <a:srcRect b="0" l="0" r="0" t="0"/>
          <a:stretch/>
        </p:blipFill>
        <p:spPr>
          <a:xfrm flipH="1">
            <a:off x="3505200" y="3019559"/>
            <a:ext cx="2438400" cy="1714500"/>
          </a:xfrm>
          <a:prstGeom prst="rect">
            <a:avLst/>
          </a:prstGeom>
          <a:noFill/>
          <a:ln>
            <a:noFill/>
          </a:ln>
        </p:spPr>
      </p:pic>
      <p:pic>
        <p:nvPicPr>
          <p:cNvPr id="188" name="Google Shape;188;p49"/>
          <p:cNvPicPr preferRelativeResize="0"/>
          <p:nvPr/>
        </p:nvPicPr>
        <p:blipFill rotWithShape="1">
          <a:blip r:embed="rId5">
            <a:alphaModFix/>
          </a:blip>
          <a:srcRect b="0" l="0" r="0" t="0"/>
          <a:stretch/>
        </p:blipFill>
        <p:spPr>
          <a:xfrm>
            <a:off x="6555371" y="29442"/>
            <a:ext cx="1389493" cy="1042120"/>
          </a:xfrm>
          <a:prstGeom prst="rect">
            <a:avLst/>
          </a:prstGeom>
          <a:noFill/>
          <a:ln>
            <a:noFill/>
          </a:ln>
        </p:spPr>
      </p:pic>
      <p:pic>
        <p:nvPicPr>
          <p:cNvPr id="189" name="Google Shape;189;p49"/>
          <p:cNvPicPr preferRelativeResize="0"/>
          <p:nvPr/>
        </p:nvPicPr>
        <p:blipFill rotWithShape="1">
          <a:blip r:embed="rId6">
            <a:alphaModFix/>
          </a:blip>
          <a:srcRect b="0" l="0" r="0" t="0"/>
          <a:stretch/>
        </p:blipFill>
        <p:spPr>
          <a:xfrm>
            <a:off x="304800" y="1581403"/>
            <a:ext cx="2292773" cy="2438400"/>
          </a:xfrm>
          <a:prstGeom prst="rect">
            <a:avLst/>
          </a:prstGeom>
          <a:noFill/>
          <a:ln>
            <a:noFill/>
          </a:ln>
        </p:spPr>
      </p:pic>
      <p:pic>
        <p:nvPicPr>
          <p:cNvPr id="190" name="Google Shape;190;p49"/>
          <p:cNvPicPr preferRelativeResize="0"/>
          <p:nvPr/>
        </p:nvPicPr>
        <p:blipFill rotWithShape="1">
          <a:blip r:embed="rId7">
            <a:alphaModFix/>
          </a:blip>
          <a:srcRect b="0" l="0" r="0" t="0"/>
          <a:stretch/>
        </p:blipFill>
        <p:spPr>
          <a:xfrm>
            <a:off x="7772400" y="1071561"/>
            <a:ext cx="469757" cy="46975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animEffect filter="fade" transition="in">
                                      <p:cBhvr>
                                        <p:cTn dur="500"/>
                                        <p:tgtEl>
                                          <p:spTgt spid="1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animEffect filter="fade" transition="in">
                                      <p:cBhvr>
                                        <p:cTn dur="500"/>
                                        <p:tgtEl>
                                          <p:spTgt spid="1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822"/>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6"/>
                                        </p:tgtEl>
                                        <p:attrNameLst>
                                          <p:attrName>style.visibility</p:attrName>
                                        </p:attrNameLst>
                                      </p:cBhvr>
                                      <p:to>
                                        <p:strVal val="visible"/>
                                      </p:to>
                                    </p:set>
                                    <p:anim calcmode="lin" valueType="num">
                                      <p:cBhvr additive="base">
                                        <p:cTn dur="500"/>
                                        <p:tgtEl>
                                          <p:spTgt spid="18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50"/>
          <p:cNvSpPr txBox="1"/>
          <p:nvPr>
            <p:ph type="title"/>
          </p:nvPr>
        </p:nvSpPr>
        <p:spPr>
          <a:xfrm>
            <a:off x="457200" y="41671"/>
            <a:ext cx="8229600" cy="625079"/>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u="sng">
                <a:latin typeface="Times New Roman"/>
                <a:ea typeface="Times New Roman"/>
                <a:cs typeface="Times New Roman"/>
                <a:sym typeface="Times New Roman"/>
              </a:rPr>
              <a:t>Type of Multitasking</a:t>
            </a:r>
            <a:endParaRPr b="1" u="sng">
              <a:latin typeface="Times New Roman"/>
              <a:ea typeface="Times New Roman"/>
              <a:cs typeface="Times New Roman"/>
              <a:sym typeface="Times New Roman"/>
            </a:endParaRPr>
          </a:p>
        </p:txBody>
      </p:sp>
      <p:sp>
        <p:nvSpPr>
          <p:cNvPr id="196" name="Google Shape;196;p50"/>
          <p:cNvSpPr txBox="1"/>
          <p:nvPr>
            <p:ph idx="1" type="body"/>
          </p:nvPr>
        </p:nvSpPr>
        <p:spPr>
          <a:xfrm>
            <a:off x="457200" y="777478"/>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latin typeface="Times New Roman"/>
                <a:ea typeface="Times New Roman"/>
                <a:cs typeface="Times New Roman"/>
                <a:sym typeface="Times New Roman"/>
              </a:rPr>
              <a:t>Process based Multitasking</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Thread based Multitasking</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animEffect filter="fade" transition="in">
                                      <p:cBhvr>
                                        <p:cTn dur="500"/>
                                        <p:tgtEl>
                                          <p:spTgt spid="1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1" st="1"/>
                                            </p:txEl>
                                          </p:spTgt>
                                        </p:tgtEl>
                                        <p:attrNameLst>
                                          <p:attrName>style.visibility</p:attrName>
                                        </p:attrNameLst>
                                      </p:cBhvr>
                                      <p:to>
                                        <p:strVal val="visible"/>
                                      </p:to>
                                    </p:set>
                                    <p:animEffect filter="fade" transition="in">
                                      <p:cBhvr>
                                        <p:cTn dur="500"/>
                                        <p:tgtEl>
                                          <p:spTgt spid="19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51"/>
          <p:cNvSpPr txBox="1"/>
          <p:nvPr>
            <p:ph type="title"/>
          </p:nvPr>
        </p:nvSpPr>
        <p:spPr>
          <a:xfrm>
            <a:off x="457200" y="41671"/>
            <a:ext cx="8229600" cy="77747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Process Based Multitasking</a:t>
            </a:r>
            <a:endParaRPr b="1" sz="3600" u="sng">
              <a:latin typeface="Times New Roman"/>
              <a:ea typeface="Times New Roman"/>
              <a:cs typeface="Times New Roman"/>
              <a:sym typeface="Times New Roman"/>
            </a:endParaRPr>
          </a:p>
        </p:txBody>
      </p:sp>
      <p:sp>
        <p:nvSpPr>
          <p:cNvPr id="202" name="Google Shape;202;p51"/>
          <p:cNvSpPr txBox="1"/>
          <p:nvPr>
            <p:ph idx="1" type="body"/>
          </p:nvPr>
        </p:nvSpPr>
        <p:spPr>
          <a:xfrm>
            <a:off x="457200" y="895350"/>
            <a:ext cx="82296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latin typeface="Times New Roman"/>
                <a:ea typeface="Times New Roman"/>
                <a:cs typeface="Times New Roman"/>
                <a:sym typeface="Times New Roman"/>
              </a:rPr>
              <a:t>Executing multiple task at the same time where each task is a separate independent program(process), is called process based multitasking. It is suitable for Operating System level. </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animEffect filter="fade" transition="in">
                                      <p:cBhvr>
                                        <p:cTn dur="500"/>
                                        <p:tgtEl>
                                          <p:spTgt spid="20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52"/>
          <p:cNvPicPr preferRelativeResize="0"/>
          <p:nvPr/>
        </p:nvPicPr>
        <p:blipFill rotWithShape="1">
          <a:blip r:embed="rId3">
            <a:alphaModFix/>
          </a:blip>
          <a:srcRect b="0" l="0" r="0" t="0"/>
          <a:stretch/>
        </p:blipFill>
        <p:spPr>
          <a:xfrm>
            <a:off x="873022" y="285750"/>
            <a:ext cx="7397956" cy="449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53"/>
          <p:cNvSpPr txBox="1"/>
          <p:nvPr>
            <p:ph type="title"/>
          </p:nvPr>
        </p:nvSpPr>
        <p:spPr>
          <a:xfrm>
            <a:off x="457200" y="-19050"/>
            <a:ext cx="8229600" cy="77747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Thread Based Multitasking</a:t>
            </a:r>
            <a:endParaRPr b="1" sz="3600" u="sng">
              <a:latin typeface="Times New Roman"/>
              <a:ea typeface="Times New Roman"/>
              <a:cs typeface="Times New Roman"/>
              <a:sym typeface="Times New Roman"/>
            </a:endParaRPr>
          </a:p>
        </p:txBody>
      </p:sp>
      <p:sp>
        <p:nvSpPr>
          <p:cNvPr id="213" name="Google Shape;213;p53"/>
          <p:cNvSpPr txBox="1"/>
          <p:nvPr>
            <p:ph idx="1" type="body"/>
          </p:nvPr>
        </p:nvSpPr>
        <p:spPr>
          <a:xfrm>
            <a:off x="457200" y="8191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latin typeface="Times New Roman"/>
                <a:ea typeface="Times New Roman"/>
                <a:cs typeface="Times New Roman"/>
                <a:sym typeface="Times New Roman"/>
              </a:rPr>
              <a:t>Executing multiple task at the same time where each task is a separate independent part of the same program(process), is called Thread based multitasking and each independent part is called Thread. It is suitable for Programmatic level. </a:t>
            </a:r>
            <a:endParaRPr sz="2400">
              <a:latin typeface="Times New Roman"/>
              <a:ea typeface="Times New Roman"/>
              <a:cs typeface="Times New Roman"/>
              <a:sym typeface="Times New Roman"/>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Ex: - MS Word</a:t>
            </a:r>
            <a:endParaRPr sz="2400">
              <a:latin typeface="Times New Roman"/>
              <a:ea typeface="Times New Roman"/>
              <a:cs typeface="Times New Roman"/>
              <a:sym typeface="Times New Roman"/>
            </a:endParaRPr>
          </a:p>
          <a:p>
            <a:pPr indent="0" lvl="0" marL="0" rtl="0" algn="l">
              <a:spcBef>
                <a:spcPts val="480"/>
              </a:spcBef>
              <a:spcAft>
                <a:spcPts val="0"/>
              </a:spcAft>
              <a:buClr>
                <a:schemeClr val="dk1"/>
              </a:buClr>
              <a:buSzPts val="2400"/>
              <a:buNone/>
            </a:pPr>
            <a:r>
              <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animEffect filter="fade" transition="in">
                                      <p:cBhvr>
                                        <p:cTn dur="500"/>
                                        <p:tgtEl>
                                          <p:spTgt spid="2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animEffect filter="fade" transition="in">
                                      <p:cBhvr>
                                        <p:cTn dur="500"/>
                                        <p:tgtEl>
                                          <p:spTgt spid="2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animEffect filter="fade" transition="in">
                                      <p:cBhvr>
                                        <p:cTn dur="500"/>
                                        <p:tgtEl>
                                          <p:spTgt spid="21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54"/>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u="sng">
                <a:latin typeface="Times New Roman"/>
                <a:ea typeface="Times New Roman"/>
                <a:cs typeface="Times New Roman"/>
                <a:sym typeface="Times New Roman"/>
              </a:rPr>
              <a:t>Thread</a:t>
            </a:r>
            <a:endParaRPr b="1" u="sng">
              <a:latin typeface="Times New Roman"/>
              <a:ea typeface="Times New Roman"/>
              <a:cs typeface="Times New Roman"/>
              <a:sym typeface="Times New Roman"/>
            </a:endParaRPr>
          </a:p>
        </p:txBody>
      </p:sp>
      <p:sp>
        <p:nvSpPr>
          <p:cNvPr id="219" name="Google Shape;219;p54"/>
          <p:cNvSpPr txBox="1"/>
          <p:nvPr>
            <p:ph idx="1" type="body"/>
          </p:nvPr>
        </p:nvSpPr>
        <p:spPr>
          <a:xfrm>
            <a:off x="457200" y="9715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latin typeface="Times New Roman"/>
                <a:ea typeface="Times New Roman"/>
                <a:cs typeface="Times New Roman"/>
                <a:sym typeface="Times New Roman"/>
              </a:rPr>
              <a:t>Thread is a separate flow of execution. Every thread has a task. </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animEffect filter="fade" transition="in">
                                      <p:cBhvr>
                                        <p:cTn dur="500"/>
                                        <p:tgtEl>
                                          <p:spTgt spid="21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55"/>
          <p:cNvSpPr txBox="1"/>
          <p:nvPr>
            <p:ph idx="1" type="body"/>
          </p:nvPr>
        </p:nvSpPr>
        <p:spPr>
          <a:xfrm>
            <a:off x="3200400" y="569552"/>
            <a:ext cx="3544058" cy="1697398"/>
          </a:xfrm>
          <a:prstGeom prst="rect">
            <a:avLst/>
          </a:prstGeom>
          <a:noFill/>
          <a:ln>
            <a:noFill/>
          </a:ln>
        </p:spPr>
        <p:txBody>
          <a:bodyPr anchorCtr="0" anchor="t" bIns="45700" lIns="91425" spcFirstLastPara="1" rIns="91425" wrap="square" tIns="45700">
            <a:normAutofit fontScale="55000" lnSpcReduction="20000"/>
          </a:bodyPr>
          <a:lstStyle/>
          <a:p>
            <a:pPr indent="-274320" lvl="0" marL="342900" rtl="0" algn="l">
              <a:spcBef>
                <a:spcPts val="0"/>
              </a:spcBef>
              <a:spcAft>
                <a:spcPts val="0"/>
              </a:spcAft>
              <a:buClr>
                <a:schemeClr val="dk1"/>
              </a:buClr>
              <a:buSzPct val="100000"/>
              <a:buChar char="•"/>
            </a:pPr>
            <a:r>
              <a:rPr lang="en-US" sz="2400">
                <a:latin typeface="Times New Roman"/>
                <a:ea typeface="Times New Roman"/>
                <a:cs typeface="Times New Roman"/>
                <a:sym typeface="Times New Roman"/>
              </a:rPr>
              <a:t>Flying Thread</a:t>
            </a:r>
            <a:endParaRPr/>
          </a:p>
          <a:p>
            <a:pPr indent="-274320" lvl="0" marL="342900" rtl="0" algn="l">
              <a:spcBef>
                <a:spcPts val="480"/>
              </a:spcBef>
              <a:spcAft>
                <a:spcPts val="0"/>
              </a:spcAft>
              <a:buClr>
                <a:schemeClr val="dk1"/>
              </a:buClr>
              <a:buSzPct val="100000"/>
              <a:buChar char="•"/>
            </a:pPr>
            <a:r>
              <a:rPr lang="en-US" sz="2400">
                <a:latin typeface="Times New Roman"/>
                <a:ea typeface="Times New Roman"/>
                <a:cs typeface="Times New Roman"/>
                <a:sym typeface="Times New Roman"/>
              </a:rPr>
              <a:t>CallAuntyMay Thread</a:t>
            </a:r>
            <a:endParaRPr/>
          </a:p>
          <a:p>
            <a:pPr indent="-274320" lvl="0" marL="342900" rtl="0" algn="l">
              <a:spcBef>
                <a:spcPts val="480"/>
              </a:spcBef>
              <a:spcAft>
                <a:spcPts val="0"/>
              </a:spcAft>
              <a:buClr>
                <a:schemeClr val="dk1"/>
              </a:buClr>
              <a:buSzPct val="100000"/>
              <a:buChar char="•"/>
            </a:pPr>
            <a:r>
              <a:rPr lang="en-US" sz="2400">
                <a:latin typeface="Times New Roman"/>
                <a:ea typeface="Times New Roman"/>
                <a:cs typeface="Times New Roman"/>
                <a:sym typeface="Times New Roman"/>
              </a:rPr>
              <a:t>Watching MJ Thread</a:t>
            </a:r>
            <a:endParaRPr/>
          </a:p>
          <a:p>
            <a:pPr indent="-274320" lvl="0" marL="342900" rtl="0" algn="l">
              <a:spcBef>
                <a:spcPts val="480"/>
              </a:spcBef>
              <a:spcAft>
                <a:spcPts val="0"/>
              </a:spcAft>
              <a:buClr>
                <a:schemeClr val="dk1"/>
              </a:buClr>
              <a:buSzPct val="100000"/>
              <a:buChar char="•"/>
            </a:pPr>
            <a:r>
              <a:rPr lang="en-US" sz="2400">
                <a:latin typeface="Times New Roman"/>
                <a:ea typeface="Times New Roman"/>
                <a:cs typeface="Times New Roman"/>
                <a:sym typeface="Times New Roman"/>
              </a:rPr>
              <a:t>Doc Thread</a:t>
            </a:r>
            <a:endParaRPr/>
          </a:p>
          <a:p>
            <a:pPr indent="-190500" lvl="0" marL="342900" rtl="0" algn="l">
              <a:spcBef>
                <a:spcPts val="480"/>
              </a:spcBef>
              <a:spcAft>
                <a:spcPts val="0"/>
              </a:spcAft>
              <a:buClr>
                <a:schemeClr val="dk1"/>
              </a:buClr>
              <a:buSzPct val="100000"/>
              <a:buNone/>
            </a:pPr>
            <a:r>
              <a:t/>
            </a:r>
            <a:endParaRPr sz="2400">
              <a:latin typeface="Times New Roman"/>
              <a:ea typeface="Times New Roman"/>
              <a:cs typeface="Times New Roman"/>
              <a:sym typeface="Times New Roman"/>
            </a:endParaRPr>
          </a:p>
          <a:p>
            <a:pPr indent="-190500" lvl="0" marL="342900" rtl="0" algn="l">
              <a:spcBef>
                <a:spcPts val="480"/>
              </a:spcBef>
              <a:spcAft>
                <a:spcPts val="0"/>
              </a:spcAft>
              <a:buClr>
                <a:schemeClr val="dk1"/>
              </a:buClr>
              <a:buSzPct val="100000"/>
              <a:buNone/>
            </a:pPr>
            <a:r>
              <a:t/>
            </a:r>
            <a:endParaRPr sz="2400">
              <a:latin typeface="Times New Roman"/>
              <a:ea typeface="Times New Roman"/>
              <a:cs typeface="Times New Roman"/>
              <a:sym typeface="Times New Roman"/>
            </a:endParaRPr>
          </a:p>
          <a:p>
            <a:pPr indent="0" lvl="0" marL="0" rtl="0" algn="l">
              <a:spcBef>
                <a:spcPts val="480"/>
              </a:spcBef>
              <a:spcAft>
                <a:spcPts val="0"/>
              </a:spcAft>
              <a:buClr>
                <a:schemeClr val="dk1"/>
              </a:buClr>
              <a:buSzPct val="100000"/>
              <a:buNone/>
            </a:pPr>
            <a:r>
              <a:t/>
            </a:r>
            <a:endParaRPr sz="2400">
              <a:latin typeface="Times New Roman"/>
              <a:ea typeface="Times New Roman"/>
              <a:cs typeface="Times New Roman"/>
              <a:sym typeface="Times New Roman"/>
            </a:endParaRPr>
          </a:p>
        </p:txBody>
      </p:sp>
      <p:pic>
        <p:nvPicPr>
          <p:cNvPr id="225" name="Google Shape;225;p55"/>
          <p:cNvPicPr preferRelativeResize="0"/>
          <p:nvPr/>
        </p:nvPicPr>
        <p:blipFill rotWithShape="1">
          <a:blip r:embed="rId3">
            <a:alphaModFix/>
          </a:blip>
          <a:srcRect b="0" l="0" r="0" t="0"/>
          <a:stretch/>
        </p:blipFill>
        <p:spPr>
          <a:xfrm>
            <a:off x="6705600" y="1581403"/>
            <a:ext cx="2399542" cy="1599694"/>
          </a:xfrm>
          <a:prstGeom prst="rect">
            <a:avLst/>
          </a:prstGeom>
          <a:noFill/>
          <a:ln>
            <a:noFill/>
          </a:ln>
        </p:spPr>
      </p:pic>
      <p:pic>
        <p:nvPicPr>
          <p:cNvPr id="226" name="Google Shape;226;p55"/>
          <p:cNvPicPr preferRelativeResize="0"/>
          <p:nvPr/>
        </p:nvPicPr>
        <p:blipFill rotWithShape="1">
          <a:blip r:embed="rId4">
            <a:alphaModFix/>
          </a:blip>
          <a:srcRect b="0" l="0" r="0" t="0"/>
          <a:stretch/>
        </p:blipFill>
        <p:spPr>
          <a:xfrm flipH="1">
            <a:off x="3266345" y="2952750"/>
            <a:ext cx="2524854" cy="1590783"/>
          </a:xfrm>
          <a:prstGeom prst="rect">
            <a:avLst/>
          </a:prstGeom>
          <a:noFill/>
          <a:ln>
            <a:noFill/>
          </a:ln>
        </p:spPr>
      </p:pic>
      <p:pic>
        <p:nvPicPr>
          <p:cNvPr id="227" name="Google Shape;227;p55"/>
          <p:cNvPicPr preferRelativeResize="0"/>
          <p:nvPr/>
        </p:nvPicPr>
        <p:blipFill rotWithShape="1">
          <a:blip r:embed="rId5">
            <a:alphaModFix/>
          </a:blip>
          <a:srcRect b="0" l="0" r="0" t="0"/>
          <a:stretch/>
        </p:blipFill>
        <p:spPr>
          <a:xfrm>
            <a:off x="6555371" y="29442"/>
            <a:ext cx="1389493" cy="1042120"/>
          </a:xfrm>
          <a:prstGeom prst="rect">
            <a:avLst/>
          </a:prstGeom>
          <a:noFill/>
          <a:ln>
            <a:noFill/>
          </a:ln>
        </p:spPr>
      </p:pic>
      <p:pic>
        <p:nvPicPr>
          <p:cNvPr id="228" name="Google Shape;228;p55"/>
          <p:cNvPicPr preferRelativeResize="0"/>
          <p:nvPr/>
        </p:nvPicPr>
        <p:blipFill rotWithShape="1">
          <a:blip r:embed="rId6">
            <a:alphaModFix/>
          </a:blip>
          <a:srcRect b="0" l="0" r="0" t="0"/>
          <a:stretch/>
        </p:blipFill>
        <p:spPr>
          <a:xfrm>
            <a:off x="144536" y="1428750"/>
            <a:ext cx="2794317" cy="2971800"/>
          </a:xfrm>
          <a:prstGeom prst="rect">
            <a:avLst/>
          </a:prstGeom>
          <a:noFill/>
          <a:ln>
            <a:noFill/>
          </a:ln>
        </p:spPr>
      </p:pic>
      <p:pic>
        <p:nvPicPr>
          <p:cNvPr id="229" name="Google Shape;229;p55"/>
          <p:cNvPicPr preferRelativeResize="0"/>
          <p:nvPr/>
        </p:nvPicPr>
        <p:blipFill rotWithShape="1">
          <a:blip r:embed="rId7">
            <a:alphaModFix/>
          </a:blip>
          <a:srcRect b="0" l="0" r="0" t="0"/>
          <a:stretch/>
        </p:blipFill>
        <p:spPr>
          <a:xfrm>
            <a:off x="7820025" y="1071561"/>
            <a:ext cx="469757" cy="46975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500"/>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500"/>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500"/>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500"/>
                                        <p:tgtEl>
                                          <p:spTgt spid="2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Effect filter="fade" transition="in">
                                      <p:cBhvr>
                                        <p:cTn dur="500"/>
                                        <p:tgtEl>
                                          <p:spTgt spid="2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animEffect filter="fade" transition="in">
                                      <p:cBhvr>
                                        <p:cTn dur="500"/>
                                        <p:tgtEl>
                                          <p:spTgt spid="2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animEffect filter="fade" transition="in">
                                      <p:cBhvr>
                                        <p:cTn dur="500"/>
                                        <p:tgtEl>
                                          <p:spTgt spid="22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56"/>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Multithreading</a:t>
            </a:r>
            <a:endParaRPr b="1" sz="4000" u="sng">
              <a:latin typeface="Times New Roman"/>
              <a:ea typeface="Times New Roman"/>
              <a:cs typeface="Times New Roman"/>
              <a:sym typeface="Times New Roman"/>
            </a:endParaRPr>
          </a:p>
        </p:txBody>
      </p:sp>
      <p:sp>
        <p:nvSpPr>
          <p:cNvPr id="235" name="Google Shape;235;p56"/>
          <p:cNvSpPr txBox="1"/>
          <p:nvPr>
            <p:ph idx="1" type="body"/>
          </p:nvPr>
        </p:nvSpPr>
        <p:spPr>
          <a:xfrm>
            <a:off x="457200" y="929878"/>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Using Multiple Threads in program or process</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The main important application areas of multi threading are:</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Multimedia Graphic </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Animations</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Video Games</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Web Servers </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Application Servers</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animEffect filter="fade" transition="in">
                                      <p:cBhvr>
                                        <p:cTn dur="500"/>
                                        <p:tgtEl>
                                          <p:spTgt spid="2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animEffect filter="fade" transition="in">
                                      <p:cBhvr>
                                        <p:cTn dur="500"/>
                                        <p:tgtEl>
                                          <p:spTgt spid="2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animEffect filter="fade" transition="in">
                                      <p:cBhvr>
                                        <p:cTn dur="500"/>
                                        <p:tgtEl>
                                          <p:spTgt spid="2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animEffect filter="fade" transition="in">
                                      <p:cBhvr>
                                        <p:cTn dur="500"/>
                                        <p:tgtEl>
                                          <p:spTgt spid="2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4" st="4"/>
                                            </p:txEl>
                                          </p:spTgt>
                                        </p:tgtEl>
                                        <p:attrNameLst>
                                          <p:attrName>style.visibility</p:attrName>
                                        </p:attrNameLst>
                                      </p:cBhvr>
                                      <p:to>
                                        <p:strVal val="visible"/>
                                      </p:to>
                                    </p:set>
                                    <p:animEffect filter="fade" transition="in">
                                      <p:cBhvr>
                                        <p:cTn dur="500"/>
                                        <p:tgtEl>
                                          <p:spTgt spid="2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5" st="5"/>
                                            </p:txEl>
                                          </p:spTgt>
                                        </p:tgtEl>
                                        <p:attrNameLst>
                                          <p:attrName>style.visibility</p:attrName>
                                        </p:attrNameLst>
                                      </p:cBhvr>
                                      <p:to>
                                        <p:strVal val="visible"/>
                                      </p:to>
                                    </p:set>
                                    <p:animEffect filter="fade" transition="in">
                                      <p:cBhvr>
                                        <p:cTn dur="500"/>
                                        <p:tgtEl>
                                          <p:spTgt spid="2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6" st="6"/>
                                            </p:txEl>
                                          </p:spTgt>
                                        </p:tgtEl>
                                        <p:attrNameLst>
                                          <p:attrName>style.visibility</p:attrName>
                                        </p:attrNameLst>
                                      </p:cBhvr>
                                      <p:to>
                                        <p:strVal val="visible"/>
                                      </p:to>
                                    </p:set>
                                    <p:animEffect filter="fade" transition="in">
                                      <p:cBhvr>
                                        <p:cTn dur="500"/>
                                        <p:tgtEl>
                                          <p:spTgt spid="23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7" st="7"/>
                                            </p:txEl>
                                          </p:spTgt>
                                        </p:tgtEl>
                                        <p:attrNameLst>
                                          <p:attrName>style.visibility</p:attrName>
                                        </p:attrNameLst>
                                      </p:cBhvr>
                                      <p:to>
                                        <p:strVal val="visible"/>
                                      </p:to>
                                    </p:set>
                                    <p:animEffect filter="fade" transition="in">
                                      <p:cBhvr>
                                        <p:cTn dur="500"/>
                                        <p:tgtEl>
                                          <p:spTgt spid="23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8" st="8"/>
                                            </p:txEl>
                                          </p:spTgt>
                                        </p:tgtEl>
                                        <p:attrNameLst>
                                          <p:attrName>style.visibility</p:attrName>
                                        </p:attrNameLst>
                                      </p:cBhvr>
                                      <p:to>
                                        <p:strVal val="visible"/>
                                      </p:to>
                                    </p:set>
                                    <p:animEffect filter="fade" transition="in">
                                      <p:cBhvr>
                                        <p:cTn dur="500"/>
                                        <p:tgtEl>
                                          <p:spTgt spid="23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57"/>
          <p:cNvPicPr preferRelativeResize="0"/>
          <p:nvPr/>
        </p:nvPicPr>
        <p:blipFill rotWithShape="1">
          <a:blip r:embed="rId3">
            <a:alphaModFix/>
          </a:blip>
          <a:srcRect b="0" l="0" r="0" t="0"/>
          <a:stretch/>
        </p:blipFill>
        <p:spPr>
          <a:xfrm>
            <a:off x="533400" y="1047750"/>
            <a:ext cx="2400635" cy="2400635"/>
          </a:xfrm>
          <a:prstGeom prst="rect">
            <a:avLst/>
          </a:prstGeom>
          <a:noFill/>
          <a:ln>
            <a:noFill/>
          </a:ln>
        </p:spPr>
      </p:pic>
      <p:pic>
        <p:nvPicPr>
          <p:cNvPr id="241" name="Google Shape;241;p57"/>
          <p:cNvPicPr preferRelativeResize="0"/>
          <p:nvPr/>
        </p:nvPicPr>
        <p:blipFill rotWithShape="1">
          <a:blip r:embed="rId4">
            <a:alphaModFix/>
          </a:blip>
          <a:srcRect b="0" l="0" r="0" t="0"/>
          <a:stretch/>
        </p:blipFill>
        <p:spPr>
          <a:xfrm flipH="1">
            <a:off x="5113322" y="54457"/>
            <a:ext cx="1135078" cy="1608027"/>
          </a:xfrm>
          <a:prstGeom prst="rect">
            <a:avLst/>
          </a:prstGeom>
          <a:noFill/>
          <a:ln>
            <a:noFill/>
          </a:ln>
        </p:spPr>
      </p:pic>
      <p:pic>
        <p:nvPicPr>
          <p:cNvPr id="242" name="Google Shape;242;p57"/>
          <p:cNvPicPr preferRelativeResize="0"/>
          <p:nvPr/>
        </p:nvPicPr>
        <p:blipFill rotWithShape="1">
          <a:blip r:embed="rId5">
            <a:alphaModFix/>
          </a:blip>
          <a:srcRect b="0" l="0" r="0" t="0"/>
          <a:stretch/>
        </p:blipFill>
        <p:spPr>
          <a:xfrm>
            <a:off x="4010231" y="3006748"/>
            <a:ext cx="1653312" cy="2136752"/>
          </a:xfrm>
          <a:prstGeom prst="rect">
            <a:avLst/>
          </a:prstGeom>
          <a:noFill/>
          <a:ln>
            <a:noFill/>
          </a:ln>
        </p:spPr>
      </p:pic>
      <p:pic>
        <p:nvPicPr>
          <p:cNvPr id="243" name="Google Shape;243;p57"/>
          <p:cNvPicPr preferRelativeResize="0"/>
          <p:nvPr/>
        </p:nvPicPr>
        <p:blipFill rotWithShape="1">
          <a:blip r:embed="rId6">
            <a:alphaModFix/>
          </a:blip>
          <a:srcRect b="0" l="0" r="0" t="0"/>
          <a:stretch/>
        </p:blipFill>
        <p:spPr>
          <a:xfrm>
            <a:off x="7086600" y="1352550"/>
            <a:ext cx="1905000" cy="2400300"/>
          </a:xfrm>
          <a:prstGeom prst="rect">
            <a:avLst/>
          </a:prstGeom>
          <a:noFill/>
          <a:ln>
            <a:noFill/>
          </a:ln>
        </p:spPr>
      </p:pic>
      <p:cxnSp>
        <p:nvCxnSpPr>
          <p:cNvPr id="244" name="Google Shape;244;p57"/>
          <p:cNvCxnSpPr/>
          <p:nvPr/>
        </p:nvCxnSpPr>
        <p:spPr>
          <a:xfrm flipH="1">
            <a:off x="2934036" y="666750"/>
            <a:ext cx="2399964" cy="11430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cxnSp>
        <p:nvCxnSpPr>
          <p:cNvPr id="245" name="Google Shape;245;p57"/>
          <p:cNvCxnSpPr/>
          <p:nvPr/>
        </p:nvCxnSpPr>
        <p:spPr>
          <a:xfrm rot="10800000">
            <a:off x="2934035" y="2800350"/>
            <a:ext cx="1561765" cy="11430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cxnSp>
        <p:nvCxnSpPr>
          <p:cNvPr id="246" name="Google Shape;246;p57"/>
          <p:cNvCxnSpPr/>
          <p:nvPr/>
        </p:nvCxnSpPr>
        <p:spPr>
          <a:xfrm rot="10800000">
            <a:off x="2934036" y="2419350"/>
            <a:ext cx="4533564" cy="4572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70"/>
          <p:cNvSpPr/>
          <p:nvPr/>
        </p:nvSpPr>
        <p:spPr>
          <a:xfrm>
            <a:off x="6705600" y="2038350"/>
            <a:ext cx="1752600" cy="18288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70"/>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sz="4000" u="sng">
                <a:latin typeface="Times New Roman"/>
                <a:ea typeface="Times New Roman"/>
                <a:cs typeface="Times New Roman"/>
                <a:sym typeface="Times New Roman"/>
              </a:rPr>
              <a:t>Multitasking using a Multiple Thread</a:t>
            </a:r>
            <a:endParaRPr b="1" sz="4000" u="sng">
              <a:latin typeface="Times New Roman"/>
              <a:ea typeface="Times New Roman"/>
              <a:cs typeface="Times New Roman"/>
              <a:sym typeface="Times New Roman"/>
            </a:endParaRPr>
          </a:p>
        </p:txBody>
      </p:sp>
      <p:sp>
        <p:nvSpPr>
          <p:cNvPr id="253" name="Google Shape;253;p70"/>
          <p:cNvSpPr txBox="1"/>
          <p:nvPr>
            <p:ph idx="1" type="body"/>
          </p:nvPr>
        </p:nvSpPr>
        <p:spPr>
          <a:xfrm>
            <a:off x="457200" y="895350"/>
            <a:ext cx="82296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When multiple tasks are executed at a time, then it is called Multi-tasking. For this purpose we need more than one thread and when we use more than one thread, it is called multi threading. </a:t>
            </a:r>
            <a:endParaRPr sz="2000">
              <a:latin typeface="Times New Roman"/>
              <a:ea typeface="Times New Roman"/>
              <a:cs typeface="Times New Roman"/>
              <a:sym typeface="Times New Roman"/>
            </a:endParaRPr>
          </a:p>
        </p:txBody>
      </p:sp>
      <p:pic>
        <p:nvPicPr>
          <p:cNvPr id="254" name="Google Shape;254;p70"/>
          <p:cNvPicPr preferRelativeResize="0"/>
          <p:nvPr/>
        </p:nvPicPr>
        <p:blipFill rotWithShape="1">
          <a:blip r:embed="rId3">
            <a:alphaModFix/>
          </a:blip>
          <a:srcRect b="0" l="0" r="0" t="16967"/>
          <a:stretch/>
        </p:blipFill>
        <p:spPr>
          <a:xfrm>
            <a:off x="152400" y="1809750"/>
            <a:ext cx="2194560" cy="1822219"/>
          </a:xfrm>
          <a:prstGeom prst="rect">
            <a:avLst/>
          </a:prstGeom>
          <a:noFill/>
          <a:ln>
            <a:noFill/>
          </a:ln>
        </p:spPr>
      </p:pic>
      <p:pic>
        <p:nvPicPr>
          <p:cNvPr id="255" name="Google Shape;255;p70"/>
          <p:cNvPicPr preferRelativeResize="0"/>
          <p:nvPr/>
        </p:nvPicPr>
        <p:blipFill rotWithShape="1">
          <a:blip r:embed="rId4">
            <a:alphaModFix/>
          </a:blip>
          <a:srcRect b="0" l="29501" r="35249" t="0"/>
          <a:stretch/>
        </p:blipFill>
        <p:spPr>
          <a:xfrm>
            <a:off x="2787740" y="2280906"/>
            <a:ext cx="520519" cy="1476670"/>
          </a:xfrm>
          <a:prstGeom prst="rect">
            <a:avLst/>
          </a:prstGeom>
          <a:noFill/>
          <a:ln>
            <a:noFill/>
          </a:ln>
        </p:spPr>
      </p:pic>
      <p:pic>
        <p:nvPicPr>
          <p:cNvPr id="256" name="Google Shape;256;p70"/>
          <p:cNvPicPr preferRelativeResize="0"/>
          <p:nvPr/>
        </p:nvPicPr>
        <p:blipFill rotWithShape="1">
          <a:blip r:embed="rId4">
            <a:alphaModFix/>
          </a:blip>
          <a:srcRect b="0" l="29501" r="35249" t="0"/>
          <a:stretch/>
        </p:blipFill>
        <p:spPr>
          <a:xfrm flipH="1">
            <a:off x="7162800" y="2304642"/>
            <a:ext cx="520519" cy="1476670"/>
          </a:xfrm>
          <a:prstGeom prst="rect">
            <a:avLst/>
          </a:prstGeom>
          <a:noFill/>
          <a:ln>
            <a:noFill/>
          </a:ln>
        </p:spPr>
      </p:pic>
      <p:pic>
        <p:nvPicPr>
          <p:cNvPr id="257" name="Google Shape;257;p70"/>
          <p:cNvPicPr preferRelativeResize="0"/>
          <p:nvPr/>
        </p:nvPicPr>
        <p:blipFill rotWithShape="1">
          <a:blip r:embed="rId5">
            <a:alphaModFix/>
          </a:blip>
          <a:srcRect b="6452" l="24141" r="25758" t="11503"/>
          <a:stretch/>
        </p:blipFill>
        <p:spPr>
          <a:xfrm>
            <a:off x="3482820" y="2311600"/>
            <a:ext cx="860580" cy="1409261"/>
          </a:xfrm>
          <a:prstGeom prst="rect">
            <a:avLst/>
          </a:prstGeom>
          <a:noFill/>
          <a:ln>
            <a:noFill/>
          </a:ln>
        </p:spPr>
      </p:pic>
      <p:pic>
        <p:nvPicPr>
          <p:cNvPr id="258" name="Google Shape;258;p70"/>
          <p:cNvPicPr preferRelativeResize="0"/>
          <p:nvPr/>
        </p:nvPicPr>
        <p:blipFill rotWithShape="1">
          <a:blip r:embed="rId6">
            <a:alphaModFix/>
          </a:blip>
          <a:srcRect b="0" l="0" r="0" t="16967"/>
          <a:stretch/>
        </p:blipFill>
        <p:spPr>
          <a:xfrm>
            <a:off x="304800" y="3602472"/>
            <a:ext cx="1371854" cy="1139098"/>
          </a:xfrm>
          <a:prstGeom prst="rect">
            <a:avLst/>
          </a:prstGeom>
          <a:noFill/>
          <a:ln>
            <a:noFill/>
          </a:ln>
        </p:spPr>
      </p:pic>
      <p:pic>
        <p:nvPicPr>
          <p:cNvPr id="259" name="Google Shape;259;p70"/>
          <p:cNvPicPr preferRelativeResize="0"/>
          <p:nvPr/>
        </p:nvPicPr>
        <p:blipFill rotWithShape="1">
          <a:blip r:embed="rId6">
            <a:alphaModFix/>
          </a:blip>
          <a:srcRect b="0" l="0" r="0" t="16967"/>
          <a:stretch/>
        </p:blipFill>
        <p:spPr>
          <a:xfrm>
            <a:off x="1752600" y="3788271"/>
            <a:ext cx="1371854" cy="1139098"/>
          </a:xfrm>
          <a:prstGeom prst="rect">
            <a:avLst/>
          </a:prstGeom>
          <a:noFill/>
          <a:ln>
            <a:noFill/>
          </a:ln>
        </p:spPr>
      </p:pic>
      <p:pic>
        <p:nvPicPr>
          <p:cNvPr id="260" name="Google Shape;260;p70"/>
          <p:cNvPicPr preferRelativeResize="0"/>
          <p:nvPr/>
        </p:nvPicPr>
        <p:blipFill rotWithShape="1">
          <a:blip r:embed="rId6">
            <a:alphaModFix/>
          </a:blip>
          <a:srcRect b="0" l="0" r="0" t="16967"/>
          <a:stretch/>
        </p:blipFill>
        <p:spPr>
          <a:xfrm>
            <a:off x="3124454" y="3867150"/>
            <a:ext cx="1371854" cy="11390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animEffect filter="fade" transition="in">
                                      <p:cBhvr>
                                        <p:cTn dur="500"/>
                                        <p:tgtEl>
                                          <p:spTgt spid="2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55"/>
                                        </p:tgtEl>
                                      </p:cBhvr>
                                    </p:animEffect>
                                    <p:set>
                                      <p:cBhvr>
                                        <p:cTn dur="1" fill="hold">
                                          <p:stCondLst>
                                            <p:cond delay="500"/>
                                          </p:stCondLst>
                                        </p:cTn>
                                        <p:tgtEl>
                                          <p:spTgt spid="2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56"/>
                                        </p:tgtEl>
                                      </p:cBhvr>
                                    </p:animEffect>
                                    <p:set>
                                      <p:cBhvr>
                                        <p:cTn dur="1" fill="hold">
                                          <p:stCondLst>
                                            <p:cond delay="500"/>
                                          </p:stCondLst>
                                        </p:cTn>
                                        <p:tgtEl>
                                          <p:spTgt spid="2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58"/>
          <p:cNvSpPr txBox="1"/>
          <p:nvPr>
            <p:ph type="title"/>
          </p:nvPr>
        </p:nvSpPr>
        <p:spPr>
          <a:xfrm>
            <a:off x="457200" y="-34529"/>
            <a:ext cx="8229600" cy="77747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Main Thread</a:t>
            </a:r>
            <a:endParaRPr b="1" sz="3600" u="sng">
              <a:latin typeface="Times New Roman"/>
              <a:ea typeface="Times New Roman"/>
              <a:cs typeface="Times New Roman"/>
              <a:sym typeface="Times New Roman"/>
            </a:endParaRPr>
          </a:p>
        </p:txBody>
      </p:sp>
      <p:sp>
        <p:nvSpPr>
          <p:cNvPr id="266" name="Google Shape;266;p58"/>
          <p:cNvSpPr txBox="1"/>
          <p:nvPr>
            <p:ph idx="1" type="body"/>
          </p:nvPr>
        </p:nvSpPr>
        <p:spPr>
          <a:xfrm>
            <a:off x="457200" y="819150"/>
            <a:ext cx="8229600" cy="3810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latin typeface="Times New Roman"/>
                <a:ea typeface="Times New Roman"/>
                <a:cs typeface="Times New Roman"/>
                <a:sym typeface="Times New Roman"/>
              </a:rPr>
              <a:t>When we start any Python Program, one thread begins running immediately, which is called Main Thread of that program created by PVM. </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The main thread is created automatically when your program is started. </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import threading</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t = threading.current_thread().getName()</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print(t)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animEffect filter="fade" transition="in">
                                      <p:cBhvr>
                                        <p:cTn dur="500"/>
                                        <p:tgtEl>
                                          <p:spTgt spid="2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animEffect filter="fade" transition="in">
                                      <p:cBhvr>
                                        <p:cTn dur="500"/>
                                        <p:tgtEl>
                                          <p:spTgt spid="2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2" st="2"/>
                                            </p:txEl>
                                          </p:spTgt>
                                        </p:tgtEl>
                                        <p:attrNameLst>
                                          <p:attrName>style.visibility</p:attrName>
                                        </p:attrNameLst>
                                      </p:cBhvr>
                                      <p:to>
                                        <p:strVal val="visible"/>
                                      </p:to>
                                    </p:set>
                                    <p:animEffect filter="fade" transition="in">
                                      <p:cBhvr>
                                        <p:cTn dur="500"/>
                                        <p:tgtEl>
                                          <p:spTgt spid="2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3" st="3"/>
                                            </p:txEl>
                                          </p:spTgt>
                                        </p:tgtEl>
                                        <p:attrNameLst>
                                          <p:attrName>style.visibility</p:attrName>
                                        </p:attrNameLst>
                                      </p:cBhvr>
                                      <p:to>
                                        <p:strVal val="visible"/>
                                      </p:to>
                                    </p:set>
                                    <p:animEffect filter="fade" transition="in">
                                      <p:cBhvr>
                                        <p:cTn dur="500"/>
                                        <p:tgtEl>
                                          <p:spTgt spid="2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4" st="4"/>
                                            </p:txEl>
                                          </p:spTgt>
                                        </p:tgtEl>
                                        <p:attrNameLst>
                                          <p:attrName>style.visibility</p:attrName>
                                        </p:attrNameLst>
                                      </p:cBhvr>
                                      <p:to>
                                        <p:strVal val="visible"/>
                                      </p:to>
                                    </p:set>
                                    <p:animEffect filter="fade" transition="in">
                                      <p:cBhvr>
                                        <p:cTn dur="500"/>
                                        <p:tgtEl>
                                          <p:spTgt spid="2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5" st="5"/>
                                            </p:txEl>
                                          </p:spTgt>
                                        </p:tgtEl>
                                        <p:attrNameLst>
                                          <p:attrName>style.visibility</p:attrName>
                                        </p:attrNameLst>
                                      </p:cBhvr>
                                      <p:to>
                                        <p:strVal val="visible"/>
                                      </p:to>
                                    </p:set>
                                    <p:animEffect filter="fade" transition="in">
                                      <p:cBhvr>
                                        <p:cTn dur="500"/>
                                        <p:tgtEl>
                                          <p:spTgt spid="26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65"/>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Thread Class’s Methods</a:t>
            </a:r>
            <a:endParaRPr b="1" sz="4000" u="sng">
              <a:latin typeface="Times New Roman"/>
              <a:ea typeface="Times New Roman"/>
              <a:cs typeface="Times New Roman"/>
              <a:sym typeface="Times New Roman"/>
            </a:endParaRPr>
          </a:p>
        </p:txBody>
      </p:sp>
      <p:sp>
        <p:nvSpPr>
          <p:cNvPr id="272" name="Google Shape;272;p65"/>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latin typeface="Times New Roman"/>
                <a:ea typeface="Times New Roman"/>
                <a:cs typeface="Times New Roman"/>
                <a:sym typeface="Times New Roman"/>
              </a:rPr>
              <a:t>start ( ) – Once a thread is created it should be started by calling start() Method.</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run( ) – Every thread will run this method when thread is started. We can override this method and write our own code as body of the method. A thread will terminate automatically when it comes out of the run( ) Method.</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join ( ) – This method is used to wait till the thread completely executes the run ( ) method.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animEffect filter="fade" transition="in">
                                      <p:cBhvr>
                                        <p:cTn dur="500"/>
                                        <p:tgtEl>
                                          <p:spTgt spid="2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1" st="1"/>
                                            </p:txEl>
                                          </p:spTgt>
                                        </p:tgtEl>
                                        <p:attrNameLst>
                                          <p:attrName>style.visibility</p:attrName>
                                        </p:attrNameLst>
                                      </p:cBhvr>
                                      <p:to>
                                        <p:strVal val="visible"/>
                                      </p:to>
                                    </p:set>
                                    <p:animEffect filter="fade" transition="in">
                                      <p:cBhvr>
                                        <p:cTn dur="500"/>
                                        <p:tgtEl>
                                          <p:spTgt spid="2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2" st="2"/>
                                            </p:txEl>
                                          </p:spTgt>
                                        </p:tgtEl>
                                        <p:attrNameLst>
                                          <p:attrName>style.visibility</p:attrName>
                                        </p:attrNameLst>
                                      </p:cBhvr>
                                      <p:to>
                                        <p:strVal val="visible"/>
                                      </p:to>
                                    </p:set>
                                    <p:animEffect filter="fade" transition="in">
                                      <p:cBhvr>
                                        <p:cTn dur="500"/>
                                        <p:tgtEl>
                                          <p:spTgt spid="27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7785fd1329_0_13"/>
          <p:cNvSpPr txBox="1"/>
          <p:nvPr>
            <p:ph idx="1" type="body"/>
          </p:nvPr>
        </p:nvSpPr>
        <p:spPr>
          <a:xfrm>
            <a:off x="457200" y="80475"/>
            <a:ext cx="8229600" cy="4514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275"/>
              <a:buFont typeface="Arial"/>
              <a:buNone/>
            </a:pPr>
            <a:r>
              <a:rPr lang="en-US" sz="1100"/>
              <a:t>import threading</a:t>
            </a:r>
            <a:endParaRPr sz="1100"/>
          </a:p>
          <a:p>
            <a:pPr indent="0" lvl="0" marL="0" rtl="0" algn="l">
              <a:spcBef>
                <a:spcPts val="360"/>
              </a:spcBef>
              <a:spcAft>
                <a:spcPts val="0"/>
              </a:spcAft>
              <a:buClr>
                <a:schemeClr val="dk1"/>
              </a:buClr>
              <a:buSzPts val="275"/>
              <a:buFont typeface="Arial"/>
              <a:buNone/>
            </a:pPr>
            <a:r>
              <a:rPr lang="en-US" sz="1100"/>
              <a:t>import time</a:t>
            </a:r>
            <a:endParaRPr sz="1100"/>
          </a:p>
          <a:p>
            <a:pPr indent="0" lvl="0" marL="0" rtl="0" algn="l">
              <a:spcBef>
                <a:spcPts val="360"/>
              </a:spcBef>
              <a:spcAft>
                <a:spcPts val="0"/>
              </a:spcAft>
              <a:buClr>
                <a:schemeClr val="dk1"/>
              </a:buClr>
              <a:buSzPts val="275"/>
              <a:buFont typeface="Arial"/>
              <a:buNone/>
            </a:pPr>
            <a:r>
              <a:t/>
            </a:r>
            <a:endParaRPr sz="1100"/>
          </a:p>
          <a:p>
            <a:pPr indent="0" lvl="0" marL="0" rtl="0" algn="l">
              <a:spcBef>
                <a:spcPts val="360"/>
              </a:spcBef>
              <a:spcAft>
                <a:spcPts val="0"/>
              </a:spcAft>
              <a:buClr>
                <a:schemeClr val="dk1"/>
              </a:buClr>
              <a:buSzPts val="275"/>
              <a:buFont typeface="Arial"/>
              <a:buNone/>
            </a:pPr>
            <a:r>
              <a:rPr lang="en-US" sz="1100"/>
              <a:t>def download_file(file_name, delay):</a:t>
            </a:r>
            <a:endParaRPr sz="1100"/>
          </a:p>
          <a:p>
            <a:pPr indent="0" lvl="0" marL="0" rtl="0" algn="l">
              <a:spcBef>
                <a:spcPts val="360"/>
              </a:spcBef>
              <a:spcAft>
                <a:spcPts val="0"/>
              </a:spcAft>
              <a:buClr>
                <a:schemeClr val="dk1"/>
              </a:buClr>
              <a:buSzPts val="275"/>
              <a:buFont typeface="Arial"/>
              <a:buNone/>
            </a:pPr>
            <a:r>
              <a:rPr lang="en-US" sz="1100"/>
              <a:t>    print(f"📥 Starting download: {file_name}")</a:t>
            </a:r>
            <a:endParaRPr sz="1100"/>
          </a:p>
          <a:p>
            <a:pPr indent="0" lvl="0" marL="0" rtl="0" algn="l">
              <a:spcBef>
                <a:spcPts val="360"/>
              </a:spcBef>
              <a:spcAft>
                <a:spcPts val="0"/>
              </a:spcAft>
              <a:buClr>
                <a:schemeClr val="dk1"/>
              </a:buClr>
              <a:buSzPts val="275"/>
              <a:buFont typeface="Arial"/>
              <a:buNone/>
            </a:pPr>
            <a:r>
              <a:rPr lang="en-US" sz="1100"/>
              <a:t>    time.sleep(delay)   # simulate time taken to download</a:t>
            </a:r>
            <a:endParaRPr sz="1100"/>
          </a:p>
          <a:p>
            <a:pPr indent="0" lvl="0" marL="0" rtl="0" algn="l">
              <a:spcBef>
                <a:spcPts val="360"/>
              </a:spcBef>
              <a:spcAft>
                <a:spcPts val="0"/>
              </a:spcAft>
              <a:buClr>
                <a:schemeClr val="dk1"/>
              </a:buClr>
              <a:buSzPts val="275"/>
              <a:buFont typeface="Arial"/>
              <a:buNone/>
            </a:pPr>
            <a:r>
              <a:rPr lang="en-US" sz="1100"/>
              <a:t>    print(f"✅ Finished download: {file_name}")</a:t>
            </a:r>
            <a:endParaRPr sz="1100"/>
          </a:p>
          <a:p>
            <a:pPr indent="0" lvl="0" marL="0" rtl="0" algn="l">
              <a:spcBef>
                <a:spcPts val="360"/>
              </a:spcBef>
              <a:spcAft>
                <a:spcPts val="0"/>
              </a:spcAft>
              <a:buClr>
                <a:schemeClr val="dk1"/>
              </a:buClr>
              <a:buSzPts val="275"/>
              <a:buFont typeface="Arial"/>
              <a:buNone/>
            </a:pPr>
            <a:r>
              <a:t/>
            </a:r>
            <a:endParaRPr sz="1100"/>
          </a:p>
          <a:p>
            <a:pPr indent="0" lvl="0" marL="0" rtl="0" algn="l">
              <a:spcBef>
                <a:spcPts val="360"/>
              </a:spcBef>
              <a:spcAft>
                <a:spcPts val="0"/>
              </a:spcAft>
              <a:buClr>
                <a:schemeClr val="dk1"/>
              </a:buClr>
              <a:buSzPts val="275"/>
              <a:buFont typeface="Arial"/>
              <a:buNone/>
            </a:pPr>
            <a:r>
              <a:rPr lang="en-US" sz="1100"/>
              <a:t># Create threads</a:t>
            </a:r>
            <a:endParaRPr sz="1100"/>
          </a:p>
          <a:p>
            <a:pPr indent="0" lvl="0" marL="0" rtl="0" algn="l">
              <a:spcBef>
                <a:spcPts val="360"/>
              </a:spcBef>
              <a:spcAft>
                <a:spcPts val="0"/>
              </a:spcAft>
              <a:buClr>
                <a:schemeClr val="dk1"/>
              </a:buClr>
              <a:buSzPts val="275"/>
              <a:buFont typeface="Arial"/>
              <a:buNone/>
            </a:pPr>
            <a:r>
              <a:rPr lang="en-US" sz="1100"/>
              <a:t>t1 = threading.Thread(target=download_file, args=("file1.mp4", 3))</a:t>
            </a:r>
            <a:endParaRPr sz="1100"/>
          </a:p>
          <a:p>
            <a:pPr indent="0" lvl="0" marL="0" rtl="0" algn="l">
              <a:spcBef>
                <a:spcPts val="360"/>
              </a:spcBef>
              <a:spcAft>
                <a:spcPts val="0"/>
              </a:spcAft>
              <a:buClr>
                <a:schemeClr val="dk1"/>
              </a:buClr>
              <a:buSzPts val="275"/>
              <a:buFont typeface="Arial"/>
              <a:buNone/>
            </a:pPr>
            <a:r>
              <a:rPr lang="en-US" sz="1100"/>
              <a:t>t2 = threading.Thread(target=download_file, args=("file2.mp3", 2))</a:t>
            </a:r>
            <a:endParaRPr sz="1100"/>
          </a:p>
          <a:p>
            <a:pPr indent="0" lvl="0" marL="0" rtl="0" algn="l">
              <a:spcBef>
                <a:spcPts val="360"/>
              </a:spcBef>
              <a:spcAft>
                <a:spcPts val="0"/>
              </a:spcAft>
              <a:buClr>
                <a:schemeClr val="dk1"/>
              </a:buClr>
              <a:buSzPts val="275"/>
              <a:buFont typeface="Arial"/>
              <a:buNone/>
            </a:pPr>
            <a:r>
              <a:rPr lang="en-US" sz="1100"/>
              <a:t>t3 = threading.Thread(target=download_file, args=("file3.pdf", 4))</a:t>
            </a:r>
            <a:endParaRPr sz="1100"/>
          </a:p>
          <a:p>
            <a:pPr indent="0" lvl="0" marL="0" rtl="0" algn="l">
              <a:spcBef>
                <a:spcPts val="360"/>
              </a:spcBef>
              <a:spcAft>
                <a:spcPts val="0"/>
              </a:spcAft>
              <a:buClr>
                <a:schemeClr val="dk1"/>
              </a:buClr>
              <a:buSzPts val="275"/>
              <a:buFont typeface="Arial"/>
              <a:buNone/>
            </a:pPr>
            <a:r>
              <a:t/>
            </a:r>
            <a:endParaRPr sz="1100"/>
          </a:p>
          <a:p>
            <a:pPr indent="0" lvl="0" marL="0" rtl="0" algn="l">
              <a:spcBef>
                <a:spcPts val="360"/>
              </a:spcBef>
              <a:spcAft>
                <a:spcPts val="0"/>
              </a:spcAft>
              <a:buClr>
                <a:schemeClr val="dk1"/>
              </a:buClr>
              <a:buSzPts val="275"/>
              <a:buFont typeface="Arial"/>
              <a:buNone/>
            </a:pPr>
            <a:r>
              <a:rPr lang="en-US" sz="1100"/>
              <a:t># Start threads</a:t>
            </a:r>
            <a:endParaRPr sz="1100"/>
          </a:p>
          <a:p>
            <a:pPr indent="0" lvl="0" marL="0" rtl="0" algn="l">
              <a:spcBef>
                <a:spcPts val="360"/>
              </a:spcBef>
              <a:spcAft>
                <a:spcPts val="0"/>
              </a:spcAft>
              <a:buClr>
                <a:schemeClr val="dk1"/>
              </a:buClr>
              <a:buSzPts val="275"/>
              <a:buFont typeface="Arial"/>
              <a:buNone/>
            </a:pPr>
            <a:r>
              <a:rPr lang="en-US" sz="1100"/>
              <a:t>t1.start()</a:t>
            </a:r>
            <a:endParaRPr sz="1100"/>
          </a:p>
          <a:p>
            <a:pPr indent="0" lvl="0" marL="0" rtl="0" algn="l">
              <a:spcBef>
                <a:spcPts val="360"/>
              </a:spcBef>
              <a:spcAft>
                <a:spcPts val="0"/>
              </a:spcAft>
              <a:buClr>
                <a:schemeClr val="dk1"/>
              </a:buClr>
              <a:buSzPts val="275"/>
              <a:buFont typeface="Arial"/>
              <a:buNone/>
            </a:pPr>
            <a:r>
              <a:rPr lang="en-US" sz="1100"/>
              <a:t>t2.start()</a:t>
            </a:r>
            <a:endParaRPr sz="1100"/>
          </a:p>
          <a:p>
            <a:pPr indent="0" lvl="0" marL="0" rtl="0" algn="l">
              <a:spcBef>
                <a:spcPts val="360"/>
              </a:spcBef>
              <a:spcAft>
                <a:spcPts val="0"/>
              </a:spcAft>
              <a:buClr>
                <a:schemeClr val="dk1"/>
              </a:buClr>
              <a:buSzPts val="275"/>
              <a:buFont typeface="Arial"/>
              <a:buNone/>
            </a:pPr>
            <a:r>
              <a:rPr lang="en-US" sz="1100"/>
              <a:t>t3.start()</a:t>
            </a:r>
            <a:endParaRPr sz="1100"/>
          </a:p>
          <a:p>
            <a:pPr indent="0" lvl="0" marL="0" rtl="0" algn="l">
              <a:spcBef>
                <a:spcPts val="360"/>
              </a:spcBef>
              <a:spcAft>
                <a:spcPts val="0"/>
              </a:spcAft>
              <a:buClr>
                <a:schemeClr val="dk1"/>
              </a:buClr>
              <a:buSzPts val="275"/>
              <a:buFont typeface="Arial"/>
              <a:buNone/>
            </a:pPr>
            <a:r>
              <a:t/>
            </a:r>
            <a:endParaRPr sz="1100"/>
          </a:p>
          <a:p>
            <a:pPr indent="0" lvl="0" marL="0" rtl="0" algn="l">
              <a:spcBef>
                <a:spcPts val="360"/>
              </a:spcBef>
              <a:spcAft>
                <a:spcPts val="0"/>
              </a:spcAft>
              <a:buClr>
                <a:schemeClr val="dk1"/>
              </a:buClr>
              <a:buSzPts val="275"/>
              <a:buFont typeface="Arial"/>
              <a:buNone/>
            </a:pPr>
            <a:r>
              <a:rPr lang="en-US" sz="1100"/>
              <a:t># Wait for all to finish</a:t>
            </a:r>
            <a:endParaRPr sz="1100"/>
          </a:p>
          <a:p>
            <a:pPr indent="0" lvl="0" marL="0" rtl="0" algn="l">
              <a:spcBef>
                <a:spcPts val="360"/>
              </a:spcBef>
              <a:spcAft>
                <a:spcPts val="0"/>
              </a:spcAft>
              <a:buClr>
                <a:schemeClr val="dk1"/>
              </a:buClr>
              <a:buSzPts val="275"/>
              <a:buFont typeface="Arial"/>
              <a:buNone/>
            </a:pPr>
            <a:r>
              <a:rPr lang="en-US" sz="1100"/>
              <a:t>t1.join()</a:t>
            </a:r>
            <a:endParaRPr sz="1100"/>
          </a:p>
          <a:p>
            <a:pPr indent="0" lvl="0" marL="0" rtl="0" algn="l">
              <a:spcBef>
                <a:spcPts val="360"/>
              </a:spcBef>
              <a:spcAft>
                <a:spcPts val="0"/>
              </a:spcAft>
              <a:buClr>
                <a:schemeClr val="dk1"/>
              </a:buClr>
              <a:buSzPts val="275"/>
              <a:buFont typeface="Arial"/>
              <a:buNone/>
            </a:pPr>
            <a:r>
              <a:rPr lang="en-US" sz="1100"/>
              <a:t>t2.join()</a:t>
            </a:r>
            <a:endParaRPr sz="1100"/>
          </a:p>
          <a:p>
            <a:pPr indent="0" lvl="0" marL="0" rtl="0" algn="l">
              <a:spcBef>
                <a:spcPts val="360"/>
              </a:spcBef>
              <a:spcAft>
                <a:spcPts val="0"/>
              </a:spcAft>
              <a:buClr>
                <a:schemeClr val="dk1"/>
              </a:buClr>
              <a:buSzPts val="275"/>
              <a:buFont typeface="Arial"/>
              <a:buNone/>
            </a:pPr>
            <a:r>
              <a:rPr lang="en-US" sz="1100"/>
              <a:t>t3.join()</a:t>
            </a:r>
            <a:endParaRPr sz="1100"/>
          </a:p>
          <a:p>
            <a:pPr indent="0" lvl="0" marL="0" rtl="0" algn="l">
              <a:spcBef>
                <a:spcPts val="360"/>
              </a:spcBef>
              <a:spcAft>
                <a:spcPts val="0"/>
              </a:spcAft>
              <a:buClr>
                <a:schemeClr val="dk1"/>
              </a:buClr>
              <a:buSzPts val="275"/>
              <a:buFont typeface="Arial"/>
              <a:buNone/>
            </a:pPr>
            <a:r>
              <a:t/>
            </a:r>
            <a:endParaRPr sz="1100"/>
          </a:p>
          <a:p>
            <a:pPr indent="0" lvl="0" marL="0" rtl="0" algn="l">
              <a:spcBef>
                <a:spcPts val="360"/>
              </a:spcBef>
              <a:spcAft>
                <a:spcPts val="0"/>
              </a:spcAft>
              <a:buClr>
                <a:schemeClr val="dk1"/>
              </a:buClr>
              <a:buSzPts val="275"/>
              <a:buFont typeface="Arial"/>
              <a:buNone/>
            </a:pPr>
            <a:r>
              <a:rPr lang="en-US" sz="1100"/>
              <a:t>print("🎉 All downloads completed!")</a:t>
            </a:r>
            <a:endParaRPr sz="1100"/>
          </a:p>
          <a:p>
            <a:pPr indent="0" lvl="0" marL="0" rtl="0" algn="l">
              <a:spcBef>
                <a:spcPts val="360"/>
              </a:spcBef>
              <a:spcAft>
                <a:spcPts val="0"/>
              </a:spcAft>
              <a:buClr>
                <a:schemeClr val="dk1"/>
              </a:buClr>
              <a:buSzPts val="275"/>
              <a:buFont typeface="Arial"/>
              <a:buNone/>
            </a:pPr>
            <a:r>
              <a:t/>
            </a:r>
            <a:endParaRPr sz="1100"/>
          </a:p>
          <a:p>
            <a:pPr indent="0" lvl="0" marL="0" rtl="0" algn="l">
              <a:spcBef>
                <a:spcPts val="360"/>
              </a:spcBef>
              <a:spcAft>
                <a:spcPts val="0"/>
              </a:spcAft>
              <a:buSzPts val="275"/>
              <a:buNone/>
            </a:pPr>
            <a:r>
              <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2006-08-16T00:00:00.0000000Z</dcterms:created>
  <dc:creator>RK</dc:creator>
</cp:coreProperties>
</file>