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idbvvWIvvc8oUGp2p3b115xPhv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8B46EE-2AC9-452B-9C90-04FA91F51659}">
  <a:tblStyle styleId="{FB8B46EE-2AC9-452B-9C90-04FA91F516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Mon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4576acec1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" name="Google Shape;19;g34576acec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4576acec12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34576acec1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4576acec12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34576acec1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4576acec1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34576acec1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4576acec12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4576acec1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4576acec12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4576acec1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4576acec12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4576acec1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576acec12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576acec1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576acec12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4576acec1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9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4576acec12_0_0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-US" sz="3200"/>
              <a:t>What are global, protected and private attributes in Python?</a:t>
            </a:r>
            <a:r>
              <a:rPr lang="en-US" sz="3200"/>
              <a:t> </a:t>
            </a:r>
            <a:endParaRPr/>
          </a:p>
        </p:txBody>
      </p:sp>
      <p:sp>
        <p:nvSpPr>
          <p:cNvPr id="22" name="Google Shape;22;g34576acec12_0_0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• </a:t>
            </a:r>
            <a:r>
              <a:rPr b="1" lang="en-US"/>
              <a:t>Global variables </a:t>
            </a:r>
            <a:r>
              <a:rPr lang="en-US"/>
              <a:t>are public variables that are defined in the global scope. To use the variable in the global scope inside a function, we use the global keyword.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Ex:-</a:t>
            </a:r>
            <a:endParaRPr b="1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x = 10   # global variable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def update_global():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global x   # tell Python to use global x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x = x + 5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update_global()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print(x)   # Output: 15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4576acec12_0_16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3200"/>
              <a:t>What are global, protected and private attributes in Python?</a:t>
            </a:r>
            <a:r>
              <a:rPr lang="en-US" sz="3200"/>
              <a:t> </a:t>
            </a:r>
            <a:endParaRPr/>
          </a:p>
        </p:txBody>
      </p:sp>
      <p:sp>
        <p:nvSpPr>
          <p:cNvPr id="28" name="Google Shape;28;g34576acec12_0_16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• </a:t>
            </a:r>
            <a:r>
              <a:rPr b="1" lang="en-US"/>
              <a:t>Protected attributes </a:t>
            </a:r>
            <a:r>
              <a:rPr lang="en-US"/>
              <a:t>are attributes defined with an underscore prefixed to their identifier eg. _sara. They can still be accessed and modified from outside the class they are defined in but a responsible developer should refrain from doing so.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Ex:-</a:t>
            </a:r>
            <a:endParaRPr b="1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class Employee: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def __init__(self, name, salary):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self._salary = salary   # protected attribute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self.name = name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emp = Employee("Ritu", 50000)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print(emp._salary)   # ⚠️ works, but should be avoided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4576acec12_0_21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3200"/>
              <a:t>What are global, protected and private attributes in Python?</a:t>
            </a:r>
            <a:r>
              <a:rPr lang="en-US" sz="3200"/>
              <a:t> </a:t>
            </a:r>
            <a:endParaRPr/>
          </a:p>
        </p:txBody>
      </p:sp>
      <p:sp>
        <p:nvSpPr>
          <p:cNvPr id="34" name="Google Shape;34;g34576acec12_0_21"/>
          <p:cNvSpPr txBox="1"/>
          <p:nvPr>
            <p:ph idx="1" type="body"/>
          </p:nvPr>
        </p:nvSpPr>
        <p:spPr>
          <a:xfrm>
            <a:off x="457200" y="1200150"/>
            <a:ext cx="8229600" cy="371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Private attributes </a:t>
            </a:r>
            <a:r>
              <a:rPr lang="en-US"/>
              <a:t>are attributes with double underscore prefixed to their identifier eg. __ansh. </a:t>
            </a:r>
            <a:r>
              <a:rPr lang="en-US"/>
              <a:t>They cannot be </a:t>
            </a:r>
            <a:r>
              <a:rPr lang="en-US"/>
              <a:t>accessed or modified from the outside directly and will result in an AttributeError if such an attempt is made.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-US"/>
              <a:t>class Student:</a:t>
            </a:r>
            <a:endParaRPr b="1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def __init__(self, name, marks):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self.__marks = marks   # private attribute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self.name = name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def get_marks(self):   # getter method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return self.__marks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stu = Student("Dushyant", 95)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# print(stu.__marks)   # ❌ AttributeError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print(stu.get_marks())   # ✅ 95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# But still accessible with name-mangling: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print(stu._Student__marks)  # ⚠️ 95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4576acec12_0_5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What is lambda in Python? Why is it used?</a:t>
            </a:r>
            <a:endParaRPr b="1"/>
          </a:p>
        </p:txBody>
      </p:sp>
      <p:sp>
        <p:nvSpPr>
          <p:cNvPr id="40" name="Google Shape;40;g34576acec12_0_5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lambda function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is a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small anonymous function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in Python.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It can have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any number of arguments but only one expression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Why is it used?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To create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short, throwaway functions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without formally defining them using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Very useful in situations where a function is needed only once or for a short scope.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Often used with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higher-order functions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like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map()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filter()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reduce()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sorted()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4576acec12_0_10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Lambda Use case</a:t>
            </a:r>
            <a:endParaRPr/>
          </a:p>
        </p:txBody>
      </p:sp>
      <p:sp>
        <p:nvSpPr>
          <p:cNvPr id="46" name="Google Shape;46;g34576acec12_0_10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1. Simple Lambda</a:t>
            </a:r>
            <a:endParaRPr sz="4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square = lambda x: x * x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print(square(5))   # Output: 25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rPr b="1" lang="en-US" sz="2750">
                <a:latin typeface="Arial"/>
                <a:ea typeface="Arial"/>
                <a:cs typeface="Arial"/>
                <a:sym typeface="Arial"/>
              </a:rPr>
              <a:t>2. Lambda with Multiple Arguments</a:t>
            </a:r>
            <a:endParaRPr sz="275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add = lambda a, b: a + b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print(add(10, 20))   # Output: 30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rPr b="1" lang="en-US" sz="2750">
                <a:latin typeface="Arial"/>
                <a:ea typeface="Arial"/>
                <a:cs typeface="Arial"/>
                <a:sym typeface="Arial"/>
              </a:rPr>
              <a:t>3. Using Lambda with </a:t>
            </a:r>
            <a:r>
              <a:rPr b="1" lang="en-US" sz="275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map()</a:t>
            </a:r>
            <a:endParaRPr b="1" sz="275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nums = [1, 2, 3, 4, 5]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squares = list(map(lambda x: x**2, nums))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print(squares)   # Output: [1, 4, 9, 16, 25]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rPr b="1" lang="en-US" sz="2750">
                <a:latin typeface="Arial"/>
                <a:ea typeface="Arial"/>
                <a:cs typeface="Arial"/>
                <a:sym typeface="Arial"/>
              </a:rPr>
              <a:t>4. Using Lambda with </a:t>
            </a:r>
            <a:r>
              <a:rPr b="1" lang="en-US" sz="275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filter()</a:t>
            </a:r>
            <a:endParaRPr b="1" sz="275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nums = [10, 15, 20, 25, 30]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even_nums = list(filter(lambda x: x % 2 == 0, nums))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print(even_nums)   # Output: [10, 20, 30]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576acec12_0_41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/>
              <a:t> What are Generators?</a:t>
            </a:r>
            <a:endParaRPr b="1" sz="4200"/>
          </a:p>
        </p:txBody>
      </p:sp>
      <p:sp>
        <p:nvSpPr>
          <p:cNvPr id="52" name="Google Shape;52;g34576acec12_0_41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Generators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are special functions in Python that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return an iterator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using the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yield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keyword instead of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They allow you to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generate values one at a time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rather than computing and storing all values at once.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They are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memory-efficient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because values are produced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on-demand (lazy evaluation)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 Why use Generators?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Memory efficiency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→ they don’t store the entire result in memory.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Faster performance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for large datasets.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Useful in streaming/real-time data processing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where data is too large to fit in memory.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576acec12_0_46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/>
              <a:t> Generators</a:t>
            </a:r>
            <a:endParaRPr b="1" sz="4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4576acec12_0_46"/>
          <p:cNvSpPr txBox="1"/>
          <p:nvPr/>
        </p:nvSpPr>
        <p:spPr>
          <a:xfrm>
            <a:off x="163100" y="2066100"/>
            <a:ext cx="3000000" cy="212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 get_squares(n):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result = []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for i in range(n):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result.append(i*i)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return result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print(get_squares(5))   # [0, 1, 4, 9, 16]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4576acec12_0_46"/>
          <p:cNvSpPr txBox="1"/>
          <p:nvPr/>
        </p:nvSpPr>
        <p:spPr>
          <a:xfrm>
            <a:off x="4828150" y="2066100"/>
            <a:ext cx="3000000" cy="212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 get_squares_gen(n):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for i in range(n):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yield i*i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 = get_squares_gen(5)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print(next(gen))  #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print(next(gen))  #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print(list(gen))  # [4, 9, 16]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4576acec12_0_46"/>
          <p:cNvSpPr txBox="1"/>
          <p:nvPr/>
        </p:nvSpPr>
        <p:spPr>
          <a:xfrm>
            <a:off x="76125" y="1178625"/>
            <a:ext cx="3000000" cy="61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Normal function (returns a list - consumes memory):</a:t>
            </a:r>
            <a:endParaRPr b="1"/>
          </a:p>
        </p:txBody>
      </p:sp>
      <p:sp>
        <p:nvSpPr>
          <p:cNvPr id="61" name="Google Shape;61;g34576acec12_0_46"/>
          <p:cNvSpPr txBox="1"/>
          <p:nvPr/>
        </p:nvSpPr>
        <p:spPr>
          <a:xfrm>
            <a:off x="4828150" y="1121000"/>
            <a:ext cx="3000000" cy="61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Generator (returns values one by one):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/>
          <p:nvPr>
            <p:ph type="title"/>
          </p:nvPr>
        </p:nvSpPr>
        <p:spPr>
          <a:xfrm>
            <a:off x="457200" y="381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 u="sng">
                <a:latin typeface="Times New Roman"/>
                <a:ea typeface="Times New Roman"/>
                <a:cs typeface="Times New Roman"/>
                <a:sym typeface="Times New Roman"/>
              </a:rPr>
              <a:t>Files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5"/>
          <p:cNvSpPr txBox="1"/>
          <p:nvPr>
            <p:ph idx="1" type="body"/>
          </p:nvPr>
        </p:nvSpPr>
        <p:spPr>
          <a:xfrm>
            <a:off x="457200" y="929878"/>
            <a:ext cx="8229600" cy="3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File is the collection of data that is available to a program. We can retrieve and use data stored in a file whenever we required.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Advantages:-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Stored Data is permanent unless someone remove it.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Stored data can be shared.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 is possible to update or remove the data.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/>
          <p:nvPr>
            <p:ph type="title"/>
          </p:nvPr>
        </p:nvSpPr>
        <p:spPr>
          <a:xfrm>
            <a:off x="457200" y="381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 u="sng">
                <a:latin typeface="Times New Roman"/>
                <a:ea typeface="Times New Roman"/>
                <a:cs typeface="Times New Roman"/>
                <a:sym typeface="Times New Roman"/>
              </a:rPr>
              <a:t>Type of Files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6"/>
          <p:cNvSpPr txBox="1"/>
          <p:nvPr>
            <p:ph idx="1" type="body"/>
          </p:nvPr>
        </p:nvSpPr>
        <p:spPr>
          <a:xfrm>
            <a:off x="457200" y="929878"/>
            <a:ext cx="8229600" cy="3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There are two type of files:-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Text File – It stores data in the form of characters. It is used to store characters and strings.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Binary File – It stores data in the form of bytes, a group of 8 bits each. It is used to store text, images, pdf, csv, video and audio.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" name="Google Shape;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038350"/>
            <a:ext cx="1234440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943350"/>
            <a:ext cx="1234440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921672"/>
            <a:ext cx="1287780" cy="525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Text Mode and Binary Mode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7"/>
          <p:cNvSpPr txBox="1"/>
          <p:nvPr>
            <p:ph idx="1" type="body"/>
          </p:nvPr>
        </p:nvSpPr>
        <p:spPr>
          <a:xfrm>
            <a:off x="457200" y="8953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Text Mode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– A file opened in text mode, treats its contents as if it contains text strings of the str type.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When you get data from a text mode file, Python first decodes the raw bytes using either a platform-dependent encoding or, specified one.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Binary Mode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– A file opened in Binary Mode, Python uses the data in the file without any decoding, binary mode file reflects the raw data in the file.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457200" y="381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Opening a File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1066800" y="1962150"/>
            <a:ext cx="3502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 = open(‘student.txt’, ‘w’)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0"/>
          <p:cNvSpPr txBox="1"/>
          <p:nvPr/>
        </p:nvSpPr>
        <p:spPr>
          <a:xfrm>
            <a:off x="990600" y="2812018"/>
            <a:ext cx="1467000" cy="646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Handler/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object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0" name="Google Shape;90;p10"/>
          <p:cNvCxnSpPr>
            <a:stCxn id="89" idx="0"/>
          </p:cNvCxnSpPr>
          <p:nvPr/>
        </p:nvCxnSpPr>
        <p:spPr>
          <a:xfrm rot="10800000">
            <a:off x="1219200" y="2278618"/>
            <a:ext cx="504900" cy="5334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91" name="Google Shape;91;p10"/>
          <p:cNvSpPr txBox="1"/>
          <p:nvPr/>
        </p:nvSpPr>
        <p:spPr>
          <a:xfrm>
            <a:off x="3429000" y="2818509"/>
            <a:ext cx="1140000" cy="36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Mode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2" name="Google Shape;92;p10"/>
          <p:cNvCxnSpPr>
            <a:stCxn id="91" idx="0"/>
          </p:cNvCxnSpPr>
          <p:nvPr/>
        </p:nvCxnSpPr>
        <p:spPr>
          <a:xfrm rot="10800000">
            <a:off x="3657600" y="2285109"/>
            <a:ext cx="341400" cy="5334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93" name="Google Shape;93;p10"/>
          <p:cNvSpPr txBox="1"/>
          <p:nvPr/>
        </p:nvSpPr>
        <p:spPr>
          <a:xfrm>
            <a:off x="2153003" y="1200150"/>
            <a:ext cx="1152900" cy="36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Name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4" name="Google Shape;94;p10"/>
          <p:cNvCxnSpPr/>
          <p:nvPr/>
        </p:nvCxnSpPr>
        <p:spPr>
          <a:xfrm flipH="1">
            <a:off x="2667070" y="1569482"/>
            <a:ext cx="130500" cy="4689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95" name="Google Shape;95;p10"/>
          <p:cNvSpPr/>
          <p:nvPr/>
        </p:nvSpPr>
        <p:spPr>
          <a:xfrm>
            <a:off x="4724400" y="2050018"/>
            <a:ext cx="400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open(‘D:\\myfolder\\student.txt’, ‘w’)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0"/>
          <p:cNvSpPr txBox="1"/>
          <p:nvPr/>
        </p:nvSpPr>
        <p:spPr>
          <a:xfrm>
            <a:off x="6382002" y="1139103"/>
            <a:ext cx="1011900" cy="36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Path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0"/>
          <p:cNvSpPr/>
          <p:nvPr/>
        </p:nvSpPr>
        <p:spPr>
          <a:xfrm rot="-5400000">
            <a:off x="6811768" y="899690"/>
            <a:ext cx="152400" cy="22263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0"/>
          <p:cNvCxnSpPr>
            <a:stCxn id="96" idx="2"/>
            <a:endCxn id="97" idx="1"/>
          </p:cNvCxnSpPr>
          <p:nvPr/>
        </p:nvCxnSpPr>
        <p:spPr>
          <a:xfrm>
            <a:off x="6887952" y="1508403"/>
            <a:ext cx="0" cy="4281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/>
          <p:nvPr>
            <p:ph type="title"/>
          </p:nvPr>
        </p:nvSpPr>
        <p:spPr>
          <a:xfrm>
            <a:off x="457200" y="-1905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Text File Mode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4" name="Google Shape;104;p11"/>
          <p:cNvGraphicFramePr/>
          <p:nvPr/>
        </p:nvGraphicFramePr>
        <p:xfrm>
          <a:off x="381000" y="742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{FB8B46EE-2AC9-452B-9C90-04FA91F51659}</a:tableStyleId>
              </a:tblPr>
              <a:tblGrid>
                <a:gridCol w="1219200"/>
                <a:gridCol w="7086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Character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Meaning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BD4B4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for reading. The file pointer is positioned at the beginning of the file. If the file doesn’t exist it will show FileNotFoundError.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</a:t>
                      </a:r>
                      <a:endParaRPr b="1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for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writing. If any data is already present in the file, it will overwrite the data. If the file doesn’t exist it will create that file.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b="1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for exclusive creation with write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The specified file must not be available, if the specified file is available it will show error FileExistsError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b="1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for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appending. The file pointer is positioned at the end of the file. It appends new data at the end of file. If the file does not exists it will create a new file for writing data.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r+</a:t>
                      </a:r>
                      <a:endParaRPr b="1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for reading and then writing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w+</a:t>
                      </a:r>
                      <a:endParaRPr b="1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for writing and then reading. It will overwrite existing data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a+</a:t>
                      </a:r>
                      <a:endParaRPr b="1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for appending then reading. It won't overwrite existing data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 txBox="1"/>
          <p:nvPr>
            <p:ph type="title"/>
          </p:nvPr>
        </p:nvSpPr>
        <p:spPr>
          <a:xfrm>
            <a:off x="457200" y="-1905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Binary File Mode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0" name="Google Shape;110;p12"/>
          <p:cNvGraphicFramePr/>
          <p:nvPr/>
        </p:nvGraphicFramePr>
        <p:xfrm>
          <a:off x="381000" y="742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{FB8B46EE-2AC9-452B-9C90-04FA91F51659}</a:tableStyleId>
              </a:tblPr>
              <a:tblGrid>
                <a:gridCol w="1219200"/>
                <a:gridCol w="7086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Character</a:t>
                      </a:r>
                      <a:endParaRPr b="1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Meaning</a:t>
                      </a:r>
                      <a:endParaRPr b="1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BD4B4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rb</a:t>
                      </a:r>
                      <a:endParaRPr b="1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for reading. The file pointer is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positioned at the beginning of the file. If the file doesn’t exist it will show FileNotFoundError.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wb</a:t>
                      </a:r>
                      <a:endParaRPr b="1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for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writing. If any data is already present in the file, it will overwrite the data. If the file doesn’t exist it will create that file.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xb</a:t>
                      </a:r>
                      <a:endParaRPr b="1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for exclusive creation with write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The specified file must not be available, if the specified file is available it will show error FileExistsError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</a:t>
                      </a:r>
                      <a:endParaRPr b="1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for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appending. The file pointer is positioned at the end of the file. It appends new data at the end of file. If the file does not exists it will create a new file for writing data.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rb+</a:t>
                      </a:r>
                      <a:endParaRPr b="1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for reading and then writing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wb+</a:t>
                      </a:r>
                      <a:endParaRPr b="1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for writing and then reading. It will overwrite existing data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ab+</a:t>
                      </a:r>
                      <a:endParaRPr b="1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for appending then reading. It won't overwrite existing data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Closing a File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3"/>
          <p:cNvSpPr txBox="1"/>
          <p:nvPr>
            <p:ph idx="1" type="body"/>
          </p:nvPr>
        </p:nvSpPr>
        <p:spPr>
          <a:xfrm>
            <a:off x="457200" y="971550"/>
            <a:ext cx="82296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close( ) – This method is used to close, opened file.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Once we close the file, file object is deleted from the memory hence file will be no longer accessible unless we open it again.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If you don’t explicitly close a file, Python’s garbage collector will eventually destroy the object and close the open file for you, but the file may stay open for a while so You should always close opened file.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>
                <a:latin typeface="Times New Roman"/>
                <a:ea typeface="Times New Roman"/>
                <a:cs typeface="Times New Roman"/>
                <a:sym typeface="Times New Roman"/>
              </a:rPr>
              <a:t>What will happened if we do not close opened file:-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Data of the file may be corrupted or deleted.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Memory utilized by the file is not freed it may cause of insufficient memory.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576acec12_0_73"/>
          <p:cNvSpPr txBox="1"/>
          <p:nvPr>
            <p:ph idx="1" type="body"/>
          </p:nvPr>
        </p:nvSpPr>
        <p:spPr>
          <a:xfrm>
            <a:off x="457200" y="0"/>
            <a:ext cx="8229600" cy="459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import csv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import json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import os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csv_file = "data.csv"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json_file = "data.json"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if os.path.exists(csv_file):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    data = []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    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    # --- Open CSV ---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    f = open(csv_file, mode='r')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    csv_reader = csv.DictReader(f)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    for row in csv_reader: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        data.append(row)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    f.close()   # ✅ close CSV file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    # --- Write JSON ---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    f = open(json_file, mode='w')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    json.dump(data, f, indent=4)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    f.close()   # ✅ close JSON file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    print(f"✅ {csv_file} successfully converted to {json_file}")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else: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100"/>
              <a:t>    print(f"❌ File not found: {csv_file}")</a:t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Pickling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457200" y="89535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Pickling is a process of converting a class object into a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byte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stream so that it can be stored into a file. This is also called as object serialization.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We use 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pickle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module to perform pickling and unpickling.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Function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457200" y="89535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dump( ) – This function is used to perform the pickling. It returns the pickled representation of the object as a bytes object, instead of writing it to a file.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method belongs to pickle module.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Syntax:-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import pickle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pickle.dump(object, file)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Unpickling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457200" y="89535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Unpickling is a process whereby byte stream is converted back into a class object. It is inverse operation of pickling. This is also called as de-serialization.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Pickling and unpickling should be done using binary files since they support byte streams.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We use 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pickle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module to perform pickling and unpickling.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Warning: The pickle module is not secure against erroneous or maliciously constructed data. Never unpickle data received from an untrusted or unauthenticated source.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Function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457200" y="89535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load( ) – This function is used to read an pickled object from a binary file and returns it into object. This method belongs to pickle module.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Syntax:-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import pickle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pickle.load(file)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/>
          <p:nvPr/>
        </p:nvSpPr>
        <p:spPr>
          <a:xfrm>
            <a:off x="2971800" y="2038350"/>
            <a:ext cx="1828800" cy="2133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 u="sng">
                <a:latin typeface="Times New Roman"/>
                <a:ea typeface="Times New Roman"/>
                <a:cs typeface="Times New Roman"/>
                <a:sym typeface="Times New Roman"/>
              </a:rPr>
              <a:t>Why do we need Pickling and Unpickling</a:t>
            </a:r>
            <a:endParaRPr b="1" sz="32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457200" y="89535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When we store some structured data in the file and want to perform calculation that time we need pickling and unpickling.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1295400" y="2190750"/>
            <a:ext cx="587661" cy="3693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1317339" y="2659618"/>
            <a:ext cx="587661" cy="3693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1981200" y="2419350"/>
            <a:ext cx="84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dump( 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4876800" y="2419350"/>
            <a:ext cx="7168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load( 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228600" y="2474952"/>
            <a:ext cx="894797" cy="369332"/>
          </a:xfrm>
          <a:prstGeom prst="rect">
            <a:avLst/>
          </a:prstGeom>
          <a:gradFill>
            <a:gsLst>
              <a:gs pos="0">
                <a:srgbClr val="5D427D"/>
              </a:gs>
              <a:gs pos="80000">
                <a:srgbClr val="7A57A5"/>
              </a:gs>
              <a:gs pos="100000">
                <a:srgbClr val="7A56A7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Pickling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7239000" y="2424371"/>
            <a:ext cx="1167307" cy="369332"/>
          </a:xfrm>
          <a:prstGeom prst="rect">
            <a:avLst/>
          </a:prstGeom>
          <a:gradFill>
            <a:gsLst>
              <a:gs pos="0">
                <a:srgbClr val="5D427D"/>
              </a:gs>
              <a:gs pos="80000">
                <a:srgbClr val="7A57A5"/>
              </a:gs>
              <a:gs pos="100000">
                <a:srgbClr val="7A56A7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Unpickling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3581400" y="2190750"/>
            <a:ext cx="587661" cy="3693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3603339" y="2659618"/>
            <a:ext cx="587661" cy="3693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576acec12_0_79"/>
          <p:cNvSpPr txBox="1"/>
          <p:nvPr>
            <p:ph idx="1" type="body"/>
          </p:nvPr>
        </p:nvSpPr>
        <p:spPr>
          <a:xfrm>
            <a:off x="457200" y="0"/>
            <a:ext cx="8229600" cy="459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0000"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import pickle, time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def expensive_function():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time.sleep(3)  # simulate heavy work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return {"data": [1,2,3,4,5]}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# First run: compute &amp; pickle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result = expensive_function()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with open("cache.pkl", "wb") as f: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pickle.dump(result, f)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481">
                <a:latin typeface="Arial"/>
                <a:ea typeface="Arial"/>
                <a:cs typeface="Arial"/>
                <a:sym typeface="Arial"/>
              </a:rPr>
              <a:t>#Opens (or creates) </a:t>
            </a:r>
            <a:r>
              <a:rPr b="1" lang="en-US" sz="248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cache.pkl</a:t>
            </a:r>
            <a:r>
              <a:rPr b="1" lang="en-US" sz="2481">
                <a:latin typeface="Arial"/>
                <a:ea typeface="Arial"/>
                <a:cs typeface="Arial"/>
                <a:sym typeface="Arial"/>
              </a:rPr>
              <a:t> in write-binary mode (</a:t>
            </a:r>
            <a:r>
              <a:rPr b="1" lang="en-US" sz="248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"wb"</a:t>
            </a:r>
            <a:r>
              <a:rPr b="1" lang="en-US" sz="2481">
                <a:latin typeface="Arial"/>
                <a:ea typeface="Arial"/>
                <a:cs typeface="Arial"/>
                <a:sym typeface="Arial"/>
              </a:rPr>
              <a:t>).</a:t>
            </a:r>
            <a:endParaRPr b="1" sz="248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481">
                <a:latin typeface="Arial"/>
                <a:ea typeface="Arial"/>
                <a:cs typeface="Arial"/>
                <a:sym typeface="Arial"/>
              </a:rPr>
              <a:t>#Serializes (</a:t>
            </a:r>
            <a:r>
              <a:rPr b="1" lang="en-US" sz="248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dump</a:t>
            </a:r>
            <a:r>
              <a:rPr b="1" lang="en-US" sz="2481"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1" lang="en-US" sz="248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b="1" lang="en-US" sz="2481">
                <a:latin typeface="Arial"/>
                <a:ea typeface="Arial"/>
                <a:cs typeface="Arial"/>
                <a:sym typeface="Arial"/>
              </a:rPr>
              <a:t> and</a:t>
            </a:r>
            <a:endParaRPr b="1" sz="248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44326"/>
              <a:buFont typeface="Arial"/>
              <a:buNone/>
            </a:pPr>
            <a:r>
              <a:t/>
            </a:r>
            <a:endParaRPr b="1" sz="248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# Later run: load cached result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with open("cache.pkl", "rb") as f: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cached_result = pickle.load(f)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810">
                <a:latin typeface="Arial"/>
                <a:ea typeface="Arial"/>
                <a:cs typeface="Arial"/>
                <a:sym typeface="Arial"/>
              </a:rPr>
              <a:t>#Opens </a:t>
            </a:r>
            <a:r>
              <a:rPr b="1" lang="en-US" sz="281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cache.pkl</a:t>
            </a:r>
            <a:r>
              <a:rPr b="1" lang="en-US" sz="2810">
                <a:latin typeface="Arial"/>
                <a:ea typeface="Arial"/>
                <a:cs typeface="Arial"/>
                <a:sym typeface="Arial"/>
              </a:rPr>
              <a:t> in read-binary mode (</a:t>
            </a:r>
            <a:r>
              <a:rPr b="1" lang="en-US" sz="281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"rb"</a:t>
            </a:r>
            <a:r>
              <a:rPr b="1" lang="en-US" sz="2810">
                <a:latin typeface="Arial"/>
                <a:ea typeface="Arial"/>
                <a:cs typeface="Arial"/>
                <a:sym typeface="Arial"/>
              </a:rPr>
              <a:t>).</a:t>
            </a:r>
            <a:endParaRPr b="1" sz="28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9138"/>
              <a:buFont typeface="Arial"/>
              <a:buNone/>
            </a:pPr>
            <a:r>
              <a:rPr b="1" lang="en-US" sz="2810">
                <a:latin typeface="Arial"/>
                <a:ea typeface="Arial"/>
                <a:cs typeface="Arial"/>
                <a:sym typeface="Arial"/>
              </a:rPr>
              <a:t>#Deserializes (</a:t>
            </a:r>
            <a:r>
              <a:rPr b="1" lang="en-US" sz="281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load</a:t>
            </a:r>
            <a:r>
              <a:rPr b="1" lang="en-US" sz="2810">
                <a:latin typeface="Arial"/>
                <a:ea typeface="Arial"/>
                <a:cs typeface="Arial"/>
                <a:sym typeface="Arial"/>
              </a:rPr>
              <a:t>) the bytes back into a Python object → </a:t>
            </a:r>
            <a:r>
              <a:rPr b="1" lang="en-US" sz="281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cached_result</a:t>
            </a:r>
            <a:r>
              <a:rPr b="1" lang="en-US" sz="2810">
                <a:latin typeface="Arial"/>
                <a:ea typeface="Arial"/>
                <a:cs typeface="Arial"/>
                <a:sym typeface="Arial"/>
              </a:rPr>
              <a:t>.</a:t>
            </a:r>
            <a:endParaRPr b="1" sz="491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print("Loaded from cache:", cached_result)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2006-08-16T00:00:00.0000000Z</dcterms:created>
  <dc:creator>RK</dc:creator>
</cp:coreProperties>
</file>